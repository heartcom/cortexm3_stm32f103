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923" r:id="rId3"/>
    <p:sldId id="492" r:id="rId4"/>
    <p:sldId id="934" r:id="rId5"/>
    <p:sldId id="935" r:id="rId6"/>
    <p:sldId id="936" r:id="rId7"/>
    <p:sldId id="383" r:id="rId8"/>
    <p:sldId id="367" r:id="rId9"/>
    <p:sldId id="368" r:id="rId10"/>
    <p:sldId id="369" r:id="rId11"/>
    <p:sldId id="370" r:id="rId12"/>
    <p:sldId id="384" r:id="rId13"/>
    <p:sldId id="385" r:id="rId14"/>
    <p:sldId id="386" r:id="rId15"/>
    <p:sldId id="371" r:id="rId16"/>
    <p:sldId id="461" r:id="rId17"/>
    <p:sldId id="460" r:id="rId18"/>
    <p:sldId id="459" r:id="rId19"/>
    <p:sldId id="444" r:id="rId20"/>
    <p:sldId id="445" r:id="rId21"/>
    <p:sldId id="372" r:id="rId22"/>
    <p:sldId id="427" r:id="rId23"/>
    <p:sldId id="428" r:id="rId24"/>
    <p:sldId id="429" r:id="rId25"/>
    <p:sldId id="430" r:id="rId26"/>
    <p:sldId id="432" r:id="rId27"/>
    <p:sldId id="431" r:id="rId28"/>
    <p:sldId id="387" r:id="rId29"/>
    <p:sldId id="388" r:id="rId30"/>
    <p:sldId id="389" r:id="rId31"/>
    <p:sldId id="373" r:id="rId32"/>
    <p:sldId id="390" r:id="rId33"/>
    <p:sldId id="391" r:id="rId34"/>
    <p:sldId id="392" r:id="rId35"/>
    <p:sldId id="374" r:id="rId36"/>
    <p:sldId id="393" r:id="rId37"/>
    <p:sldId id="375" r:id="rId38"/>
    <p:sldId id="376" r:id="rId39"/>
    <p:sldId id="394" r:id="rId40"/>
    <p:sldId id="395" r:id="rId41"/>
    <p:sldId id="377" r:id="rId42"/>
    <p:sldId id="396" r:id="rId43"/>
    <p:sldId id="433" r:id="rId44"/>
    <p:sldId id="378" r:id="rId45"/>
    <p:sldId id="379" r:id="rId46"/>
    <p:sldId id="380" r:id="rId47"/>
    <p:sldId id="381" r:id="rId48"/>
    <p:sldId id="382" r:id="rId49"/>
    <p:sldId id="398" r:id="rId50"/>
    <p:sldId id="602" r:id="rId51"/>
    <p:sldId id="603" r:id="rId52"/>
    <p:sldId id="418" r:id="rId53"/>
    <p:sldId id="852" r:id="rId54"/>
    <p:sldId id="419" r:id="rId55"/>
    <p:sldId id="605" r:id="rId56"/>
    <p:sldId id="606" r:id="rId57"/>
    <p:sldId id="607" r:id="rId58"/>
    <p:sldId id="608" r:id="rId59"/>
    <p:sldId id="609" r:id="rId60"/>
    <p:sldId id="610" r:id="rId61"/>
    <p:sldId id="611" r:id="rId62"/>
    <p:sldId id="612" r:id="rId63"/>
    <p:sldId id="614" r:id="rId64"/>
    <p:sldId id="615" r:id="rId65"/>
    <p:sldId id="616" r:id="rId66"/>
    <p:sldId id="617" r:id="rId67"/>
    <p:sldId id="613" r:id="rId68"/>
    <p:sldId id="618" r:id="rId69"/>
    <p:sldId id="619" r:id="rId70"/>
    <p:sldId id="620" r:id="rId71"/>
    <p:sldId id="621" r:id="rId72"/>
    <p:sldId id="622" r:id="rId73"/>
    <p:sldId id="623" r:id="rId74"/>
    <p:sldId id="624" r:id="rId75"/>
    <p:sldId id="604" r:id="rId76"/>
    <p:sldId id="626" r:id="rId77"/>
    <p:sldId id="627" r:id="rId78"/>
    <p:sldId id="628" r:id="rId79"/>
    <p:sldId id="629" r:id="rId80"/>
    <p:sldId id="630" r:id="rId81"/>
    <p:sldId id="631" r:id="rId82"/>
    <p:sldId id="632" r:id="rId83"/>
    <p:sldId id="633" r:id="rId84"/>
    <p:sldId id="634" r:id="rId85"/>
    <p:sldId id="635" r:id="rId86"/>
    <p:sldId id="636" r:id="rId87"/>
    <p:sldId id="637" r:id="rId88"/>
    <p:sldId id="638" r:id="rId89"/>
    <p:sldId id="639" r:id="rId90"/>
    <p:sldId id="640" r:id="rId91"/>
    <p:sldId id="641" r:id="rId92"/>
    <p:sldId id="642" r:id="rId93"/>
    <p:sldId id="643" r:id="rId94"/>
    <p:sldId id="644" r:id="rId95"/>
    <p:sldId id="645" r:id="rId96"/>
    <p:sldId id="646" r:id="rId97"/>
    <p:sldId id="647" r:id="rId98"/>
    <p:sldId id="648" r:id="rId99"/>
    <p:sldId id="649" r:id="rId100"/>
    <p:sldId id="650" r:id="rId101"/>
    <p:sldId id="651" r:id="rId102"/>
    <p:sldId id="652" r:id="rId103"/>
    <p:sldId id="653" r:id="rId104"/>
    <p:sldId id="654" r:id="rId105"/>
    <p:sldId id="655" r:id="rId106"/>
    <p:sldId id="656" r:id="rId107"/>
    <p:sldId id="657" r:id="rId108"/>
    <p:sldId id="866" r:id="rId109"/>
    <p:sldId id="867" r:id="rId110"/>
    <p:sldId id="868" r:id="rId111"/>
    <p:sldId id="869" r:id="rId112"/>
    <p:sldId id="870" r:id="rId113"/>
    <p:sldId id="658" r:id="rId114"/>
    <p:sldId id="659" r:id="rId115"/>
    <p:sldId id="660" r:id="rId116"/>
    <p:sldId id="661" r:id="rId117"/>
    <p:sldId id="662" r:id="rId118"/>
    <p:sldId id="663" r:id="rId119"/>
    <p:sldId id="664" r:id="rId120"/>
    <p:sldId id="665" r:id="rId121"/>
    <p:sldId id="666" r:id="rId122"/>
    <p:sldId id="667" r:id="rId123"/>
    <p:sldId id="668" r:id="rId124"/>
    <p:sldId id="669" r:id="rId125"/>
    <p:sldId id="670" r:id="rId126"/>
    <p:sldId id="671" r:id="rId127"/>
    <p:sldId id="672" r:id="rId128"/>
    <p:sldId id="673" r:id="rId129"/>
    <p:sldId id="674" r:id="rId130"/>
    <p:sldId id="675" r:id="rId131"/>
    <p:sldId id="676" r:id="rId132"/>
    <p:sldId id="677" r:id="rId133"/>
    <p:sldId id="678" r:id="rId134"/>
    <p:sldId id="679" r:id="rId135"/>
    <p:sldId id="680" r:id="rId136"/>
    <p:sldId id="681" r:id="rId137"/>
    <p:sldId id="682" r:id="rId138"/>
    <p:sldId id="683" r:id="rId139"/>
    <p:sldId id="684" r:id="rId140"/>
    <p:sldId id="685" r:id="rId141"/>
    <p:sldId id="686" r:id="rId142"/>
    <p:sldId id="687" r:id="rId143"/>
    <p:sldId id="688" r:id="rId144"/>
    <p:sldId id="689" r:id="rId145"/>
    <p:sldId id="690" r:id="rId146"/>
    <p:sldId id="691" r:id="rId147"/>
    <p:sldId id="692" r:id="rId148"/>
    <p:sldId id="693" r:id="rId149"/>
    <p:sldId id="694" r:id="rId150"/>
    <p:sldId id="695" r:id="rId151"/>
    <p:sldId id="696" r:id="rId152"/>
    <p:sldId id="697" r:id="rId153"/>
    <p:sldId id="698" r:id="rId154"/>
    <p:sldId id="699" r:id="rId155"/>
    <p:sldId id="700" r:id="rId156"/>
    <p:sldId id="701" r:id="rId157"/>
    <p:sldId id="702" r:id="rId158"/>
    <p:sldId id="703" r:id="rId159"/>
    <p:sldId id="704" r:id="rId160"/>
    <p:sldId id="705" r:id="rId161"/>
    <p:sldId id="706" r:id="rId162"/>
    <p:sldId id="707" r:id="rId163"/>
    <p:sldId id="708" r:id="rId164"/>
    <p:sldId id="709" r:id="rId165"/>
    <p:sldId id="710" r:id="rId166"/>
    <p:sldId id="711" r:id="rId167"/>
    <p:sldId id="712" r:id="rId168"/>
    <p:sldId id="713" r:id="rId169"/>
    <p:sldId id="714" r:id="rId170"/>
    <p:sldId id="715" r:id="rId171"/>
    <p:sldId id="716" r:id="rId172"/>
    <p:sldId id="717" r:id="rId173"/>
    <p:sldId id="718" r:id="rId174"/>
    <p:sldId id="719" r:id="rId175"/>
    <p:sldId id="720" r:id="rId176"/>
    <p:sldId id="721" r:id="rId177"/>
    <p:sldId id="722" r:id="rId178"/>
    <p:sldId id="723" r:id="rId179"/>
    <p:sldId id="724" r:id="rId180"/>
    <p:sldId id="725" r:id="rId181"/>
    <p:sldId id="726" r:id="rId182"/>
    <p:sldId id="727" r:id="rId183"/>
    <p:sldId id="732" r:id="rId184"/>
    <p:sldId id="733" r:id="rId185"/>
    <p:sldId id="728" r:id="rId186"/>
    <p:sldId id="729" r:id="rId187"/>
    <p:sldId id="730" r:id="rId188"/>
    <p:sldId id="731" r:id="rId189"/>
    <p:sldId id="734" r:id="rId190"/>
    <p:sldId id="735" r:id="rId191"/>
    <p:sldId id="736" r:id="rId192"/>
    <p:sldId id="737" r:id="rId193"/>
    <p:sldId id="738" r:id="rId194"/>
    <p:sldId id="739" r:id="rId195"/>
    <p:sldId id="740" r:id="rId196"/>
    <p:sldId id="741" r:id="rId197"/>
    <p:sldId id="742" r:id="rId198"/>
    <p:sldId id="743" r:id="rId199"/>
    <p:sldId id="744" r:id="rId200"/>
    <p:sldId id="745" r:id="rId201"/>
    <p:sldId id="746" r:id="rId202"/>
    <p:sldId id="747" r:id="rId203"/>
    <p:sldId id="748" r:id="rId204"/>
    <p:sldId id="749" r:id="rId205"/>
    <p:sldId id="750" r:id="rId206"/>
    <p:sldId id="751" r:id="rId207"/>
    <p:sldId id="752" r:id="rId208"/>
    <p:sldId id="753" r:id="rId209"/>
    <p:sldId id="754" r:id="rId210"/>
    <p:sldId id="891" r:id="rId211"/>
    <p:sldId id="755" r:id="rId212"/>
    <p:sldId id="756" r:id="rId213"/>
    <p:sldId id="757" r:id="rId214"/>
    <p:sldId id="758" r:id="rId215"/>
    <p:sldId id="759" r:id="rId216"/>
    <p:sldId id="760" r:id="rId217"/>
    <p:sldId id="761" r:id="rId218"/>
    <p:sldId id="762" r:id="rId219"/>
    <p:sldId id="763" r:id="rId220"/>
    <p:sldId id="764" r:id="rId221"/>
    <p:sldId id="901" r:id="rId222"/>
    <p:sldId id="765" r:id="rId223"/>
    <p:sldId id="766" r:id="rId224"/>
    <p:sldId id="767" r:id="rId225"/>
    <p:sldId id="768" r:id="rId226"/>
    <p:sldId id="769" r:id="rId227"/>
    <p:sldId id="770" r:id="rId228"/>
    <p:sldId id="771" r:id="rId229"/>
    <p:sldId id="625" r:id="rId230"/>
    <p:sldId id="774" r:id="rId231"/>
    <p:sldId id="775" r:id="rId232"/>
    <p:sldId id="776" r:id="rId233"/>
    <p:sldId id="777" r:id="rId234"/>
    <p:sldId id="778" r:id="rId235"/>
    <p:sldId id="779" r:id="rId236"/>
    <p:sldId id="780" r:id="rId237"/>
    <p:sldId id="781" r:id="rId238"/>
    <p:sldId id="782" r:id="rId239"/>
    <p:sldId id="783" r:id="rId240"/>
    <p:sldId id="784" r:id="rId241"/>
    <p:sldId id="785" r:id="rId242"/>
    <p:sldId id="786" r:id="rId243"/>
    <p:sldId id="787" r:id="rId244"/>
    <p:sldId id="788" r:id="rId245"/>
    <p:sldId id="789" r:id="rId246"/>
    <p:sldId id="790" r:id="rId247"/>
    <p:sldId id="791" r:id="rId248"/>
    <p:sldId id="792" r:id="rId249"/>
    <p:sldId id="793" r:id="rId250"/>
    <p:sldId id="794" r:id="rId251"/>
    <p:sldId id="795" r:id="rId252"/>
    <p:sldId id="796" r:id="rId253"/>
    <p:sldId id="797" r:id="rId254"/>
    <p:sldId id="798" r:id="rId255"/>
    <p:sldId id="799" r:id="rId256"/>
    <p:sldId id="800" r:id="rId257"/>
    <p:sldId id="801" r:id="rId258"/>
    <p:sldId id="802" r:id="rId259"/>
    <p:sldId id="803" r:id="rId260"/>
    <p:sldId id="804" r:id="rId261"/>
    <p:sldId id="805" r:id="rId262"/>
    <p:sldId id="806" r:id="rId263"/>
    <p:sldId id="807" r:id="rId264"/>
    <p:sldId id="808" r:id="rId265"/>
    <p:sldId id="809" r:id="rId266"/>
    <p:sldId id="810" r:id="rId267"/>
    <p:sldId id="811" r:id="rId268"/>
    <p:sldId id="812" r:id="rId269"/>
    <p:sldId id="813" r:id="rId270"/>
    <p:sldId id="814" r:id="rId271"/>
    <p:sldId id="815" r:id="rId272"/>
    <p:sldId id="816" r:id="rId273"/>
    <p:sldId id="817" r:id="rId274"/>
    <p:sldId id="818" r:id="rId275"/>
    <p:sldId id="819" r:id="rId276"/>
    <p:sldId id="820" r:id="rId277"/>
    <p:sldId id="821" r:id="rId278"/>
    <p:sldId id="822" r:id="rId279"/>
    <p:sldId id="823" r:id="rId280"/>
    <p:sldId id="824" r:id="rId281"/>
    <p:sldId id="825" r:id="rId282"/>
    <p:sldId id="826" r:id="rId283"/>
    <p:sldId id="827" r:id="rId284"/>
    <p:sldId id="828" r:id="rId285"/>
    <p:sldId id="829" r:id="rId286"/>
    <p:sldId id="830" r:id="rId287"/>
    <p:sldId id="831" r:id="rId288"/>
    <p:sldId id="832" r:id="rId289"/>
    <p:sldId id="833" r:id="rId290"/>
    <p:sldId id="834" r:id="rId291"/>
    <p:sldId id="835" r:id="rId292"/>
    <p:sldId id="836" r:id="rId293"/>
    <p:sldId id="837" r:id="rId294"/>
    <p:sldId id="838" r:id="rId295"/>
    <p:sldId id="839" r:id="rId296"/>
    <p:sldId id="840" r:id="rId297"/>
    <p:sldId id="841" r:id="rId298"/>
    <p:sldId id="842" r:id="rId299"/>
    <p:sldId id="843" r:id="rId300"/>
    <p:sldId id="844" r:id="rId301"/>
    <p:sldId id="845" r:id="rId302"/>
    <p:sldId id="846" r:id="rId303"/>
    <p:sldId id="847" r:id="rId304"/>
    <p:sldId id="850" r:id="rId305"/>
    <p:sldId id="872" r:id="rId306"/>
    <p:sldId id="878" r:id="rId307"/>
    <p:sldId id="893" r:id="rId308"/>
    <p:sldId id="894" r:id="rId309"/>
    <p:sldId id="895" r:id="rId310"/>
    <p:sldId id="897" r:id="rId311"/>
    <p:sldId id="896" r:id="rId312"/>
    <p:sldId id="898" r:id="rId313"/>
    <p:sldId id="899" r:id="rId314"/>
    <p:sldId id="900" r:id="rId315"/>
    <p:sldId id="892" r:id="rId316"/>
    <p:sldId id="873" r:id="rId317"/>
    <p:sldId id="880" r:id="rId318"/>
    <p:sldId id="881" r:id="rId319"/>
    <p:sldId id="882" r:id="rId320"/>
    <p:sldId id="883" r:id="rId321"/>
    <p:sldId id="884" r:id="rId322"/>
    <p:sldId id="885" r:id="rId323"/>
    <p:sldId id="886" r:id="rId324"/>
    <p:sldId id="887" r:id="rId325"/>
    <p:sldId id="888" r:id="rId326"/>
    <p:sldId id="889" r:id="rId327"/>
    <p:sldId id="890" r:id="rId328"/>
    <p:sldId id="879" r:id="rId329"/>
    <p:sldId id="874" r:id="rId330"/>
    <p:sldId id="875" r:id="rId331"/>
    <p:sldId id="876" r:id="rId332"/>
    <p:sldId id="877" r:id="rId333"/>
    <p:sldId id="871" r:id="rId334"/>
    <p:sldId id="772" r:id="rId335"/>
    <p:sldId id="420" r:id="rId336"/>
    <p:sldId id="421" r:id="rId337"/>
    <p:sldId id="438" r:id="rId338"/>
    <p:sldId id="423" r:id="rId339"/>
    <p:sldId id="424" r:id="rId340"/>
    <p:sldId id="434" r:id="rId341"/>
    <p:sldId id="436" r:id="rId342"/>
    <p:sldId id="435" r:id="rId343"/>
    <p:sldId id="437" r:id="rId344"/>
    <p:sldId id="439" r:id="rId345"/>
    <p:sldId id="440" r:id="rId346"/>
    <p:sldId id="441" r:id="rId347"/>
    <p:sldId id="442" r:id="rId348"/>
    <p:sldId id="443" r:id="rId349"/>
    <p:sldId id="446" r:id="rId350"/>
    <p:sldId id="447" r:id="rId351"/>
    <p:sldId id="448" r:id="rId352"/>
    <p:sldId id="865" r:id="rId353"/>
    <p:sldId id="449" r:id="rId354"/>
    <p:sldId id="450" r:id="rId355"/>
    <p:sldId id="451" r:id="rId356"/>
    <p:sldId id="452" r:id="rId357"/>
    <p:sldId id="453" r:id="rId358"/>
    <p:sldId id="456" r:id="rId359"/>
    <p:sldId id="454" r:id="rId360"/>
    <p:sldId id="455" r:id="rId361"/>
    <p:sldId id="457" r:id="rId362"/>
    <p:sldId id="458" r:id="rId363"/>
    <p:sldId id="462" r:id="rId364"/>
    <p:sldId id="463" r:id="rId365"/>
    <p:sldId id="467" r:id="rId366"/>
    <p:sldId id="466" r:id="rId367"/>
    <p:sldId id="464" r:id="rId368"/>
    <p:sldId id="465" r:id="rId369"/>
    <p:sldId id="468" r:id="rId370"/>
    <p:sldId id="469" r:id="rId371"/>
    <p:sldId id="470" r:id="rId372"/>
    <p:sldId id="471" r:id="rId373"/>
    <p:sldId id="472" r:id="rId374"/>
    <p:sldId id="473" r:id="rId375"/>
    <p:sldId id="474" r:id="rId376"/>
    <p:sldId id="475" r:id="rId377"/>
    <p:sldId id="476" r:id="rId378"/>
    <p:sldId id="477" r:id="rId379"/>
    <p:sldId id="478" r:id="rId380"/>
    <p:sldId id="479" r:id="rId381"/>
    <p:sldId id="480" r:id="rId382"/>
    <p:sldId id="482" r:id="rId383"/>
    <p:sldId id="481" r:id="rId38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660033"/>
    <a:srgbClr val="66CC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01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9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66" Type="http://schemas.openxmlformats.org/officeDocument/2006/relationships/slide" Target="slides/slide365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377" Type="http://schemas.openxmlformats.org/officeDocument/2006/relationships/slide" Target="slides/slide376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46" Type="http://schemas.openxmlformats.org/officeDocument/2006/relationships/slide" Target="slides/slide345.xml"/><Relationship Id="rId388" Type="http://schemas.openxmlformats.org/officeDocument/2006/relationships/tableStyles" Target="tableStyles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241" Type="http://schemas.openxmlformats.org/officeDocument/2006/relationships/slide" Target="slides/slide240.xml"/><Relationship Id="rId36" Type="http://schemas.openxmlformats.org/officeDocument/2006/relationships/slide" Target="slides/slide35.xml"/><Relationship Id="rId283" Type="http://schemas.openxmlformats.org/officeDocument/2006/relationships/slide" Target="slides/slide282.xml"/><Relationship Id="rId339" Type="http://schemas.openxmlformats.org/officeDocument/2006/relationships/slide" Target="slides/slide338.xml"/><Relationship Id="rId78" Type="http://schemas.openxmlformats.org/officeDocument/2006/relationships/slide" Target="slides/slide77.xml"/><Relationship Id="rId101" Type="http://schemas.openxmlformats.org/officeDocument/2006/relationships/slide" Target="slides/slide100.xml"/><Relationship Id="rId143" Type="http://schemas.openxmlformats.org/officeDocument/2006/relationships/slide" Target="slides/slide142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52" Type="http://schemas.openxmlformats.org/officeDocument/2006/relationships/slide" Target="slides/slide25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361" Type="http://schemas.openxmlformats.org/officeDocument/2006/relationships/slide" Target="slides/slide360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72" Type="http://schemas.openxmlformats.org/officeDocument/2006/relationships/slide" Target="slides/slide371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362" Type="http://schemas.openxmlformats.org/officeDocument/2006/relationships/slide" Target="slides/slide361.xml"/><Relationship Id="rId383" Type="http://schemas.openxmlformats.org/officeDocument/2006/relationships/slide" Target="slides/slide382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373" Type="http://schemas.openxmlformats.org/officeDocument/2006/relationships/slide" Target="slides/slide372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363" Type="http://schemas.openxmlformats.org/officeDocument/2006/relationships/slide" Target="slides/slide362.xml"/><Relationship Id="rId384" Type="http://schemas.openxmlformats.org/officeDocument/2006/relationships/slide" Target="slides/slide383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374" Type="http://schemas.openxmlformats.org/officeDocument/2006/relationships/slide" Target="slides/slide373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385" Type="http://schemas.openxmlformats.org/officeDocument/2006/relationships/presProps" Target="presProps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75" Type="http://schemas.openxmlformats.org/officeDocument/2006/relationships/slide" Target="slides/slide374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65" Type="http://schemas.openxmlformats.org/officeDocument/2006/relationships/slide" Target="slides/slide364.xml"/><Relationship Id="rId386" Type="http://schemas.openxmlformats.org/officeDocument/2006/relationships/viewProps" Target="viewProp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55" Type="http://schemas.openxmlformats.org/officeDocument/2006/relationships/slide" Target="slides/slide354.xml"/><Relationship Id="rId376" Type="http://schemas.openxmlformats.org/officeDocument/2006/relationships/slide" Target="slides/slide375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theme" Target="theme/theme1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240" Type="http://schemas.openxmlformats.org/officeDocument/2006/relationships/slide" Target="slides/slide239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251" Type="http://schemas.openxmlformats.org/officeDocument/2006/relationships/slide" Target="slides/slide250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220" Type="http://schemas.openxmlformats.org/officeDocument/2006/relationships/slide" Target="slides/slide219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119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119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85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97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41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74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90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03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82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69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74D3F-32B0-4D15-BB39-E7322BBA7B20}" type="datetimeFigureOut">
              <a:rPr lang="ko-KR" altLang="en-US" smtClean="0"/>
              <a:pPr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18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eartcom@naver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raspberrypi.org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raspberrypi.org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raspberrypi.org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hyperlink" Target="https://www.raspberrypi.org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sdcard.org/downloads/formatter_4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in32-disk-imager.kr.uptodown.com/windows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.kr/url?sa=i&amp;source=images&amp;cd=&amp;cad=rja&amp;uact=8&amp;ved=2ahUKEwiGrqXy4ZXbAhVIT7wKHQhmBWwQjRx6BAgBEAU&amp;url=http://hinco.tistory.com/4&amp;psig=AOvVaw2Whdh4hiGdp_vk4-zB8ose&amp;ust=1526951966862791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www.chiark.greenend.org.uk/~sgtatham/putty/latest.html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cademy.com/" TargetMode="Externa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defights.com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kjcoder.tistory.com/463https:/www.jetbrains.com/pycharm/download/#section=windows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functions.html" TargetMode="Externa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hyperlink" Target="http://python.org/" TargetMode="Externa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python.org/packages/cc/74/11b04703ec416717b247d789103277269d567db575d2fd88f25d9767fe3d/pyserial-3.4.tar.gz#md5=ed6183b15519a0ae96675e9c3330c69b" TargetMode="External"/><Relationship Id="rId2" Type="http://schemas.openxmlformats.org/officeDocument/2006/relationships/hyperlink" Target="https://pypi.python.org/pypi/pyserial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ourceforge.net/projects/pywin32/files/?source=navbar" TargetMode="External"/><Relationship Id="rId4" Type="http://schemas.openxmlformats.org/officeDocument/2006/relationships/hyperlink" Target="https://pypi.python.org/pypi?:action=show_md5&amp;digest=ed6183b15519a0ae96675e9c3330c69b" TargetMode="Externa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ywenderlich.com/24252/beginning-game-programming-for-teens-with-python" TargetMode="External"/><Relationship Id="rId2" Type="http://schemas.openxmlformats.org/officeDocument/2006/relationships/hyperlink" Target="https://www.raywenderlich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3.png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4.png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.xml"/></Relationships>
</file>

<file path=ppt/slides/_rels/slide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jpeg"/><Relationship Id="rId1" Type="http://schemas.openxmlformats.org/officeDocument/2006/relationships/slideLayout" Target="../slideLayouts/slideLayout1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jpeg"/><Relationship Id="rId1" Type="http://schemas.openxmlformats.org/officeDocument/2006/relationships/slideLayout" Target="../slideLayouts/slideLayout1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jpeg"/><Relationship Id="rId1" Type="http://schemas.openxmlformats.org/officeDocument/2006/relationships/slideLayout" Target="../slideLayouts/slideLayout1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jpeg"/><Relationship Id="rId1" Type="http://schemas.openxmlformats.org/officeDocument/2006/relationships/slideLayout" Target="../slideLayouts/slideLayout1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.xml"/></Relationships>
</file>

<file path=ppt/slides/_rels/slide3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.xml"/></Relationships>
</file>

<file path=ppt/slides/_rels/slide3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.xml"/></Relationships>
</file>

<file path=ppt/slides/_rels/slide3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1.xml"/></Relationships>
</file>

<file path=ppt/slides/_rels/slide3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.xml"/></Relationships>
</file>

<file path=ppt/slides/_rels/slide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.xml"/></Relationships>
</file>

<file path=ppt/slides/_rels/slide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.xml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/Relationships>
</file>

<file path=ppt/slides/_rels/slide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/Relationships>
</file>

<file path=ppt/slides/_rels/slide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.xml"/></Relationships>
</file>

<file path=ppt/slides/_rels/slide3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/Relationships>
</file>

<file path=ppt/slides/_rels/slide3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.xml"/></Relationships>
</file>

<file path=ppt/slides/_rels/slide3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.xml"/></Relationships>
</file>

<file path=ppt/slides/_rels/slide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.xml"/></Relationships>
</file>

<file path=ppt/slides/_rels/slide3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0" y="861277"/>
            <a:ext cx="9144000" cy="4644"/>
          </a:xfrm>
          <a:prstGeom prst="line">
            <a:avLst/>
          </a:prstGeom>
          <a:ln w="34925" cmpd="thinThick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0" y="1748626"/>
            <a:ext cx="9143999" cy="13234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altLang="ko-KR" sz="4800" b="1" smtClean="0">
                <a:solidFill>
                  <a:srgbClr val="0000FF"/>
                </a:solidFill>
                <a:latin typeface="+mn-ea"/>
              </a:rPr>
              <a:t>IoT </a:t>
            </a:r>
            <a:r>
              <a:rPr lang="en-US" altLang="ko-KR" sz="4800" b="1" smtClean="0">
                <a:solidFill>
                  <a:srgbClr val="0000FF"/>
                </a:solidFill>
                <a:latin typeface="+mn-ea"/>
              </a:rPr>
              <a:t>Project</a:t>
            </a:r>
          </a:p>
          <a:p>
            <a:pPr algn="ctr" fontAlgn="base"/>
            <a:r>
              <a:rPr lang="en-US" altLang="ko-KR" sz="3200" b="1" smtClean="0">
                <a:solidFill>
                  <a:srgbClr val="000099"/>
                </a:solidFill>
                <a:latin typeface="+mn-ea"/>
              </a:rPr>
              <a:t>Python</a:t>
            </a:r>
            <a:endParaRPr lang="en-US" altLang="ko-KR" sz="3200" b="1" dirty="0" smtClean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3425589" y="4265671"/>
            <a:ext cx="2241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 smtClean="0">
                <a:latin typeface="+mn-ea"/>
              </a:rPr>
              <a:t>YoungDal</a:t>
            </a:r>
            <a:r>
              <a:rPr lang="en-US" altLang="ko-KR" sz="2400" b="1" dirty="0" smtClean="0">
                <a:latin typeface="+mn-ea"/>
              </a:rPr>
              <a:t> Son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2191197" y="5365046"/>
            <a:ext cx="4769062" cy="88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00"/>
              </a:lnSpc>
            </a:pPr>
            <a:r>
              <a:rPr lang="en-US" altLang="ko-KR" sz="2000" b="1" dirty="0" smtClean="0">
                <a:latin typeface="+mn-ea"/>
              </a:rPr>
              <a:t> </a:t>
            </a:r>
            <a:r>
              <a:rPr lang="en-US" altLang="ko-KR" sz="2000" b="1" dirty="0" smtClean="0">
                <a:latin typeface="+mn-ea"/>
                <a:hlinkClick r:id="rId2"/>
              </a:rPr>
              <a:t>heartcom@naver.com</a:t>
            </a:r>
            <a:endParaRPr lang="en-US" altLang="ko-KR" sz="2000" b="1" dirty="0" smtClean="0">
              <a:latin typeface="+mn-ea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 smtClean="0">
                <a:latin typeface="+mn-ea"/>
              </a:rPr>
              <a:t>https://www.facebook.com/heartcom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113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113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8" name="Rectangle 2"/>
          <p:cNvSpPr>
            <a:spLocks noChangeArrowheads="1"/>
          </p:cNvSpPr>
          <p:nvPr/>
        </p:nvSpPr>
        <p:spPr bwMode="auto">
          <a:xfrm>
            <a:off x="0" y="2016456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2016456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0" y="1955472"/>
            <a:ext cx="9144000" cy="1405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ctr"/>
            <a:r>
              <a:rPr lang="en-US" altLang="ko-KR" sz="4000" b="1" dirty="0" smtClean="0">
                <a:solidFill>
                  <a:schemeClr val="tx1"/>
                </a:solidFill>
                <a:latin typeface="+mn-ea"/>
              </a:rPr>
              <a:t>Raspberry Pi</a:t>
            </a:r>
            <a:endParaRPr lang="ko-KR" altLang="en-US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sz="2000" b="1" dirty="0" err="1" smtClean="0">
                <a:solidFill>
                  <a:schemeClr val="tx1"/>
                </a:solidFill>
                <a:latin typeface="+mn-ea"/>
              </a:rPr>
              <a:t>Raspberrypi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Image Download  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  <a:hlinkClick r:id="rId2"/>
              </a:rPr>
              <a:t>https://www.raspberrypi.org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"/>
            <a:ext cx="9144000" cy="6400800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4747846" y="1216152"/>
            <a:ext cx="967154" cy="384048"/>
          </a:xfrm>
          <a:prstGeom prst="round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2123504"/>
            <a:ext cx="3130296" cy="990840"/>
          </a:xfrm>
          <a:prstGeom prst="rect">
            <a:avLst/>
          </a:prstGeom>
          <a:ln w="31750">
            <a:solidFill>
              <a:srgbClr val="000099"/>
            </a:solidFill>
          </a:ln>
        </p:spPr>
      </p:pic>
      <p:cxnSp>
        <p:nvCxnSpPr>
          <p:cNvPr id="6" name="직선 화살표 연결선 5"/>
          <p:cNvCxnSpPr>
            <a:stCxn id="3" idx="2"/>
            <a:endCxn id="4" idx="0"/>
          </p:cNvCxnSpPr>
          <p:nvPr/>
        </p:nvCxnSpPr>
        <p:spPr>
          <a:xfrm flipH="1">
            <a:off x="4149852" y="1600200"/>
            <a:ext cx="1081571" cy="523304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사각형 설명선 10"/>
          <p:cNvSpPr/>
          <p:nvPr/>
        </p:nvSpPr>
        <p:spPr>
          <a:xfrm>
            <a:off x="5795303" y="1664208"/>
            <a:ext cx="2002536" cy="530352"/>
          </a:xfrm>
          <a:prstGeom prst="wedgeRoundRectCallout">
            <a:avLst>
              <a:gd name="adj1" fmla="val -93436"/>
              <a:gd name="adj2" fmla="val -34559"/>
              <a:gd name="adj3" fmla="val 16667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1. Computers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</a:rPr>
              <a:t>에 마우스를 가져가면 아래 화면 나타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남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2678254" y="2611876"/>
            <a:ext cx="1582850" cy="502468"/>
          </a:xfrm>
          <a:prstGeom prst="round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사각형 설명선 14"/>
          <p:cNvSpPr/>
          <p:nvPr/>
        </p:nvSpPr>
        <p:spPr>
          <a:xfrm>
            <a:off x="4761093" y="2717864"/>
            <a:ext cx="1047457" cy="530352"/>
          </a:xfrm>
          <a:prstGeom prst="wedgeRoundRectCallout">
            <a:avLst>
              <a:gd name="adj1" fmla="val -93436"/>
              <a:gd name="adj2" fmla="val -34559"/>
              <a:gd name="adj3" fmla="val 16667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2</a:t>
            </a:r>
            <a:r>
              <a:rPr lang="en-US" altLang="ko-KR" sz="1200" b="1" smtClean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</a:rPr>
              <a:t>클릭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069" y="3586976"/>
            <a:ext cx="3812755" cy="1644332"/>
          </a:xfrm>
          <a:prstGeom prst="rect">
            <a:avLst/>
          </a:prstGeom>
          <a:ln>
            <a:solidFill>
              <a:srgbClr val="0000FF"/>
            </a:solidFill>
          </a:ln>
        </p:spPr>
      </p:pic>
      <p:cxnSp>
        <p:nvCxnSpPr>
          <p:cNvPr id="17" name="직선 화살표 연결선 16"/>
          <p:cNvCxnSpPr>
            <a:stCxn id="14" idx="2"/>
          </p:cNvCxnSpPr>
          <p:nvPr/>
        </p:nvCxnSpPr>
        <p:spPr>
          <a:xfrm flipH="1">
            <a:off x="3431858" y="3114344"/>
            <a:ext cx="37821" cy="45720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사각형 설명선 20"/>
          <p:cNvSpPr/>
          <p:nvPr/>
        </p:nvSpPr>
        <p:spPr>
          <a:xfrm>
            <a:off x="3845052" y="3657600"/>
            <a:ext cx="1453896" cy="530352"/>
          </a:xfrm>
          <a:prstGeom prst="wedgeRoundRectCallout">
            <a:avLst>
              <a:gd name="adj1" fmla="val -93436"/>
              <a:gd name="adj2" fmla="val -34559"/>
              <a:gd name="adj3" fmla="val 16667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3. raspberrypi.com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</a:rPr>
              <a:t>으로 이동함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1575" y="5456671"/>
            <a:ext cx="2466975" cy="1381125"/>
          </a:xfrm>
          <a:prstGeom prst="rect">
            <a:avLst/>
          </a:prstGeom>
          <a:ln w="12700">
            <a:solidFill>
              <a:srgbClr val="0000FF"/>
            </a:solidFill>
          </a:ln>
        </p:spPr>
      </p:pic>
      <p:cxnSp>
        <p:nvCxnSpPr>
          <p:cNvPr id="23" name="직선 화살표 연결선 22"/>
          <p:cNvCxnSpPr/>
          <p:nvPr/>
        </p:nvCxnSpPr>
        <p:spPr>
          <a:xfrm>
            <a:off x="4149853" y="5237073"/>
            <a:ext cx="111251" cy="219598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사각형 설명선 24"/>
          <p:cNvSpPr/>
          <p:nvPr/>
        </p:nvSpPr>
        <p:spPr>
          <a:xfrm>
            <a:off x="6009718" y="6147233"/>
            <a:ext cx="1772412" cy="530352"/>
          </a:xfrm>
          <a:prstGeom prst="wedgeRoundRectCallout">
            <a:avLst>
              <a:gd name="adj1" fmla="val -93436"/>
              <a:gd name="adj2" fmla="val -34559"/>
              <a:gd name="adj3" fmla="val 16667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4. Raspberry Pi</a:t>
            </a:r>
          </a:p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Imager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</a:rPr>
              <a:t>클릭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3611997" y="6174665"/>
            <a:ext cx="1582850" cy="267148"/>
          </a:xfrm>
          <a:prstGeom prst="round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sz="2000" b="1" dirty="0" err="1" smtClean="0">
                <a:solidFill>
                  <a:schemeClr val="tx1"/>
                </a:solidFill>
                <a:latin typeface="+mn-ea"/>
              </a:rPr>
              <a:t>Raspberrypi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Image Download  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  <a:hlinkClick r:id="rId2"/>
              </a:rPr>
              <a:t>https://www.raspberrypi.org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"/>
            <a:ext cx="9153144" cy="6400800"/>
          </a:xfrm>
          <a:prstGeom prst="rect">
            <a:avLst/>
          </a:prstGeom>
        </p:spPr>
      </p:pic>
      <p:sp>
        <p:nvSpPr>
          <p:cNvPr id="20" name="모서리가 둥근 직사각형 19"/>
          <p:cNvSpPr/>
          <p:nvPr/>
        </p:nvSpPr>
        <p:spPr>
          <a:xfrm>
            <a:off x="565990" y="5217916"/>
            <a:ext cx="2707562" cy="69825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사각형 설명선 21"/>
          <p:cNvSpPr/>
          <p:nvPr/>
        </p:nvSpPr>
        <p:spPr>
          <a:xfrm>
            <a:off x="3727821" y="5385816"/>
            <a:ext cx="1047457" cy="530352"/>
          </a:xfrm>
          <a:prstGeom prst="wedgeRoundRectCallout">
            <a:avLst>
              <a:gd name="adj1" fmla="val -93436"/>
              <a:gd name="adj2" fmla="val -34559"/>
              <a:gd name="adj3" fmla="val 16667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</a:rPr>
              <a:t>클릭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092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sz="2000" b="1" dirty="0" err="1" smtClean="0">
                <a:solidFill>
                  <a:schemeClr val="tx1"/>
                </a:solidFill>
                <a:latin typeface="+mn-ea"/>
              </a:rPr>
              <a:t>Raspberrypi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Image Download  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  <a:hlinkClick r:id="rId2"/>
              </a:rPr>
              <a:t>https://www.raspberrypi.org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15" y="549821"/>
            <a:ext cx="3985451" cy="3060826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552" y="577253"/>
            <a:ext cx="3931923" cy="306082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15" y="3756951"/>
            <a:ext cx="3985451" cy="310335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552" y="3799484"/>
            <a:ext cx="3931923" cy="306082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6" name="오른쪽 화살표 5"/>
          <p:cNvSpPr/>
          <p:nvPr/>
        </p:nvSpPr>
        <p:spPr>
          <a:xfrm>
            <a:off x="4459224" y="1609344"/>
            <a:ext cx="204216" cy="69494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 rot="19227681" flipH="1">
            <a:off x="3944042" y="3688357"/>
            <a:ext cx="1225433" cy="22225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4454650" y="4872830"/>
            <a:ext cx="204216" cy="69494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44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sz="2000" b="1" dirty="0" err="1" smtClean="0">
                <a:solidFill>
                  <a:schemeClr val="tx1"/>
                </a:solidFill>
                <a:latin typeface="+mn-ea"/>
              </a:rPr>
              <a:t>Raspberrypi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Image Download  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  <a:hlinkClick r:id="rId2"/>
              </a:rPr>
              <a:t>https://www.raspberrypi.org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3" y="648407"/>
            <a:ext cx="4064198" cy="2661721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93" y="3624561"/>
            <a:ext cx="4106799" cy="2603795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875" y="648407"/>
            <a:ext cx="4157645" cy="2630786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3868" y="2604532"/>
            <a:ext cx="3739658" cy="1411192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4868325"/>
            <a:ext cx="3525583" cy="140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4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라즈베리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파이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(Raspberry Pi)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모듈의 사양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" name="tabl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878" y="909058"/>
            <a:ext cx="8352244" cy="5858764"/>
          </a:xfrm>
          <a:prstGeom prst="rect">
            <a:avLst/>
          </a:prstGeom>
        </p:spPr>
      </p:pic>
      <p:pic>
        <p:nvPicPr>
          <p:cNvPr id="10" name="_x178107992" descr="EMB000009f824e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3" t="4997" r="4414" b="4173"/>
          <a:stretch>
            <a:fillRect/>
          </a:stretch>
        </p:blipFill>
        <p:spPr bwMode="auto">
          <a:xfrm>
            <a:off x="539894" y="1485124"/>
            <a:ext cx="2880320" cy="3912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라즈베리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파이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(Raspberry Pi)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의 구성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_x641994568" descr="EMB00000d682c8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" t="9349" r="3876" b="5736"/>
          <a:stretch>
            <a:fillRect/>
          </a:stretch>
        </p:blipFill>
        <p:spPr bwMode="auto">
          <a:xfrm>
            <a:off x="0" y="905208"/>
            <a:ext cx="9144000" cy="595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SDFormatter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 및 실행하기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20722" y="1004079"/>
            <a:ext cx="7212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latin typeface="+mn-ea"/>
                <a:hlinkClick r:id="rId2"/>
              </a:rPr>
              <a:t>https://www.sdcard.org/downloads/formatter_4/</a:t>
            </a:r>
            <a:endParaRPr lang="ko-KR" altLang="en-US" b="1" dirty="0">
              <a:latin typeface="+mn-ea"/>
            </a:endParaRPr>
          </a:p>
        </p:txBody>
      </p:sp>
      <p:pic>
        <p:nvPicPr>
          <p:cNvPr id="6" name="_x641992328" descr="EMB00000d682ca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" t="6041" r="2368" b="5612"/>
          <a:stretch>
            <a:fillRect/>
          </a:stretch>
        </p:blipFill>
        <p:spPr bwMode="auto">
          <a:xfrm>
            <a:off x="772993" y="1786378"/>
            <a:ext cx="7488832" cy="339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Disk Imager Download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8836" y="1045023"/>
            <a:ext cx="89051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latin typeface="+mn-ea"/>
                <a:hlinkClick r:id="rId2"/>
              </a:rPr>
              <a:t>https://win32-disk-imager.kr.uptodown.com/windows</a:t>
            </a:r>
            <a:endParaRPr lang="ko-KR" altLang="en-US" b="1" dirty="0">
              <a:latin typeface="+mn-ea"/>
            </a:endParaRPr>
          </a:p>
        </p:txBody>
      </p:sp>
      <p:pic>
        <p:nvPicPr>
          <p:cNvPr id="2" name="Picture 2" descr="Win32 Disk Imager screenshot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0471" y="1903863"/>
            <a:ext cx="5619750" cy="2857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Raspberry Pi 7”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Touchscreen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Display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Picture 4" descr="https://files1.element14.com/community/themes/images/piaccessories/PiDisplay_stp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459" y="1212392"/>
            <a:ext cx="6457900" cy="48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Raspberry Pi 7”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Touchscreen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Display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" name="Picture 4" descr="https://files1.element14.com/community/themes/images/piaccessories/PiDisplay_stp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73" y="1217778"/>
            <a:ext cx="7463621" cy="452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Raspberry Pi 7”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Touchscreen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Display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" name="Picture 2" descr="https://files1.element14.com/community/themes/images/piaccessories/PiDisplay_stp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50" y="955343"/>
            <a:ext cx="8617499" cy="579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220871" y="2565765"/>
            <a:ext cx="1187355" cy="709698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Raspberry Pi 7”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Touchscreen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Display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Picture 2" descr="7 inch touch raspberry pi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59" y="1052736"/>
            <a:ext cx="727628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라즈베리파이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UART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로 제어하기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926275"/>
            <a:ext cx="567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FF0000"/>
                </a:solidFill>
              </a:rPr>
              <a:t>  USB Keyboard, Mouse, HDMI Display</a:t>
            </a:r>
            <a:r>
              <a:rPr lang="ko-KR" altLang="en-US" b="1" dirty="0" smtClean="0">
                <a:solidFill>
                  <a:srgbClr val="FF0000"/>
                </a:solidFill>
              </a:rPr>
              <a:t>가 없는 경우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9312" y="1686296"/>
            <a:ext cx="3476236" cy="455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Image result for raspberry pi 아두이노 uart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60266" y="1284550"/>
            <a:ext cx="3829050" cy="53721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7600208" y="3384468"/>
            <a:ext cx="1279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1.6K </a:t>
            </a:r>
            <a:r>
              <a:rPr lang="en-US" altLang="ko-KR" dirty="0" smtClean="0">
                <a:sym typeface="Wingdings" pitchFamily="2" charset="2"/>
              </a:rPr>
              <a:t> 400</a:t>
            </a:r>
          </a:p>
          <a:p>
            <a:r>
              <a:rPr lang="en-US" altLang="ko-KR" dirty="0" smtClean="0">
                <a:sym typeface="Wingdings" pitchFamily="2" charset="2"/>
              </a:rPr>
              <a:t>3.3K  600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라즈베리파이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UART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로 제어하기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121" y="1030742"/>
            <a:ext cx="8096250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라즈베리파이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UART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로 제어하기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1886" y="1211283"/>
            <a:ext cx="1629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  Putty</a:t>
            </a:r>
            <a:r>
              <a:rPr lang="ko-KR" altLang="en-US" b="1" dirty="0" smtClean="0">
                <a:solidFill>
                  <a:srgbClr val="0000FF"/>
                </a:solidFill>
              </a:rPr>
              <a:t>로 연결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704" y="1630260"/>
            <a:ext cx="4105593" cy="3939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8081" y="1708267"/>
            <a:ext cx="45529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391891" y="1114303"/>
            <a:ext cx="2658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  </a:t>
            </a:r>
            <a:r>
              <a:rPr lang="ko-KR" altLang="en-US" b="1" dirty="0" smtClean="0">
                <a:solidFill>
                  <a:srgbClr val="0000FF"/>
                </a:solidFill>
              </a:rPr>
              <a:t>빈 화면에서 </a:t>
            </a:r>
            <a:r>
              <a:rPr lang="en-US" altLang="ko-KR" b="1" dirty="0" smtClean="0">
                <a:solidFill>
                  <a:srgbClr val="0000FF"/>
                </a:solidFill>
              </a:rPr>
              <a:t>Enter</a:t>
            </a:r>
          </a:p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  ID : pi,  PWD : raspberry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한글 설정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839568" y="1173805"/>
            <a:ext cx="7757765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1.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한글 폰트 다운로드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endParaRPr lang="en-US" altLang="ko-KR" sz="2000" b="1" dirty="0"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     </a:t>
            </a:r>
            <a:r>
              <a:rPr lang="en-US" altLang="ko-KR" sz="2000" b="1" dirty="0" err="1">
                <a:latin typeface="+mn-ea"/>
              </a:rPr>
              <a:t>sudo</a:t>
            </a:r>
            <a:r>
              <a:rPr lang="en-US" altLang="ko-KR" sz="2000" b="1" dirty="0">
                <a:latin typeface="+mn-ea"/>
              </a:rPr>
              <a:t> apt-get update</a:t>
            </a:r>
          </a:p>
          <a:p>
            <a:r>
              <a:rPr lang="en-US" altLang="ko-KR" sz="2000" b="1" dirty="0">
                <a:latin typeface="+mn-ea"/>
              </a:rPr>
              <a:t>     </a:t>
            </a:r>
            <a:r>
              <a:rPr lang="en-US" altLang="ko-KR" sz="2000" b="1" dirty="0" err="1">
                <a:latin typeface="+mn-ea"/>
              </a:rPr>
              <a:t>sudo</a:t>
            </a:r>
            <a:r>
              <a:rPr lang="en-US" altLang="ko-KR" sz="2000" b="1" dirty="0">
                <a:latin typeface="+mn-ea"/>
              </a:rPr>
              <a:t> apt-get upgrade</a:t>
            </a:r>
          </a:p>
          <a:p>
            <a:r>
              <a:rPr lang="en-US" altLang="ko-KR" sz="2000" b="1" dirty="0">
                <a:latin typeface="+mn-ea"/>
              </a:rPr>
              <a:t>     </a:t>
            </a:r>
            <a:r>
              <a:rPr lang="en-US" altLang="ko-KR" sz="2000" b="1" dirty="0" smtClean="0">
                <a:latin typeface="+mn-ea"/>
              </a:rPr>
              <a:t>#</a:t>
            </a:r>
            <a:r>
              <a:rPr lang="en-US" altLang="ko-KR" sz="2000" b="1" dirty="0" err="1" smtClean="0">
                <a:latin typeface="+mn-ea"/>
              </a:rPr>
              <a:t>sudo</a:t>
            </a:r>
            <a:r>
              <a:rPr lang="en-US" altLang="ko-KR" sz="2000" b="1" dirty="0" smtClean="0">
                <a:latin typeface="+mn-ea"/>
              </a:rPr>
              <a:t> </a:t>
            </a:r>
            <a:r>
              <a:rPr lang="en-US" altLang="ko-KR" sz="2000" b="1" dirty="0">
                <a:latin typeface="+mn-ea"/>
              </a:rPr>
              <a:t>apt-get install </a:t>
            </a:r>
            <a:r>
              <a:rPr lang="en-US" altLang="ko-KR" sz="2000" b="1" dirty="0" err="1" smtClean="0">
                <a:latin typeface="+mn-ea"/>
              </a:rPr>
              <a:t>ttf</a:t>
            </a:r>
            <a:r>
              <a:rPr lang="en-US" altLang="ko-KR" sz="2000" b="1" dirty="0" smtClean="0">
                <a:latin typeface="+mn-ea"/>
              </a:rPr>
              <a:t>-</a:t>
            </a:r>
            <a:r>
              <a:rPr lang="en-US" altLang="ko-KR" sz="2000" b="1" dirty="0" err="1" smtClean="0">
                <a:latin typeface="+mn-ea"/>
              </a:rPr>
              <a:t>unfonts</a:t>
            </a:r>
            <a:r>
              <a:rPr lang="en-US" altLang="ko-KR" sz="2000" b="1" dirty="0" smtClean="0">
                <a:latin typeface="+mn-ea"/>
              </a:rPr>
              <a:t>-core</a:t>
            </a:r>
          </a:p>
          <a:p>
            <a:r>
              <a:rPr lang="en-US" altLang="ko-KR" sz="2000" b="1" dirty="0" smtClean="0">
                <a:latin typeface="+mn-ea"/>
              </a:rPr>
              <a:t>     </a:t>
            </a:r>
            <a:r>
              <a:rPr lang="en-US" altLang="ko-KR" sz="2000" b="1" dirty="0" err="1" smtClean="0">
                <a:latin typeface="+mn-ea"/>
              </a:rPr>
              <a:t>sudo</a:t>
            </a:r>
            <a:r>
              <a:rPr lang="en-US" altLang="ko-KR" sz="2000" b="1" dirty="0" smtClean="0">
                <a:latin typeface="+mn-ea"/>
              </a:rPr>
              <a:t> apt-get install fonts-</a:t>
            </a:r>
            <a:r>
              <a:rPr lang="en-US" altLang="ko-KR" sz="2000" b="1" dirty="0" err="1" smtClean="0">
                <a:latin typeface="+mn-ea"/>
              </a:rPr>
              <a:t>unfonts</a:t>
            </a:r>
            <a:r>
              <a:rPr lang="en-US" altLang="ko-KR" sz="2000" b="1" dirty="0" smtClean="0">
                <a:latin typeface="+mn-ea"/>
              </a:rPr>
              <a:t>-core   //2017</a:t>
            </a:r>
            <a:r>
              <a:rPr lang="ko-KR" altLang="en-US" sz="2000" b="1" dirty="0" err="1" smtClean="0">
                <a:latin typeface="+mn-ea"/>
              </a:rPr>
              <a:t>년이후버전</a:t>
            </a:r>
            <a:endParaRPr lang="en-US" altLang="ko-KR" sz="2000" b="1" dirty="0"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     </a:t>
            </a:r>
            <a:r>
              <a:rPr lang="en-US" altLang="ko-KR" sz="2000" b="1" dirty="0" err="1">
                <a:latin typeface="+mn-ea"/>
              </a:rPr>
              <a:t>sudo</a:t>
            </a:r>
            <a:r>
              <a:rPr lang="en-US" altLang="ko-KR" sz="2000" b="1" dirty="0">
                <a:latin typeface="+mn-ea"/>
              </a:rPr>
              <a:t> apt-get install </a:t>
            </a:r>
            <a:r>
              <a:rPr lang="en-US" altLang="ko-KR" sz="2000" b="1" dirty="0" err="1">
                <a:latin typeface="+mn-ea"/>
              </a:rPr>
              <a:t>ibus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 err="1">
                <a:latin typeface="+mn-ea"/>
              </a:rPr>
              <a:t>ibus-hangul</a:t>
            </a:r>
            <a:endParaRPr lang="ko-KR" altLang="en-US" sz="2000" b="1" dirty="0">
              <a:latin typeface="+mn-ea"/>
            </a:endParaRPr>
          </a:p>
          <a:p>
            <a:endParaRPr lang="en-US" altLang="ko-KR" sz="20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ko-KR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2000" b="1" dirty="0" smtClean="0">
                <a:solidFill>
                  <a:srgbClr val="C00000"/>
                </a:solidFill>
                <a:latin typeface="+mn-ea"/>
                <a:ea typeface="+mn-ea"/>
              </a:rPr>
              <a:t>2. Internationalization option : Change Locale</a:t>
            </a:r>
          </a:p>
          <a:p>
            <a:pPr marL="342900" indent="-342900">
              <a:buAutoNum type="arabicPeriod"/>
            </a:pPr>
            <a:endParaRPr lang="en-US" altLang="ko-KR" sz="20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marL="342900" indent="-342900"/>
            <a:r>
              <a:rPr lang="en-US" altLang="ko-KR" sz="2000" b="1" dirty="0" smtClean="0">
                <a:latin typeface="+mn-ea"/>
                <a:ea typeface="+mn-ea"/>
              </a:rPr>
              <a:t>   Terminal</a:t>
            </a:r>
            <a:r>
              <a:rPr lang="ko-KR" altLang="en-US" sz="2000" b="1" dirty="0" smtClean="0">
                <a:latin typeface="+mn-ea"/>
                <a:ea typeface="+mn-ea"/>
              </a:rPr>
              <a:t>에서 </a:t>
            </a:r>
            <a:r>
              <a:rPr lang="en-US" altLang="ko-KR" sz="2000" b="1" dirty="0" err="1" smtClean="0">
                <a:latin typeface="+mn-ea"/>
                <a:ea typeface="+mn-ea"/>
              </a:rPr>
              <a:t>sudo</a:t>
            </a:r>
            <a:r>
              <a:rPr lang="en-US" altLang="ko-KR" sz="2000" b="1" dirty="0" smtClean="0">
                <a:latin typeface="+mn-ea"/>
                <a:ea typeface="+mn-ea"/>
              </a:rPr>
              <a:t> </a:t>
            </a:r>
            <a:r>
              <a:rPr lang="en-US" altLang="ko-KR" sz="2000" b="1" dirty="0" err="1" smtClean="0">
                <a:latin typeface="+mn-ea"/>
                <a:ea typeface="+mn-ea"/>
              </a:rPr>
              <a:t>raspi-config</a:t>
            </a:r>
            <a:r>
              <a:rPr lang="en-US" altLang="ko-KR" sz="2000" b="1" dirty="0" smtClean="0">
                <a:latin typeface="+mn-ea"/>
                <a:ea typeface="+mn-ea"/>
              </a:rPr>
              <a:t>  </a:t>
            </a:r>
            <a:r>
              <a:rPr lang="en-US" altLang="ko-KR" sz="2000" b="1" dirty="0" smtClean="0">
                <a:latin typeface="+mn-ea"/>
                <a:ea typeface="+mn-ea"/>
                <a:sym typeface="Wingdings" pitchFamily="2" charset="2"/>
              </a:rPr>
              <a:t> 4.Localisation Options</a:t>
            </a:r>
            <a:endParaRPr lang="en-US" altLang="ko-KR" sz="2000" b="1" dirty="0" smtClean="0">
              <a:latin typeface="+mn-ea"/>
              <a:ea typeface="+mn-ea"/>
            </a:endParaRPr>
          </a:p>
          <a:p>
            <a:pPr marL="342900" indent="-342900"/>
            <a:endParaRPr lang="en-US" altLang="ko-KR" sz="2000" b="1" dirty="0" smtClean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 </a:t>
            </a:r>
            <a:r>
              <a:rPr lang="en-US" altLang="ko-KR" sz="2000" b="1" dirty="0" smtClean="0">
                <a:latin typeface="+mn-ea"/>
                <a:ea typeface="+mn-ea"/>
              </a:rPr>
              <a:t>    en_GB.UTF-8 UTF-8</a:t>
            </a:r>
          </a:p>
          <a:p>
            <a:r>
              <a:rPr lang="en-US" altLang="ko-KR" sz="2000" b="1" dirty="0">
                <a:latin typeface="+mn-ea"/>
                <a:ea typeface="+mn-ea"/>
              </a:rPr>
              <a:t> </a:t>
            </a:r>
            <a:r>
              <a:rPr lang="en-US" altLang="ko-KR" sz="2000" b="1" dirty="0" smtClean="0">
                <a:latin typeface="+mn-ea"/>
                <a:ea typeface="+mn-ea"/>
              </a:rPr>
              <a:t>    en_US.UTF-8 UTF-8</a:t>
            </a:r>
          </a:p>
          <a:p>
            <a:r>
              <a:rPr lang="en-US" altLang="ko-KR" sz="2000" b="1" dirty="0">
                <a:latin typeface="+mn-ea"/>
                <a:ea typeface="+mn-ea"/>
              </a:rPr>
              <a:t> </a:t>
            </a:r>
            <a:r>
              <a:rPr lang="en-US" altLang="ko-KR" sz="2000" b="1" dirty="0" smtClean="0">
                <a:latin typeface="+mn-ea"/>
                <a:ea typeface="+mn-ea"/>
              </a:rPr>
              <a:t>    ko_KR.UTF-8 UTF-8</a:t>
            </a:r>
          </a:p>
          <a:p>
            <a:endParaRPr lang="en-US" altLang="ko-KR" sz="20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터치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화면 회전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25193" y="1392880"/>
            <a:ext cx="7901522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1</a:t>
            </a: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.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화면 회전</a:t>
            </a:r>
            <a:endParaRPr lang="en-US" altLang="ko-KR" sz="2000" b="1" dirty="0"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     </a:t>
            </a:r>
            <a:r>
              <a:rPr lang="en-US" altLang="ko-KR" sz="2000" b="1" dirty="0" err="1" smtClean="0">
                <a:latin typeface="+mn-ea"/>
              </a:rPr>
              <a:t>sudo</a:t>
            </a:r>
            <a:r>
              <a:rPr lang="en-US" altLang="ko-KR" sz="2000" b="1" dirty="0" smtClean="0">
                <a:latin typeface="+mn-ea"/>
              </a:rPr>
              <a:t> </a:t>
            </a:r>
            <a:r>
              <a:rPr lang="en-US" altLang="ko-KR" sz="2000" b="1" dirty="0" err="1" smtClean="0">
                <a:latin typeface="+mn-ea"/>
              </a:rPr>
              <a:t>nano</a:t>
            </a:r>
            <a:r>
              <a:rPr lang="en-US" altLang="ko-KR" sz="2000" b="1" dirty="0" smtClean="0">
                <a:latin typeface="+mn-ea"/>
              </a:rPr>
              <a:t> /boot/config.txt</a:t>
            </a:r>
          </a:p>
          <a:p>
            <a:r>
              <a:rPr lang="en-US" altLang="ko-KR" sz="2000" b="1" dirty="0">
                <a:latin typeface="+mn-ea"/>
                <a:ea typeface="+mn-ea"/>
              </a:rPr>
              <a:t> </a:t>
            </a:r>
            <a:r>
              <a:rPr lang="en-US" altLang="ko-KR" sz="2000" b="1" dirty="0" smtClean="0">
                <a:latin typeface="+mn-ea"/>
                <a:ea typeface="+mn-ea"/>
              </a:rPr>
              <a:t>      </a:t>
            </a:r>
            <a:r>
              <a:rPr lang="en-US" altLang="ko-KR" sz="2000" b="1" dirty="0" smtClean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en-US" altLang="ko-KR" sz="2000" b="1" dirty="0" err="1" smtClean="0">
                <a:latin typeface="+mn-ea"/>
                <a:ea typeface="+mn-ea"/>
                <a:sym typeface="Wingdings" panose="05000000000000000000" pitchFamily="2" charset="2"/>
              </a:rPr>
              <a:t>display_rotate</a:t>
            </a:r>
            <a:r>
              <a:rPr lang="en-US" altLang="ko-KR" sz="2000" b="1" dirty="0" smtClean="0">
                <a:latin typeface="+mn-ea"/>
                <a:ea typeface="+mn-ea"/>
                <a:sym typeface="Wingdings" panose="05000000000000000000" pitchFamily="2" charset="2"/>
              </a:rPr>
              <a:t>=2   #0=0</a:t>
            </a:r>
            <a:r>
              <a:rPr lang="ko-KR" altLang="en-US" sz="2000" b="1" dirty="0" smtClean="0">
                <a:latin typeface="+mn-ea"/>
                <a:ea typeface="+mn-ea"/>
                <a:sym typeface="Wingdings" panose="05000000000000000000" pitchFamily="2" charset="2"/>
              </a:rPr>
              <a:t>도</a:t>
            </a:r>
            <a:r>
              <a:rPr lang="en-US" altLang="ko-KR" sz="2000" b="1" dirty="0" smtClean="0">
                <a:latin typeface="+mn-ea"/>
                <a:ea typeface="+mn-ea"/>
                <a:sym typeface="Wingdings" panose="05000000000000000000" pitchFamily="2" charset="2"/>
              </a:rPr>
              <a:t>, 1:90</a:t>
            </a:r>
            <a:r>
              <a:rPr lang="ko-KR" altLang="en-US" sz="2000" b="1" dirty="0" smtClean="0">
                <a:latin typeface="+mn-ea"/>
                <a:ea typeface="+mn-ea"/>
                <a:sym typeface="Wingdings" panose="05000000000000000000" pitchFamily="2" charset="2"/>
              </a:rPr>
              <a:t>도</a:t>
            </a:r>
            <a:r>
              <a:rPr lang="en-US" altLang="ko-KR" sz="2000" b="1" dirty="0" smtClean="0">
                <a:latin typeface="+mn-ea"/>
                <a:ea typeface="+mn-ea"/>
                <a:sym typeface="Wingdings" panose="05000000000000000000" pitchFamily="2" charset="2"/>
              </a:rPr>
              <a:t>, 2:180</a:t>
            </a:r>
            <a:r>
              <a:rPr lang="ko-KR" altLang="en-US" sz="2000" b="1" dirty="0" smtClean="0">
                <a:latin typeface="+mn-ea"/>
                <a:ea typeface="+mn-ea"/>
                <a:sym typeface="Wingdings" panose="05000000000000000000" pitchFamily="2" charset="2"/>
              </a:rPr>
              <a:t>도</a:t>
            </a:r>
            <a:r>
              <a:rPr lang="en-US" altLang="ko-KR" sz="2000" b="1" dirty="0" smtClean="0">
                <a:latin typeface="+mn-ea"/>
                <a:ea typeface="+mn-ea"/>
                <a:sym typeface="Wingdings" panose="05000000000000000000" pitchFamily="2" charset="2"/>
              </a:rPr>
              <a:t>, 3: 270</a:t>
            </a:r>
            <a:r>
              <a:rPr lang="ko-KR" altLang="en-US" sz="2000" b="1" dirty="0" smtClean="0">
                <a:latin typeface="+mn-ea"/>
                <a:ea typeface="+mn-ea"/>
                <a:sym typeface="Wingdings" panose="05000000000000000000" pitchFamily="2" charset="2"/>
              </a:rPr>
              <a:t>도</a:t>
            </a:r>
            <a:endParaRPr lang="en-US" altLang="ko-KR" sz="2000" b="1" dirty="0" smtClean="0">
              <a:latin typeface="+mn-ea"/>
              <a:ea typeface="+mn-ea"/>
            </a:endParaRPr>
          </a:p>
          <a:p>
            <a:endParaRPr lang="en-US" altLang="ko-KR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2000" b="1" dirty="0" smtClean="0">
                <a:solidFill>
                  <a:srgbClr val="C00000"/>
                </a:solidFill>
                <a:latin typeface="+mn-ea"/>
                <a:ea typeface="+mn-ea"/>
              </a:rPr>
              <a:t>2. 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  <a:ea typeface="+mn-ea"/>
              </a:rPr>
              <a:t>터치스크린 보정 </a:t>
            </a:r>
            <a:r>
              <a:rPr lang="en-US" altLang="ko-KR" sz="2000" b="1" dirty="0" smtClean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en-US" altLang="ko-KR" sz="2000" b="1" dirty="0" err="1" smtClean="0">
                <a:solidFill>
                  <a:srgbClr val="C00000"/>
                </a:solidFill>
                <a:latin typeface="+mn-ea"/>
                <a:ea typeface="+mn-ea"/>
              </a:rPr>
              <a:t>xinput_calibrator</a:t>
            </a:r>
            <a:endParaRPr lang="en-US" altLang="ko-KR" sz="20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marL="342900" indent="-342900"/>
            <a:r>
              <a:rPr lang="en-US" altLang="ko-KR" sz="1400" b="1" smtClean="0"/>
              <a:t>      # </a:t>
            </a:r>
            <a:r>
              <a:rPr lang="en-US" altLang="ko-KR" sz="1400" b="1" dirty="0" smtClean="0"/>
              <a:t>apt-get install libx11-dev </a:t>
            </a:r>
            <a:r>
              <a:rPr lang="en-US" altLang="ko-KR" sz="1400" b="1" dirty="0" err="1" smtClean="0"/>
              <a:t>libxext</a:t>
            </a:r>
            <a:r>
              <a:rPr lang="en-US" altLang="ko-KR" sz="1400" b="1" dirty="0" smtClean="0"/>
              <a:t>-dev </a:t>
            </a:r>
            <a:r>
              <a:rPr lang="en-US" altLang="ko-KR" sz="1400" b="1" dirty="0" err="1" smtClean="0"/>
              <a:t>libxi</a:t>
            </a:r>
            <a:r>
              <a:rPr lang="en-US" altLang="ko-KR" sz="1400" b="1" dirty="0" smtClean="0"/>
              <a:t>-dev  x11proto-input-dev</a:t>
            </a:r>
            <a:r>
              <a:rPr lang="en-US" altLang="ko-KR" sz="1400" b="1" dirty="0"/>
              <a:t/>
            </a:r>
            <a:br>
              <a:rPr lang="en-US" altLang="ko-KR" sz="1400" b="1" dirty="0"/>
            </a:br>
            <a:r>
              <a:rPr lang="en-US" altLang="ko-KR" sz="1400" b="1" dirty="0"/>
              <a:t># </a:t>
            </a:r>
            <a:r>
              <a:rPr lang="en-US" altLang="ko-KR" sz="1400" b="1" dirty="0" err="1"/>
              <a:t>wget</a:t>
            </a:r>
            <a:r>
              <a:rPr lang="en-US" altLang="ko-KR" sz="1400" b="1" dirty="0"/>
              <a:t> http://github.com/downloads/tias/xinput_calibrator/xinput_calibrator-0.7.5.tar.gz</a:t>
            </a:r>
            <a:br>
              <a:rPr lang="en-US" altLang="ko-KR" sz="1400" b="1" dirty="0"/>
            </a:br>
            <a:r>
              <a:rPr lang="en-US" altLang="ko-KR" sz="1400" b="1" dirty="0"/>
              <a:t># tar -</a:t>
            </a:r>
            <a:r>
              <a:rPr lang="en-US" altLang="ko-KR" sz="1400" b="1" dirty="0" err="1"/>
              <a:t>zxvf</a:t>
            </a:r>
            <a:r>
              <a:rPr lang="en-US" altLang="ko-KR" sz="1400" b="1" dirty="0"/>
              <a:t> xinput_calibrator-0.7.5.tar.gz</a:t>
            </a:r>
            <a:br>
              <a:rPr lang="en-US" altLang="ko-KR" sz="1400" b="1" dirty="0"/>
            </a:br>
            <a:r>
              <a:rPr lang="en-US" altLang="ko-KR" sz="1400" b="1" dirty="0"/>
              <a:t># cd xinput_calibrator-0.7.5</a:t>
            </a:r>
            <a:br>
              <a:rPr lang="en-US" altLang="ko-KR" sz="1400" b="1" dirty="0"/>
            </a:br>
            <a:r>
              <a:rPr lang="en-US" altLang="ko-KR" sz="1400" b="1" dirty="0"/>
              <a:t># ./configure</a:t>
            </a:r>
            <a:br>
              <a:rPr lang="en-US" altLang="ko-KR" sz="1400" b="1" dirty="0"/>
            </a:br>
            <a:r>
              <a:rPr lang="en-US" altLang="ko-KR" sz="1400" b="1" dirty="0"/>
              <a:t># make</a:t>
            </a:r>
            <a:br>
              <a:rPr lang="en-US" altLang="ko-KR" sz="1400" b="1" dirty="0"/>
            </a:br>
            <a:r>
              <a:rPr lang="en-US" altLang="ko-KR" sz="1400" b="1" dirty="0"/>
              <a:t># make install</a:t>
            </a:r>
            <a:br>
              <a:rPr lang="en-US" altLang="ko-KR" sz="1400" b="1" dirty="0"/>
            </a:br>
            <a:r>
              <a:rPr lang="en-US" altLang="ko-KR" sz="1400" b="1" dirty="0"/>
              <a:t># </a:t>
            </a:r>
            <a:r>
              <a:rPr lang="en-US" altLang="ko-KR" sz="1400" b="1" dirty="0" err="1"/>
              <a:t>xinput_calibrator</a:t>
            </a:r>
            <a:endParaRPr lang="en-US" altLang="ko-KR" sz="1600" b="1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9650" y="4829860"/>
            <a:ext cx="70675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https://wiki.ubuntu.com/X/InputCoordinateTransformation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30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절전모드 및 스크린 세이버 기능 끄기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315693" y="1392880"/>
            <a:ext cx="622317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b="1" dirty="0"/>
              <a:t>1. </a:t>
            </a:r>
            <a:r>
              <a:rPr lang="en-US" altLang="ko-KR" b="1" dirty="0" err="1"/>
              <a:t>sudo</a:t>
            </a:r>
            <a:r>
              <a:rPr lang="en-US" altLang="ko-KR" b="1" dirty="0"/>
              <a:t> </a:t>
            </a:r>
            <a:r>
              <a:rPr lang="en-US" altLang="ko-KR" b="1" dirty="0" err="1"/>
              <a:t>nano</a:t>
            </a:r>
            <a:r>
              <a:rPr lang="en-US" altLang="ko-KR" b="1" dirty="0"/>
              <a:t> /</a:t>
            </a:r>
            <a:r>
              <a:rPr lang="en-US" altLang="ko-KR" b="1" dirty="0" err="1"/>
              <a:t>etc</a:t>
            </a:r>
            <a:r>
              <a:rPr lang="en-US" altLang="ko-KR" b="1" dirty="0"/>
              <a:t>/</a:t>
            </a:r>
            <a:r>
              <a:rPr lang="en-US" altLang="ko-KR" b="1" dirty="0" err="1"/>
              <a:t>lightdm</a:t>
            </a:r>
            <a:r>
              <a:rPr lang="en-US" altLang="ko-KR" b="1" dirty="0"/>
              <a:t>/</a:t>
            </a:r>
            <a:r>
              <a:rPr lang="en-US" altLang="ko-KR" b="1" dirty="0" err="1"/>
              <a:t>lightdm.conf</a:t>
            </a:r>
            <a:endParaRPr lang="ko-KR" altLang="ko-KR" b="1" dirty="0"/>
          </a:p>
          <a:p>
            <a:r>
              <a:rPr lang="en-US" altLang="ko-KR" dirty="0"/>
              <a:t> </a:t>
            </a:r>
            <a:endParaRPr lang="ko-KR" altLang="ko-KR" dirty="0"/>
          </a:p>
          <a:p>
            <a:r>
              <a:rPr lang="en-US" altLang="ko-KR" dirty="0"/>
              <a:t>  [</a:t>
            </a:r>
            <a:r>
              <a:rPr lang="en-US" altLang="ko-KR" dirty="0" err="1"/>
              <a:t>SeatDefaults</a:t>
            </a:r>
            <a:r>
              <a:rPr lang="en-US" altLang="ko-KR" dirty="0"/>
              <a:t>]  </a:t>
            </a:r>
            <a:r>
              <a:rPr lang="ko-KR" altLang="ko-KR" dirty="0"/>
              <a:t>또는</a:t>
            </a:r>
            <a:r>
              <a:rPr lang="en-US" altLang="ko-KR" dirty="0"/>
              <a:t> [Seat *]</a:t>
            </a:r>
            <a:endParaRPr lang="ko-KR" altLang="ko-KR" dirty="0"/>
          </a:p>
          <a:p>
            <a:r>
              <a:rPr lang="en-US" altLang="ko-KR" dirty="0"/>
              <a:t>  </a:t>
            </a:r>
            <a:r>
              <a:rPr lang="en-US" altLang="ko-KR" dirty="0" err="1"/>
              <a:t>xserver</a:t>
            </a:r>
            <a:r>
              <a:rPr lang="en-US" altLang="ko-KR" dirty="0"/>
              <a:t>-command=X –s 0 –</a:t>
            </a:r>
            <a:r>
              <a:rPr lang="en-US" altLang="ko-KR" dirty="0" err="1"/>
              <a:t>dpms</a:t>
            </a:r>
            <a:endParaRPr lang="ko-KR" altLang="ko-KR" dirty="0"/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b="1" dirty="0"/>
              <a:t> 2. </a:t>
            </a:r>
            <a:r>
              <a:rPr lang="en-US" altLang="ko-KR" b="1" dirty="0" err="1"/>
              <a:t>sudo</a:t>
            </a:r>
            <a:r>
              <a:rPr lang="en-US" altLang="ko-KR" b="1" dirty="0"/>
              <a:t> </a:t>
            </a:r>
            <a:r>
              <a:rPr lang="en-US" altLang="ko-KR" b="1" dirty="0" err="1"/>
              <a:t>nano</a:t>
            </a:r>
            <a:r>
              <a:rPr lang="en-US" altLang="ko-KR" b="1" dirty="0"/>
              <a:t> /</a:t>
            </a:r>
            <a:r>
              <a:rPr lang="en-US" altLang="ko-KR" b="1" dirty="0" err="1"/>
              <a:t>etc</a:t>
            </a:r>
            <a:r>
              <a:rPr lang="en-US" altLang="ko-KR" b="1" dirty="0"/>
              <a:t>/X11/</a:t>
            </a:r>
            <a:r>
              <a:rPr lang="en-US" altLang="ko-KR" b="1" dirty="0" err="1"/>
              <a:t>xinit</a:t>
            </a:r>
            <a:r>
              <a:rPr lang="en-US" altLang="ko-KR" b="1" dirty="0"/>
              <a:t>/</a:t>
            </a:r>
            <a:r>
              <a:rPr lang="en-US" altLang="ko-KR" b="1" dirty="0" err="1"/>
              <a:t>xinitrc</a:t>
            </a:r>
            <a:endParaRPr lang="ko-KR" altLang="ko-KR" b="1" dirty="0"/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   </a:t>
            </a:r>
            <a:r>
              <a:rPr lang="en-US" altLang="ko-KR" dirty="0" err="1"/>
              <a:t>xset</a:t>
            </a:r>
            <a:r>
              <a:rPr lang="en-US" altLang="ko-KR" dirty="0"/>
              <a:t> s off       # </a:t>
            </a:r>
            <a:r>
              <a:rPr lang="en-US" altLang="ko-KR" dirty="0" err="1"/>
              <a:t>don’t’s</a:t>
            </a:r>
            <a:r>
              <a:rPr lang="en-US" altLang="ko-KR" dirty="0"/>
              <a:t> activate screensaver</a:t>
            </a:r>
            <a:endParaRPr lang="ko-KR" altLang="ko-KR" dirty="0"/>
          </a:p>
          <a:p>
            <a:r>
              <a:rPr lang="en-US" altLang="ko-KR" dirty="0"/>
              <a:t>   </a:t>
            </a:r>
            <a:r>
              <a:rPr lang="en-US" altLang="ko-KR" dirty="0" err="1"/>
              <a:t>xset</a:t>
            </a:r>
            <a:r>
              <a:rPr lang="en-US" altLang="ko-KR" dirty="0"/>
              <a:t> –</a:t>
            </a:r>
            <a:r>
              <a:rPr lang="en-US" altLang="ko-KR" dirty="0" err="1"/>
              <a:t>dpms</a:t>
            </a:r>
            <a:r>
              <a:rPr lang="en-US" altLang="ko-KR" dirty="0"/>
              <a:t>     # disable DPMS(Energy Star) features.</a:t>
            </a:r>
            <a:endParaRPr lang="ko-KR" altLang="ko-KR" dirty="0"/>
          </a:p>
          <a:p>
            <a:r>
              <a:rPr lang="en-US" altLang="ko-KR" dirty="0"/>
              <a:t>   </a:t>
            </a:r>
            <a:r>
              <a:rPr lang="en-US" altLang="ko-KR" dirty="0" err="1"/>
              <a:t>xset</a:t>
            </a:r>
            <a:r>
              <a:rPr lang="en-US" altLang="ko-KR" dirty="0"/>
              <a:t> s </a:t>
            </a:r>
            <a:r>
              <a:rPr lang="en-US" altLang="ko-KR" dirty="0" err="1"/>
              <a:t>noblank</a:t>
            </a:r>
            <a:r>
              <a:rPr lang="en-US" altLang="ko-KR" dirty="0"/>
              <a:t>  #don’t blank the video device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11349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Hot-Spot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(Window 10)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79" y="1054600"/>
            <a:ext cx="7943850" cy="54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Hot-Spot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(Window 7) 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016" y="1069144"/>
            <a:ext cx="8133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 smtClean="0">
                <a:latin typeface="+mn-ea"/>
              </a:rPr>
              <a:t>관리자 권한으로 명령 프롬프트 실행하고 네트워크 지원 여부 확인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9" name="그림 8" descr="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2383" y="1608663"/>
            <a:ext cx="7290455" cy="475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Hot-Spot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(Window 7) 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92" y="1069144"/>
            <a:ext cx="9058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atin typeface="+mn-ea"/>
              </a:rPr>
              <a:t>2. Hot spot </a:t>
            </a:r>
            <a:r>
              <a:rPr lang="ko-KR" altLang="en-US" sz="2000" b="1" dirty="0" smtClean="0">
                <a:latin typeface="+mn-ea"/>
              </a:rPr>
              <a:t>설정</a:t>
            </a:r>
            <a:r>
              <a:rPr lang="en-US" altLang="ko-KR" sz="2000" b="1" dirty="0" smtClean="0">
                <a:latin typeface="+mn-ea"/>
              </a:rPr>
              <a:t/>
            </a:r>
            <a:br>
              <a:rPr lang="en-US" altLang="ko-KR" sz="2000" b="1" dirty="0" smtClean="0">
                <a:latin typeface="+mn-ea"/>
              </a:rPr>
            </a:br>
            <a:r>
              <a:rPr lang="en-US" altLang="ko-KR" sz="1600" b="1" dirty="0" smtClean="0">
                <a:latin typeface="+mn-ea"/>
              </a:rPr>
              <a:t>   </a:t>
            </a:r>
            <a:r>
              <a:rPr lang="en-US" altLang="ko-KR" sz="1600" b="1" dirty="0" err="1" smtClean="0">
                <a:latin typeface="+mn-ea"/>
              </a:rPr>
              <a:t>netsh</a:t>
            </a:r>
            <a:r>
              <a:rPr lang="en-US" altLang="ko-KR" sz="1600" b="1" dirty="0" smtClean="0">
                <a:latin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wlan</a:t>
            </a:r>
            <a:r>
              <a:rPr lang="en-US" altLang="ko-KR" sz="1600" b="1" dirty="0" smtClean="0">
                <a:latin typeface="+mn-ea"/>
              </a:rPr>
              <a:t> set </a:t>
            </a:r>
            <a:r>
              <a:rPr lang="en-US" altLang="ko-KR" sz="1600" b="1" dirty="0" err="1" smtClean="0">
                <a:latin typeface="+mn-ea"/>
              </a:rPr>
              <a:t>hostednetwork</a:t>
            </a:r>
            <a:r>
              <a:rPr lang="en-US" altLang="ko-KR" sz="1600" b="1" dirty="0" smtClean="0">
                <a:latin typeface="+mn-ea"/>
              </a:rPr>
              <a:t> mode=allow </a:t>
            </a:r>
            <a:r>
              <a:rPr lang="en-US" altLang="ko-KR" sz="1600" b="1" dirty="0" err="1" smtClean="0">
                <a:latin typeface="+mn-ea"/>
              </a:rPr>
              <a:t>ssid</a:t>
            </a:r>
            <a:r>
              <a:rPr lang="en-US" altLang="ko-KR" sz="1600" b="1" dirty="0" smtClean="0">
                <a:latin typeface="+mn-ea"/>
              </a:rPr>
              <a:t>=</a:t>
            </a:r>
            <a:r>
              <a:rPr lang="ko-KR" altLang="en-US" sz="1600" b="1" dirty="0" smtClean="0">
                <a:latin typeface="+mn-ea"/>
              </a:rPr>
              <a:t>이름 </a:t>
            </a:r>
            <a:r>
              <a:rPr lang="en-US" altLang="ko-KR" sz="1600" b="1" dirty="0" smtClean="0">
                <a:latin typeface="+mn-ea"/>
              </a:rPr>
              <a:t>key=</a:t>
            </a:r>
            <a:r>
              <a:rPr lang="ko-KR" altLang="en-US" sz="1600" b="1" dirty="0" smtClean="0">
                <a:latin typeface="+mn-ea"/>
              </a:rPr>
              <a:t>비밀번호 </a:t>
            </a:r>
            <a:r>
              <a:rPr lang="en-US" altLang="ko-KR" sz="1600" b="1" dirty="0" err="1" smtClean="0">
                <a:latin typeface="+mn-ea"/>
              </a:rPr>
              <a:t>keyUsage</a:t>
            </a:r>
            <a:r>
              <a:rPr lang="en-US" altLang="ko-KR" sz="1600" b="1" dirty="0" smtClean="0">
                <a:latin typeface="+mn-ea"/>
              </a:rPr>
              <a:t>=persistent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8" name="그림 7" descr="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684" y="2167307"/>
            <a:ext cx="7772973" cy="43593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0023" y="4483510"/>
            <a:ext cx="4751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bg1"/>
                </a:solidFill>
              </a:rPr>
              <a:t>이름은  다른 단말기에서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Wi-Fi 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검색시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 보여지는 이름이며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, </a:t>
            </a:r>
          </a:p>
          <a:p>
            <a:r>
              <a:rPr lang="ko-KR" altLang="en-US" sz="1400" b="1" dirty="0" smtClean="0">
                <a:solidFill>
                  <a:schemeClr val="bg1"/>
                </a:solidFill>
              </a:rPr>
              <a:t>비밀번호는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8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자리 이상 영문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,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숫자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로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 지정한다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.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4312" y="1724322"/>
            <a:ext cx="89296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 </a:t>
            </a:r>
            <a:r>
              <a:rPr lang="en-US" altLang="ko-KR" sz="1400" b="1" dirty="0" err="1" smtClean="0">
                <a:latin typeface="+mn-ea"/>
              </a:rPr>
              <a:t>netsh</a:t>
            </a:r>
            <a:r>
              <a:rPr lang="en-US" altLang="ko-KR" sz="1400" b="1" dirty="0" smtClean="0">
                <a:latin typeface="+mn-ea"/>
              </a:rPr>
              <a:t> </a:t>
            </a:r>
            <a:r>
              <a:rPr lang="en-US" altLang="ko-KR" sz="1400" b="1" dirty="0" err="1" smtClean="0">
                <a:latin typeface="+mn-ea"/>
              </a:rPr>
              <a:t>wlan</a:t>
            </a:r>
            <a:r>
              <a:rPr lang="en-US" altLang="ko-KR" sz="1400" b="1" dirty="0" smtClean="0">
                <a:latin typeface="+mn-ea"/>
              </a:rPr>
              <a:t> set </a:t>
            </a:r>
            <a:r>
              <a:rPr lang="en-US" altLang="ko-KR" sz="1400" b="1" dirty="0" err="1" smtClean="0">
                <a:latin typeface="+mn-ea"/>
              </a:rPr>
              <a:t>hostednetwork</a:t>
            </a:r>
            <a:r>
              <a:rPr lang="en-US" altLang="ko-KR" sz="1400" b="1" dirty="0" smtClean="0">
                <a:latin typeface="+mn-ea"/>
              </a:rPr>
              <a:t> mode=allow </a:t>
            </a:r>
            <a:r>
              <a:rPr lang="en-US" altLang="ko-KR" sz="1400" b="1" dirty="0" err="1" smtClean="0">
                <a:latin typeface="+mn-ea"/>
              </a:rPr>
              <a:t>ssid</a:t>
            </a:r>
            <a:r>
              <a:rPr lang="en-US" altLang="ko-KR" sz="1400" b="1" dirty="0" smtClean="0">
                <a:latin typeface="+mn-ea"/>
              </a:rPr>
              <a:t>=</a:t>
            </a:r>
            <a:r>
              <a:rPr lang="en-US" altLang="ko-KR" sz="1400" b="1" dirty="0" err="1" smtClean="0">
                <a:latin typeface="+mn-ea"/>
              </a:rPr>
              <a:t>mrson</a:t>
            </a:r>
            <a:r>
              <a:rPr lang="ko-KR" altLang="en-US" sz="1400" b="1" dirty="0" smtClean="0">
                <a:latin typeface="+mn-ea"/>
              </a:rPr>
              <a:t> </a:t>
            </a:r>
            <a:r>
              <a:rPr lang="en-US" altLang="ko-KR" sz="1400" b="1" dirty="0" smtClean="0">
                <a:latin typeface="+mn-ea"/>
              </a:rPr>
              <a:t>key=12271010</a:t>
            </a:r>
            <a:r>
              <a:rPr lang="ko-KR" altLang="en-US" sz="1400" b="1" dirty="0" smtClean="0">
                <a:latin typeface="+mn-ea"/>
              </a:rPr>
              <a:t> </a:t>
            </a:r>
            <a:r>
              <a:rPr lang="en-US" altLang="ko-KR" sz="1400" b="1" dirty="0" err="1" smtClean="0">
                <a:latin typeface="+mn-ea"/>
              </a:rPr>
              <a:t>keyUsage</a:t>
            </a:r>
            <a:r>
              <a:rPr lang="en-US" altLang="ko-KR" sz="1400" b="1" dirty="0" smtClean="0">
                <a:latin typeface="+mn-ea"/>
              </a:rPr>
              <a:t>=persistent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Hot-Spot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(Window 7) 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6492" y="1098641"/>
            <a:ext cx="24657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atin typeface="+mn-ea"/>
              </a:rPr>
              <a:t>3. </a:t>
            </a:r>
            <a:r>
              <a:rPr lang="ko-KR" altLang="en-US" sz="2000" b="1" dirty="0" smtClean="0">
                <a:latin typeface="+mn-ea"/>
              </a:rPr>
              <a:t>어댑터 설정 변경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9" name="그림 8" descr="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0283" y="1710811"/>
            <a:ext cx="6471010" cy="4532759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>
          <a:xfrm>
            <a:off x="1017639" y="2580968"/>
            <a:ext cx="1076632" cy="23597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Hot-Spot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(Window 7) 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6492" y="1098641"/>
            <a:ext cx="24657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atin typeface="+mn-ea"/>
              </a:rPr>
              <a:t>3. </a:t>
            </a:r>
            <a:r>
              <a:rPr lang="ko-KR" altLang="en-US" sz="2000" b="1" dirty="0" smtClean="0">
                <a:latin typeface="+mn-ea"/>
              </a:rPr>
              <a:t>어댑터 설정 변경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8" name="그림 7" descr="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676" y="1666454"/>
            <a:ext cx="7786325" cy="42771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015" y="3433313"/>
            <a:ext cx="173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0000FF"/>
                </a:solidFill>
              </a:rPr>
              <a:t>LAN Cable</a:t>
            </a:r>
            <a:r>
              <a:rPr lang="ko-KR" altLang="en-US" sz="1400" b="1" dirty="0" smtClean="0">
                <a:solidFill>
                  <a:srgbClr val="0000FF"/>
                </a:solidFill>
              </a:rPr>
              <a:t>로 인터넷 </a:t>
            </a:r>
            <a:endParaRPr lang="en-US" altLang="ko-KR" sz="1400" b="1" dirty="0" smtClean="0">
              <a:solidFill>
                <a:srgbClr val="0000FF"/>
              </a:solidFill>
            </a:endParaRPr>
          </a:p>
          <a:p>
            <a:r>
              <a:rPr lang="ko-KR" altLang="en-US" sz="1400" b="1" dirty="0" smtClean="0">
                <a:solidFill>
                  <a:srgbClr val="0000FF"/>
                </a:solidFill>
              </a:rPr>
              <a:t>연결되어 </a:t>
            </a:r>
            <a:r>
              <a:rPr lang="ko-KR" altLang="en-US" sz="1400" b="1" dirty="0" err="1" smtClean="0">
                <a:solidFill>
                  <a:srgbClr val="0000FF"/>
                </a:solidFill>
              </a:rPr>
              <a:t>있을때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027872" y="2173857"/>
            <a:ext cx="1940943" cy="612475"/>
          </a:xfrm>
          <a:prstGeom prst="roundRect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646762" y="1118559"/>
            <a:ext cx="1481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0000FF"/>
                </a:solidFill>
              </a:rPr>
              <a:t>Wi-Fi</a:t>
            </a:r>
            <a:r>
              <a:rPr lang="ko-KR" altLang="en-US" sz="1400" b="1" dirty="0" smtClean="0">
                <a:solidFill>
                  <a:srgbClr val="0000FF"/>
                </a:solidFill>
              </a:rPr>
              <a:t>로 인터넷 </a:t>
            </a:r>
            <a:endParaRPr lang="en-US" altLang="ko-KR" sz="1400" b="1" dirty="0" smtClean="0">
              <a:solidFill>
                <a:srgbClr val="0000FF"/>
              </a:solidFill>
            </a:endParaRPr>
          </a:p>
          <a:p>
            <a:r>
              <a:rPr lang="ko-KR" altLang="en-US" sz="1400" b="1" dirty="0" smtClean="0">
                <a:solidFill>
                  <a:srgbClr val="0000FF"/>
                </a:solidFill>
              </a:rPr>
              <a:t>연결되어 </a:t>
            </a:r>
            <a:r>
              <a:rPr lang="ko-KR" altLang="en-US" sz="1400" b="1" dirty="0" err="1" smtClean="0">
                <a:solidFill>
                  <a:srgbClr val="0000FF"/>
                </a:solidFill>
              </a:rPr>
              <a:t>있을때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4658264" y="1647645"/>
            <a:ext cx="215661" cy="517585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Hot-Spot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(Window 7) 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6492" y="1098641"/>
            <a:ext cx="68691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atin typeface="+mn-ea"/>
              </a:rPr>
              <a:t>4. Hot spot </a:t>
            </a:r>
            <a:r>
              <a:rPr lang="ko-KR" altLang="en-US" sz="2000" b="1" dirty="0" smtClean="0">
                <a:latin typeface="+mn-ea"/>
              </a:rPr>
              <a:t>실행</a:t>
            </a:r>
            <a:endParaRPr lang="en-US" altLang="ko-KR" sz="2000" b="1" dirty="0" smtClean="0">
              <a:latin typeface="+mn-ea"/>
            </a:endParaRPr>
          </a:p>
          <a:p>
            <a:r>
              <a:rPr lang="en-US" altLang="ko-KR" sz="2000" b="1" dirty="0" smtClean="0">
                <a:latin typeface="+mn-ea"/>
              </a:rPr>
              <a:t>   </a:t>
            </a:r>
            <a:r>
              <a:rPr lang="en-US" altLang="ko-KR" sz="2000" b="1" dirty="0" err="1" smtClean="0">
                <a:latin typeface="+mn-ea"/>
              </a:rPr>
              <a:t>netsh</a:t>
            </a:r>
            <a:r>
              <a:rPr lang="en-US" altLang="ko-KR" sz="2000" b="1" dirty="0" smtClean="0">
                <a:latin typeface="+mn-ea"/>
              </a:rPr>
              <a:t> </a:t>
            </a:r>
            <a:r>
              <a:rPr lang="en-US" altLang="ko-KR" sz="2000" b="1" dirty="0" err="1" smtClean="0">
                <a:latin typeface="+mn-ea"/>
              </a:rPr>
              <a:t>wlan</a:t>
            </a:r>
            <a:r>
              <a:rPr lang="en-US" altLang="ko-KR" sz="2000" b="1" dirty="0" smtClean="0">
                <a:latin typeface="+mn-ea"/>
              </a:rPr>
              <a:t> start </a:t>
            </a:r>
            <a:r>
              <a:rPr lang="en-US" altLang="ko-KR" sz="2000" b="1" dirty="0" err="1" smtClean="0">
                <a:latin typeface="+mn-ea"/>
              </a:rPr>
              <a:t>hostednetwork</a:t>
            </a:r>
            <a:r>
              <a:rPr lang="en-US" altLang="ko-KR" sz="2000" b="1" dirty="0" smtClean="0">
                <a:latin typeface="+mn-ea"/>
              </a:rPr>
              <a:t>  </a:t>
            </a:r>
            <a:r>
              <a:rPr lang="ko-KR" altLang="en-US" sz="2000" b="1" dirty="0" smtClean="0">
                <a:latin typeface="+mn-ea"/>
              </a:rPr>
              <a:t>입력</a:t>
            </a:r>
            <a:r>
              <a:rPr lang="en-US" altLang="ko-KR" sz="2000" b="1" dirty="0" smtClean="0">
                <a:latin typeface="+mn-ea"/>
              </a:rPr>
              <a:t/>
            </a:r>
            <a:br>
              <a:rPr lang="en-US" altLang="ko-KR" sz="2000" b="1" dirty="0" smtClean="0">
                <a:latin typeface="+mn-ea"/>
              </a:rPr>
            </a:br>
            <a:r>
              <a:rPr lang="en-US" altLang="ko-KR" sz="2000" b="1" dirty="0" smtClean="0">
                <a:latin typeface="+mn-ea"/>
              </a:rPr>
              <a:t>   </a:t>
            </a:r>
            <a:r>
              <a:rPr lang="ko-KR" altLang="en-US" sz="2000" b="1" dirty="0" err="1" smtClean="0">
                <a:latin typeface="+mn-ea"/>
              </a:rPr>
              <a:t>호스트된</a:t>
            </a:r>
            <a:r>
              <a:rPr lang="ko-KR" altLang="en-US" sz="2000" b="1" dirty="0" smtClean="0">
                <a:latin typeface="+mn-ea"/>
              </a:rPr>
              <a:t> 네트워크를 시작했습니다 라고 표시되면 성공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9" name="그림 8" descr="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6642" y="2387637"/>
            <a:ext cx="7577675" cy="386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Wi-Fi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내용 개체 틀 16"/>
          <p:cNvSpPr>
            <a:spLocks noGrp="1"/>
          </p:cNvSpPr>
          <p:nvPr/>
        </p:nvSpPr>
        <p:spPr>
          <a:xfrm>
            <a:off x="457200" y="1010278"/>
            <a:ext cx="8229600" cy="57928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Arial" pitchFamily="34" charset="0"/>
              <a:buChar char="•"/>
            </a:pPr>
            <a:r>
              <a:rPr lang="en-US" altLang="ko-KR" b="1" dirty="0" err="1">
                <a:solidFill>
                  <a:srgbClr val="0000FF"/>
                </a:solidFill>
              </a:rPr>
              <a:t>WiFi</a:t>
            </a:r>
            <a:r>
              <a:rPr lang="ko-KR" altLang="en-US" b="1" dirty="0">
                <a:solidFill>
                  <a:srgbClr val="0000FF"/>
                </a:solidFill>
              </a:rPr>
              <a:t>로 유동</a:t>
            </a:r>
            <a:r>
              <a:rPr lang="en-US" altLang="ko-KR" b="1" dirty="0">
                <a:solidFill>
                  <a:srgbClr val="0000FF"/>
                </a:solidFill>
              </a:rPr>
              <a:t>(DHCP)</a:t>
            </a:r>
            <a:r>
              <a:rPr lang="ko-KR" altLang="en-US" b="1" dirty="0">
                <a:solidFill>
                  <a:srgbClr val="0000FF"/>
                </a:solidFill>
              </a:rPr>
              <a:t>할당 </a:t>
            </a:r>
            <a:r>
              <a:rPr lang="ko-KR" altLang="en-US" b="1" dirty="0" smtClean="0">
                <a:solidFill>
                  <a:srgbClr val="0000FF"/>
                </a:solidFill>
              </a:rPr>
              <a:t>받기</a:t>
            </a:r>
            <a:endParaRPr lang="en-US" altLang="ko-KR" b="1" dirty="0" smtClean="0">
              <a:solidFill>
                <a:srgbClr val="0000FF"/>
              </a:solidFill>
            </a:endParaRPr>
          </a:p>
          <a:p>
            <a:pPr fontAlgn="base"/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1) interfaces </a:t>
            </a:r>
            <a:r>
              <a:rPr lang="ko-KR" altLang="en-US" b="1" dirty="0" smtClean="0"/>
              <a:t>파일 </a:t>
            </a:r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</a:t>
            </a:r>
            <a:r>
              <a:rPr lang="en-US" altLang="ko-KR" b="1" dirty="0" err="1" smtClean="0"/>
              <a:t>sudo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nano</a:t>
            </a:r>
            <a:r>
              <a:rPr lang="en-US" altLang="ko-KR" b="1" dirty="0" smtClean="0"/>
              <a:t> /etc/network/interfaces</a:t>
            </a:r>
          </a:p>
          <a:p>
            <a:pPr marL="800100" lvl="1" indent="-342900" fontAlgn="base">
              <a:buNone/>
            </a:pPr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auto wlan0</a:t>
            </a:r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allow-</a:t>
            </a:r>
            <a:r>
              <a:rPr lang="en-US" altLang="ko-KR" b="1" dirty="0" err="1" smtClean="0"/>
              <a:t>hotplug</a:t>
            </a:r>
            <a:r>
              <a:rPr lang="en-US" altLang="ko-KR" b="1" dirty="0" smtClean="0"/>
              <a:t> wlan0</a:t>
            </a:r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</a:t>
            </a:r>
            <a:r>
              <a:rPr lang="en-US" altLang="ko-KR" b="1" dirty="0" err="1" smtClean="0"/>
              <a:t>iface</a:t>
            </a:r>
            <a:r>
              <a:rPr lang="en-US" altLang="ko-KR" b="1" dirty="0" smtClean="0"/>
              <a:t> wlan0 </a:t>
            </a:r>
            <a:r>
              <a:rPr lang="en-US" altLang="ko-KR" b="1" dirty="0" err="1" smtClean="0"/>
              <a:t>inet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dhcp</a:t>
            </a:r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   </a:t>
            </a:r>
            <a:r>
              <a:rPr lang="en-US" altLang="ko-KR" b="1" dirty="0" err="1" smtClean="0"/>
              <a:t>wpa</a:t>
            </a:r>
            <a:r>
              <a:rPr lang="en-US" altLang="ko-KR" b="1" dirty="0" smtClean="0"/>
              <a:t>-conf /etc/</a:t>
            </a:r>
            <a:r>
              <a:rPr lang="en-US" altLang="ko-KR" b="1" dirty="0" err="1" smtClean="0"/>
              <a:t>wpa_supplicant</a:t>
            </a:r>
            <a:r>
              <a:rPr lang="en-US" altLang="ko-KR" b="1" dirty="0" smtClean="0"/>
              <a:t>/</a:t>
            </a:r>
            <a:r>
              <a:rPr lang="en-US" altLang="ko-KR" b="1" dirty="0" err="1" smtClean="0"/>
              <a:t>wpa_supplicant.conf</a:t>
            </a:r>
            <a:endParaRPr lang="en-US" altLang="ko-KR" b="1" dirty="0" smtClean="0"/>
          </a:p>
          <a:p>
            <a:pPr marL="800100" lvl="1" indent="-342900" fontAlgn="base">
              <a:buNone/>
            </a:pPr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2) wpa_supplicant.conf</a:t>
            </a:r>
          </a:p>
          <a:p>
            <a:pPr marL="800100" lvl="1" indent="-342900" fontAlgn="base">
              <a:buNone/>
            </a:pPr>
            <a:r>
              <a:rPr lang="en-US" altLang="ko-KR" b="1" dirty="0" smtClean="0"/>
              <a:t>    wpa_passphrase  </a:t>
            </a:r>
            <a:r>
              <a:rPr lang="ko-KR" altLang="en-US" b="1" dirty="0" smtClean="0"/>
              <a:t>네트워크</a:t>
            </a:r>
            <a:r>
              <a:rPr lang="en-US" altLang="ko-KR" b="1" dirty="0" smtClean="0"/>
              <a:t>SSID  </a:t>
            </a:r>
            <a:r>
              <a:rPr lang="ko-KR" altLang="en-US" b="1" dirty="0" smtClean="0"/>
              <a:t>암호  </a:t>
            </a:r>
            <a:r>
              <a:rPr lang="en-US" altLang="ko-KR" b="1" dirty="0" smtClean="0">
                <a:sym typeface="Wingdings" pitchFamily="2" charset="2"/>
              </a:rPr>
              <a:t> </a:t>
            </a:r>
            <a:r>
              <a:rPr lang="en-US" altLang="ko-KR" b="1" dirty="0" err="1" smtClean="0">
                <a:sym typeface="Wingdings" pitchFamily="2" charset="2"/>
              </a:rPr>
              <a:t>psk</a:t>
            </a:r>
            <a:r>
              <a:rPr lang="en-US" altLang="ko-KR" b="1" dirty="0" smtClean="0">
                <a:sym typeface="Wingdings" pitchFamily="2" charset="2"/>
              </a:rPr>
              <a:t> </a:t>
            </a:r>
            <a:r>
              <a:rPr lang="ko-KR" altLang="en-US" b="1" dirty="0" smtClean="0">
                <a:sym typeface="Wingdings" pitchFamily="2" charset="2"/>
              </a:rPr>
              <a:t>확인</a:t>
            </a:r>
            <a:endParaRPr lang="en-US" altLang="ko-KR" b="1" dirty="0" smtClean="0"/>
          </a:p>
          <a:p>
            <a:pPr marL="800100" lvl="1" indent="-342900" fontAlgn="base">
              <a:buNone/>
            </a:pPr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    </a:t>
            </a:r>
            <a:r>
              <a:rPr lang="en-US" altLang="ko-KR" b="1" dirty="0" err="1" smtClean="0"/>
              <a:t>sudo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nano</a:t>
            </a:r>
            <a:r>
              <a:rPr lang="en-US" altLang="ko-KR" b="1" dirty="0" smtClean="0"/>
              <a:t> /etc/</a:t>
            </a:r>
            <a:r>
              <a:rPr lang="en-US" altLang="ko-KR" b="1" dirty="0" err="1" smtClean="0"/>
              <a:t>wpa_supplicant</a:t>
            </a:r>
            <a:r>
              <a:rPr lang="en-US" altLang="ko-KR" b="1" dirty="0" smtClean="0"/>
              <a:t>/</a:t>
            </a:r>
            <a:r>
              <a:rPr lang="en-US" altLang="ko-KR" b="1" dirty="0" err="1" smtClean="0"/>
              <a:t>wpa_supplicant.conf</a:t>
            </a:r>
            <a:endParaRPr lang="en-US" altLang="ko-KR" b="1" dirty="0" smtClean="0"/>
          </a:p>
          <a:p>
            <a:pPr marL="800100" lvl="1" indent="-342900" fontAlgn="base">
              <a:buNone/>
            </a:pPr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    network={</a:t>
            </a:r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          </a:t>
            </a:r>
            <a:r>
              <a:rPr lang="en-US" altLang="ko-KR" b="1" dirty="0" err="1" smtClean="0"/>
              <a:t>ssid</a:t>
            </a:r>
            <a:r>
              <a:rPr lang="en-US" altLang="ko-KR" b="1" dirty="0" smtClean="0"/>
              <a:t>=“KT_WLAN_A75E”</a:t>
            </a:r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          </a:t>
            </a:r>
            <a:r>
              <a:rPr lang="en-US" altLang="ko-KR" b="1" dirty="0" err="1" smtClean="0"/>
              <a:t>psk</a:t>
            </a:r>
            <a:r>
              <a:rPr lang="en-US" altLang="ko-KR" b="1" dirty="0" smtClean="0"/>
              <a:t>=7662d74fef348....................</a:t>
            </a:r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          </a:t>
            </a:r>
            <a:r>
              <a:rPr lang="en-US" altLang="ko-KR" b="1" dirty="0" err="1" smtClean="0"/>
              <a:t>key_mgmt</a:t>
            </a:r>
            <a:r>
              <a:rPr lang="en-US" altLang="ko-KR" b="1" dirty="0" smtClean="0"/>
              <a:t>=WPA-PSK</a:t>
            </a:r>
          </a:p>
          <a:p>
            <a:pPr marL="800100" lvl="1" indent="-342900" fontAlgn="base">
              <a:buNone/>
            </a:pPr>
            <a:r>
              <a:rPr lang="en-US" altLang="ko-KR" b="1" dirty="0" smtClean="0"/>
              <a:t>     }</a:t>
            </a:r>
          </a:p>
          <a:p>
            <a:pPr marL="800100" lvl="1" indent="-342900" fontAlgn="base">
              <a:buNone/>
            </a:pPr>
            <a:endParaRPr lang="en-US" altLang="ko-KR" b="1" dirty="0" smtClean="0"/>
          </a:p>
          <a:p>
            <a:pPr marL="800100" lvl="1" indent="-342900" fontAlgn="base">
              <a:buNone/>
            </a:pPr>
            <a:r>
              <a:rPr lang="en-US" altLang="ko-KR" b="1" dirty="0" smtClean="0"/>
              <a:t>   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6370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ethernet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- static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2217" y="990777"/>
            <a:ext cx="8193657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en-US" altLang="ko-KR" sz="2000" b="1" dirty="0">
                <a:latin typeface="+mn-ea"/>
                <a:ea typeface="+mn-ea"/>
              </a:rPr>
              <a:t>interfaces </a:t>
            </a:r>
            <a:r>
              <a:rPr lang="ko-KR" altLang="en-US" sz="2000" b="1" dirty="0">
                <a:latin typeface="+mn-ea"/>
                <a:ea typeface="+mn-ea"/>
              </a:rPr>
              <a:t>파일 </a:t>
            </a:r>
            <a:r>
              <a:rPr lang="ko-KR" altLang="en-US" sz="2000" b="1" dirty="0" smtClean="0">
                <a:latin typeface="+mn-ea"/>
                <a:ea typeface="+mn-ea"/>
              </a:rPr>
              <a:t>편집 </a:t>
            </a:r>
            <a:r>
              <a:rPr lang="en-US" altLang="ko-KR" sz="2000" b="1" dirty="0" smtClean="0">
                <a:latin typeface="+mn-ea"/>
                <a:ea typeface="+mn-ea"/>
              </a:rPr>
              <a:t>: </a:t>
            </a:r>
            <a:r>
              <a:rPr lang="en-US" altLang="ko-KR" b="1" dirty="0" smtClean="0">
                <a:latin typeface="+mn-ea"/>
                <a:ea typeface="+mn-ea"/>
              </a:rPr>
              <a:t>  </a:t>
            </a:r>
            <a:r>
              <a:rPr lang="en-US" altLang="ko-KR" b="1" dirty="0" err="1" smtClean="0">
                <a:latin typeface="+mn-ea"/>
                <a:ea typeface="+mn-ea"/>
              </a:rPr>
              <a:t>sudo</a:t>
            </a:r>
            <a:r>
              <a:rPr lang="en-US" altLang="ko-KR" b="1" dirty="0" smtClean="0">
                <a:latin typeface="+mn-ea"/>
                <a:ea typeface="+mn-ea"/>
              </a:rPr>
              <a:t> </a:t>
            </a:r>
            <a:r>
              <a:rPr lang="en-US" altLang="ko-KR" b="1" dirty="0" err="1">
                <a:latin typeface="+mn-ea"/>
                <a:ea typeface="+mn-ea"/>
              </a:rPr>
              <a:t>nano</a:t>
            </a:r>
            <a:r>
              <a:rPr lang="en-US" altLang="ko-KR" b="1" dirty="0">
                <a:latin typeface="+mn-ea"/>
                <a:ea typeface="+mn-ea"/>
              </a:rPr>
              <a:t> /</a:t>
            </a:r>
            <a:r>
              <a:rPr lang="en-US" altLang="ko-KR" b="1" dirty="0" err="1">
                <a:latin typeface="+mn-ea"/>
                <a:ea typeface="+mn-ea"/>
              </a:rPr>
              <a:t>etc</a:t>
            </a:r>
            <a:r>
              <a:rPr lang="en-US" altLang="ko-KR" b="1" dirty="0">
                <a:latin typeface="+mn-ea"/>
                <a:ea typeface="+mn-ea"/>
              </a:rPr>
              <a:t>/network/interfaces</a:t>
            </a:r>
          </a:p>
        </p:txBody>
      </p:sp>
      <p:sp>
        <p:nvSpPr>
          <p:cNvPr id="8" name="TextBox 10"/>
          <p:cNvSpPr txBox="1"/>
          <p:nvPr/>
        </p:nvSpPr>
        <p:spPr>
          <a:xfrm>
            <a:off x="536659" y="1417209"/>
            <a:ext cx="5605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600" b="1" dirty="0" smtClean="0">
                <a:latin typeface="+mn-ea"/>
                <a:ea typeface="+mn-ea"/>
              </a:rPr>
              <a:t>Interfaces </a:t>
            </a:r>
            <a:r>
              <a:rPr lang="ko-KR" altLang="en-US" sz="1600" b="1" dirty="0" smtClean="0">
                <a:latin typeface="+mn-ea"/>
                <a:ea typeface="+mn-ea"/>
              </a:rPr>
              <a:t>파일 위치 찾기 </a:t>
            </a:r>
            <a:r>
              <a:rPr lang="en-US" altLang="ko-KR" sz="1600" b="1" dirty="0" smtClean="0">
                <a:latin typeface="+mn-ea"/>
                <a:ea typeface="+mn-ea"/>
              </a:rPr>
              <a:t>: </a:t>
            </a:r>
            <a:r>
              <a:rPr lang="en-US" altLang="ko-KR" sz="1600" b="1" dirty="0" err="1" smtClean="0">
                <a:latin typeface="+mn-ea"/>
                <a:ea typeface="+mn-ea"/>
              </a:rPr>
              <a:t>sudo</a:t>
            </a:r>
            <a:r>
              <a:rPr lang="en-US" altLang="ko-KR" sz="1600" b="1" dirty="0" smtClean="0">
                <a:latin typeface="+mn-ea"/>
                <a:ea typeface="+mn-ea"/>
              </a:rPr>
              <a:t> find / -name interfaces</a:t>
            </a:r>
            <a:endParaRPr lang="ko-KR" altLang="en-US" sz="1600" b="1" dirty="0">
              <a:latin typeface="+mn-ea"/>
              <a:ea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8" t="37576" r="31313" b="19198"/>
          <a:stretch/>
        </p:blipFill>
        <p:spPr bwMode="auto">
          <a:xfrm>
            <a:off x="179512" y="1928617"/>
            <a:ext cx="4968552" cy="409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5292080" y="2035310"/>
            <a:ext cx="3672408" cy="38537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ko-KR" b="1" dirty="0"/>
              <a:t>auto lo</a:t>
            </a:r>
          </a:p>
          <a:p>
            <a:pPr>
              <a:lnSpc>
                <a:spcPts val="2700"/>
              </a:lnSpc>
            </a:pPr>
            <a:r>
              <a:rPr lang="en-US" altLang="ko-KR" b="1" dirty="0" err="1"/>
              <a:t>iface</a:t>
            </a:r>
            <a:r>
              <a:rPr lang="en-US" altLang="ko-KR" b="1" dirty="0"/>
              <a:t> lo </a:t>
            </a:r>
            <a:r>
              <a:rPr lang="en-US" altLang="ko-KR" b="1" dirty="0" err="1"/>
              <a:t>inet</a:t>
            </a:r>
            <a:r>
              <a:rPr lang="en-US" altLang="ko-KR" b="1" dirty="0"/>
              <a:t> loopback</a:t>
            </a:r>
          </a:p>
          <a:p>
            <a:pPr>
              <a:lnSpc>
                <a:spcPts val="2700"/>
              </a:lnSpc>
            </a:pPr>
            <a:endParaRPr lang="en-US" altLang="ko-KR" b="1" dirty="0"/>
          </a:p>
          <a:p>
            <a:pPr>
              <a:lnSpc>
                <a:spcPts val="2700"/>
              </a:lnSpc>
            </a:pPr>
            <a:r>
              <a:rPr lang="en-US" altLang="ko-KR" b="1" dirty="0"/>
              <a:t>auto eth0</a:t>
            </a:r>
          </a:p>
          <a:p>
            <a:pPr>
              <a:lnSpc>
                <a:spcPts val="2700"/>
              </a:lnSpc>
            </a:pPr>
            <a:r>
              <a:rPr lang="en-US" altLang="ko-KR" b="1" dirty="0"/>
              <a:t>allow-</a:t>
            </a:r>
            <a:r>
              <a:rPr lang="en-US" altLang="ko-KR" b="1" dirty="0" err="1"/>
              <a:t>hotplug</a:t>
            </a:r>
            <a:r>
              <a:rPr lang="en-US" altLang="ko-KR" b="1" dirty="0"/>
              <a:t> eth0</a:t>
            </a:r>
          </a:p>
          <a:p>
            <a:pPr>
              <a:lnSpc>
                <a:spcPts val="2700"/>
              </a:lnSpc>
            </a:pPr>
            <a:r>
              <a:rPr lang="en-US" altLang="ko-KR" b="1" dirty="0" err="1"/>
              <a:t>iface</a:t>
            </a:r>
            <a:r>
              <a:rPr lang="en-US" altLang="ko-KR" b="1" dirty="0"/>
              <a:t> eth0 </a:t>
            </a:r>
            <a:r>
              <a:rPr lang="en-US" altLang="ko-KR" b="1" dirty="0" err="1"/>
              <a:t>inet</a:t>
            </a:r>
            <a:r>
              <a:rPr lang="en-US" altLang="ko-KR" b="1" dirty="0"/>
              <a:t> static</a:t>
            </a:r>
          </a:p>
          <a:p>
            <a:pPr>
              <a:lnSpc>
                <a:spcPts val="2700"/>
              </a:lnSpc>
            </a:pPr>
            <a:r>
              <a:rPr lang="en-US" altLang="ko-KR" b="1" dirty="0"/>
              <a:t>address (IPv4 </a:t>
            </a:r>
            <a:r>
              <a:rPr lang="ko-KR" altLang="en-US" b="1" dirty="0"/>
              <a:t>주소</a:t>
            </a:r>
            <a:r>
              <a:rPr lang="en-US" altLang="ko-KR" b="1" dirty="0"/>
              <a:t>)</a:t>
            </a:r>
          </a:p>
          <a:p>
            <a:pPr>
              <a:lnSpc>
                <a:spcPts val="2700"/>
              </a:lnSpc>
            </a:pPr>
            <a:r>
              <a:rPr lang="en-US" altLang="ko-KR" b="1" dirty="0" err="1"/>
              <a:t>netmask</a:t>
            </a:r>
            <a:r>
              <a:rPr lang="en-US" altLang="ko-KR" b="1" dirty="0"/>
              <a:t> (</a:t>
            </a:r>
            <a:r>
              <a:rPr lang="ko-KR" altLang="en-US" b="1" dirty="0" err="1"/>
              <a:t>서브넷</a:t>
            </a:r>
            <a:r>
              <a:rPr lang="ko-KR" altLang="en-US" b="1" dirty="0"/>
              <a:t> 마스크</a:t>
            </a:r>
            <a:r>
              <a:rPr lang="en-US" altLang="ko-KR" b="1" dirty="0"/>
              <a:t>)</a:t>
            </a:r>
          </a:p>
          <a:p>
            <a:pPr>
              <a:lnSpc>
                <a:spcPts val="2700"/>
              </a:lnSpc>
            </a:pPr>
            <a:r>
              <a:rPr lang="en-US" altLang="ko-KR" b="1" dirty="0"/>
              <a:t>network (xxx.xxx.xxx.0)</a:t>
            </a:r>
          </a:p>
          <a:p>
            <a:pPr>
              <a:lnSpc>
                <a:spcPts val="2700"/>
              </a:lnSpc>
            </a:pPr>
            <a:r>
              <a:rPr lang="en-US" altLang="ko-KR" b="1" dirty="0"/>
              <a:t>gateway (xxx.xxx.xxx.1)</a:t>
            </a:r>
          </a:p>
          <a:p>
            <a:pPr>
              <a:lnSpc>
                <a:spcPts val="2700"/>
              </a:lnSpc>
            </a:pPr>
            <a:r>
              <a:rPr lang="en-US" altLang="ko-KR" b="1" dirty="0"/>
              <a:t>broadcast (</a:t>
            </a:r>
            <a:r>
              <a:rPr lang="ko-KR" altLang="en-US" b="1" dirty="0"/>
              <a:t>기본 설정 </a:t>
            </a:r>
            <a:r>
              <a:rPr lang="en-US" altLang="ko-KR" b="1" dirty="0"/>
              <a:t>DNS </a:t>
            </a:r>
            <a:r>
              <a:rPr lang="ko-KR" altLang="en-US" b="1" dirty="0"/>
              <a:t>서버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ethernet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- static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43508" y="979394"/>
            <a:ext cx="8856984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>
                <a:latin typeface="+mn-ea"/>
                <a:ea typeface="+mn-ea"/>
              </a:rPr>
              <a:t>외부 인터넷 가능하도록 </a:t>
            </a:r>
            <a:r>
              <a:rPr lang="en-US" altLang="ko-KR" b="1" dirty="0" smtClean="0">
                <a:latin typeface="+mn-ea"/>
                <a:ea typeface="+mn-ea"/>
              </a:rPr>
              <a:t>/</a:t>
            </a:r>
            <a:r>
              <a:rPr lang="en-US" altLang="ko-KR" b="1" dirty="0" err="1" smtClean="0">
                <a:latin typeface="+mn-ea"/>
                <a:ea typeface="+mn-ea"/>
              </a:rPr>
              <a:t>etc</a:t>
            </a:r>
            <a:r>
              <a:rPr lang="en-US" altLang="ko-KR" b="1" dirty="0" smtClean="0">
                <a:latin typeface="+mn-ea"/>
                <a:ea typeface="+mn-ea"/>
              </a:rPr>
              <a:t>/</a:t>
            </a:r>
            <a:r>
              <a:rPr lang="en-US" altLang="ko-KR" b="1" dirty="0" err="1" smtClean="0">
                <a:latin typeface="+mn-ea"/>
                <a:ea typeface="+mn-ea"/>
              </a:rPr>
              <a:t>resolv.conf</a:t>
            </a:r>
            <a:r>
              <a:rPr lang="en-US" altLang="ko-KR" b="1" dirty="0" smtClean="0">
                <a:latin typeface="+mn-ea"/>
                <a:ea typeface="+mn-ea"/>
              </a:rPr>
              <a:t> </a:t>
            </a:r>
            <a:r>
              <a:rPr lang="ko-KR" altLang="en-US" b="1" dirty="0" smtClean="0">
                <a:latin typeface="+mn-ea"/>
                <a:ea typeface="+mn-ea"/>
              </a:rPr>
              <a:t>파일에서 </a:t>
            </a:r>
            <a:r>
              <a:rPr lang="en-US" altLang="ko-KR" b="1" dirty="0" smtClean="0">
                <a:latin typeface="+mn-ea"/>
                <a:ea typeface="+mn-ea"/>
              </a:rPr>
              <a:t>DNS </a:t>
            </a:r>
            <a:r>
              <a:rPr lang="ko-KR" altLang="en-US" b="1" dirty="0" smtClean="0">
                <a:latin typeface="+mn-ea"/>
                <a:ea typeface="+mn-ea"/>
              </a:rPr>
              <a:t>추가 수정</a:t>
            </a:r>
            <a:endParaRPr lang="en-US" altLang="ko-KR" b="1" dirty="0" smtClean="0">
              <a:latin typeface="+mn-ea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>
                <a:latin typeface="+mn-ea"/>
                <a:ea typeface="+mn-ea"/>
              </a:rPr>
              <a:t>resolvconf.conf</a:t>
            </a:r>
            <a:r>
              <a:rPr lang="en-US" altLang="ko-KR" b="1" dirty="0" smtClean="0">
                <a:latin typeface="+mn-ea"/>
                <a:ea typeface="+mn-ea"/>
              </a:rPr>
              <a:t> </a:t>
            </a:r>
            <a:r>
              <a:rPr lang="ko-KR" altLang="en-US" b="1" dirty="0">
                <a:latin typeface="+mn-ea"/>
                <a:ea typeface="+mn-ea"/>
              </a:rPr>
              <a:t>파일 </a:t>
            </a:r>
            <a:r>
              <a:rPr lang="ko-KR" altLang="en-US" b="1" dirty="0" smtClean="0">
                <a:latin typeface="+mn-ea"/>
                <a:ea typeface="+mn-ea"/>
              </a:rPr>
              <a:t>편집 </a:t>
            </a:r>
            <a:r>
              <a:rPr lang="en-US" altLang="ko-KR" b="1" dirty="0" smtClean="0">
                <a:latin typeface="+mn-ea"/>
                <a:ea typeface="+mn-ea"/>
              </a:rPr>
              <a:t>:</a:t>
            </a:r>
            <a:r>
              <a:rPr lang="ko-KR" altLang="en-US" b="1" dirty="0" smtClean="0">
                <a:latin typeface="+mn-ea"/>
                <a:ea typeface="+mn-ea"/>
              </a:rPr>
              <a:t> </a:t>
            </a:r>
            <a:r>
              <a:rPr lang="en-US" altLang="ko-KR" b="1" dirty="0" err="1">
                <a:latin typeface="+mn-ea"/>
                <a:ea typeface="+mn-ea"/>
              </a:rPr>
              <a:t>sudo</a:t>
            </a: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en-US" altLang="ko-KR" b="1" dirty="0" err="1">
                <a:latin typeface="+mn-ea"/>
                <a:ea typeface="+mn-ea"/>
              </a:rPr>
              <a:t>nano</a:t>
            </a:r>
            <a:r>
              <a:rPr lang="en-US" altLang="ko-KR" b="1" dirty="0">
                <a:latin typeface="+mn-ea"/>
                <a:ea typeface="+mn-ea"/>
              </a:rPr>
              <a:t> /</a:t>
            </a:r>
            <a:r>
              <a:rPr lang="en-US" altLang="ko-KR" b="1" dirty="0" err="1">
                <a:latin typeface="+mn-ea"/>
                <a:ea typeface="+mn-ea"/>
              </a:rPr>
              <a:t>etc</a:t>
            </a:r>
            <a:r>
              <a:rPr lang="en-US" altLang="ko-KR" b="1" dirty="0">
                <a:latin typeface="+mn-ea"/>
                <a:ea typeface="+mn-ea"/>
              </a:rPr>
              <a:t>/</a:t>
            </a:r>
            <a:r>
              <a:rPr lang="en-US" altLang="ko-KR" b="1" dirty="0" err="1">
                <a:latin typeface="+mn-ea"/>
                <a:ea typeface="+mn-ea"/>
              </a:rPr>
              <a:t>resolvconf.conf</a:t>
            </a:r>
            <a:endParaRPr lang="ko-KR" altLang="en-US" b="1" dirty="0">
              <a:latin typeface="+mn-ea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13" name="TextBox 19"/>
          <p:cNvSpPr txBox="1"/>
          <p:nvPr/>
        </p:nvSpPr>
        <p:spPr>
          <a:xfrm>
            <a:off x="963123" y="1619199"/>
            <a:ext cx="3218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ko-KR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코드 추가</a:t>
            </a:r>
            <a:endParaRPr lang="en-US" altLang="ko-KR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  <a:latin typeface="+mn-ea"/>
                <a:ea typeface="+mn-ea"/>
              </a:rPr>
              <a:t>name_servers</a:t>
            </a:r>
            <a:r>
              <a:rPr lang="en-US" altLang="ko-KR" b="1" dirty="0" smtClean="0">
                <a:solidFill>
                  <a:srgbClr val="FF0000"/>
                </a:solidFill>
                <a:latin typeface="+mn-ea"/>
                <a:ea typeface="+mn-ea"/>
              </a:rPr>
              <a:t>=168.126.63.1</a:t>
            </a:r>
          </a:p>
          <a:p>
            <a:r>
              <a:rPr lang="en-US" altLang="ko-KR" b="1" dirty="0" err="1" smtClean="0">
                <a:solidFill>
                  <a:srgbClr val="FF0000"/>
                </a:solidFill>
                <a:latin typeface="+mn-ea"/>
                <a:ea typeface="+mn-ea"/>
              </a:rPr>
              <a:t>name_servers</a:t>
            </a:r>
            <a:r>
              <a:rPr lang="en-US" altLang="ko-KR" b="1" dirty="0" smtClean="0">
                <a:solidFill>
                  <a:srgbClr val="FF0000"/>
                </a:solidFill>
                <a:latin typeface="+mn-ea"/>
                <a:ea typeface="+mn-ea"/>
              </a:rPr>
              <a:t>=168.126.63.2</a:t>
            </a:r>
            <a:endParaRPr lang="ko-KR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36" t="37694" r="23491" b="19366"/>
          <a:stretch/>
        </p:blipFill>
        <p:spPr bwMode="auto">
          <a:xfrm>
            <a:off x="1321219" y="2698909"/>
            <a:ext cx="6262777" cy="4080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7"/>
          <p:cNvSpPr txBox="1"/>
          <p:nvPr/>
        </p:nvSpPr>
        <p:spPr>
          <a:xfrm>
            <a:off x="5112060" y="1811461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b="1" dirty="0" err="1" smtClean="0">
                <a:latin typeface="+mn-ea"/>
                <a:ea typeface="+mn-ea"/>
              </a:rPr>
              <a:t>Ctrl+x</a:t>
            </a:r>
            <a:r>
              <a:rPr lang="en-US" altLang="ko-KR" b="1" dirty="0" smtClean="0">
                <a:latin typeface="+mn-ea"/>
                <a:ea typeface="+mn-ea"/>
              </a:rPr>
              <a:t>, Y</a:t>
            </a:r>
          </a:p>
          <a:p>
            <a:r>
              <a:rPr lang="en-US" altLang="ko-KR" b="1" dirty="0" smtClean="0">
                <a:latin typeface="+mn-ea"/>
                <a:ea typeface="+mn-ea"/>
              </a:rPr>
              <a:t>reboot</a:t>
            </a:r>
            <a:endParaRPr lang="ko-KR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Network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ethernet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- static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8" t="25504" r="31313" b="19361"/>
          <a:stretch/>
        </p:blipFill>
        <p:spPr bwMode="auto">
          <a:xfrm>
            <a:off x="2334580" y="1573169"/>
            <a:ext cx="6020903" cy="501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318356" y="843472"/>
            <a:ext cx="7560840" cy="9904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>
                <a:latin typeface="+mn-ea"/>
                <a:ea typeface="+mn-ea"/>
              </a:rPr>
              <a:t>라즈베리파이를</a:t>
            </a: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en-US" altLang="ko-KR" b="1" dirty="0" smtClean="0">
                <a:latin typeface="+mn-ea"/>
                <a:ea typeface="+mn-ea"/>
              </a:rPr>
              <a:t> </a:t>
            </a:r>
            <a:r>
              <a:rPr lang="ko-KR" altLang="en-US" b="1" dirty="0" err="1" smtClean="0">
                <a:latin typeface="+mn-ea"/>
                <a:ea typeface="+mn-ea"/>
              </a:rPr>
              <a:t>재부팅하고</a:t>
            </a:r>
            <a:r>
              <a:rPr lang="ko-KR" altLang="en-US" b="1" dirty="0" smtClean="0">
                <a:latin typeface="+mn-ea"/>
                <a:ea typeface="+mn-ea"/>
              </a:rPr>
              <a:t> 인터넷 </a:t>
            </a:r>
            <a:r>
              <a:rPr lang="ko-KR" altLang="en-US" b="1" dirty="0">
                <a:latin typeface="+mn-ea"/>
                <a:ea typeface="+mn-ea"/>
              </a:rPr>
              <a:t>접속 여부 </a:t>
            </a:r>
            <a:r>
              <a:rPr lang="ko-KR" altLang="en-US" b="1" dirty="0" smtClean="0">
                <a:latin typeface="+mn-ea"/>
                <a:ea typeface="+mn-ea"/>
              </a:rPr>
              <a:t>확인</a:t>
            </a:r>
            <a:endParaRPr lang="en-US" altLang="ko-KR" b="1" dirty="0" smtClean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 smtClean="0">
                <a:solidFill>
                  <a:srgbClr val="000099"/>
                </a:solidFill>
                <a:latin typeface="+mn-ea"/>
                <a:ea typeface="+mn-ea"/>
              </a:rPr>
              <a:t>ifconfig</a:t>
            </a:r>
            <a:endParaRPr lang="ko-KR" altLang="en-US" sz="2400" b="1" dirty="0">
              <a:solidFill>
                <a:srgbClr val="000099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Console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모드의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SSH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접속하기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48761" y="1026404"/>
            <a:ext cx="8640960" cy="20313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err="1">
                <a:latin typeface="+mn-ea"/>
                <a:ea typeface="+mn-ea"/>
              </a:rPr>
              <a:t>라즈베리파이의</a:t>
            </a:r>
            <a:r>
              <a:rPr lang="ko-KR" altLang="en-US" b="1" dirty="0">
                <a:latin typeface="+mn-ea"/>
                <a:ea typeface="+mn-ea"/>
              </a:rPr>
              <a:t> </a:t>
            </a:r>
            <a:r>
              <a:rPr lang="en-US" altLang="ko-KR" b="1" dirty="0">
                <a:latin typeface="+mn-ea"/>
                <a:ea typeface="+mn-ea"/>
              </a:rPr>
              <a:t>SSH </a:t>
            </a:r>
            <a:r>
              <a:rPr lang="ko-KR" altLang="en-US" b="1" dirty="0">
                <a:latin typeface="+mn-ea"/>
                <a:ea typeface="+mn-ea"/>
              </a:rPr>
              <a:t>설정 여부를 확인하고</a:t>
            </a:r>
            <a:r>
              <a:rPr lang="en-US" altLang="ko-KR" b="1" dirty="0">
                <a:latin typeface="+mn-ea"/>
                <a:ea typeface="+mn-ea"/>
              </a:rPr>
              <a:t>, </a:t>
            </a:r>
            <a:r>
              <a:rPr lang="ko-KR" altLang="en-US" b="1" dirty="0">
                <a:latin typeface="+mn-ea"/>
                <a:ea typeface="+mn-ea"/>
              </a:rPr>
              <a:t>사용 가능하도록 </a:t>
            </a:r>
            <a:r>
              <a:rPr lang="ko-KR" altLang="en-US" b="1" dirty="0" smtClean="0">
                <a:latin typeface="+mn-ea"/>
                <a:ea typeface="+mn-ea"/>
              </a:rPr>
              <a:t>설정</a:t>
            </a:r>
            <a:endParaRPr lang="en-US" altLang="ko-KR" b="1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>
                <a:latin typeface="+mn-ea"/>
                <a:ea typeface="+mn-ea"/>
              </a:rPr>
              <a:t>sudo</a:t>
            </a: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en-US" altLang="ko-KR" b="1" dirty="0" err="1" smtClean="0">
                <a:latin typeface="+mn-ea"/>
                <a:ea typeface="+mn-ea"/>
              </a:rPr>
              <a:t>raspi-config</a:t>
            </a:r>
            <a:endParaRPr lang="en-US" altLang="ko-KR" b="1" dirty="0" smtClean="0">
              <a:latin typeface="+mn-ea"/>
              <a:ea typeface="+mn-ea"/>
            </a:endParaRPr>
          </a:p>
          <a:p>
            <a:r>
              <a:rPr lang="en-US" altLang="ko-KR" b="1" dirty="0" smtClean="0">
                <a:latin typeface="+mn-ea"/>
                <a:ea typeface="+mn-ea"/>
              </a:rPr>
              <a:t>    </a:t>
            </a:r>
            <a:r>
              <a:rPr lang="en-US" altLang="ko-KR" b="1" dirty="0" smtClean="0">
                <a:solidFill>
                  <a:srgbClr val="000099"/>
                </a:solidFill>
                <a:latin typeface="+mn-ea"/>
                <a:ea typeface="+mn-ea"/>
              </a:rPr>
              <a:t>9  </a:t>
            </a:r>
            <a:r>
              <a:rPr lang="en-US" altLang="ko-KR" b="1" dirty="0">
                <a:solidFill>
                  <a:srgbClr val="000099"/>
                </a:solidFill>
                <a:latin typeface="+mn-ea"/>
                <a:ea typeface="+mn-ea"/>
              </a:rPr>
              <a:t>Advanced Options </a:t>
            </a:r>
            <a:r>
              <a:rPr lang="en-US" altLang="ko-KR" b="1" dirty="0" smtClean="0">
                <a:solidFill>
                  <a:srgbClr val="000099"/>
                </a:solidFill>
                <a:latin typeface="+mn-ea"/>
                <a:ea typeface="+mn-ea"/>
              </a:rPr>
              <a:t>-&gt;A4  </a:t>
            </a:r>
            <a:r>
              <a:rPr lang="en-US" altLang="ko-KR" b="1" dirty="0">
                <a:solidFill>
                  <a:srgbClr val="000099"/>
                </a:solidFill>
                <a:latin typeface="+mn-ea"/>
                <a:ea typeface="+mn-ea"/>
              </a:rPr>
              <a:t>SSH -&gt; Enabled</a:t>
            </a:r>
            <a:endParaRPr lang="ko-KR" altLang="en-US" b="1" dirty="0">
              <a:solidFill>
                <a:srgbClr val="000099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b="1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b="1" dirty="0">
              <a:latin typeface="+mn-ea"/>
              <a:ea typeface="+mn-ea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9" t="37787" r="31322" b="19322"/>
          <a:stretch/>
        </p:blipFill>
        <p:spPr bwMode="auto">
          <a:xfrm>
            <a:off x="3219056" y="2936096"/>
            <a:ext cx="5676183" cy="3673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Console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모드의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SSH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접속하기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putty download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내용 개체 틀 4"/>
          <p:cNvSpPr>
            <a:spLocks noGrp="1"/>
          </p:cNvSpPr>
          <p:nvPr/>
        </p:nvSpPr>
        <p:spPr>
          <a:xfrm>
            <a:off x="457200" y="1018820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URL : </a:t>
            </a:r>
            <a:r>
              <a:rPr lang="en-US" altLang="ko-KR" dirty="0">
                <a:hlinkClick r:id="rId2"/>
              </a:rPr>
              <a:t>http://www.chiark.greenend.org.uk/~sgtatham/putty/download.html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0" name="_x199180120" descr="EMB00000c9841a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48" y="1405433"/>
            <a:ext cx="7588975" cy="469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Console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모드의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SSH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접속하기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putty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내용 개체 틀 4"/>
          <p:cNvSpPr>
            <a:spLocks noGrp="1"/>
          </p:cNvSpPr>
          <p:nvPr/>
        </p:nvSpPr>
        <p:spPr>
          <a:xfrm>
            <a:off x="457200" y="982982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dirty="0"/>
              <a:t>“</a:t>
            </a:r>
            <a:r>
              <a:rPr lang="en-US" altLang="ko-KR" dirty="0"/>
              <a:t>Host Name (or IP address)”</a:t>
            </a:r>
            <a:r>
              <a:rPr lang="ko-KR" altLang="en-US" dirty="0"/>
              <a:t>에 </a:t>
            </a:r>
            <a:r>
              <a:rPr lang="en-US" altLang="ko-KR" b="1" dirty="0"/>
              <a:t>ipaddr.txt</a:t>
            </a:r>
            <a:r>
              <a:rPr lang="ko-KR" altLang="en-US" b="1" dirty="0"/>
              <a:t>에 저장되어 있는 </a:t>
            </a:r>
            <a:r>
              <a:rPr lang="en-US" altLang="ko-KR" b="1" dirty="0"/>
              <a:t>IP</a:t>
            </a:r>
            <a:r>
              <a:rPr lang="ko-KR" altLang="en-US" dirty="0"/>
              <a:t>를 </a:t>
            </a:r>
            <a:r>
              <a:rPr lang="en-US" altLang="ko-KR" dirty="0"/>
              <a:t>[</a:t>
            </a:r>
            <a:r>
              <a:rPr lang="ko-KR" altLang="en-US" dirty="0" smtClean="0"/>
              <a:t>그림</a:t>
            </a:r>
            <a:r>
              <a:rPr lang="en-US" altLang="ko-KR" dirty="0" smtClean="0"/>
              <a:t>]</a:t>
            </a:r>
            <a:r>
              <a:rPr lang="ko-KR" altLang="en-US" dirty="0"/>
              <a:t>과 같이 입력하고 “</a:t>
            </a:r>
            <a:r>
              <a:rPr lang="en-US" altLang="ko-KR" dirty="0"/>
              <a:t>Open”</a:t>
            </a:r>
            <a:r>
              <a:rPr lang="ko-KR" altLang="en-US" dirty="0"/>
              <a:t>을 클릭</a:t>
            </a:r>
          </a:p>
        </p:txBody>
      </p:sp>
      <p:pic>
        <p:nvPicPr>
          <p:cNvPr id="12" name="_x199182360" descr="EMB00000c9841b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3"/>
          <a:stretch>
            <a:fillRect/>
          </a:stretch>
        </p:blipFill>
        <p:spPr bwMode="auto">
          <a:xfrm>
            <a:off x="2051720" y="1692212"/>
            <a:ext cx="5040560" cy="481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Console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모드의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SSH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접속하기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putty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내용 개체 틀 4"/>
          <p:cNvSpPr>
            <a:spLocks noGrp="1"/>
          </p:cNvSpPr>
          <p:nvPr/>
        </p:nvSpPr>
        <p:spPr>
          <a:xfrm>
            <a:off x="457200" y="955673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/>
              <a:t>[</a:t>
            </a:r>
            <a:r>
              <a:rPr lang="ko-KR" altLang="en-US" dirty="0" smtClean="0"/>
              <a:t>그림</a:t>
            </a:r>
            <a:r>
              <a:rPr lang="en-US" altLang="ko-KR" dirty="0" smtClean="0"/>
              <a:t>]</a:t>
            </a:r>
            <a:r>
              <a:rPr lang="ko-KR" altLang="en-US" dirty="0"/>
              <a:t>과 같은 창이 활성화 되면 </a:t>
            </a:r>
            <a:r>
              <a:rPr lang="en-US" altLang="ko-KR" dirty="0"/>
              <a:t>ID </a:t>
            </a:r>
            <a:r>
              <a:rPr lang="ko-KR" altLang="en-US" dirty="0"/>
              <a:t>및 </a:t>
            </a:r>
            <a:r>
              <a:rPr lang="en-US" altLang="ko-KR" dirty="0"/>
              <a:t>Password</a:t>
            </a:r>
            <a:r>
              <a:rPr lang="ko-KR" altLang="en-US" dirty="0"/>
              <a:t>를 입력하여 로그인하면 접속이 완료</a:t>
            </a:r>
          </a:p>
        </p:txBody>
      </p:sp>
      <p:pic>
        <p:nvPicPr>
          <p:cNvPr id="9" name="_x199179960" descr="EMB00000c9841b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256" y="1663170"/>
            <a:ext cx="7087488" cy="481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GUI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모드의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XRDP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/>
        </p:nvSpPr>
        <p:spPr>
          <a:xfrm>
            <a:off x="457200" y="1047133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/>
              <a:t>GUI </a:t>
            </a:r>
            <a:r>
              <a:rPr lang="ko-KR" altLang="en-US" dirty="0"/>
              <a:t>모드의 </a:t>
            </a:r>
            <a:r>
              <a:rPr lang="en-US" altLang="ko-KR" dirty="0"/>
              <a:t>XRDP </a:t>
            </a:r>
            <a:r>
              <a:rPr lang="ko-KR" altLang="en-US" dirty="0" smtClean="0"/>
              <a:t>연결하기 </a:t>
            </a:r>
            <a:r>
              <a:rPr lang="en-US" altLang="ko-KR" dirty="0" smtClean="0"/>
              <a:t>:</a:t>
            </a:r>
            <a:r>
              <a:rPr lang="en-US" altLang="ko-KR" b="1" dirty="0" smtClean="0">
                <a:solidFill>
                  <a:srgbClr val="000099"/>
                </a:solidFill>
              </a:rPr>
              <a:t> </a:t>
            </a:r>
            <a:r>
              <a:rPr lang="en-US" altLang="ko-KR" b="1" dirty="0" err="1" smtClean="0">
                <a:solidFill>
                  <a:srgbClr val="000099"/>
                </a:solidFill>
              </a:rPr>
              <a:t>sudo</a:t>
            </a:r>
            <a:r>
              <a:rPr lang="en-US" altLang="ko-KR" b="1" dirty="0" smtClean="0">
                <a:solidFill>
                  <a:srgbClr val="000099"/>
                </a:solidFill>
              </a:rPr>
              <a:t> apt-get install </a:t>
            </a:r>
            <a:r>
              <a:rPr lang="en-US" altLang="ko-KR" b="1" dirty="0" err="1" smtClean="0">
                <a:solidFill>
                  <a:srgbClr val="000099"/>
                </a:solidFill>
              </a:rPr>
              <a:t>xrdp</a:t>
            </a:r>
            <a:endParaRPr lang="en-US" altLang="ko-KR" b="1" dirty="0" smtClean="0">
              <a:solidFill>
                <a:srgbClr val="000099"/>
              </a:solidFill>
            </a:endParaRPr>
          </a:p>
          <a:p>
            <a:pPr lvl="1" fontAlgn="base"/>
            <a:r>
              <a:rPr lang="ko-KR" altLang="en-US" dirty="0" err="1"/>
              <a:t>라즈베리</a:t>
            </a:r>
            <a:r>
              <a:rPr lang="ko-KR" altLang="en-US" dirty="0"/>
              <a:t> 파이</a:t>
            </a:r>
            <a:r>
              <a:rPr lang="en-US" altLang="ko-KR" dirty="0"/>
              <a:t>(Raspberry Pi)</a:t>
            </a:r>
            <a:r>
              <a:rPr lang="ko-KR" altLang="en-US" dirty="0"/>
              <a:t>에 연결 할 모니터가 없을 때</a:t>
            </a:r>
            <a:r>
              <a:rPr lang="en-US" altLang="ko-KR" dirty="0"/>
              <a:t>, </a:t>
            </a:r>
            <a:r>
              <a:rPr lang="ko-KR" altLang="en-US" dirty="0"/>
              <a:t>같은 네트워크에 연결되어 있는 </a:t>
            </a:r>
            <a:r>
              <a:rPr lang="en-US" altLang="ko-KR" dirty="0"/>
              <a:t>PC</a:t>
            </a:r>
            <a:r>
              <a:rPr lang="ko-KR" altLang="en-US" dirty="0"/>
              <a:t>가 있다면 모니터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마우스를 공유하면서 </a:t>
            </a:r>
            <a:r>
              <a:rPr lang="ko-KR" altLang="en-US" dirty="0" smtClean="0"/>
              <a:t>사용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xrdp</a:t>
            </a:r>
            <a:r>
              <a:rPr lang="en-US" altLang="ko-KR" dirty="0"/>
              <a:t>: An open source remote desktop protocol(</a:t>
            </a:r>
            <a:r>
              <a:rPr lang="en-US" altLang="ko-KR" dirty="0" err="1"/>
              <a:t>rdp</a:t>
            </a:r>
            <a:r>
              <a:rPr lang="en-US" altLang="ko-KR" dirty="0"/>
              <a:t>) </a:t>
            </a:r>
            <a:r>
              <a:rPr lang="en-US" altLang="ko-KR" dirty="0" smtClean="0"/>
              <a:t>server)</a:t>
            </a:r>
          </a:p>
          <a:p>
            <a:pPr lvl="1" fontAlgn="base"/>
            <a:r>
              <a:rPr lang="ko-KR" altLang="en-US" dirty="0"/>
              <a:t>원격접속 </a:t>
            </a:r>
            <a:r>
              <a:rPr lang="ko-KR" altLang="en-US" dirty="0" smtClean="0"/>
              <a:t>하기</a:t>
            </a:r>
            <a:endParaRPr lang="en-US" altLang="ko-KR" dirty="0" smtClean="0"/>
          </a:p>
          <a:p>
            <a:pPr lvl="2" fontAlgn="base"/>
            <a:r>
              <a:rPr lang="ko-KR" altLang="en-US" dirty="0" err="1"/>
              <a:t>라즈베리</a:t>
            </a:r>
            <a:r>
              <a:rPr lang="ko-KR" altLang="en-US" dirty="0"/>
              <a:t> 파이</a:t>
            </a:r>
            <a:r>
              <a:rPr lang="en-US" altLang="ko-KR" dirty="0"/>
              <a:t>(Raspberry Pi)</a:t>
            </a:r>
            <a:r>
              <a:rPr lang="ko-KR" altLang="en-US" dirty="0"/>
              <a:t>로 접속하기 위해서는 “시작 → 보조프로그램 → 원격 데스크톱 </a:t>
            </a:r>
            <a:r>
              <a:rPr lang="ko-KR" altLang="en-US" dirty="0" err="1"/>
              <a:t>연결”을</a:t>
            </a:r>
            <a:r>
              <a:rPr lang="ko-KR" altLang="en-US" dirty="0"/>
              <a:t> 실행 시킨다</a:t>
            </a:r>
            <a:r>
              <a:rPr lang="en-US" altLang="ko-KR" dirty="0"/>
              <a:t>. </a:t>
            </a:r>
            <a:r>
              <a:rPr lang="ko-KR" altLang="en-US" dirty="0"/>
              <a:t>실행 창에 “</a:t>
            </a:r>
            <a:r>
              <a:rPr lang="en-US" altLang="ko-KR" dirty="0" err="1"/>
              <a:t>mstsc</a:t>
            </a:r>
            <a:r>
              <a:rPr lang="en-US" altLang="ko-KR" dirty="0"/>
              <a:t>”</a:t>
            </a:r>
            <a:r>
              <a:rPr lang="ko-KR" altLang="en-US" dirty="0"/>
              <a:t>를 입력하여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(Terminal Server Connection)</a:t>
            </a:r>
            <a:endParaRPr lang="ko-KR" altLang="en-US" dirty="0"/>
          </a:p>
          <a:p>
            <a:pPr lvl="2" fontAlgn="base"/>
            <a:r>
              <a:rPr lang="ko-KR" altLang="en-US" dirty="0"/>
              <a:t>원격 데스크톱 연결을 실행 후 </a:t>
            </a:r>
            <a:r>
              <a:rPr lang="ko-KR" altLang="en-US" dirty="0" err="1"/>
              <a:t>라즈베리</a:t>
            </a:r>
            <a:r>
              <a:rPr lang="ko-KR" altLang="en-US" dirty="0"/>
              <a:t> 파이</a:t>
            </a:r>
            <a:r>
              <a:rPr lang="en-US" altLang="ko-KR" dirty="0"/>
              <a:t>(Raspberry Pi)</a:t>
            </a:r>
            <a:r>
              <a:rPr lang="ko-KR" altLang="en-US" dirty="0"/>
              <a:t>의 </a:t>
            </a:r>
            <a:r>
              <a:rPr lang="en-US" altLang="ko-KR" dirty="0"/>
              <a:t>IP</a:t>
            </a:r>
            <a:r>
              <a:rPr lang="ko-KR" altLang="en-US" dirty="0"/>
              <a:t>를 입력하여 </a:t>
            </a:r>
            <a:r>
              <a:rPr lang="ko-KR" altLang="en-US" dirty="0" err="1"/>
              <a:t>라즈베리</a:t>
            </a:r>
            <a:r>
              <a:rPr lang="ko-KR" altLang="en-US" dirty="0"/>
              <a:t> 파이</a:t>
            </a:r>
            <a:r>
              <a:rPr lang="en-US" altLang="ko-KR" dirty="0"/>
              <a:t>(Raspberry Pi)</a:t>
            </a:r>
            <a:r>
              <a:rPr lang="ko-KR" altLang="en-US" dirty="0"/>
              <a:t>에 원격 접속한다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 lvl="4" fontAlgn="base"/>
            <a:endParaRPr lang="ko-KR" altLang="en-US" dirty="0"/>
          </a:p>
          <a:p>
            <a:pPr fontAlgn="base"/>
            <a:endParaRPr lang="ko-KR" altLang="en-US" dirty="0"/>
          </a:p>
          <a:p>
            <a:pPr lvl="1" fontAlgn="base"/>
            <a:endParaRPr lang="ko-KR" altLang="en-US" dirty="0"/>
          </a:p>
        </p:txBody>
      </p:sp>
      <p:pic>
        <p:nvPicPr>
          <p:cNvPr id="6" name="_x199181080" descr="EMB00000c9841c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" t="11403" r="1782" b="7028"/>
          <a:stretch>
            <a:fillRect/>
          </a:stretch>
        </p:blipFill>
        <p:spPr bwMode="auto">
          <a:xfrm>
            <a:off x="1378993" y="4529340"/>
            <a:ext cx="6386014" cy="201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GUI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모드의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XRDP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연결하기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_x199181960" descr="EMB00000c9841c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08"/>
          <a:stretch>
            <a:fillRect/>
          </a:stretch>
        </p:blipFill>
        <p:spPr bwMode="auto">
          <a:xfrm>
            <a:off x="880437" y="1202038"/>
            <a:ext cx="7383126" cy="445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Samba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내용 개체 틀 16"/>
          <p:cNvSpPr>
            <a:spLocks noGrp="1"/>
          </p:cNvSpPr>
          <p:nvPr/>
        </p:nvSpPr>
        <p:spPr>
          <a:xfrm>
            <a:off x="370774" y="1006189"/>
            <a:ext cx="4042792" cy="550072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 smtClean="0"/>
              <a:t>Samba Server</a:t>
            </a:r>
            <a:endParaRPr lang="en-US" altLang="ko-KR" b="1" dirty="0"/>
          </a:p>
          <a:p>
            <a:pPr lvl="1" fontAlgn="base"/>
            <a:r>
              <a:rPr lang="en-US" altLang="ko-KR" dirty="0" err="1" smtClean="0"/>
              <a:t>Smb</a:t>
            </a:r>
            <a:r>
              <a:rPr lang="en-US" altLang="ko-KR" dirty="0" smtClean="0"/>
              <a:t>(server message block) </a:t>
            </a:r>
            <a:r>
              <a:rPr lang="ko-KR" altLang="en-US" dirty="0"/>
              <a:t>프로토콜을 이용하여 서버와 클라이언트 간의 파일이나 프린터를 공유하게 해주는 패키지를 말한다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있는 파일이나 사용자가 사용 중인 운영체제에 있는 파일 공유를 위해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1" fontAlgn="base"/>
            <a:r>
              <a:rPr lang="en-US" altLang="ko-KR" dirty="0" smtClean="0"/>
              <a:t>samba </a:t>
            </a:r>
            <a:r>
              <a:rPr lang="en-US" altLang="ko-KR" dirty="0"/>
              <a:t>server </a:t>
            </a:r>
            <a:r>
              <a:rPr lang="ko-KR" altLang="en-US" dirty="0"/>
              <a:t>설치 </a:t>
            </a:r>
            <a:r>
              <a:rPr lang="ko-KR" altLang="en-US" dirty="0" smtClean="0"/>
              <a:t>방법은 옆 그림과 </a:t>
            </a:r>
            <a:r>
              <a:rPr lang="ko-KR" altLang="en-US" dirty="0"/>
              <a:t>같다</a:t>
            </a:r>
            <a:r>
              <a:rPr lang="en-US" altLang="ko-KR" dirty="0"/>
              <a:t>. </a:t>
            </a:r>
            <a:r>
              <a:rPr lang="ko-KR" altLang="en-US" dirty="0"/>
              <a:t>우선 </a:t>
            </a:r>
            <a:r>
              <a:rPr lang="en-US" altLang="ko-KR" dirty="0"/>
              <a:t>"</a:t>
            </a:r>
            <a:r>
              <a:rPr lang="en-US" altLang="ko-KR" b="1" dirty="0" err="1">
                <a:solidFill>
                  <a:srgbClr val="000099"/>
                </a:solidFill>
              </a:rPr>
              <a:t>sudo</a:t>
            </a:r>
            <a:r>
              <a:rPr lang="en-US" altLang="ko-KR" b="1" dirty="0">
                <a:solidFill>
                  <a:srgbClr val="000099"/>
                </a:solidFill>
              </a:rPr>
              <a:t> apt-get update</a:t>
            </a:r>
            <a:r>
              <a:rPr lang="en-US" altLang="ko-KR" dirty="0"/>
              <a:t>"</a:t>
            </a:r>
            <a:r>
              <a:rPr lang="ko-KR" altLang="en-US" dirty="0"/>
              <a:t>를 통해 패키지를 설치 할 수 있도록 패키지 목록을 </a:t>
            </a:r>
            <a:r>
              <a:rPr lang="ko-KR" altLang="en-US" dirty="0" smtClean="0"/>
              <a:t>업데이트</a:t>
            </a:r>
            <a:endParaRPr lang="en-US" altLang="ko-KR" dirty="0" smtClean="0"/>
          </a:p>
          <a:p>
            <a:pPr lvl="1" fontAlgn="base"/>
            <a:r>
              <a:rPr lang="ko-KR" altLang="en-US" dirty="0"/>
              <a:t>“</a:t>
            </a:r>
            <a:r>
              <a:rPr lang="en-US" altLang="ko-KR" b="1" dirty="0" err="1">
                <a:solidFill>
                  <a:srgbClr val="000099"/>
                </a:solidFill>
              </a:rPr>
              <a:t>sudo</a:t>
            </a:r>
            <a:r>
              <a:rPr lang="en-US" altLang="ko-KR" b="1" dirty="0">
                <a:solidFill>
                  <a:srgbClr val="000099"/>
                </a:solidFill>
              </a:rPr>
              <a:t> apt-get install samba</a:t>
            </a:r>
            <a:r>
              <a:rPr lang="en-US" altLang="ko-KR" dirty="0"/>
              <a:t>" </a:t>
            </a:r>
            <a:r>
              <a:rPr lang="ko-KR" altLang="en-US" dirty="0"/>
              <a:t>명령을 통해 </a:t>
            </a:r>
            <a:r>
              <a:rPr lang="en-US" altLang="ko-KR" dirty="0"/>
              <a:t>samba</a:t>
            </a:r>
            <a:r>
              <a:rPr lang="ko-KR" altLang="en-US" dirty="0"/>
              <a:t>를 설치한다</a:t>
            </a:r>
            <a:r>
              <a:rPr lang="en-US" altLang="ko-KR" dirty="0"/>
              <a:t>. </a:t>
            </a:r>
            <a:r>
              <a:rPr lang="ko-KR" altLang="en-US" dirty="0"/>
              <a:t>해당 명령을 수행하면 네트워크를 통해 </a:t>
            </a:r>
            <a:r>
              <a:rPr lang="en-US" altLang="ko-KR" dirty="0"/>
              <a:t>samba </a:t>
            </a:r>
            <a:r>
              <a:rPr lang="ko-KR" altLang="en-US" dirty="0"/>
              <a:t>패키지를 찾고 해당 패키지를 설치할 것 인지를 사용자에게 물어보게 됨</a:t>
            </a:r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 smtClean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fontAlgn="base"/>
            <a:endParaRPr lang="en-US" altLang="ko-KR" dirty="0" smtClean="0"/>
          </a:p>
          <a:p>
            <a:pPr lvl="3" fontAlgn="base"/>
            <a:endParaRPr lang="en-US" altLang="ko-KR" dirty="0" smtClean="0"/>
          </a:p>
          <a:p>
            <a:pPr lvl="3" fontAlgn="base"/>
            <a:endParaRPr lang="ko-KR" altLang="en-US" dirty="0"/>
          </a:p>
          <a:p>
            <a:pPr fontAlgn="base"/>
            <a:endParaRPr lang="ko-KR" altLang="en-US" dirty="0"/>
          </a:p>
        </p:txBody>
      </p:sp>
      <p:pic>
        <p:nvPicPr>
          <p:cNvPr id="6" name="_x212431824" descr="EMB000024441d2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452" y="1130255"/>
            <a:ext cx="4168775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Samba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내용 개체 틀 16"/>
          <p:cNvSpPr>
            <a:spLocks noGrp="1"/>
          </p:cNvSpPr>
          <p:nvPr/>
        </p:nvSpPr>
        <p:spPr>
          <a:xfrm>
            <a:off x="-180181" y="910653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/>
            <a:r>
              <a:rPr lang="ko-KR" altLang="en-US" dirty="0" smtClean="0"/>
              <a:t>패키지 </a:t>
            </a:r>
            <a:r>
              <a:rPr lang="ko-KR" altLang="en-US" dirty="0"/>
              <a:t>설치가 완료되고 나면 </a:t>
            </a:r>
            <a:r>
              <a:rPr lang="en-US" altLang="ko-KR" dirty="0"/>
              <a:t>samba </a:t>
            </a:r>
            <a:r>
              <a:rPr lang="ko-KR" altLang="en-US" dirty="0"/>
              <a:t>의 설정을 진행한다</a:t>
            </a:r>
            <a:r>
              <a:rPr lang="en-US" altLang="ko-KR" dirty="0"/>
              <a:t>. </a:t>
            </a:r>
            <a:r>
              <a:rPr lang="ko-KR" altLang="en-US" dirty="0"/>
              <a:t>외부 클라이언트와 공유할 폴더 읽기 속성 등을 설정한다</a:t>
            </a:r>
            <a:r>
              <a:rPr lang="en-US" altLang="ko-KR" dirty="0"/>
              <a:t>. </a:t>
            </a:r>
            <a:r>
              <a:rPr lang="ko-KR" altLang="en-US" dirty="0" smtClean="0"/>
              <a:t>가장 </a:t>
            </a:r>
            <a:r>
              <a:rPr lang="ko-KR" altLang="en-US" dirty="0"/>
              <a:t>기본 설정만 하여 외부에서 파일을 읽고 쓰기가 가능하도록 설정한다</a:t>
            </a:r>
            <a:r>
              <a:rPr lang="en-US" altLang="ko-KR" dirty="0"/>
              <a:t>. </a:t>
            </a:r>
            <a:r>
              <a:rPr lang="ko-KR" altLang="en-US" dirty="0"/>
              <a:t>파일 </a:t>
            </a:r>
            <a:r>
              <a:rPr lang="ko-KR" altLang="en-US" dirty="0" smtClean="0"/>
              <a:t>수정 시 </a:t>
            </a:r>
            <a:r>
              <a:rPr lang="en-US" altLang="ko-KR" dirty="0"/>
              <a:t>vi </a:t>
            </a:r>
            <a:r>
              <a:rPr lang="ko-KR" altLang="en-US" dirty="0"/>
              <a:t>에디터가 아닌 </a:t>
            </a:r>
            <a:r>
              <a:rPr lang="en-US" altLang="ko-KR" dirty="0" err="1"/>
              <a:t>nano</a:t>
            </a:r>
            <a:r>
              <a:rPr lang="en-US" altLang="ko-KR" dirty="0"/>
              <a:t> </a:t>
            </a:r>
            <a:r>
              <a:rPr lang="ko-KR" altLang="en-US" dirty="0"/>
              <a:t>에디터를 이용해도 무방</a:t>
            </a:r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pPr fontAlgn="base"/>
            <a:endParaRPr lang="ko-KR" alt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5257" y="251511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0182" y="279451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endParaRPr lang="ko-KR" altLang="en-US">
              <a:latin typeface="+mn-ea"/>
              <a:ea typeface="+mn-ea"/>
            </a:endParaRPr>
          </a:p>
        </p:txBody>
      </p:sp>
      <p:pic>
        <p:nvPicPr>
          <p:cNvPr id="9" name="_x212432944" descr="EMB000024441d2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5" y="2186846"/>
            <a:ext cx="6840760" cy="406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304566" y="2467151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0000FF"/>
                </a:solidFill>
              </a:rPr>
              <a:t>nano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925019" y="2156604"/>
            <a:ext cx="405441" cy="353683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192437" y="2527540"/>
            <a:ext cx="181155" cy="163902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Samba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내용 개체 틀 16"/>
          <p:cNvSpPr>
            <a:spLocks noGrp="1"/>
          </p:cNvSpPr>
          <p:nvPr/>
        </p:nvSpPr>
        <p:spPr>
          <a:xfrm>
            <a:off x="320720" y="1047133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/>
            <a:r>
              <a:rPr lang="en-US" altLang="ko-KR" dirty="0" smtClean="0"/>
              <a:t>samba </a:t>
            </a:r>
            <a:r>
              <a:rPr lang="ko-KR" altLang="en-US" dirty="0"/>
              <a:t>설정을 완료하면 외부에서 접속 가능한 유저를 등록한다</a:t>
            </a:r>
            <a:r>
              <a:rPr lang="en-US" altLang="ko-KR" dirty="0"/>
              <a:t>. </a:t>
            </a:r>
            <a:r>
              <a:rPr lang="ko-KR" altLang="en-US" dirty="0"/>
              <a:t>편의를 위해 로그인시와 동일한 아이디와 비번으로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altLang="ko-KR" dirty="0"/>
              <a:t>( ID : pi / PW : raspberry </a:t>
            </a:r>
            <a:r>
              <a:rPr lang="en-US" altLang="ko-KR" dirty="0" smtClean="0"/>
              <a:t>)</a:t>
            </a:r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 smtClean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 smtClean="0"/>
          </a:p>
          <a:p>
            <a:pPr lvl="1" fontAlgn="base"/>
            <a:r>
              <a:rPr lang="ko-KR" altLang="en-US" dirty="0"/>
              <a:t>해당 과정을 적용하기 위해 </a:t>
            </a:r>
            <a:r>
              <a:rPr lang="en-US" altLang="ko-KR" dirty="0"/>
              <a:t>samba server</a:t>
            </a:r>
            <a:r>
              <a:rPr lang="ko-KR" altLang="en-US" dirty="0"/>
              <a:t>를 </a:t>
            </a:r>
            <a:r>
              <a:rPr lang="ko-KR" altLang="en-US" dirty="0" err="1"/>
              <a:t>재시작</a:t>
            </a:r>
            <a:r>
              <a:rPr lang="ko-KR" altLang="en-US" dirty="0"/>
              <a:t> 한다</a:t>
            </a:r>
            <a:r>
              <a:rPr lang="en-US" altLang="ko-KR" dirty="0"/>
              <a:t>. </a:t>
            </a:r>
            <a:r>
              <a:rPr lang="ko-KR" altLang="en-US" dirty="0" err="1"/>
              <a:t>재시작시</a:t>
            </a:r>
            <a:r>
              <a:rPr lang="ko-KR" altLang="en-US" dirty="0"/>
              <a:t> </a:t>
            </a:r>
            <a:r>
              <a:rPr lang="en-US" altLang="ko-KR" dirty="0" smtClean="0"/>
              <a:t>OK </a:t>
            </a:r>
            <a:r>
              <a:rPr lang="ko-KR" altLang="en-US" dirty="0"/>
              <a:t>메시지가 출력되지 않는다면 이전 설정에서 문제가 발생한 것임으로 이전 과정으로 돌아가 설정을 다시 </a:t>
            </a:r>
            <a:r>
              <a:rPr lang="ko-KR" altLang="en-US" dirty="0" smtClean="0"/>
              <a:t>진행</a:t>
            </a:r>
            <a:endParaRPr lang="en-US" altLang="ko-KR" dirty="0" smtClean="0"/>
          </a:p>
          <a:p>
            <a:pPr marL="457200" lvl="1" indent="0" fontAlgn="base">
              <a:buNone/>
            </a:pPr>
            <a:r>
              <a:rPr lang="en-US" altLang="ko-KR" b="1" dirty="0">
                <a:solidFill>
                  <a:srgbClr val="C00000"/>
                </a:solidFill>
              </a:rPr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     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sudo</a:t>
            </a:r>
            <a:r>
              <a:rPr lang="en-US" altLang="ko-KR" b="1" dirty="0" smtClean="0">
                <a:solidFill>
                  <a:srgbClr val="C00000"/>
                </a:solidFill>
              </a:rPr>
              <a:t> /</a:t>
            </a:r>
            <a:r>
              <a:rPr lang="en-US" altLang="ko-KR" b="1" dirty="0" err="1" smtClean="0">
                <a:solidFill>
                  <a:srgbClr val="C00000"/>
                </a:solidFill>
              </a:rPr>
              <a:t>etc</a:t>
            </a:r>
            <a:r>
              <a:rPr lang="en-US" altLang="ko-KR" b="1" dirty="0" smtClean="0">
                <a:solidFill>
                  <a:srgbClr val="C00000"/>
                </a:solidFill>
              </a:rPr>
              <a:t>/</a:t>
            </a:r>
            <a:r>
              <a:rPr lang="en-US" altLang="ko-KR" b="1" dirty="0" err="1" smtClean="0">
                <a:solidFill>
                  <a:srgbClr val="C00000"/>
                </a:solidFill>
              </a:rPr>
              <a:t>init.d</a:t>
            </a:r>
            <a:r>
              <a:rPr lang="en-US" altLang="ko-KR" b="1" dirty="0" smtClean="0">
                <a:solidFill>
                  <a:srgbClr val="C00000"/>
                </a:solidFill>
              </a:rPr>
              <a:t>/samba restart</a:t>
            </a:r>
            <a:r>
              <a:rPr lang="ko-KR" altLang="en-US" dirty="0" smtClean="0"/>
              <a:t>  </a:t>
            </a:r>
            <a:r>
              <a:rPr lang="en-US" altLang="ko-KR" dirty="0" smtClean="0"/>
              <a:t> </a:t>
            </a:r>
          </a:p>
          <a:p>
            <a:pPr lvl="1" fontAlgn="base"/>
            <a:endParaRPr lang="en-US" altLang="ko-KR" dirty="0" smtClean="0"/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pPr fontAlgn="base"/>
            <a:endParaRPr lang="ko-KR" altLang="en-US" dirty="0"/>
          </a:p>
        </p:txBody>
      </p:sp>
      <p:pic>
        <p:nvPicPr>
          <p:cNvPr id="11" name="_x212432224" descr="EMB000024441d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390" y="2057376"/>
            <a:ext cx="4019649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_x212433584" descr="EMB000024441d3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308" y="4660550"/>
            <a:ext cx="5008663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Samba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내용 개체 틀 16"/>
          <p:cNvSpPr>
            <a:spLocks noGrp="1"/>
          </p:cNvSpPr>
          <p:nvPr/>
        </p:nvSpPr>
        <p:spPr>
          <a:xfrm>
            <a:off x="88704" y="951597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/>
            <a:r>
              <a:rPr lang="ko-KR" altLang="en-US" dirty="0" smtClean="0"/>
              <a:t>윈도우에서 </a:t>
            </a:r>
            <a:r>
              <a:rPr lang="ko-KR" altLang="en-US" dirty="0"/>
              <a:t>탐색기 창을 열어 주소에 </a:t>
            </a:r>
            <a:r>
              <a:rPr lang="ko-KR" altLang="en-US" dirty="0" err="1"/>
              <a:t>라즈베리의</a:t>
            </a:r>
            <a:r>
              <a:rPr lang="ko-KR" altLang="en-US" dirty="0"/>
              <a:t> </a:t>
            </a:r>
            <a:r>
              <a:rPr lang="en-US" altLang="ko-KR" dirty="0"/>
              <a:t>IP</a:t>
            </a:r>
            <a:r>
              <a:rPr lang="ko-KR" altLang="en-US" dirty="0"/>
              <a:t>를 입력하여 접속을 하면 </a:t>
            </a:r>
            <a:r>
              <a:rPr lang="ko-KR" altLang="en-US" dirty="0" smtClean="0"/>
              <a:t>아래와 </a:t>
            </a:r>
            <a:r>
              <a:rPr lang="ko-KR" altLang="en-US" dirty="0"/>
              <a:t>같이 앞서 설정한 폴더를 확인 할 수 있다</a:t>
            </a:r>
            <a:r>
              <a:rPr lang="en-US" altLang="ko-KR" dirty="0"/>
              <a:t>. </a:t>
            </a:r>
            <a:r>
              <a:rPr lang="ko-KR" altLang="en-US" dirty="0"/>
              <a:t>폴더의 내용을 </a:t>
            </a:r>
            <a:r>
              <a:rPr lang="ko-KR" altLang="en-US" dirty="0" smtClean="0"/>
              <a:t>확인하려면 </a:t>
            </a:r>
            <a:r>
              <a:rPr lang="en-US" altLang="ko-KR" dirty="0"/>
              <a:t>ID </a:t>
            </a:r>
            <a:r>
              <a:rPr lang="ko-KR" altLang="en-US" dirty="0"/>
              <a:t>와 </a:t>
            </a:r>
            <a:r>
              <a:rPr lang="en-US" altLang="ko-KR" dirty="0"/>
              <a:t>Password</a:t>
            </a:r>
            <a:r>
              <a:rPr lang="ko-KR" altLang="en-US" dirty="0"/>
              <a:t>를 </a:t>
            </a:r>
            <a:r>
              <a:rPr lang="ko-KR" altLang="en-US" dirty="0" smtClean="0"/>
              <a:t>물어보는</a:t>
            </a:r>
            <a:r>
              <a:rPr lang="ko-KR" altLang="en-US" dirty="0"/>
              <a:t>데</a:t>
            </a:r>
            <a:r>
              <a:rPr lang="ko-KR" altLang="en-US" dirty="0" smtClean="0"/>
              <a:t> </a:t>
            </a:r>
            <a:r>
              <a:rPr lang="ko-KR" altLang="en-US" dirty="0"/>
              <a:t>앞서 설정한 내용을 입력하면 폴더의 내용을 확인 가능하고 해당 폴더로 파일을 복사 하거나 가져올 수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pPr fontAlgn="base"/>
            <a:endParaRPr lang="ko-KR" altLang="en-US" dirty="0"/>
          </a:p>
        </p:txBody>
      </p:sp>
      <p:pic>
        <p:nvPicPr>
          <p:cNvPr id="9" name="_x388979960" descr="EMB000024441d3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755" y="2732726"/>
            <a:ext cx="7196149" cy="33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Bluetooth Library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내용 개체 틀 16"/>
          <p:cNvSpPr>
            <a:spLocks noGrp="1"/>
          </p:cNvSpPr>
          <p:nvPr/>
        </p:nvSpPr>
        <p:spPr>
          <a:xfrm>
            <a:off x="457200" y="951597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 smtClean="0"/>
              <a:t>Bluetooth library</a:t>
            </a:r>
            <a:endParaRPr lang="en-US" altLang="ko-KR" dirty="0"/>
          </a:p>
          <a:p>
            <a:pPr marL="355600" lvl="1" indent="-177800" fontAlgn="base"/>
            <a:r>
              <a:rPr lang="en-US" altLang="ko-KR" dirty="0" err="1" smtClean="0"/>
              <a:t>Raspbain</a:t>
            </a:r>
            <a:r>
              <a:rPr lang="en-US" altLang="ko-KR" dirty="0" smtClean="0"/>
              <a:t> </a:t>
            </a:r>
            <a:r>
              <a:rPr lang="ko-KR" altLang="en-US" dirty="0"/>
              <a:t>에는 기본적으로 </a:t>
            </a:r>
            <a:r>
              <a:rPr lang="en-US" altLang="ko-KR" dirty="0"/>
              <a:t>Bluetooth</a:t>
            </a:r>
            <a:r>
              <a:rPr lang="ko-KR" altLang="en-US" dirty="0"/>
              <a:t>를 사용 가능한 유틸리티들이 설치되어 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dirty="0" err="1"/>
              <a:t>블루투스</a:t>
            </a:r>
            <a:r>
              <a:rPr lang="ko-KR" altLang="en-US" dirty="0"/>
              <a:t> 프로그래밍을 위한 라이브러리는 설치되어 있지 않아 유저가 직접 설치를 해주어야 한다</a:t>
            </a:r>
            <a:r>
              <a:rPr lang="en-US" altLang="ko-KR" dirty="0"/>
              <a:t>. </a:t>
            </a:r>
            <a:r>
              <a:rPr lang="ko-KR" altLang="en-US" dirty="0"/>
              <a:t>이후 실습에서 </a:t>
            </a:r>
            <a:r>
              <a:rPr lang="en-US" altLang="ko-KR" dirty="0"/>
              <a:t>ADK </a:t>
            </a:r>
            <a:r>
              <a:rPr lang="ko-KR" altLang="en-US" dirty="0"/>
              <a:t>와 </a:t>
            </a:r>
            <a:r>
              <a:rPr lang="en-US" altLang="ko-KR" dirty="0"/>
              <a:t>Bluetooth </a:t>
            </a:r>
            <a:r>
              <a:rPr lang="ko-KR" altLang="en-US" dirty="0"/>
              <a:t>통신을 통한 실습 프로그램을 위해선 필수로 설치를 해주어야 한다</a:t>
            </a:r>
            <a:r>
              <a:rPr lang="en-US" altLang="ko-KR" dirty="0"/>
              <a:t>. </a:t>
            </a:r>
            <a:r>
              <a:rPr lang="ko-KR" altLang="en-US" dirty="0"/>
              <a:t>설치 과정은 어렵지 않고 네트워크만 연결되어 있으면 짧은 시간에 설치가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marL="355600" lvl="1" indent="-177800" fontAlgn="base"/>
            <a:r>
              <a:rPr lang="en-US" altLang="ko-KR" dirty="0" smtClean="0"/>
              <a:t>“</a:t>
            </a:r>
            <a:r>
              <a:rPr lang="en-US" altLang="ko-KR" b="1" dirty="0" err="1">
                <a:solidFill>
                  <a:srgbClr val="C00000"/>
                </a:solidFill>
              </a:rPr>
              <a:t>sudo</a:t>
            </a:r>
            <a:r>
              <a:rPr lang="en-US" altLang="ko-KR" b="1" dirty="0">
                <a:solidFill>
                  <a:srgbClr val="C00000"/>
                </a:solidFill>
              </a:rPr>
              <a:t> apt-get install </a:t>
            </a:r>
            <a:r>
              <a:rPr lang="en-US" altLang="ko-KR" b="1" dirty="0" err="1">
                <a:solidFill>
                  <a:srgbClr val="C00000"/>
                </a:solidFill>
              </a:rPr>
              <a:t>bluetooth</a:t>
            </a:r>
            <a:r>
              <a:rPr lang="en-US" altLang="ko-KR" dirty="0"/>
              <a:t>" </a:t>
            </a:r>
            <a:r>
              <a:rPr lang="ko-KR" altLang="en-US" dirty="0"/>
              <a:t>명령을 통해 우선 적으로 </a:t>
            </a:r>
            <a:r>
              <a:rPr lang="en-US" altLang="ko-KR" dirty="0" err="1"/>
              <a:t>bluetooth</a:t>
            </a:r>
            <a:r>
              <a:rPr lang="en-US" altLang="ko-KR" dirty="0"/>
              <a:t> </a:t>
            </a:r>
            <a:r>
              <a:rPr lang="ko-KR" altLang="en-US" dirty="0"/>
              <a:t>관련 패키지를 설치</a:t>
            </a:r>
          </a:p>
          <a:p>
            <a:pPr marL="355600" lvl="1" indent="-177800" fontAlgn="base"/>
            <a:endParaRPr lang="ko-KR" altLang="en-US" dirty="0" smtClean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fontAlgn="base"/>
            <a:endParaRPr lang="en-US" altLang="ko-KR" dirty="0" smtClean="0"/>
          </a:p>
          <a:p>
            <a:pPr lvl="3" fontAlgn="base"/>
            <a:endParaRPr lang="en-US" altLang="ko-KR" dirty="0" smtClean="0"/>
          </a:p>
          <a:p>
            <a:pPr lvl="3" fontAlgn="base"/>
            <a:endParaRPr lang="ko-KR" altLang="en-US" dirty="0"/>
          </a:p>
          <a:p>
            <a:pPr fontAlgn="base"/>
            <a:endParaRPr lang="ko-KR" altLang="en-US" dirty="0"/>
          </a:p>
        </p:txBody>
      </p:sp>
      <p:pic>
        <p:nvPicPr>
          <p:cNvPr id="6" name="_x212427184" descr="EMB000024441d4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27" y="3472936"/>
            <a:ext cx="686300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Bluetooth Library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내용 개체 틀 16"/>
          <p:cNvSpPr>
            <a:spLocks noGrp="1"/>
          </p:cNvSpPr>
          <p:nvPr/>
        </p:nvSpPr>
        <p:spPr>
          <a:xfrm>
            <a:off x="443552" y="910653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1" indent="-177800" fontAlgn="base"/>
            <a:r>
              <a:rPr lang="ko-KR" altLang="en-US" dirty="0" smtClean="0"/>
              <a:t>패키지 </a:t>
            </a:r>
            <a:r>
              <a:rPr lang="ko-KR" altLang="en-US" dirty="0"/>
              <a:t>설치가 완료되면 프로그래밍 할 때 사용할 </a:t>
            </a:r>
            <a:r>
              <a:rPr lang="en-US" altLang="ko-KR" dirty="0"/>
              <a:t>Bluetooth </a:t>
            </a:r>
            <a:r>
              <a:rPr lang="ko-KR" altLang="en-US" dirty="0"/>
              <a:t>관련 </a:t>
            </a:r>
            <a:r>
              <a:rPr lang="en-US" altLang="ko-KR" dirty="0"/>
              <a:t>library</a:t>
            </a:r>
            <a:r>
              <a:rPr lang="ko-KR" altLang="en-US" dirty="0"/>
              <a:t>를 설치한다</a:t>
            </a:r>
            <a:r>
              <a:rPr lang="en-US" altLang="ko-KR" dirty="0"/>
              <a:t>. "</a:t>
            </a:r>
            <a:r>
              <a:rPr lang="en-US" altLang="ko-KR" b="1" dirty="0" err="1">
                <a:solidFill>
                  <a:srgbClr val="C00000"/>
                </a:solidFill>
              </a:rPr>
              <a:t>sudo</a:t>
            </a:r>
            <a:r>
              <a:rPr lang="en-US" altLang="ko-KR" b="1" dirty="0">
                <a:solidFill>
                  <a:srgbClr val="C00000"/>
                </a:solidFill>
              </a:rPr>
              <a:t> apt-get install </a:t>
            </a:r>
            <a:r>
              <a:rPr lang="en-US" altLang="ko-KR" b="1" dirty="0" err="1">
                <a:solidFill>
                  <a:srgbClr val="C00000"/>
                </a:solidFill>
              </a:rPr>
              <a:t>libbluetooth</a:t>
            </a:r>
            <a:r>
              <a:rPr lang="en-US" altLang="ko-KR" b="1" dirty="0">
                <a:solidFill>
                  <a:srgbClr val="C00000"/>
                </a:solidFill>
              </a:rPr>
              <a:t>-dev</a:t>
            </a:r>
            <a:r>
              <a:rPr lang="en-US" altLang="ko-KR" dirty="0"/>
              <a:t>" </a:t>
            </a:r>
            <a:r>
              <a:rPr lang="ko-KR" altLang="en-US" dirty="0"/>
              <a:t>명령을 수행 하면 </a:t>
            </a:r>
            <a:r>
              <a:rPr lang="ko-KR" altLang="en-US" dirty="0" err="1"/>
              <a:t>라즈비안</a:t>
            </a:r>
            <a:r>
              <a:rPr lang="ko-KR" altLang="en-US" dirty="0"/>
              <a:t> 내에 라이브러리가 설치되어 있는 </a:t>
            </a:r>
            <a:r>
              <a:rPr lang="en-US" altLang="ko-KR" dirty="0"/>
              <a:t>/lib </a:t>
            </a:r>
            <a:r>
              <a:rPr lang="ko-KR" altLang="en-US" dirty="0"/>
              <a:t>폴더 아래 </a:t>
            </a:r>
            <a:r>
              <a:rPr lang="en-US" altLang="ko-KR" dirty="0"/>
              <a:t>Bluetooth </a:t>
            </a:r>
            <a:r>
              <a:rPr lang="ko-KR" altLang="en-US" dirty="0"/>
              <a:t>관련 내용들이 자동으로 설치되고 이후 프로그래밍 할 때 </a:t>
            </a:r>
            <a:r>
              <a:rPr lang="ko-KR" altLang="en-US" dirty="0" smtClean="0"/>
              <a:t>사용 </a:t>
            </a:r>
            <a:r>
              <a:rPr lang="ko-KR" altLang="en-US" dirty="0"/>
              <a:t>가능</a:t>
            </a:r>
          </a:p>
          <a:p>
            <a:pPr marL="355600" lvl="1" indent="-177800" fontAlgn="base"/>
            <a:endParaRPr lang="ko-KR" altLang="en-US" dirty="0" smtClean="0"/>
          </a:p>
          <a:p>
            <a:pPr marL="355600" lvl="1" indent="-177800" fontAlgn="base"/>
            <a:endParaRPr lang="en-US" altLang="ko-KR" dirty="0"/>
          </a:p>
          <a:p>
            <a:pPr marL="355600" lvl="1" indent="-177800" fontAlgn="base"/>
            <a:endParaRPr lang="en-US" altLang="ko-KR" dirty="0"/>
          </a:p>
          <a:p>
            <a:pPr fontAlgn="base"/>
            <a:endParaRPr lang="en-US" altLang="ko-KR" dirty="0" smtClean="0"/>
          </a:p>
          <a:p>
            <a:pPr lvl="3" fontAlgn="base"/>
            <a:endParaRPr lang="en-US" altLang="ko-KR" dirty="0" smtClean="0"/>
          </a:p>
          <a:p>
            <a:pPr lvl="3" fontAlgn="base"/>
            <a:endParaRPr lang="ko-KR" altLang="en-US" dirty="0"/>
          </a:p>
          <a:p>
            <a:pPr fontAlgn="base"/>
            <a:endParaRPr lang="ko-KR" altLang="en-US" dirty="0"/>
          </a:p>
        </p:txBody>
      </p:sp>
      <p:pic>
        <p:nvPicPr>
          <p:cNvPr id="9" name="_x212426224" descr="EMB000024441d4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44" y="2456892"/>
            <a:ext cx="7273713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화면에 번개 표시 없애기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내용 개체 틀 16"/>
          <p:cNvSpPr>
            <a:spLocks noGrp="1"/>
          </p:cNvSpPr>
          <p:nvPr/>
        </p:nvSpPr>
        <p:spPr>
          <a:xfrm>
            <a:off x="379757" y="1229629"/>
            <a:ext cx="8229600" cy="365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l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rgbClr val="3399FF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rgbClr val="FF993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1" indent="-177800" fontAlgn="base">
              <a:buNone/>
            </a:pPr>
            <a:r>
              <a:rPr lang="en-US" altLang="ko-KR" b="1" dirty="0" smtClean="0"/>
              <a:t>/boot/config.txt   </a:t>
            </a:r>
            <a:r>
              <a:rPr lang="ko-KR" altLang="en-US" b="1" dirty="0" smtClean="0"/>
              <a:t>파일 제일 하단에</a:t>
            </a:r>
            <a:endParaRPr lang="en-US" altLang="ko-KR" b="1" dirty="0" smtClean="0"/>
          </a:p>
          <a:p>
            <a:pPr marL="355600" lvl="1" indent="-177800" fontAlgn="base">
              <a:buNone/>
            </a:pPr>
            <a:endParaRPr lang="en-US" altLang="ko-KR" b="1" dirty="0" smtClean="0"/>
          </a:p>
          <a:p>
            <a:pPr marL="355600" lvl="1" indent="-177800" fontAlgn="base">
              <a:buNone/>
            </a:pPr>
            <a:r>
              <a:rPr lang="en-US" altLang="ko-KR" b="1" dirty="0" smtClean="0"/>
              <a:t> </a:t>
            </a:r>
            <a:r>
              <a:rPr lang="en-US" altLang="ko-KR" b="1" dirty="0" err="1" smtClean="0"/>
              <a:t>avoid_warnings</a:t>
            </a:r>
            <a:r>
              <a:rPr lang="en-US" altLang="ko-KR" b="1" dirty="0" smtClean="0"/>
              <a:t>=1     # </a:t>
            </a:r>
            <a:r>
              <a:rPr lang="ko-KR" altLang="en-US" b="1" dirty="0" smtClean="0"/>
              <a:t>을 추가한다</a:t>
            </a:r>
            <a:r>
              <a:rPr lang="en-US" altLang="ko-KR" b="1" dirty="0" smtClean="0"/>
              <a:t>.</a:t>
            </a:r>
          </a:p>
          <a:p>
            <a:pPr marL="355600" lvl="1" indent="-177800" fontAlgn="base">
              <a:buNone/>
            </a:pPr>
            <a:endParaRPr lang="en-US" altLang="ko-KR" dirty="0" smtClean="0"/>
          </a:p>
          <a:p>
            <a:pPr marL="355600" lvl="1" indent="-177800" fontAlgn="base">
              <a:buNone/>
            </a:pPr>
            <a:endParaRPr lang="ko-KR" altLang="en-US" dirty="0" smtClean="0"/>
          </a:p>
          <a:p>
            <a:pPr marL="355600" lvl="1" indent="-177800" fontAlgn="base"/>
            <a:endParaRPr lang="en-US" altLang="ko-KR" dirty="0"/>
          </a:p>
          <a:p>
            <a:pPr marL="355600" lvl="1" indent="-177800" fontAlgn="base"/>
            <a:endParaRPr lang="en-US" altLang="ko-KR" dirty="0"/>
          </a:p>
          <a:p>
            <a:pPr fontAlgn="base"/>
            <a:endParaRPr lang="en-US" altLang="ko-KR" dirty="0" smtClean="0"/>
          </a:p>
          <a:p>
            <a:pPr lvl="3" fontAlgn="base"/>
            <a:endParaRPr lang="en-US" altLang="ko-KR" dirty="0" smtClean="0"/>
          </a:p>
          <a:p>
            <a:pPr lvl="3" fontAlgn="base"/>
            <a:endParaRPr lang="ko-KR" altLang="en-US" dirty="0"/>
          </a:p>
          <a:p>
            <a:pPr fontAlgn="base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1419367"/>
            <a:ext cx="9144000" cy="140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algn="ctr"/>
            <a:r>
              <a:rPr lang="ko-KR" altLang="en-US" sz="4000" b="1" dirty="0" err="1" smtClean="0">
                <a:solidFill>
                  <a:schemeClr val="tx1"/>
                </a:solidFill>
                <a:latin typeface="+mn-ea"/>
              </a:rPr>
              <a:t>리눅스</a:t>
            </a:r>
            <a:r>
              <a:rPr lang="ko-KR" altLang="en-US" sz="4000" b="1" dirty="0" smtClean="0">
                <a:solidFill>
                  <a:schemeClr val="tx1"/>
                </a:solidFill>
                <a:latin typeface="+mn-ea"/>
              </a:rPr>
              <a:t> 기본 명령어</a:t>
            </a:r>
            <a:endParaRPr lang="ko-KR" altLang="en-US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dirty="0" err="1" smtClean="0">
                <a:solidFill>
                  <a:srgbClr val="000099"/>
                </a:solidFill>
              </a:rPr>
              <a:t>pwd</a:t>
            </a:r>
            <a:r>
              <a:rPr lang="en-US" altLang="ko-KR" sz="2800" b="1" dirty="0" smtClean="0">
                <a:solidFill>
                  <a:srgbClr val="000099"/>
                </a:solidFill>
              </a:rPr>
              <a:t> : </a:t>
            </a:r>
            <a:r>
              <a:rPr lang="ko-KR" altLang="en-US" sz="2800" b="1" dirty="0" smtClean="0">
                <a:solidFill>
                  <a:srgbClr val="000099"/>
                </a:solidFill>
              </a:rPr>
              <a:t>현재 작업중인 </a:t>
            </a:r>
            <a:r>
              <a:rPr lang="ko-KR" altLang="en-US" sz="2800" b="1" dirty="0" err="1" smtClean="0">
                <a:solidFill>
                  <a:srgbClr val="000099"/>
                </a:solidFill>
              </a:rPr>
              <a:t>디렉토리</a:t>
            </a:r>
            <a:r>
              <a:rPr lang="ko-KR" altLang="en-US" sz="2800" b="1" dirty="0" smtClean="0">
                <a:solidFill>
                  <a:srgbClr val="000099"/>
                </a:solidFill>
              </a:rPr>
              <a:t> 확인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5" name="Picture 4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3489" y="984276"/>
            <a:ext cx="6642429" cy="543535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134100" y="6000750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rgbClr val="0000FF"/>
                </a:solidFill>
                <a:latin typeface="+mn-ea"/>
              </a:rPr>
              <a:t>cd</a:t>
            </a:r>
            <a:r>
              <a:rPr lang="en-US" altLang="ko-KR" dirty="0" smtClean="0">
                <a:solidFill>
                  <a:srgbClr val="0000FF"/>
                </a:solidFill>
                <a:latin typeface="+mn-ea"/>
              </a:rPr>
              <a:t> : </a:t>
            </a:r>
            <a:r>
              <a:rPr lang="ko-KR" altLang="en-US" dirty="0" err="1" smtClean="0">
                <a:solidFill>
                  <a:srgbClr val="0000FF"/>
                </a:solidFill>
                <a:latin typeface="+mn-ea"/>
              </a:rPr>
              <a:t>디렉토리</a:t>
            </a:r>
            <a:r>
              <a:rPr lang="ko-KR" altLang="en-US" dirty="0" smtClean="0">
                <a:solidFill>
                  <a:srgbClr val="0000FF"/>
                </a:solidFill>
                <a:latin typeface="+mn-ea"/>
              </a:rPr>
              <a:t> 이동</a:t>
            </a:r>
            <a:endParaRPr lang="ko-KR" altLang="en-US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Arial" pitchFamily="34" charset="0"/>
              <a:buChar char="•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dirty="0" smtClean="0">
                <a:solidFill>
                  <a:srgbClr val="000099"/>
                </a:solidFill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</a:rPr>
              <a:t>ls</a:t>
            </a:r>
            <a:r>
              <a:rPr lang="en-US" altLang="ko-KR" sz="2800" b="1" dirty="0" smtClean="0">
                <a:solidFill>
                  <a:srgbClr val="000099"/>
                </a:solidFill>
              </a:rPr>
              <a:t> :  </a:t>
            </a:r>
            <a:r>
              <a:rPr lang="ko-KR" altLang="en-US" sz="2800" b="1" dirty="0" err="1" smtClean="0">
                <a:solidFill>
                  <a:srgbClr val="000099"/>
                </a:solidFill>
              </a:rPr>
              <a:t>디렉토리</a:t>
            </a:r>
            <a:r>
              <a:rPr lang="ko-KR" altLang="en-US" sz="2800" b="1" dirty="0" smtClean="0">
                <a:solidFill>
                  <a:srgbClr val="000099"/>
                </a:solidFill>
              </a:rPr>
              <a:t> 내용 출력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50543" y="1383352"/>
          <a:ext cx="7793422" cy="312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ea"/>
                          <a:ea typeface="+mn-ea"/>
                        </a:rPr>
                        <a:t>-a</a:t>
                      </a:r>
                      <a:endParaRPr lang="ko-KR" altLang="en-US" sz="2000" b="1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숨김파일을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 포함한 </a:t>
                      </a:r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경로안의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 모든 파일과 </a:t>
                      </a:r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디렉토리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 표시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ea"/>
                          <a:ea typeface="+mn-ea"/>
                        </a:rPr>
                        <a:t>-l</a:t>
                      </a:r>
                      <a:endParaRPr lang="ko-KR" altLang="en-US" sz="2000" b="1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지정한 </a:t>
                      </a:r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디렉토리의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 내용을 자세히 출력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ea"/>
                          <a:ea typeface="+mn-ea"/>
                        </a:rPr>
                        <a:t>-d</a:t>
                      </a:r>
                      <a:endParaRPr lang="ko-KR" altLang="en-US" sz="2000" b="1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지정된 </a:t>
                      </a:r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디렉토리의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 정보 출력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ea"/>
                          <a:ea typeface="+mn-ea"/>
                        </a:rPr>
                        <a:t>-n</a:t>
                      </a:r>
                      <a:endParaRPr lang="ko-KR" altLang="en-US" sz="2000" b="1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파일 및 </a:t>
                      </a:r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디렉토리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 정보 </a:t>
                      </a:r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출력시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</a:rPr>
                        <a:t>UID, GID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를 사용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ea"/>
                          <a:ea typeface="+mn-ea"/>
                        </a:rPr>
                        <a:t>-F</a:t>
                      </a:r>
                      <a:endParaRPr lang="ko-KR" altLang="en-US" sz="2000" b="1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파일 형식을 알리는 문자를 각 파일 뒤에 추 가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ea"/>
                          <a:ea typeface="+mn-ea"/>
                        </a:rPr>
                        <a:t>-R</a:t>
                      </a:r>
                      <a:endParaRPr lang="ko-KR" altLang="en-US" sz="2000" b="1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하위 경로와 그 안에 있는 모든 파일들도 같이 표시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216000" marR="216000" marT="108000" marB="10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Arial" pitchFamily="34" charset="0"/>
              <a:buChar char="•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rgbClr val="000099"/>
                </a:solidFill>
              </a:rPr>
              <a:t>디렉토리</a:t>
            </a:r>
            <a:r>
              <a:rPr lang="ko-KR" altLang="en-US" sz="2800" b="1" dirty="0" smtClean="0">
                <a:solidFill>
                  <a:srgbClr val="000099"/>
                </a:solidFill>
              </a:rPr>
              <a:t> 관련 명령어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7671" y="1070129"/>
            <a:ext cx="813406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2000" b="1" dirty="0" err="1" smtClean="0">
                <a:latin typeface="+mn-ea"/>
              </a:rPr>
              <a:t>디렉토리</a:t>
            </a:r>
            <a:r>
              <a:rPr lang="ko-KR" altLang="en-US" sz="2000" b="1" dirty="0" smtClean="0">
                <a:latin typeface="+mn-ea"/>
              </a:rPr>
              <a:t> 만들기 </a:t>
            </a:r>
            <a:r>
              <a:rPr lang="en-US" altLang="ko-KR" sz="2000" b="1" dirty="0" smtClean="0">
                <a:latin typeface="+mn-ea"/>
              </a:rPr>
              <a:t>: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mkdir</a:t>
            </a:r>
            <a:r>
              <a:rPr lang="en-US" altLang="ko-KR" sz="2800" b="1" dirty="0" smtClean="0">
                <a:latin typeface="+mn-ea"/>
              </a:rPr>
              <a:t>     </a:t>
            </a:r>
            <a:r>
              <a:rPr lang="en-US" altLang="ko-KR" sz="2000" b="1" dirty="0" err="1" smtClean="0">
                <a:latin typeface="+mn-ea"/>
              </a:rPr>
              <a:t>ption</a:t>
            </a:r>
            <a:r>
              <a:rPr lang="en-US" altLang="ko-KR" sz="2000" b="1" dirty="0" smtClean="0">
                <a:latin typeface="+mn-ea"/>
              </a:rPr>
              <a:t> –m  : </a:t>
            </a:r>
            <a:r>
              <a:rPr lang="ko-KR" altLang="en-US" sz="2000" b="1" dirty="0" smtClean="0">
                <a:latin typeface="+mn-ea"/>
              </a:rPr>
              <a:t>허가 모드를 지정</a:t>
            </a:r>
            <a:endParaRPr lang="en-US" altLang="ko-KR" sz="2000" b="1" dirty="0" smtClean="0">
              <a:latin typeface="+mn-ea"/>
            </a:endParaRPr>
          </a:p>
          <a:p>
            <a:r>
              <a:rPr lang="en-US" altLang="ko-KR" sz="2000" b="1" dirty="0" smtClean="0">
                <a:latin typeface="+mn-ea"/>
              </a:rPr>
              <a:t/>
            </a:r>
            <a:br>
              <a:rPr lang="en-US" altLang="ko-KR" sz="2000" b="1" dirty="0" smtClean="0">
                <a:latin typeface="+mn-ea"/>
              </a:rPr>
            </a:br>
            <a:r>
              <a:rPr lang="en-US" altLang="ko-KR" sz="2000" b="1" dirty="0" smtClean="0">
                <a:latin typeface="+mn-ea"/>
              </a:rPr>
              <a:t>         </a:t>
            </a:r>
            <a:r>
              <a:rPr lang="en-US" altLang="ko-KR" sz="2000" b="1" dirty="0" err="1" smtClean="0">
                <a:latin typeface="+mn-ea"/>
              </a:rPr>
              <a:t>mkdir</a:t>
            </a:r>
            <a:r>
              <a:rPr lang="en-US" altLang="ko-KR" sz="2000" b="1" dirty="0" smtClean="0">
                <a:latin typeface="+mn-ea"/>
              </a:rPr>
              <a:t> –m 777 work</a:t>
            </a:r>
          </a:p>
          <a:p>
            <a:endParaRPr lang="en-US" altLang="ko-KR" sz="2000" b="1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 </a:t>
            </a:r>
            <a:r>
              <a:rPr lang="ko-KR" altLang="en-US" sz="2000" b="1" dirty="0" err="1" smtClean="0">
                <a:latin typeface="+mn-ea"/>
              </a:rPr>
              <a:t>디렉토리</a:t>
            </a:r>
            <a:r>
              <a:rPr lang="ko-KR" altLang="en-US" sz="2000" b="1" dirty="0" smtClean="0">
                <a:latin typeface="+mn-ea"/>
              </a:rPr>
              <a:t> 삭제 </a:t>
            </a:r>
            <a:r>
              <a:rPr lang="en-US" altLang="ko-KR" sz="2000" b="1" dirty="0" smtClean="0">
                <a:latin typeface="+mn-ea"/>
              </a:rPr>
              <a:t>: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rmdir</a:t>
            </a:r>
            <a:r>
              <a:rPr lang="en-US" altLang="ko-KR" sz="2000" b="1" dirty="0" smtClean="0">
                <a:latin typeface="+mn-ea"/>
              </a:rPr>
              <a:t>     </a:t>
            </a:r>
          </a:p>
          <a:p>
            <a:pPr>
              <a:buFont typeface="Arial" pitchFamily="34" charset="0"/>
              <a:buChar char="•"/>
            </a:pPr>
            <a:endParaRPr lang="en-US" altLang="ko-KR" sz="2000" b="1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 </a:t>
            </a:r>
            <a:r>
              <a:rPr lang="ko-KR" altLang="en-US" sz="2000" b="1" dirty="0" err="1" smtClean="0">
                <a:latin typeface="+mn-ea"/>
              </a:rPr>
              <a:t>디렉토리</a:t>
            </a:r>
            <a:r>
              <a:rPr lang="ko-KR" altLang="en-US" sz="2000" b="1" dirty="0" smtClean="0">
                <a:latin typeface="+mn-ea"/>
              </a:rPr>
              <a:t> 변경 </a:t>
            </a:r>
            <a:r>
              <a:rPr lang="en-US" altLang="ko-KR" sz="2000" b="1" dirty="0" smtClean="0">
                <a:latin typeface="+mn-ea"/>
              </a:rPr>
              <a:t>: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cd</a:t>
            </a:r>
            <a:endParaRPr lang="en-US" altLang="ko-KR" sz="2000" b="1" dirty="0" smtClean="0">
              <a:solidFill>
                <a:srgbClr val="000099"/>
              </a:solidFill>
              <a:latin typeface="+mn-ea"/>
            </a:endParaRPr>
          </a:p>
          <a:p>
            <a:pPr>
              <a:buFont typeface="Arial" pitchFamily="34" charset="0"/>
              <a:buChar char="•"/>
            </a:pPr>
            <a:endParaRPr lang="en-US" altLang="ko-KR" sz="2000" b="1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 </a:t>
            </a:r>
            <a:r>
              <a:rPr lang="ko-KR" altLang="en-US" sz="2000" b="1" dirty="0" err="1" smtClean="0">
                <a:latin typeface="+mn-ea"/>
              </a:rPr>
              <a:t>디렉토리</a:t>
            </a:r>
            <a:r>
              <a:rPr lang="ko-KR" altLang="en-US" sz="2000" b="1" dirty="0" smtClean="0">
                <a:latin typeface="+mn-ea"/>
              </a:rPr>
              <a:t> 이름 변경과 옮기기  </a:t>
            </a:r>
            <a:r>
              <a:rPr lang="en-US" altLang="ko-KR" sz="2000" b="1" dirty="0" smtClean="0">
                <a:latin typeface="+mn-ea"/>
              </a:rPr>
              <a:t>: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mv</a:t>
            </a:r>
            <a:endParaRPr lang="en-US" altLang="ko-KR" sz="2000" b="1" dirty="0" smtClean="0">
              <a:solidFill>
                <a:srgbClr val="000099"/>
              </a:solidFill>
              <a:latin typeface="+mn-ea"/>
            </a:endParaRPr>
          </a:p>
          <a:p>
            <a:pPr>
              <a:buFont typeface="Arial" pitchFamily="34" charset="0"/>
              <a:buChar char="•"/>
            </a:pPr>
            <a:endParaRPr lang="en-US" altLang="ko-KR" sz="2000" b="1" dirty="0" smtClean="0">
              <a:latin typeface="+mn-ea"/>
            </a:endParaRPr>
          </a:p>
          <a:p>
            <a:r>
              <a:rPr lang="en-US" altLang="ko-KR" sz="2000" b="1" dirty="0" smtClean="0">
                <a:latin typeface="+mn-ea"/>
              </a:rPr>
              <a:t>                         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rgbClr val="000099"/>
                </a:solidFill>
              </a:rPr>
              <a:t>파일 관련 명령어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23081" y="1122979"/>
            <a:ext cx="6448567" cy="2593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900"/>
              </a:lnSpc>
              <a:buFont typeface="Arial" pitchFamily="34" charset="0"/>
              <a:buChar char="•"/>
            </a:pPr>
            <a:r>
              <a:rPr lang="ko-KR" altLang="en-US" b="1" dirty="0" smtClean="0">
                <a:latin typeface="+mn-ea"/>
              </a:rPr>
              <a:t> 파일 만들기 </a:t>
            </a:r>
            <a:r>
              <a:rPr lang="en-US" altLang="ko-KR" b="1" dirty="0" smtClean="0">
                <a:latin typeface="+mn-ea"/>
              </a:rPr>
              <a:t>: </a:t>
            </a:r>
            <a:r>
              <a:rPr lang="en-US" altLang="ko-KR" sz="2400" b="1" dirty="0" smtClean="0">
                <a:solidFill>
                  <a:srgbClr val="000099"/>
                </a:solidFill>
                <a:latin typeface="+mn-ea"/>
              </a:rPr>
              <a:t>vi, </a:t>
            </a:r>
            <a:r>
              <a:rPr lang="en-US" altLang="ko-KR" sz="2400" b="1" dirty="0" err="1" smtClean="0">
                <a:solidFill>
                  <a:srgbClr val="000099"/>
                </a:solidFill>
                <a:latin typeface="+mn-ea"/>
              </a:rPr>
              <a:t>nano</a:t>
            </a:r>
            <a:r>
              <a:rPr lang="en-US" altLang="ko-KR" sz="24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편집기 사용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ts val="3900"/>
              </a:lnSpc>
            </a:pPr>
            <a:r>
              <a:rPr lang="en-US" altLang="ko-KR" b="1" dirty="0" smtClean="0">
                <a:latin typeface="+mn-ea"/>
              </a:rPr>
              <a:t>     - touch </a:t>
            </a:r>
            <a:r>
              <a:rPr lang="ko-KR" altLang="en-US" b="1" dirty="0" smtClean="0">
                <a:latin typeface="+mn-ea"/>
              </a:rPr>
              <a:t>파일명   </a:t>
            </a:r>
            <a:r>
              <a:rPr lang="en-US" altLang="ko-KR" b="1" dirty="0" smtClean="0">
                <a:latin typeface="+mn-ea"/>
                <a:sym typeface="Wingdings" pitchFamily="2" charset="2"/>
              </a:rPr>
              <a:t> </a:t>
            </a:r>
            <a:r>
              <a:rPr lang="ko-KR" altLang="en-US" b="1" dirty="0" smtClean="0">
                <a:latin typeface="+mn-ea"/>
                <a:sym typeface="Wingdings" pitchFamily="2" charset="2"/>
              </a:rPr>
              <a:t>파일 생성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ts val="3900"/>
              </a:lnSpc>
            </a:pPr>
            <a:r>
              <a:rPr lang="en-US" altLang="ko-KR" b="1" dirty="0" smtClean="0">
                <a:latin typeface="+mn-ea"/>
              </a:rPr>
              <a:t>     - cat </a:t>
            </a:r>
            <a:r>
              <a:rPr lang="ko-KR" altLang="en-US" b="1" dirty="0" smtClean="0">
                <a:latin typeface="+mn-ea"/>
              </a:rPr>
              <a:t>파일명       </a:t>
            </a:r>
            <a:r>
              <a:rPr lang="en-US" altLang="ko-KR" b="1" dirty="0" smtClean="0">
                <a:latin typeface="+mn-ea"/>
                <a:sym typeface="Wingdings" pitchFamily="2" charset="2"/>
              </a:rPr>
              <a:t> </a:t>
            </a:r>
            <a:r>
              <a:rPr lang="ko-KR" altLang="en-US" b="1" dirty="0" smtClean="0">
                <a:latin typeface="+mn-ea"/>
                <a:sym typeface="Wingdings" pitchFamily="2" charset="2"/>
              </a:rPr>
              <a:t>파일 내용 보기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ts val="3900"/>
              </a:lnSpc>
              <a:buFont typeface="Arial" pitchFamily="34" charset="0"/>
              <a:buChar char="•"/>
            </a:pP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파일 복사 </a:t>
            </a:r>
            <a:r>
              <a:rPr lang="en-US" altLang="ko-KR" b="1" dirty="0" smtClean="0">
                <a:latin typeface="+mn-ea"/>
              </a:rPr>
              <a:t>: </a:t>
            </a:r>
            <a:r>
              <a:rPr lang="en-US" altLang="ko-KR" sz="2400" b="1" dirty="0" smtClean="0">
                <a:solidFill>
                  <a:srgbClr val="000099"/>
                </a:solidFill>
                <a:latin typeface="+mn-ea"/>
              </a:rPr>
              <a:t>cp   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en-US" altLang="ko-KR" b="1" dirty="0" smtClean="0">
                <a:latin typeface="+mn-ea"/>
                <a:sym typeface="Wingdings" pitchFamily="2" charset="2"/>
              </a:rPr>
              <a:t> </a:t>
            </a:r>
            <a:r>
              <a:rPr lang="ko-KR" altLang="en-US" b="1" dirty="0" smtClean="0">
                <a:latin typeface="+mn-ea"/>
                <a:sym typeface="Wingdings" pitchFamily="2" charset="2"/>
              </a:rPr>
              <a:t>파일</a:t>
            </a:r>
            <a:r>
              <a:rPr lang="en-US" altLang="ko-KR" b="1" dirty="0" smtClean="0">
                <a:latin typeface="+mn-ea"/>
                <a:sym typeface="Wingdings" pitchFamily="2" charset="2"/>
              </a:rPr>
              <a:t>, </a:t>
            </a:r>
            <a:r>
              <a:rPr lang="ko-KR" altLang="en-US" b="1" dirty="0" err="1" smtClean="0">
                <a:latin typeface="+mn-ea"/>
                <a:sym typeface="Wingdings" pitchFamily="2" charset="2"/>
              </a:rPr>
              <a:t>디렉토리</a:t>
            </a:r>
            <a:r>
              <a:rPr lang="ko-KR" altLang="en-US" b="1" dirty="0" smtClean="0">
                <a:latin typeface="+mn-ea"/>
                <a:sym typeface="Wingdings" pitchFamily="2" charset="2"/>
              </a:rPr>
              <a:t> 모두 복사됨</a:t>
            </a:r>
            <a:r>
              <a:rPr lang="en-US" altLang="ko-KR" b="1" dirty="0" smtClean="0">
                <a:latin typeface="+mn-ea"/>
              </a:rPr>
              <a:t>     </a:t>
            </a:r>
          </a:p>
          <a:p>
            <a:pPr>
              <a:lnSpc>
                <a:spcPts val="3900"/>
              </a:lnSpc>
              <a:buFont typeface="Arial" pitchFamily="34" charset="0"/>
              <a:buChar char="•"/>
            </a:pP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파일 삭제 </a:t>
            </a:r>
            <a:r>
              <a:rPr lang="en-US" altLang="ko-KR" b="1" dirty="0" smtClean="0">
                <a:latin typeface="+mn-ea"/>
              </a:rPr>
              <a:t>: </a:t>
            </a:r>
            <a:r>
              <a:rPr lang="en-US" altLang="ko-KR" sz="2400" b="1" dirty="0" err="1" smtClean="0">
                <a:solidFill>
                  <a:srgbClr val="000099"/>
                </a:solidFill>
                <a:latin typeface="+mn-ea"/>
              </a:rPr>
              <a:t>rm</a:t>
            </a:r>
            <a:r>
              <a:rPr lang="en-US" altLang="ko-KR" sz="2400" b="1" dirty="0" smtClean="0">
                <a:solidFill>
                  <a:srgbClr val="000099"/>
                </a:solidFill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rgbClr val="000099"/>
                </a:solidFill>
              </a:rPr>
              <a:t>파일 권한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4739" y="105198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 smtClean="0">
                <a:latin typeface="+mn-ea"/>
              </a:rPr>
              <a:t>ls</a:t>
            </a:r>
            <a:r>
              <a:rPr lang="en-US" altLang="ko-KR" sz="2400" dirty="0" smtClean="0">
                <a:latin typeface="+mn-ea"/>
              </a:rPr>
              <a:t> -al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8" name="Picture 2" descr="screensh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832" y="1560384"/>
            <a:ext cx="7935428" cy="433293"/>
          </a:xfrm>
          <a:prstGeom prst="rect">
            <a:avLst/>
          </a:prstGeom>
          <a:noFill/>
        </p:spPr>
      </p:pic>
      <p:pic>
        <p:nvPicPr>
          <p:cNvPr id="9" name="Picture 4" descr="screensho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1128" y="2136410"/>
            <a:ext cx="7381875" cy="2466975"/>
          </a:xfrm>
          <a:prstGeom prst="rect">
            <a:avLst/>
          </a:prstGeom>
          <a:noFill/>
        </p:spPr>
      </p:pic>
      <p:sp>
        <p:nvSpPr>
          <p:cNvPr id="10" name="TextBox 8"/>
          <p:cNvSpPr txBox="1"/>
          <p:nvPr/>
        </p:nvSpPr>
        <p:spPr>
          <a:xfrm>
            <a:off x="956876" y="4846061"/>
            <a:ext cx="3041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chmod</a:t>
            </a:r>
            <a:r>
              <a:rPr lang="en-US" altLang="ko-KR" sz="2800" dirty="0" smtClean="0">
                <a:latin typeface="+mn-ea"/>
              </a:rPr>
              <a:t> 755 </a:t>
            </a:r>
            <a:r>
              <a:rPr lang="en-US" altLang="ko-KR" sz="2800" dirty="0" err="1" smtClean="0">
                <a:latin typeface="+mn-ea"/>
              </a:rPr>
              <a:t>test.c</a:t>
            </a:r>
            <a:endParaRPr lang="ko-KR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294689"/>
            <a:ext cx="9144000" cy="3220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pic>
        <p:nvPicPr>
          <p:cNvPr id="12" name="Picture 2" descr="python notepad에 대한 이미지 검색결과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85451" y="1800087"/>
            <a:ext cx="5572600" cy="1882260"/>
          </a:xfrm>
          <a:prstGeom prst="rect">
            <a:avLst/>
          </a:prstGeom>
          <a:noFill/>
        </p:spPr>
      </p:pic>
      <p:sp>
        <p:nvSpPr>
          <p:cNvPr id="13" name="직사각형 12"/>
          <p:cNvSpPr/>
          <p:nvPr/>
        </p:nvSpPr>
        <p:spPr>
          <a:xfrm>
            <a:off x="2558882" y="3638257"/>
            <a:ext cx="4463722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https://www.python.org/</a:t>
            </a:r>
            <a:endParaRPr lang="ko-KR" altLang="en-US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wikidocs.net/images/page/4321/j2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602" y="1161116"/>
            <a:ext cx="2983173" cy="4287195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/>
        </p:nvSpPr>
        <p:spPr>
          <a:xfrm>
            <a:off x="219339" y="5650005"/>
            <a:ext cx="3877536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https://wikidocs.net/book/1</a:t>
            </a:r>
            <a:endParaRPr lang="ko-KR" altLang="en-US" sz="2400" b="1" dirty="0"/>
          </a:p>
        </p:txBody>
      </p:sp>
      <p:sp>
        <p:nvSpPr>
          <p:cNvPr id="7" name="직사각형 6"/>
          <p:cNvSpPr/>
          <p:nvPr/>
        </p:nvSpPr>
        <p:spPr>
          <a:xfrm>
            <a:off x="0" y="338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점프 투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파이썬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4648200" y="2346530"/>
            <a:ext cx="38020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hlinkClick r:id="rId3"/>
              </a:rPr>
              <a:t>http://www.codecademy.com</a:t>
            </a:r>
            <a:endParaRPr lang="en-US" altLang="ko-KR" dirty="0" smtClean="0"/>
          </a:p>
          <a:p>
            <a:r>
              <a:rPr lang="en-US" altLang="ko-KR" dirty="0" smtClean="0">
                <a:hlinkClick r:id="rId4"/>
              </a:rPr>
              <a:t>https://codefights.com</a:t>
            </a:r>
            <a:endParaRPr lang="en-US" altLang="ko-KR" dirty="0" smtClean="0"/>
          </a:p>
          <a:p>
            <a:r>
              <a:rPr lang="en-US" altLang="ko-KR" dirty="0" smtClean="0"/>
              <a:t>https://opentutorials.org/course/1750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Python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0" y="2229672"/>
            <a:ext cx="2857500" cy="4292600"/>
          </a:xfrm>
          <a:prstGeom prst="rect">
            <a:avLst/>
          </a:prstGeom>
        </p:spPr>
      </p:pic>
      <p:sp>
        <p:nvSpPr>
          <p:cNvPr id="9" name="TextBox 2"/>
          <p:cNvSpPr txBox="1"/>
          <p:nvPr/>
        </p:nvSpPr>
        <p:spPr>
          <a:xfrm>
            <a:off x="152400" y="1127312"/>
            <a:ext cx="71737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+mn-ea"/>
              </a:rPr>
              <a:t>네델란드</a:t>
            </a:r>
            <a:r>
              <a:rPr lang="ko-KR" altLang="en-US" dirty="0" smtClean="0">
                <a:latin typeface="+mn-ea"/>
              </a:rPr>
              <a:t> 출신 컴퓨터 프로그래머인 귀도 반 </a:t>
            </a:r>
            <a:r>
              <a:rPr lang="ko-KR" altLang="en-US" dirty="0" err="1" smtClean="0">
                <a:latin typeface="+mn-ea"/>
              </a:rPr>
              <a:t>로섬이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1991</a:t>
            </a:r>
            <a:r>
              <a:rPr lang="ko-KR" altLang="en-US" dirty="0" smtClean="0">
                <a:latin typeface="+mn-ea"/>
              </a:rPr>
              <a:t>년 발표</a:t>
            </a:r>
            <a:endParaRPr lang="en-US" altLang="ko-KR" dirty="0" smtClean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n-ea"/>
              </a:rPr>
              <a:t>플랫폼 독립적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인터프리터 언어</a:t>
            </a:r>
            <a:endParaRPr lang="en-US" altLang="ko-KR" dirty="0" smtClean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n-ea"/>
              </a:rPr>
              <a:t>비영리 </a:t>
            </a:r>
            <a:r>
              <a:rPr lang="ko-KR" altLang="en-US" dirty="0" err="1" smtClean="0">
                <a:latin typeface="+mn-ea"/>
              </a:rPr>
              <a:t>파이썬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소</a:t>
            </a:r>
            <a:r>
              <a:rPr lang="ko-KR" altLang="en-US" dirty="0" smtClean="0">
                <a:latin typeface="+mn-ea"/>
              </a:rPr>
              <a:t>프트웨어 재단에서 관리</a:t>
            </a:r>
            <a:endParaRPr lang="en-US" altLang="ko-KR" dirty="0" smtClean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+mn-ea"/>
              </a:rPr>
              <a:t>개방형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공동체 기반 개발 모델</a:t>
            </a:r>
            <a:endParaRPr lang="ko-KR" altLang="en-US" dirty="0">
              <a:latin typeface="+mn-ea"/>
            </a:endParaRPr>
          </a:p>
        </p:txBody>
      </p:sp>
      <p:pic>
        <p:nvPicPr>
          <p:cNvPr id="10" name="Picture 2" descr="파이썬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85" y="2635397"/>
            <a:ext cx="4832346" cy="360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90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Python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11" name="그림 10" descr="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7104" y="1643845"/>
            <a:ext cx="7674461" cy="439581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12434" y="818341"/>
            <a:ext cx="5697940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>
                <a:solidFill>
                  <a:srgbClr val="0000FF"/>
                </a:solidFill>
              </a:rPr>
              <a:t>The 2017 Top Programming Languages</a:t>
            </a:r>
          </a:p>
          <a:p>
            <a:r>
              <a:rPr lang="en-US" sz="2000" b="1" dirty="0" smtClean="0">
                <a:solidFill>
                  <a:srgbClr val="0000FF"/>
                </a:solidFill>
              </a:rPr>
              <a:t>Python jumps to No. 1, and Swift enters the Top Ten</a:t>
            </a:r>
            <a:endParaRPr 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6405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Python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73206" y="1069254"/>
            <a:ext cx="421564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latin typeface="+mn-ea"/>
                <a:hlinkClick r:id="rId2"/>
              </a:rPr>
              <a:t> https://www.python.org/downloads/</a:t>
            </a:r>
            <a:r>
              <a:rPr lang="en-US" b="1" dirty="0" smtClean="0">
                <a:latin typeface="+mn-ea"/>
              </a:rPr>
              <a:t> </a:t>
            </a:r>
            <a:endParaRPr lang="ko-KR" altLang="en-US" b="1" dirty="0">
              <a:latin typeface="+mn-ea"/>
            </a:endParaRPr>
          </a:p>
        </p:txBody>
      </p:sp>
      <p:pic>
        <p:nvPicPr>
          <p:cNvPr id="9" name="그림 8" descr="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8164" y="1559114"/>
            <a:ext cx="8332630" cy="5006730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2178925" y="4594209"/>
            <a:ext cx="1787856" cy="600502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5904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Python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3747" y="1264208"/>
            <a:ext cx="7096505" cy="4368688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2961398" y="3920538"/>
            <a:ext cx="2374710" cy="600502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990966" y="4850874"/>
            <a:ext cx="3245894" cy="600502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817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Python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Picture 2" descr="python tkinter install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55" y="1208857"/>
            <a:ext cx="7800975" cy="471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2914704" y="2638288"/>
            <a:ext cx="4171950" cy="6286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-7997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Python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8273" y="1117025"/>
            <a:ext cx="7907455" cy="4853621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2920293" y="5015307"/>
            <a:ext cx="1282889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755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Python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실행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P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6823" y="1440564"/>
            <a:ext cx="3651524" cy="4803159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532261" y="3624206"/>
            <a:ext cx="2224585" cy="4230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5" name="그림 4" descr="py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2306" y="5345289"/>
            <a:ext cx="6401694" cy="1505160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 rot="16200000" flipH="1">
            <a:off x="1637732" y="4265651"/>
            <a:ext cx="1392075" cy="79157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py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10598" y="916829"/>
            <a:ext cx="6533402" cy="1383543"/>
          </a:xfrm>
          <a:prstGeom prst="rect">
            <a:avLst/>
          </a:prstGeom>
        </p:spPr>
      </p:pic>
      <p:cxnSp>
        <p:nvCxnSpPr>
          <p:cNvPr id="8" name="직선 화살표 연결선 7"/>
          <p:cNvCxnSpPr/>
          <p:nvPr/>
        </p:nvCxnSpPr>
        <p:spPr>
          <a:xfrm rot="5400000" flipH="1" flipV="1">
            <a:off x="1712797" y="2784873"/>
            <a:ext cx="1392067" cy="4230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py3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06722" y="2282363"/>
            <a:ext cx="6537278" cy="23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7245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IDE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개발환경 순위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Picture 2" descr="data science ID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962588"/>
            <a:ext cx="9144000" cy="5831017"/>
          </a:xfrm>
          <a:prstGeom prst="rect">
            <a:avLst/>
          </a:prstGeom>
          <a:noFill/>
        </p:spPr>
      </p:pic>
      <p:sp>
        <p:nvSpPr>
          <p:cNvPr id="4" name="모서리가 둥근 직사각형 3"/>
          <p:cNvSpPr/>
          <p:nvPr/>
        </p:nvSpPr>
        <p:spPr>
          <a:xfrm>
            <a:off x="2702257" y="1139998"/>
            <a:ext cx="641476" cy="2183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704529" y="2056686"/>
            <a:ext cx="641476" cy="2183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2706801" y="4119806"/>
            <a:ext cx="641476" cy="2183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2672297" y="1602438"/>
            <a:ext cx="641476" cy="2183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6061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Notepad++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17112" y="1026473"/>
            <a:ext cx="3148682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/>
              <a:t>https://notepad-plus-plus.org/</a:t>
            </a:r>
            <a:endParaRPr lang="ko-KR" altLang="en-US" b="1" dirty="0"/>
          </a:p>
        </p:txBody>
      </p:sp>
      <p:pic>
        <p:nvPicPr>
          <p:cNvPr id="4" name="그림 3" descr="nt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9710" y="1602849"/>
            <a:ext cx="7405333" cy="4982390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1031145" y="5168036"/>
            <a:ext cx="641445" cy="215243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TextBox 7"/>
          <p:cNvSpPr txBox="1"/>
          <p:nvPr/>
        </p:nvSpPr>
        <p:spPr>
          <a:xfrm>
            <a:off x="4107976" y="1070586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smtClean="0">
                <a:solidFill>
                  <a:srgbClr val="0000FF"/>
                </a:solidFill>
              </a:rPr>
              <a:t>플러그인 설치를 위해 </a:t>
            </a:r>
            <a:r>
              <a:rPr lang="en-US" altLang="ko-KR" b="1" dirty="0" smtClean="0">
                <a:solidFill>
                  <a:srgbClr val="0000FF"/>
                </a:solidFill>
              </a:rPr>
              <a:t> V7.4.2 </a:t>
            </a:r>
            <a:r>
              <a:rPr lang="ko-KR" altLang="en-US" b="1" dirty="0" smtClean="0">
                <a:solidFill>
                  <a:srgbClr val="0000FF"/>
                </a:solidFill>
              </a:rPr>
              <a:t>설치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3416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Notepad++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4544" y="1194479"/>
            <a:ext cx="8094913" cy="4612354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4388495" y="1357666"/>
            <a:ext cx="641445" cy="450376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3842585" y="5561176"/>
            <a:ext cx="2292824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4605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Notepad++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1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4957" y="1175864"/>
            <a:ext cx="8821382" cy="451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4614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Notepad++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1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364" y="1309242"/>
            <a:ext cx="6249273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281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Notepad++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1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36209" y="2050410"/>
            <a:ext cx="5509455" cy="2806058"/>
          </a:xfrm>
          <a:prstGeom prst="rect">
            <a:avLst/>
          </a:prstGeom>
        </p:spPr>
      </p:pic>
      <p:sp>
        <p:nvSpPr>
          <p:cNvPr id="4" name="TextBox 8"/>
          <p:cNvSpPr txBox="1"/>
          <p:nvPr/>
        </p:nvSpPr>
        <p:spPr>
          <a:xfrm>
            <a:off x="1698335" y="1485470"/>
            <a:ext cx="5680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latin typeface="+mn-ea"/>
              </a:rPr>
              <a:t>C:\Python36-32\Python $(FULL_CURRENT_PATH)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484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Notepad++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1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331" y="1109756"/>
            <a:ext cx="7560860" cy="5057603"/>
          </a:xfrm>
          <a:prstGeom prst="rect">
            <a:avLst/>
          </a:prstGeom>
        </p:spPr>
      </p:pic>
      <p:sp>
        <p:nvSpPr>
          <p:cNvPr id="4" name="TextBox 10"/>
          <p:cNvSpPr txBox="1"/>
          <p:nvPr/>
        </p:nvSpPr>
        <p:spPr>
          <a:xfrm>
            <a:off x="3043451" y="4220856"/>
            <a:ext cx="1085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>
                <a:solidFill>
                  <a:srgbClr val="FF0000"/>
                </a:solidFill>
                <a:latin typeface="+mn-ea"/>
              </a:rPr>
              <a:t>Ctrl+F6</a:t>
            </a:r>
            <a:endParaRPr lang="ko-KR" altLang="en-US" sz="20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8463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pycharm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py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249" y="1543675"/>
            <a:ext cx="8529851" cy="468832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97891" y="971599"/>
            <a:ext cx="809994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hlinkClick r:id="rId3"/>
              </a:rPr>
              <a:t>https://www.jetbrains.com/pycharm/download/#section=windows</a:t>
            </a:r>
            <a:endParaRPr lang="ko-KR" altLang="en-US" b="1" dirty="0"/>
          </a:p>
        </p:txBody>
      </p:sp>
      <p:sp>
        <p:nvSpPr>
          <p:cNvPr id="5" name="TextBox 6"/>
          <p:cNvSpPr txBox="1"/>
          <p:nvPr/>
        </p:nvSpPr>
        <p:spPr>
          <a:xfrm>
            <a:off x="3029803" y="6122660"/>
            <a:ext cx="17043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smtClean="0">
                <a:solidFill>
                  <a:srgbClr val="C00000"/>
                </a:solidFill>
              </a:rPr>
              <a:t>30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 사용기간 제한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650173" y="4239269"/>
            <a:ext cx="2197290" cy="20335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3031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pycharm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py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33563" y="1472815"/>
            <a:ext cx="4867955" cy="3781953"/>
          </a:xfrm>
          <a:prstGeom prst="rect">
            <a:avLst/>
          </a:prstGeom>
        </p:spPr>
      </p:pic>
      <p:sp>
        <p:nvSpPr>
          <p:cNvPr id="4" name="TextBox 9"/>
          <p:cNvSpPr txBox="1"/>
          <p:nvPr/>
        </p:nvSpPr>
        <p:spPr>
          <a:xfrm>
            <a:off x="996299" y="2732583"/>
            <a:ext cx="1342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>
                <a:solidFill>
                  <a:srgbClr val="C00000"/>
                </a:solidFill>
              </a:rPr>
              <a:t>운영체계  확인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415660" y="2759879"/>
            <a:ext cx="1132765" cy="27295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2472526" y="4288428"/>
            <a:ext cx="2331493" cy="26158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-11089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pycharm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실행하기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pc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9807" y="1121675"/>
            <a:ext cx="3358512" cy="2456597"/>
          </a:xfrm>
          <a:prstGeom prst="rect">
            <a:avLst/>
          </a:prstGeom>
        </p:spPr>
      </p:pic>
      <p:pic>
        <p:nvPicPr>
          <p:cNvPr id="4" name="그림 3" descr="pc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5200" y="3632747"/>
            <a:ext cx="4382951" cy="2893442"/>
          </a:xfrm>
          <a:prstGeom prst="rect">
            <a:avLst/>
          </a:prstGeom>
        </p:spPr>
      </p:pic>
      <p:pic>
        <p:nvPicPr>
          <p:cNvPr id="5" name="그림 4" descr="pc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87609" y="1148971"/>
            <a:ext cx="4791382" cy="3971498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177421" y="1462870"/>
            <a:ext cx="382136" cy="40943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smtClean="0"/>
              <a:t>1</a:t>
            </a:r>
            <a:endParaRPr lang="ko-KR" altLang="en-US" b="1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1269242" y="2213496"/>
            <a:ext cx="1487606" cy="27295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261582" y="3812559"/>
            <a:ext cx="2249606" cy="43445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163776" y="4372118"/>
            <a:ext cx="382136" cy="40943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smtClean="0"/>
              <a:t>2</a:t>
            </a:r>
            <a:endParaRPr lang="ko-KR" altLang="en-US" b="1" dirty="0"/>
          </a:p>
        </p:txBody>
      </p:sp>
      <p:sp>
        <p:nvSpPr>
          <p:cNvPr id="10" name="타원 9"/>
          <p:cNvSpPr/>
          <p:nvPr/>
        </p:nvSpPr>
        <p:spPr>
          <a:xfrm>
            <a:off x="3823654" y="1440124"/>
            <a:ext cx="382136" cy="40943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smtClean="0"/>
              <a:t>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Sublime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345610" y="1017894"/>
            <a:ext cx="3198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FF"/>
                </a:solidFill>
              </a:rPr>
              <a:t>https://www.sublimetext.com/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pic>
        <p:nvPicPr>
          <p:cNvPr id="4" name="그림 3" descr="subl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47812"/>
            <a:ext cx="7981950" cy="2755673"/>
          </a:xfrm>
          <a:prstGeom prst="rect">
            <a:avLst/>
          </a:prstGeom>
        </p:spPr>
      </p:pic>
      <p:pic>
        <p:nvPicPr>
          <p:cNvPr id="5" name="그림 4" descr="sublim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74" y="3623400"/>
            <a:ext cx="5133975" cy="2624999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3886200" y="5133975"/>
            <a:ext cx="3362325" cy="108585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TextBox 10"/>
          <p:cNvSpPr txBox="1"/>
          <p:nvPr/>
        </p:nvSpPr>
        <p:spPr>
          <a:xfrm>
            <a:off x="1704975" y="5619750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dirty="0" smtClean="0">
                <a:solidFill>
                  <a:srgbClr val="0000FF"/>
                </a:solidFill>
              </a:rPr>
              <a:t>설치할 </a:t>
            </a:r>
            <a:r>
              <a:rPr lang="en-US" altLang="ko-KR" sz="1000" b="1" dirty="0" smtClean="0">
                <a:solidFill>
                  <a:srgbClr val="0000FF"/>
                </a:solidFill>
              </a:rPr>
              <a:t>PC</a:t>
            </a:r>
            <a:r>
              <a:rPr lang="ko-KR" altLang="en-US" sz="1000" b="1" dirty="0" smtClean="0">
                <a:solidFill>
                  <a:srgbClr val="0000FF"/>
                </a:solidFill>
              </a:rPr>
              <a:t>의 운영체제를 확인하고</a:t>
            </a:r>
            <a:r>
              <a:rPr lang="en-US" altLang="ko-KR" sz="1000" b="1" dirty="0" smtClean="0">
                <a:solidFill>
                  <a:srgbClr val="0000FF"/>
                </a:solidFill>
              </a:rPr>
              <a:t>, </a:t>
            </a:r>
          </a:p>
          <a:p>
            <a:r>
              <a:rPr lang="ko-KR" altLang="en-US" sz="1000" b="1" dirty="0" smtClean="0">
                <a:solidFill>
                  <a:srgbClr val="0000FF"/>
                </a:solidFill>
              </a:rPr>
              <a:t>해당되는 것을 다운로드 할 것</a:t>
            </a:r>
            <a:endParaRPr lang="en-US" altLang="ko-KR" sz="10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9402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Sublime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sublim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94" y="1952257"/>
            <a:ext cx="4744112" cy="3505690"/>
          </a:xfrm>
          <a:prstGeom prst="rect">
            <a:avLst/>
          </a:prstGeom>
        </p:spPr>
      </p:pic>
      <p:sp>
        <p:nvSpPr>
          <p:cNvPr id="4" name="TextBox 11"/>
          <p:cNvSpPr txBox="1"/>
          <p:nvPr/>
        </p:nvSpPr>
        <p:spPr>
          <a:xfrm>
            <a:off x="771525" y="1180977"/>
            <a:ext cx="2874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1600" dirty="0" smtClean="0"/>
              <a:t> sublime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python </a:t>
            </a:r>
            <a:r>
              <a:rPr lang="ko-KR" altLang="en-US" sz="1600" dirty="0" smtClean="0"/>
              <a:t>실행하기</a:t>
            </a:r>
            <a:endParaRPr lang="en-US" altLang="ko-KR" sz="1600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1600" dirty="0" smtClean="0"/>
              <a:t> Python3.6</a:t>
            </a:r>
            <a:r>
              <a:rPr lang="ko-KR" altLang="en-US" sz="1600" dirty="0" smtClean="0"/>
              <a:t>을 먼저 설치한다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1476375" y="2895477"/>
            <a:ext cx="2447925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4057650" y="5057652"/>
            <a:ext cx="1114425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TextBox 14"/>
          <p:cNvSpPr txBox="1"/>
          <p:nvPr/>
        </p:nvSpPr>
        <p:spPr>
          <a:xfrm>
            <a:off x="6000750" y="3038352"/>
            <a:ext cx="2836033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1100" dirty="0" smtClean="0">
                <a:solidFill>
                  <a:srgbClr val="0000FF"/>
                </a:solidFill>
              </a:rPr>
              <a:t> Build System</a:t>
            </a:r>
            <a:r>
              <a:rPr lang="ko-KR" altLang="en-US" sz="1100" dirty="0" smtClean="0">
                <a:solidFill>
                  <a:srgbClr val="0000FF"/>
                </a:solidFill>
              </a:rPr>
              <a:t>에서 </a:t>
            </a:r>
            <a:r>
              <a:rPr lang="en-US" altLang="ko-KR" sz="1100" dirty="0" smtClean="0">
                <a:solidFill>
                  <a:srgbClr val="0000FF"/>
                </a:solidFill>
              </a:rPr>
              <a:t>Python</a:t>
            </a:r>
            <a:r>
              <a:rPr lang="ko-KR" altLang="en-US" sz="1100" dirty="0" smtClean="0">
                <a:solidFill>
                  <a:srgbClr val="0000FF"/>
                </a:solidFill>
              </a:rPr>
              <a:t>을 선택해도 되고</a:t>
            </a:r>
            <a:r>
              <a:rPr lang="en-US" altLang="ko-KR" sz="1100" dirty="0" smtClean="0">
                <a:solidFill>
                  <a:srgbClr val="0000FF"/>
                </a:solidFill>
              </a:rPr>
              <a:t>, </a:t>
            </a:r>
            <a:br>
              <a:rPr lang="en-US" altLang="ko-KR" sz="1100" dirty="0" smtClean="0">
                <a:solidFill>
                  <a:srgbClr val="0000FF"/>
                </a:solidFill>
              </a:rPr>
            </a:br>
            <a:r>
              <a:rPr lang="en-US" altLang="ko-KR" sz="1100" dirty="0" smtClean="0">
                <a:solidFill>
                  <a:srgbClr val="0000FF"/>
                </a:solidFill>
              </a:rPr>
              <a:t>  Automatic</a:t>
            </a:r>
            <a:r>
              <a:rPr lang="ko-KR" altLang="en-US" sz="1100" dirty="0" smtClean="0">
                <a:solidFill>
                  <a:srgbClr val="0000FF"/>
                </a:solidFill>
              </a:rPr>
              <a:t>을 선택해도 됨</a:t>
            </a:r>
            <a:endParaRPr lang="en-US" altLang="ko-KR" sz="1100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altLang="ko-KR" sz="1100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100" dirty="0" smtClean="0">
                <a:solidFill>
                  <a:srgbClr val="0000FF"/>
                </a:solidFill>
              </a:rPr>
              <a:t> Save All on Build </a:t>
            </a:r>
            <a:r>
              <a:rPr lang="ko-KR" altLang="en-US" sz="1100" dirty="0" smtClean="0">
                <a:solidFill>
                  <a:srgbClr val="0000FF"/>
                </a:solidFill>
              </a:rPr>
              <a:t>를 체크</a:t>
            </a:r>
            <a:endParaRPr lang="en-US" altLang="ko-KR" sz="1100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altLang="ko-KR" sz="1100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100" dirty="0" smtClean="0">
                <a:solidFill>
                  <a:srgbClr val="0000FF"/>
                </a:solidFill>
              </a:rPr>
              <a:t> </a:t>
            </a:r>
            <a:r>
              <a:rPr lang="ko-KR" altLang="en-US" sz="1100" dirty="0" smtClean="0">
                <a:solidFill>
                  <a:srgbClr val="0000FF"/>
                </a:solidFill>
              </a:rPr>
              <a:t>실행은 </a:t>
            </a:r>
            <a:r>
              <a:rPr lang="en-US" altLang="ko-KR" sz="1100" dirty="0" smtClean="0">
                <a:solidFill>
                  <a:srgbClr val="0000FF"/>
                </a:solidFill>
              </a:rPr>
              <a:t>Build,  </a:t>
            </a:r>
            <a:r>
              <a:rPr lang="en-US" altLang="ko-KR" sz="1100" dirty="0" err="1" smtClean="0">
                <a:solidFill>
                  <a:srgbClr val="0000FF"/>
                </a:solidFill>
              </a:rPr>
              <a:t>Ctrl+B</a:t>
            </a:r>
            <a:endParaRPr lang="en-US" altLang="ko-KR" sz="1100" dirty="0" smtClean="0">
              <a:solidFill>
                <a:srgbClr val="0000FF"/>
              </a:solidFill>
            </a:endParaRPr>
          </a:p>
          <a:p>
            <a:endParaRPr lang="ko-KR" altLang="en-US" sz="11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3646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Sublime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에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SFTP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기능 설정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sub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73" y="1432331"/>
            <a:ext cx="3962953" cy="933580"/>
          </a:xfrm>
          <a:prstGeom prst="rect">
            <a:avLst/>
          </a:prstGeom>
        </p:spPr>
      </p:pic>
      <p:sp>
        <p:nvSpPr>
          <p:cNvPr id="4" name="TextBox 9"/>
          <p:cNvSpPr txBox="1"/>
          <p:nvPr/>
        </p:nvSpPr>
        <p:spPr>
          <a:xfrm>
            <a:off x="552450" y="1118071"/>
            <a:ext cx="26476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1200" dirty="0" smtClean="0">
                <a:solidFill>
                  <a:srgbClr val="0000FF"/>
                </a:solidFill>
              </a:rPr>
              <a:t> sublime </a:t>
            </a:r>
            <a:r>
              <a:rPr lang="en-US" altLang="ko-KR" sz="1200" dirty="0" smtClean="0">
                <a:solidFill>
                  <a:srgbClr val="0000FF"/>
                </a:solidFill>
                <a:sym typeface="Wingdings" pitchFamily="2" charset="2"/>
              </a:rPr>
              <a:t> Tools  Command Palette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pic>
        <p:nvPicPr>
          <p:cNvPr id="5" name="그림 4" descr="SUB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048" y="1432194"/>
            <a:ext cx="3772202" cy="2525879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752475" y="1575271"/>
            <a:ext cx="2486025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019675" y="1460971"/>
            <a:ext cx="1114425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TextBox 17"/>
          <p:cNvSpPr txBox="1"/>
          <p:nvPr/>
        </p:nvSpPr>
        <p:spPr>
          <a:xfrm>
            <a:off x="6210300" y="1403821"/>
            <a:ext cx="24144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 smtClean="0">
                <a:solidFill>
                  <a:srgbClr val="0000FF"/>
                </a:solidFill>
              </a:rPr>
              <a:t>PCIP </a:t>
            </a:r>
            <a:r>
              <a:rPr lang="ko-KR" altLang="en-US" sz="1100" b="1" dirty="0" smtClean="0">
                <a:solidFill>
                  <a:srgbClr val="0000FF"/>
                </a:solidFill>
              </a:rPr>
              <a:t>입력하고  아래</a:t>
            </a:r>
            <a:endParaRPr lang="en-US" altLang="ko-KR" sz="1100" b="1" dirty="0" smtClean="0">
              <a:solidFill>
                <a:srgbClr val="0000FF"/>
              </a:solidFill>
            </a:endParaRPr>
          </a:p>
          <a:p>
            <a:r>
              <a:rPr lang="en-US" altLang="ko-KR" sz="1100" b="1" dirty="0" smtClean="0">
                <a:solidFill>
                  <a:srgbClr val="0000FF"/>
                </a:solidFill>
              </a:rPr>
              <a:t>Package Control : Install Package </a:t>
            </a:r>
            <a:r>
              <a:rPr lang="ko-KR" altLang="en-US" sz="1100" b="1" dirty="0" smtClean="0">
                <a:solidFill>
                  <a:srgbClr val="0000FF"/>
                </a:solidFill>
              </a:rPr>
              <a:t>클릭</a:t>
            </a:r>
            <a:endParaRPr lang="ko-KR" altLang="en-US" sz="1100" b="1" dirty="0">
              <a:solidFill>
                <a:srgbClr val="0000FF"/>
              </a:solidFill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4476750" y="1908646"/>
            <a:ext cx="447675" cy="1588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SUB-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39" y="3641971"/>
            <a:ext cx="4400936" cy="2564683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>
          <a:xfrm>
            <a:off x="390526" y="5432896"/>
            <a:ext cx="2133600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" name="TextBox 22"/>
          <p:cNvSpPr txBox="1"/>
          <p:nvPr/>
        </p:nvSpPr>
        <p:spPr>
          <a:xfrm>
            <a:off x="381000" y="3318346"/>
            <a:ext cx="4028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1200" dirty="0" smtClean="0">
                <a:solidFill>
                  <a:srgbClr val="0000FF"/>
                </a:solidFill>
              </a:rPr>
              <a:t> Install </a:t>
            </a:r>
            <a:r>
              <a:rPr lang="ko-KR" altLang="en-US" sz="1200" dirty="0" smtClean="0">
                <a:solidFill>
                  <a:srgbClr val="0000FF"/>
                </a:solidFill>
              </a:rPr>
              <a:t>이 완료되면 </a:t>
            </a:r>
            <a:r>
              <a:rPr lang="en-US" altLang="ko-KR" sz="1200" dirty="0" smtClean="0">
                <a:solidFill>
                  <a:srgbClr val="0000FF"/>
                </a:solidFill>
              </a:rPr>
              <a:t>File </a:t>
            </a:r>
            <a:r>
              <a:rPr lang="ko-KR" altLang="en-US" sz="1200" dirty="0" smtClean="0">
                <a:solidFill>
                  <a:srgbClr val="0000FF"/>
                </a:solidFill>
              </a:rPr>
              <a:t>메뉴 하단에 </a:t>
            </a:r>
            <a:r>
              <a:rPr lang="en-US" altLang="ko-KR" sz="1200" dirty="0" smtClean="0">
                <a:solidFill>
                  <a:srgbClr val="0000FF"/>
                </a:solidFill>
              </a:rPr>
              <a:t>SFTP/FTP </a:t>
            </a:r>
            <a:r>
              <a:rPr lang="ko-KR" altLang="en-US" sz="1200" dirty="0" smtClean="0">
                <a:solidFill>
                  <a:srgbClr val="0000FF"/>
                </a:solidFill>
              </a:rPr>
              <a:t>메뉴 생성됨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rot="10800000" flipV="1">
            <a:off x="4476750" y="2927820"/>
            <a:ext cx="400050" cy="390525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9399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Sublime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에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SFTP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기능 설정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6210300" y="1409574"/>
            <a:ext cx="2601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>
                <a:solidFill>
                  <a:srgbClr val="0000FF"/>
                </a:solidFill>
              </a:rPr>
              <a:t>PCIP </a:t>
            </a:r>
            <a:r>
              <a:rPr lang="ko-KR" altLang="en-US" sz="1200" b="1" dirty="0" smtClean="0">
                <a:solidFill>
                  <a:srgbClr val="0000FF"/>
                </a:solidFill>
              </a:rPr>
              <a:t>입력하고  아래</a:t>
            </a:r>
            <a:endParaRPr lang="en-US" altLang="ko-KR" sz="1200" b="1" dirty="0" smtClean="0">
              <a:solidFill>
                <a:srgbClr val="0000FF"/>
              </a:solidFill>
            </a:endParaRPr>
          </a:p>
          <a:p>
            <a:r>
              <a:rPr lang="en-US" altLang="ko-KR" sz="1200" b="1" dirty="0" smtClean="0">
                <a:solidFill>
                  <a:srgbClr val="0000FF"/>
                </a:solidFill>
              </a:rPr>
              <a:t>Package Control : Install Package </a:t>
            </a:r>
            <a:r>
              <a:rPr lang="ko-KR" altLang="en-US" sz="1200" b="1" dirty="0" smtClean="0">
                <a:solidFill>
                  <a:srgbClr val="0000FF"/>
                </a:solidFill>
              </a:rPr>
              <a:t>클릭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pic>
        <p:nvPicPr>
          <p:cNvPr id="4" name="그림 3" descr="SUB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1" y="1228346"/>
            <a:ext cx="5563377" cy="3620005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1028700" y="2104899"/>
            <a:ext cx="2219325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3295650" y="4362324"/>
            <a:ext cx="1609725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9079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Sublime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에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SFTP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기능 설정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61925" y="980629"/>
            <a:ext cx="456247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/>
              <a:t>{</a:t>
            </a:r>
          </a:p>
          <a:p>
            <a:r>
              <a:rPr lang="en-US" altLang="ko-KR" sz="1200" dirty="0" smtClean="0"/>
              <a:t>    // The tab key will cycle through the settings when first created</a:t>
            </a:r>
          </a:p>
          <a:p>
            <a:r>
              <a:rPr lang="en-US" altLang="ko-KR" sz="1200" dirty="0" smtClean="0"/>
              <a:t>    // Visit http://wbond.net/sublime_packages/sftp/settings for help</a:t>
            </a:r>
          </a:p>
          <a:p>
            <a:r>
              <a:rPr lang="en-US" altLang="ko-KR" sz="1200" dirty="0" smtClean="0"/>
              <a:t>    </a:t>
            </a:r>
          </a:p>
          <a:p>
            <a:r>
              <a:rPr lang="en-US" altLang="ko-KR" sz="1200" dirty="0" smtClean="0"/>
              <a:t>    // </a:t>
            </a:r>
            <a:r>
              <a:rPr lang="en-US" altLang="ko-KR" sz="1200" dirty="0" err="1" smtClean="0"/>
              <a:t>sftp</a:t>
            </a:r>
            <a:r>
              <a:rPr lang="en-US" altLang="ko-KR" sz="1200" dirty="0" smtClean="0"/>
              <a:t>, ftp or </a:t>
            </a:r>
            <a:r>
              <a:rPr lang="en-US" altLang="ko-KR" sz="1200" dirty="0" err="1" smtClean="0"/>
              <a:t>ftps</a:t>
            </a:r>
            <a:endParaRPr lang="en-US" altLang="ko-KR" sz="1200" dirty="0" smtClean="0"/>
          </a:p>
          <a:p>
            <a:r>
              <a:rPr lang="en-US" altLang="ko-KR" sz="1200" b="1" dirty="0" smtClean="0">
                <a:solidFill>
                  <a:srgbClr val="0000FF"/>
                </a:solidFill>
              </a:rPr>
              <a:t>    "type": "</a:t>
            </a:r>
            <a:r>
              <a:rPr lang="en-US" altLang="ko-KR" sz="1200" b="1" dirty="0" err="1" smtClean="0">
                <a:solidFill>
                  <a:srgbClr val="0000FF"/>
                </a:solidFill>
              </a:rPr>
              <a:t>sftp</a:t>
            </a:r>
            <a:r>
              <a:rPr lang="en-US" altLang="ko-KR" sz="1200" b="1" dirty="0" smtClean="0">
                <a:solidFill>
                  <a:srgbClr val="0000FF"/>
                </a:solidFill>
              </a:rPr>
              <a:t>",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save_before_upload</a:t>
            </a:r>
            <a:r>
              <a:rPr lang="en-US" altLang="ko-KR" sz="1200" dirty="0" smtClean="0"/>
              <a:t>": true,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upload_on_save</a:t>
            </a:r>
            <a:r>
              <a:rPr lang="en-US" altLang="ko-KR" sz="1200" dirty="0" smtClean="0"/>
              <a:t>": false,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sync_down_on_open</a:t>
            </a:r>
            <a:r>
              <a:rPr lang="en-US" altLang="ko-KR" sz="1200" dirty="0" smtClean="0"/>
              <a:t>": false,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sync_skip_deletes</a:t>
            </a:r>
            <a:r>
              <a:rPr lang="en-US" altLang="ko-KR" sz="1200" dirty="0" smtClean="0"/>
              <a:t>": false,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sync_same_age</a:t>
            </a:r>
            <a:r>
              <a:rPr lang="en-US" altLang="ko-KR" sz="1200" dirty="0" smtClean="0"/>
              <a:t>": true,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confirm_downloads</a:t>
            </a:r>
            <a:r>
              <a:rPr lang="en-US" altLang="ko-KR" sz="1200" dirty="0" smtClean="0"/>
              <a:t>": false,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confirm_sync</a:t>
            </a:r>
            <a:r>
              <a:rPr lang="en-US" altLang="ko-KR" sz="1200" dirty="0" smtClean="0"/>
              <a:t>": true,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confirm_overwrite_newer</a:t>
            </a:r>
            <a:r>
              <a:rPr lang="en-US" altLang="ko-KR" sz="1200" dirty="0" smtClean="0"/>
              <a:t>": false,</a:t>
            </a:r>
          </a:p>
          <a:p>
            <a:r>
              <a:rPr lang="en-US" altLang="ko-KR" sz="1200" dirty="0" smtClean="0"/>
              <a:t>    </a:t>
            </a:r>
          </a:p>
          <a:p>
            <a:r>
              <a:rPr lang="en-US" altLang="ko-KR" sz="1200" b="1" dirty="0" smtClean="0">
                <a:solidFill>
                  <a:srgbClr val="0000FF"/>
                </a:solidFill>
              </a:rPr>
              <a:t>    "host": "192.168.1.10",</a:t>
            </a:r>
          </a:p>
          <a:p>
            <a:r>
              <a:rPr lang="en-US" altLang="ko-KR" sz="1200" b="1" dirty="0" smtClean="0">
                <a:solidFill>
                  <a:srgbClr val="0000FF"/>
                </a:solidFill>
              </a:rPr>
              <a:t>    "user": "pi",</a:t>
            </a:r>
          </a:p>
          <a:p>
            <a:r>
              <a:rPr lang="en-US" altLang="ko-KR" sz="1200" b="1" dirty="0" smtClean="0">
                <a:solidFill>
                  <a:srgbClr val="0000FF"/>
                </a:solidFill>
              </a:rPr>
              <a:t>    "password": "raspberry",</a:t>
            </a:r>
          </a:p>
          <a:p>
            <a:r>
              <a:rPr lang="en-US" altLang="ko-KR" sz="1200" dirty="0" smtClean="0"/>
              <a:t>    //"port": "22",</a:t>
            </a:r>
          </a:p>
          <a:p>
            <a:r>
              <a:rPr lang="en-US" altLang="ko-KR" sz="1200" dirty="0" smtClean="0"/>
              <a:t>    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remote_path</a:t>
            </a:r>
            <a:r>
              <a:rPr lang="en-US" altLang="ko-KR" sz="1200" dirty="0" smtClean="0"/>
              <a:t>": "/home/pi/</a:t>
            </a:r>
            <a:r>
              <a:rPr lang="en-US" altLang="ko-KR" sz="1200" dirty="0" err="1" smtClean="0"/>
              <a:t>pywork</a:t>
            </a:r>
            <a:r>
              <a:rPr lang="en-US" altLang="ko-KR" sz="1200" dirty="0" smtClean="0"/>
              <a:t>/",</a:t>
            </a:r>
          </a:p>
          <a:p>
            <a:r>
              <a:rPr lang="en-US" altLang="ko-KR" sz="1200" dirty="0" smtClean="0"/>
              <a:t>    "</a:t>
            </a:r>
            <a:r>
              <a:rPr lang="en-US" altLang="ko-KR" sz="1200" dirty="0" err="1" smtClean="0"/>
              <a:t>ignore_regexes</a:t>
            </a:r>
            <a:r>
              <a:rPr lang="en-US" altLang="ko-KR" sz="1200" dirty="0" smtClean="0"/>
              <a:t>": [</a:t>
            </a:r>
          </a:p>
          <a:p>
            <a:r>
              <a:rPr lang="en-US" altLang="ko-KR" sz="1200" dirty="0" smtClean="0"/>
              <a:t>        "\\.sublime-(</a:t>
            </a:r>
            <a:r>
              <a:rPr lang="en-US" altLang="ko-KR" sz="1200" dirty="0" err="1" smtClean="0"/>
              <a:t>project|workspace</a:t>
            </a:r>
            <a:r>
              <a:rPr lang="en-US" altLang="ko-KR" sz="1200" dirty="0" smtClean="0"/>
              <a:t>)", "</a:t>
            </a:r>
            <a:r>
              <a:rPr lang="en-US" altLang="ko-KR" sz="1200" dirty="0" err="1" smtClean="0"/>
              <a:t>sftp-config</a:t>
            </a:r>
            <a:r>
              <a:rPr lang="en-US" altLang="ko-KR" sz="1200" dirty="0" smtClean="0"/>
              <a:t>(-alt\\d?)?\\.json",</a:t>
            </a:r>
          </a:p>
          <a:p>
            <a:r>
              <a:rPr lang="en-US" altLang="ko-KR" sz="1200" dirty="0" smtClean="0"/>
              <a:t>        "</a:t>
            </a:r>
            <a:r>
              <a:rPr lang="en-US" altLang="ko-KR" sz="1200" dirty="0" err="1" smtClean="0"/>
              <a:t>sftp</a:t>
            </a:r>
            <a:r>
              <a:rPr lang="en-US" altLang="ko-KR" sz="1200" dirty="0" smtClean="0"/>
              <a:t>-settings\\.</a:t>
            </a:r>
            <a:r>
              <a:rPr lang="en-US" altLang="ko-KR" sz="1200" dirty="0" err="1" smtClean="0"/>
              <a:t>json</a:t>
            </a:r>
            <a:r>
              <a:rPr lang="en-US" altLang="ko-KR" sz="1200" dirty="0" smtClean="0"/>
              <a:t>", "/</a:t>
            </a:r>
            <a:r>
              <a:rPr lang="en-US" altLang="ko-KR" sz="1200" dirty="0" err="1" smtClean="0"/>
              <a:t>venv</a:t>
            </a:r>
            <a:r>
              <a:rPr lang="en-US" altLang="ko-KR" sz="1200" dirty="0" smtClean="0"/>
              <a:t>/", "\\.svn/", "\\.hg/", "\\.git/",</a:t>
            </a:r>
          </a:p>
          <a:p>
            <a:r>
              <a:rPr lang="en-US" altLang="ko-KR" sz="1200" dirty="0" smtClean="0"/>
              <a:t>        "\\.bzr", "_</a:t>
            </a:r>
            <a:r>
              <a:rPr lang="en-US" altLang="ko-KR" sz="1200" dirty="0" err="1" smtClean="0"/>
              <a:t>darcs</a:t>
            </a:r>
            <a:r>
              <a:rPr lang="en-US" altLang="ko-KR" sz="1200" dirty="0" smtClean="0"/>
              <a:t>", "CVS", "\\.DS_Store", "Thumbs\\.db", "desktop\\.</a:t>
            </a:r>
            <a:r>
              <a:rPr lang="en-US" altLang="ko-KR" sz="1200" dirty="0" err="1" smtClean="0"/>
              <a:t>ini</a:t>
            </a:r>
            <a:r>
              <a:rPr lang="en-US" altLang="ko-KR" sz="1200" dirty="0" smtClean="0"/>
              <a:t>"</a:t>
            </a:r>
          </a:p>
          <a:p>
            <a:r>
              <a:rPr lang="en-US" altLang="ko-KR" sz="1200" dirty="0" smtClean="0"/>
              <a:t>    ],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      ~ ~ ~ ~ </a:t>
            </a:r>
          </a:p>
          <a:p>
            <a:r>
              <a:rPr lang="en-US" altLang="ko-KR" sz="1200" dirty="0" smtClean="0"/>
              <a:t>}</a:t>
            </a:r>
            <a:endParaRPr lang="ko-KR" altLang="en-US" sz="1200" dirty="0"/>
          </a:p>
        </p:txBody>
      </p:sp>
      <p:sp>
        <p:nvSpPr>
          <p:cNvPr id="4" name="TextBox 7"/>
          <p:cNvSpPr txBox="1"/>
          <p:nvPr/>
        </p:nvSpPr>
        <p:spPr>
          <a:xfrm>
            <a:off x="5924550" y="1275904"/>
            <a:ext cx="2171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16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1600" b="1" dirty="0" err="1" smtClean="0">
                <a:solidFill>
                  <a:srgbClr val="0000FF"/>
                </a:solidFill>
              </a:rPr>
              <a:t>sftp-config.json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  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편집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4627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Sublime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에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SFTP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기능 설정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 descr="sub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52" y="1328332"/>
            <a:ext cx="5515745" cy="386769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3295650" y="4395652"/>
            <a:ext cx="2514600" cy="257175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5" name="그림 4" descr="sub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644" y="1447548"/>
            <a:ext cx="3839111" cy="166710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6" name="TextBox 10"/>
          <p:cNvSpPr txBox="1"/>
          <p:nvPr/>
        </p:nvSpPr>
        <p:spPr>
          <a:xfrm>
            <a:off x="5676900" y="1052377"/>
            <a:ext cx="2746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16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아래 화면이 뜨면 접속 성공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4264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개발 환경 구축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IDLE – python </a:t>
            </a:r>
            <a:r>
              <a:rPr lang="ko-KR" altLang="en-US" sz="2400" b="1" dirty="0" err="1" smtClean="0">
                <a:solidFill>
                  <a:schemeClr val="tx1"/>
                </a:solidFill>
                <a:latin typeface="+mn-ea"/>
              </a:rPr>
              <a:t>설치시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 함께 설치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1401" y="1174417"/>
            <a:ext cx="2819470" cy="2044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9658" y="3574790"/>
            <a:ext cx="7557749" cy="2707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76784" y="966984"/>
            <a:ext cx="8162544" cy="21082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300"/>
              </a:lnSpc>
              <a:buFont typeface="Arial" pitchFamily="34" charset="0"/>
              <a:buChar char="•"/>
            </a:pPr>
            <a:r>
              <a:rPr lang="ko-KR" altLang="en-US" sz="1600" dirty="0" smtClean="0">
                <a:latin typeface="+mn-ea"/>
              </a:rPr>
              <a:t>  스크립트</a:t>
            </a:r>
            <a:r>
              <a:rPr lang="en-US" altLang="ko-KR" sz="1600" dirty="0" smtClean="0">
                <a:latin typeface="+mn-ea"/>
              </a:rPr>
              <a:t>(scripts)</a:t>
            </a:r>
            <a:r>
              <a:rPr lang="ko-KR" altLang="en-US" sz="1600" dirty="0" smtClean="0">
                <a:latin typeface="+mn-ea"/>
              </a:rPr>
              <a:t>의 사전적 의미 </a:t>
            </a:r>
            <a:r>
              <a:rPr lang="en-US" altLang="ko-KR" sz="1600" dirty="0" smtClean="0">
                <a:latin typeface="+mn-ea"/>
              </a:rPr>
              <a:t>- </a:t>
            </a:r>
            <a:r>
              <a:rPr lang="ko-KR" altLang="en-US" sz="1600" dirty="0" smtClean="0">
                <a:latin typeface="+mn-ea"/>
              </a:rPr>
              <a:t>연극의 </a:t>
            </a:r>
            <a:r>
              <a:rPr lang="ko-KR" altLang="en-US" sz="1600" dirty="0" err="1" smtClean="0">
                <a:latin typeface="+mn-ea"/>
              </a:rPr>
              <a:t>대사등이</a:t>
            </a:r>
            <a:r>
              <a:rPr lang="ko-KR" altLang="en-US" sz="1600" dirty="0" smtClean="0">
                <a:latin typeface="+mn-ea"/>
              </a:rPr>
              <a:t> 적혀 있는 스크립트에서 유래 </a:t>
            </a:r>
            <a:endParaRPr lang="en-US" altLang="ko-KR" sz="1600" dirty="0" smtClean="0">
              <a:latin typeface="+mn-ea"/>
            </a:endParaRPr>
          </a:p>
          <a:p>
            <a:pPr>
              <a:lnSpc>
                <a:spcPts val="2300"/>
              </a:lnSpc>
            </a:pPr>
            <a:endParaRPr lang="ko-KR" altLang="en-US" sz="1600" dirty="0" smtClean="0"/>
          </a:p>
          <a:p>
            <a:pPr>
              <a:lnSpc>
                <a:spcPts val="2300"/>
              </a:lnSpc>
              <a:buFont typeface="Arial" pitchFamily="34" charset="0"/>
              <a:buChar char="•"/>
            </a:pPr>
            <a:r>
              <a:rPr lang="ko-KR" altLang="en-US" sz="1600" dirty="0" smtClean="0"/>
              <a:t> 소스코드 </a:t>
            </a:r>
            <a:r>
              <a:rPr lang="en-US" altLang="ko-KR" sz="1600" dirty="0" smtClean="0"/>
              <a:t>= </a:t>
            </a:r>
            <a:r>
              <a:rPr lang="ko-KR" altLang="en-US" sz="1600" dirty="0" smtClean="0"/>
              <a:t>스크립트 </a:t>
            </a:r>
          </a:p>
          <a:p>
            <a:pPr>
              <a:lnSpc>
                <a:spcPts val="2300"/>
              </a:lnSpc>
              <a:buFont typeface="Arial" pitchFamily="34" charset="0"/>
              <a:buChar char="•"/>
            </a:pPr>
            <a:r>
              <a:rPr lang="ko-KR" altLang="en-US" sz="1600" dirty="0" smtClean="0"/>
              <a:t> 연기자가 스크립트를 보고 연기 </a:t>
            </a:r>
            <a:r>
              <a:rPr lang="en-US" altLang="ko-KR" sz="1600" dirty="0" smtClean="0"/>
              <a:t>= </a:t>
            </a:r>
            <a:r>
              <a:rPr lang="ko-KR" altLang="en-US" sz="1600" dirty="0" smtClean="0"/>
              <a:t>컴퓨터가 스크립트를 읽어 수행 </a:t>
            </a:r>
          </a:p>
          <a:p>
            <a:pPr>
              <a:lnSpc>
                <a:spcPts val="2300"/>
              </a:lnSpc>
              <a:buFont typeface="Arial" pitchFamily="34" charset="0"/>
              <a:buChar char="•"/>
            </a:pPr>
            <a:r>
              <a:rPr lang="ko-KR" altLang="en-US" sz="1600" dirty="0" smtClean="0"/>
              <a:t> 해석과 수행을 함 </a:t>
            </a:r>
          </a:p>
          <a:p>
            <a:pPr>
              <a:lnSpc>
                <a:spcPts val="2300"/>
              </a:lnSpc>
              <a:buFont typeface="Arial" pitchFamily="34" charset="0"/>
              <a:buChar char="•"/>
            </a:pPr>
            <a:r>
              <a:rPr lang="ko-KR" altLang="en-US" sz="1600" dirty="0" smtClean="0"/>
              <a:t> 라인 단위로 해석하여 수행함 </a:t>
            </a:r>
          </a:p>
          <a:p>
            <a:pPr>
              <a:buFont typeface="Arial" pitchFamily="34" charset="0"/>
              <a:buChar char="•"/>
            </a:pPr>
            <a:endParaRPr lang="ko-KR" altLang="en-US" sz="1600" dirty="0" smtClean="0">
              <a:latin typeface="+mn-ea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18716" y="2749201"/>
            <a:ext cx="52578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직사각형 3"/>
          <p:cNvSpPr/>
          <p:nvPr/>
        </p:nvSpPr>
        <p:spPr>
          <a:xfrm>
            <a:off x="0" y="3524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스크립트 언어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7195" y="1333692"/>
            <a:ext cx="8253984" cy="32564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indent="-90488"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대화식 인터프리터 언어</a:t>
            </a:r>
            <a:endParaRPr lang="en-US" altLang="ko-KR" sz="2400" dirty="0" smtClean="0">
              <a:latin typeface="+mn-ea"/>
            </a:endParaRPr>
          </a:p>
          <a:p>
            <a:pPr marL="90488" indent="-90488"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동적 </a:t>
            </a:r>
            <a:r>
              <a:rPr lang="ko-KR" altLang="en-US" sz="2400" dirty="0" err="1" smtClean="0">
                <a:latin typeface="+mn-ea"/>
              </a:rPr>
              <a:t>자료형을</a:t>
            </a:r>
            <a:r>
              <a:rPr lang="ko-KR" altLang="en-US" sz="2400" dirty="0" smtClean="0">
                <a:latin typeface="+mn-ea"/>
              </a:rPr>
              <a:t> 지원</a:t>
            </a:r>
            <a:endParaRPr lang="en-US" altLang="ko-KR" sz="2400" dirty="0" smtClean="0">
              <a:latin typeface="+mn-ea"/>
            </a:endParaRPr>
          </a:p>
          <a:p>
            <a:pPr marL="90488" indent="-90488"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플랫폼에 독립적</a:t>
            </a:r>
            <a:endParaRPr lang="en-US" altLang="ko-KR" sz="2400" dirty="0" smtClean="0">
              <a:latin typeface="+mn-ea"/>
            </a:endParaRPr>
          </a:p>
          <a:p>
            <a:pPr marL="90488" indent="-90488"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개발 기간 단축</a:t>
            </a:r>
            <a:endParaRPr lang="en-US" altLang="ko-KR" sz="2400" dirty="0" smtClean="0">
              <a:latin typeface="+mn-ea"/>
            </a:endParaRPr>
          </a:p>
          <a:p>
            <a:pPr marL="90488" indent="-90488"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간단하고 쉬운 문법</a:t>
            </a:r>
            <a:endParaRPr lang="en-US" altLang="ko-KR" sz="2400" dirty="0" smtClean="0">
              <a:latin typeface="+mn-ea"/>
            </a:endParaRPr>
          </a:p>
          <a:p>
            <a:pPr marL="90488" indent="-90488"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우수한 </a:t>
            </a:r>
            <a:r>
              <a:rPr lang="ko-KR" altLang="en-US" sz="2400" dirty="0" err="1" smtClean="0">
                <a:latin typeface="+mn-ea"/>
              </a:rPr>
              <a:t>확장성</a:t>
            </a:r>
            <a:endParaRPr lang="en-US" altLang="ko-KR" sz="2400" dirty="0" smtClean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-9525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특징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4475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적용 분야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196760"/>
            <a:ext cx="8242506" cy="50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11015" y="1071591"/>
            <a:ext cx="8619086" cy="50167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ko-KR" dirty="0" smtClean="0">
                <a:latin typeface="+mn-ea"/>
              </a:rPr>
              <a:t>• </a:t>
            </a:r>
            <a:r>
              <a:rPr lang="ko-KR" altLang="en-US" sz="2000" b="1" dirty="0" err="1" smtClean="0">
                <a:latin typeface="+mn-ea"/>
              </a:rPr>
              <a:t>예약어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en-US" altLang="ko-KR" sz="2000" b="1" dirty="0" smtClean="0">
                <a:latin typeface="+mn-ea"/>
              </a:rPr>
              <a:t>(</a:t>
            </a:r>
            <a:r>
              <a:rPr lang="ko-KR" altLang="en-US" sz="2000" b="1" dirty="0" smtClean="0">
                <a:latin typeface="+mn-ea"/>
              </a:rPr>
              <a:t>또는 키워드</a:t>
            </a:r>
            <a:r>
              <a:rPr lang="en-US" altLang="ko-KR" sz="2000" b="1" dirty="0" smtClean="0">
                <a:latin typeface="+mn-ea"/>
              </a:rPr>
              <a:t>)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ts val="3200"/>
              </a:lnSpc>
              <a:buFontTx/>
              <a:buChar char="-"/>
            </a:pPr>
            <a:r>
              <a:rPr lang="ko-KR" altLang="en-US" dirty="0" smtClean="0">
                <a:latin typeface="+mn-ea"/>
              </a:rPr>
              <a:t>  </a:t>
            </a:r>
            <a:r>
              <a:rPr lang="ko-KR" altLang="en-US" dirty="0" err="1" smtClean="0">
                <a:latin typeface="+mn-ea"/>
              </a:rPr>
              <a:t>파이썬에서</a:t>
            </a:r>
            <a:r>
              <a:rPr lang="ko-KR" altLang="en-US" dirty="0" smtClean="0">
                <a:latin typeface="+mn-ea"/>
              </a:rPr>
              <a:t> 이미 문법적인 용도로 사용되고 있기 때문에 </a:t>
            </a:r>
            <a:r>
              <a:rPr lang="ko-KR" altLang="en-US" dirty="0" err="1" smtClean="0">
                <a:latin typeface="+mn-ea"/>
              </a:rPr>
              <a:t>변수명</a:t>
            </a:r>
            <a:r>
              <a:rPr lang="ko-KR" altLang="en-US" dirty="0" smtClean="0">
                <a:latin typeface="+mn-ea"/>
              </a:rPr>
              <a:t> 등의 식별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   </a:t>
            </a:r>
            <a:r>
              <a:rPr lang="ko-KR" altLang="en-US" dirty="0" smtClean="0">
                <a:latin typeface="+mn-ea"/>
              </a:rPr>
              <a:t>자로  사용하면 안 되는 단어들</a:t>
            </a:r>
            <a:endParaRPr lang="en-US" altLang="ko-KR" dirty="0" smtClean="0">
              <a:latin typeface="+mn-ea"/>
            </a:endParaRPr>
          </a:p>
          <a:p>
            <a:pPr>
              <a:lnSpc>
                <a:spcPts val="3200"/>
              </a:lnSpc>
              <a:buFontTx/>
              <a:buChar char="-"/>
            </a:pPr>
            <a:r>
              <a:rPr lang="en-US" altLang="ko-KR" dirty="0" smtClean="0">
                <a:latin typeface="+mn-ea"/>
              </a:rPr>
              <a:t>  </a:t>
            </a:r>
            <a:r>
              <a:rPr lang="ko-KR" altLang="en-US" dirty="0" err="1" smtClean="0">
                <a:latin typeface="+mn-ea"/>
              </a:rPr>
              <a:t>예약어는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Reserved(</a:t>
            </a:r>
            <a:r>
              <a:rPr lang="ko-KR" altLang="en-US" dirty="0" smtClean="0">
                <a:latin typeface="+mn-ea"/>
              </a:rPr>
              <a:t>예약된</a:t>
            </a:r>
            <a:r>
              <a:rPr lang="en-US" altLang="ko-KR" dirty="0" smtClean="0">
                <a:latin typeface="+mn-ea"/>
              </a:rPr>
              <a:t>) Words </a:t>
            </a:r>
            <a:r>
              <a:rPr lang="ko-KR" altLang="en-US" dirty="0" smtClean="0">
                <a:latin typeface="+mn-ea"/>
              </a:rPr>
              <a:t>또는 키워드라고 함</a:t>
            </a:r>
            <a:endParaRPr lang="en-US" altLang="ko-KR" dirty="0" smtClean="0">
              <a:latin typeface="+mn-ea"/>
            </a:endParaRPr>
          </a:p>
          <a:p>
            <a:pPr>
              <a:lnSpc>
                <a:spcPts val="3200"/>
              </a:lnSpc>
              <a:buFontTx/>
              <a:buChar char="-"/>
            </a:pP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코딩할</a:t>
            </a:r>
            <a:r>
              <a:rPr lang="ko-KR" altLang="en-US" dirty="0" smtClean="0">
                <a:latin typeface="+mn-ea"/>
              </a:rPr>
              <a:t> 때 활용할 </a:t>
            </a:r>
            <a:r>
              <a:rPr lang="ko-KR" altLang="en-US" dirty="0" err="1" smtClean="0">
                <a:latin typeface="+mn-ea"/>
              </a:rPr>
              <a:t>예약어를</a:t>
            </a:r>
            <a:r>
              <a:rPr lang="ko-KR" altLang="en-US" dirty="0" smtClean="0">
                <a:latin typeface="+mn-ea"/>
              </a:rPr>
              <a:t> 변수에 활용하면 안됨</a:t>
            </a:r>
            <a:endParaRPr lang="en-US" altLang="ko-KR" dirty="0" smtClean="0">
              <a:latin typeface="+mn-ea"/>
            </a:endParaRPr>
          </a:p>
          <a:p>
            <a:pPr>
              <a:lnSpc>
                <a:spcPts val="3200"/>
              </a:lnSpc>
              <a:buFontTx/>
              <a:buChar char="-"/>
            </a:pP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예약어를</a:t>
            </a:r>
            <a:r>
              <a:rPr lang="ko-KR" altLang="en-US" dirty="0" smtClean="0">
                <a:latin typeface="+mn-ea"/>
              </a:rPr>
              <a:t> 변수에 활용 → 에러는 없으나 고유 기능은 사라짐</a:t>
            </a:r>
            <a:endParaRPr lang="en-US" altLang="ko-KR" dirty="0" smtClean="0">
              <a:latin typeface="+mn-ea"/>
            </a:endParaRPr>
          </a:p>
          <a:p>
            <a:pPr>
              <a:lnSpc>
                <a:spcPts val="3200"/>
              </a:lnSpc>
              <a:buFontTx/>
              <a:buChar char="-"/>
            </a:pP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예약어</a:t>
            </a:r>
            <a:r>
              <a:rPr lang="ko-KR" altLang="en-US" dirty="0" smtClean="0">
                <a:latin typeface="+mn-ea"/>
              </a:rPr>
              <a:t> 확인하기  </a:t>
            </a:r>
            <a:endParaRPr lang="en-US" altLang="ko-KR" dirty="0" smtClean="0">
              <a:latin typeface="+mn-ea"/>
            </a:endParaRPr>
          </a:p>
          <a:p>
            <a:pPr>
              <a:lnSpc>
                <a:spcPts val="3200"/>
              </a:lnSpc>
            </a:pPr>
            <a:r>
              <a:rPr lang="en-US" altLang="ko-KR" b="1" dirty="0" smtClean="0">
                <a:latin typeface="+mn-ea"/>
              </a:rPr>
              <a:t>            import keyword</a:t>
            </a:r>
          </a:p>
          <a:p>
            <a:pPr>
              <a:lnSpc>
                <a:spcPts val="3200"/>
              </a:lnSpc>
            </a:pPr>
            <a:r>
              <a:rPr lang="en-US" altLang="ko-KR" b="1" dirty="0" smtClean="0">
                <a:latin typeface="+mn-ea"/>
              </a:rPr>
              <a:t>            print (</a:t>
            </a:r>
            <a:r>
              <a:rPr lang="en-US" altLang="ko-KR" b="1" dirty="0" err="1" smtClean="0">
                <a:latin typeface="+mn-ea"/>
              </a:rPr>
              <a:t>keyword.kwlist</a:t>
            </a:r>
            <a:r>
              <a:rPr lang="en-US" altLang="ko-KR" b="1" dirty="0" smtClean="0">
                <a:latin typeface="+mn-ea"/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altLang="ko-KR" b="1" dirty="0" smtClean="0">
                <a:latin typeface="+mn-ea"/>
              </a:rPr>
              <a:t>            print</a:t>
            </a:r>
          </a:p>
          <a:p>
            <a:pPr>
              <a:lnSpc>
                <a:spcPts val="3200"/>
              </a:lnSpc>
            </a:pPr>
            <a:r>
              <a:rPr lang="en-US" altLang="ko-KR" b="1" dirty="0" smtClean="0">
                <a:latin typeface="+mn-ea"/>
              </a:rPr>
              <a:t>            print (</a:t>
            </a:r>
            <a:r>
              <a:rPr lang="en-US" altLang="ko-KR" b="1" dirty="0" err="1" smtClean="0">
                <a:latin typeface="+mn-ea"/>
              </a:rPr>
              <a:t>len</a:t>
            </a:r>
            <a:r>
              <a:rPr lang="en-US" altLang="ko-KR" b="1" dirty="0" smtClean="0">
                <a:latin typeface="+mn-ea"/>
              </a:rPr>
              <a:t>(</a:t>
            </a:r>
            <a:r>
              <a:rPr lang="en-US" altLang="ko-KR" b="1" dirty="0" err="1" smtClean="0">
                <a:latin typeface="+mn-ea"/>
              </a:rPr>
              <a:t>keyword.kwlist</a:t>
            </a:r>
            <a:r>
              <a:rPr lang="en-US" altLang="ko-KR" b="1" dirty="0" smtClean="0">
                <a:latin typeface="+mn-ea"/>
              </a:rPr>
              <a:t>))</a:t>
            </a:r>
          </a:p>
          <a:p>
            <a:pPr>
              <a:lnSpc>
                <a:spcPts val="3200"/>
              </a:lnSpc>
              <a:buFontTx/>
              <a:buChar char="-"/>
            </a:pPr>
            <a:endParaRPr lang="ko-KR" altLang="en-US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7651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예약어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11015" y="1063940"/>
            <a:ext cx="8619086" cy="274030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000" b="1" dirty="0" smtClean="0">
                <a:latin typeface="+mn-ea"/>
              </a:rPr>
              <a:t>• </a:t>
            </a:r>
            <a:r>
              <a:rPr lang="ko-KR" altLang="en-US" sz="2400" b="1" dirty="0" smtClean="0">
                <a:latin typeface="+mn-ea"/>
              </a:rPr>
              <a:t>기본적으로 제공되는 함수들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• </a:t>
            </a:r>
            <a:r>
              <a:rPr lang="ko-KR" altLang="en-US" sz="2400" b="1" dirty="0" smtClean="0">
                <a:latin typeface="+mn-ea"/>
              </a:rPr>
              <a:t>내장</a:t>
            </a:r>
            <a:r>
              <a:rPr lang="en-US" altLang="ko-KR" sz="2400" b="1" dirty="0" smtClean="0">
                <a:latin typeface="+mn-ea"/>
              </a:rPr>
              <a:t>(Built-in) </a:t>
            </a:r>
            <a:r>
              <a:rPr lang="ko-KR" altLang="en-US" sz="2400" b="1" dirty="0" smtClean="0">
                <a:latin typeface="+mn-ea"/>
              </a:rPr>
              <a:t>함수 참고사이트 </a:t>
            </a:r>
            <a:r>
              <a:rPr lang="en-US" altLang="ko-KR" sz="2400" b="1" dirty="0" smtClean="0">
                <a:latin typeface="+mn-ea"/>
              </a:rPr>
              <a:t>:                             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        </a:t>
            </a:r>
            <a:r>
              <a:rPr lang="en-US" altLang="ko-KR" sz="2400" b="1" dirty="0" smtClean="0">
                <a:latin typeface="+mn-ea"/>
                <a:hlinkClick r:id="rId2"/>
              </a:rPr>
              <a:t>https://docs.python.org/3/library/functions.html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• </a:t>
            </a:r>
            <a:r>
              <a:rPr lang="ko-KR" altLang="en-US" sz="2400" b="1" dirty="0" smtClean="0">
                <a:latin typeface="+mn-ea"/>
              </a:rPr>
              <a:t>대표적인 내장 함수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- abs, max, min, </a:t>
            </a:r>
            <a:r>
              <a:rPr lang="en-US" altLang="ko-KR" sz="2400" b="1" dirty="0" err="1" smtClean="0">
                <a:latin typeface="+mn-ea"/>
              </a:rPr>
              <a:t>pow</a:t>
            </a:r>
            <a:r>
              <a:rPr lang="en-US" altLang="ko-KR" sz="2400" b="1" dirty="0" smtClean="0">
                <a:latin typeface="+mn-ea"/>
              </a:rPr>
              <a:t>, </a:t>
            </a:r>
            <a:r>
              <a:rPr lang="en-US" altLang="ko-KR" sz="2400" b="1" dirty="0" err="1" smtClean="0">
                <a:latin typeface="+mn-ea"/>
              </a:rPr>
              <a:t>chr</a:t>
            </a:r>
            <a:r>
              <a:rPr lang="en-US" altLang="ko-KR" sz="2400" b="1" dirty="0" smtClean="0">
                <a:latin typeface="+mn-ea"/>
              </a:rPr>
              <a:t>, </a:t>
            </a:r>
            <a:r>
              <a:rPr lang="en-US" altLang="ko-KR" sz="2400" b="1" dirty="0" err="1" smtClean="0">
                <a:latin typeface="+mn-ea"/>
              </a:rPr>
              <a:t>str</a:t>
            </a:r>
            <a:r>
              <a:rPr lang="en-US" altLang="ko-KR" sz="2400" b="1" dirty="0" smtClean="0">
                <a:latin typeface="+mn-ea"/>
              </a:rPr>
              <a:t>, range, type, …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• abs(x) : </a:t>
            </a:r>
            <a:r>
              <a:rPr lang="ko-KR" altLang="en-US" sz="2400" b="1" dirty="0" err="1" smtClean="0">
                <a:latin typeface="+mn-ea"/>
              </a:rPr>
              <a:t>수치형</a:t>
            </a:r>
            <a:r>
              <a:rPr lang="ko-KR" altLang="en-US" sz="2400" b="1" dirty="0" smtClean="0">
                <a:latin typeface="+mn-ea"/>
              </a:rPr>
              <a:t> 자료 </a:t>
            </a:r>
            <a:r>
              <a:rPr lang="en-US" altLang="ko-KR" sz="2400" b="1" dirty="0" smtClean="0">
                <a:latin typeface="+mn-ea"/>
              </a:rPr>
              <a:t>x</a:t>
            </a:r>
            <a:r>
              <a:rPr lang="ko-KR" altLang="en-US" sz="2400" b="1" dirty="0" smtClean="0">
                <a:latin typeface="+mn-ea"/>
              </a:rPr>
              <a:t>에 대해 </a:t>
            </a:r>
            <a:r>
              <a:rPr lang="en-US" altLang="ko-KR" sz="2400" b="1" dirty="0" smtClean="0">
                <a:latin typeface="+mn-ea"/>
              </a:rPr>
              <a:t>x</a:t>
            </a:r>
            <a:r>
              <a:rPr lang="ko-KR" altLang="en-US" sz="2400" b="1" dirty="0" smtClean="0">
                <a:latin typeface="+mn-ea"/>
              </a:rPr>
              <a:t>의 절대값을 반환하는 함수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함수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572031" y="1124524"/>
            <a:ext cx="3119059" cy="5271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print (abs(100))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print (abs(-100))</a:t>
            </a:r>
          </a:p>
          <a:p>
            <a:pPr>
              <a:lnSpc>
                <a:spcPts val="2900"/>
              </a:lnSpc>
            </a:pPr>
            <a:endParaRPr lang="en-US" altLang="ko-KR" sz="20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value = max(1,2,3,5,4);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print (value)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print (max(1, 2, 5, 4, 3))</a:t>
            </a:r>
          </a:p>
          <a:p>
            <a:pPr>
              <a:lnSpc>
                <a:spcPts val="2900"/>
              </a:lnSpc>
            </a:pPr>
            <a:endParaRPr lang="en-US" altLang="ko-KR" sz="20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print (max(“</a:t>
            </a:r>
            <a:r>
              <a:rPr lang="en-US" altLang="ko-KR" sz="2000" b="1" dirty="0" err="1" smtClean="0">
                <a:latin typeface="+mn-ea"/>
              </a:rPr>
              <a:t>abcdefgh</a:t>
            </a:r>
            <a:r>
              <a:rPr lang="en-US" altLang="ko-KR" sz="2000" b="1" dirty="0" smtClean="0">
                <a:latin typeface="+mn-ea"/>
              </a:rPr>
              <a:t>”))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print (min(1, 2, 5, 4, 3))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print (min(“</a:t>
            </a:r>
            <a:r>
              <a:rPr lang="en-US" altLang="ko-KR" sz="2000" b="1" dirty="0" err="1" smtClean="0">
                <a:latin typeface="+mn-ea"/>
              </a:rPr>
              <a:t>abcdefgh</a:t>
            </a:r>
            <a:r>
              <a:rPr lang="en-US" altLang="ko-KR" sz="2000" b="1" dirty="0" smtClean="0">
                <a:latin typeface="+mn-ea"/>
              </a:rPr>
              <a:t>”))</a:t>
            </a:r>
          </a:p>
          <a:p>
            <a:pPr>
              <a:lnSpc>
                <a:spcPts val="2900"/>
              </a:lnSpc>
            </a:pPr>
            <a:endParaRPr lang="en-US" altLang="ko-KR" sz="20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000" b="1" dirty="0" smtClean="0"/>
              <a:t>print (</a:t>
            </a:r>
            <a:r>
              <a:rPr lang="en-US" altLang="ko-KR" sz="2000" b="1" dirty="0" err="1" smtClean="0"/>
              <a:t>pow</a:t>
            </a:r>
            <a:r>
              <a:rPr lang="en-US" altLang="ko-KR" sz="2000" b="1" dirty="0" smtClean="0"/>
              <a:t>(2,4))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/>
              <a:t>print (</a:t>
            </a:r>
            <a:r>
              <a:rPr lang="en-US" altLang="ko-KR" sz="2000" b="1" dirty="0" err="1" smtClean="0"/>
              <a:t>pow</a:t>
            </a:r>
            <a:r>
              <a:rPr lang="en-US" altLang="ko-KR" sz="2000" b="1" dirty="0" smtClean="0"/>
              <a:t>(3, 3))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/>
              <a:t>print (</a:t>
            </a:r>
            <a:r>
              <a:rPr lang="en-US" altLang="ko-KR" sz="2000" b="1" dirty="0" err="1" smtClean="0"/>
              <a:t>pow</a:t>
            </a:r>
            <a:r>
              <a:rPr lang="en-US" altLang="ko-KR" sz="2000" b="1" dirty="0" smtClean="0"/>
              <a:t>(2, -1))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내장 함수 연습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6726" y="1145610"/>
            <a:ext cx="8652681" cy="44217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ko-KR" altLang="en-US" sz="2400" b="1" dirty="0" err="1" smtClean="0">
                <a:latin typeface="+mn-ea"/>
              </a:rPr>
              <a:t>주석문</a:t>
            </a:r>
            <a:endParaRPr lang="ko-KR" altLang="en-US" sz="2400" b="1" dirty="0" smtClean="0">
              <a:latin typeface="+mn-ea"/>
            </a:endParaRPr>
          </a:p>
          <a:p>
            <a:pPr marL="457200" indent="-457200"/>
            <a:endParaRPr lang="en-US" altLang="ko-KR" sz="2400" b="1" dirty="0" smtClean="0">
              <a:latin typeface="+mn-ea"/>
            </a:endParaRPr>
          </a:p>
          <a:p>
            <a:pPr marL="457200" indent="-457200"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   #</a:t>
            </a:r>
            <a:r>
              <a:rPr lang="ko-KR" altLang="en-US" sz="2400" b="1" dirty="0" err="1" smtClean="0">
                <a:latin typeface="+mn-ea"/>
              </a:rPr>
              <a:t>이것은주석입니다</a:t>
            </a:r>
            <a:r>
              <a:rPr lang="en-US" altLang="ko-KR" sz="2400" b="1" dirty="0" smtClean="0">
                <a:latin typeface="+mn-ea"/>
              </a:rPr>
              <a:t>.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   import sys #</a:t>
            </a:r>
            <a:r>
              <a:rPr lang="ko-KR" altLang="en-US" sz="2400" b="1" dirty="0" err="1" smtClean="0">
                <a:latin typeface="+mn-ea"/>
              </a:rPr>
              <a:t>이것도주석입니다</a:t>
            </a:r>
            <a:r>
              <a:rPr lang="en-US" altLang="ko-KR" sz="2400" b="1" dirty="0" smtClean="0">
                <a:latin typeface="+mn-ea"/>
              </a:rPr>
              <a:t>.</a:t>
            </a:r>
          </a:p>
          <a:p>
            <a:pPr>
              <a:lnSpc>
                <a:spcPts val="3500"/>
              </a:lnSpc>
              <a:buFont typeface="Arial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 </a:t>
            </a:r>
            <a:r>
              <a:rPr lang="ko-KR" altLang="en-US" sz="2400" b="1" dirty="0" err="1" smtClean="0">
                <a:latin typeface="+mn-ea"/>
              </a:rPr>
              <a:t>주석문</a:t>
            </a:r>
            <a:r>
              <a:rPr lang="ko-KR" altLang="en-US" sz="2400" b="1" dirty="0" smtClean="0">
                <a:latin typeface="+mn-ea"/>
              </a:rPr>
              <a:t> </a:t>
            </a:r>
            <a:r>
              <a:rPr lang="en-US" altLang="ko-KR" sz="2400" b="1" dirty="0" smtClean="0">
                <a:latin typeface="+mn-ea"/>
              </a:rPr>
              <a:t>:  #(</a:t>
            </a:r>
            <a:r>
              <a:rPr lang="ko-KR" altLang="en-US" sz="2400" b="1" dirty="0" err="1" smtClean="0">
                <a:latin typeface="+mn-ea"/>
              </a:rPr>
              <a:t>샵</a:t>
            </a:r>
            <a:r>
              <a:rPr lang="en-US" altLang="ko-KR" sz="2400" b="1" dirty="0" smtClean="0">
                <a:latin typeface="+mn-ea"/>
              </a:rPr>
              <a:t>) </a:t>
            </a:r>
            <a:r>
              <a:rPr lang="ko-KR" altLang="en-US" sz="2400" b="1" dirty="0" err="1" smtClean="0">
                <a:latin typeface="+mn-ea"/>
              </a:rPr>
              <a:t>뒤에오는문장</a:t>
            </a:r>
            <a:endParaRPr lang="ko-KR" altLang="en-US" sz="2400" b="1" dirty="0" smtClean="0">
              <a:latin typeface="+mn-ea"/>
            </a:endParaRPr>
          </a:p>
          <a:p>
            <a:pPr>
              <a:lnSpc>
                <a:spcPts val="3500"/>
              </a:lnSpc>
              <a:buFont typeface="Arial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 </a:t>
            </a:r>
            <a:r>
              <a:rPr lang="ko-KR" altLang="en-US" sz="2400" b="1" dirty="0" err="1" smtClean="0">
                <a:latin typeface="+mn-ea"/>
              </a:rPr>
              <a:t>주석문은</a:t>
            </a:r>
            <a:r>
              <a:rPr lang="ko-KR" altLang="en-US" sz="2400" b="1" dirty="0" smtClean="0">
                <a:latin typeface="+mn-ea"/>
              </a:rPr>
              <a:t> 첫 번째 줄에 올 수도 있고</a:t>
            </a:r>
          </a:p>
          <a:p>
            <a:pPr>
              <a:lnSpc>
                <a:spcPts val="3500"/>
              </a:lnSpc>
              <a:buFont typeface="Arial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 일반적인 </a:t>
            </a:r>
            <a:r>
              <a:rPr lang="ko-KR" altLang="en-US" sz="2400" b="1" dirty="0" err="1" smtClean="0">
                <a:latin typeface="+mn-ea"/>
              </a:rPr>
              <a:t>파이썬문</a:t>
            </a:r>
            <a:r>
              <a:rPr lang="ko-KR" altLang="en-US" sz="2400" b="1" dirty="0" smtClean="0">
                <a:latin typeface="+mn-ea"/>
              </a:rPr>
              <a:t> 뒤에 </a:t>
            </a:r>
            <a:r>
              <a:rPr lang="ko-KR" altLang="en-US" sz="2400" b="1" dirty="0" err="1" smtClean="0">
                <a:latin typeface="+mn-ea"/>
              </a:rPr>
              <a:t>주석문이</a:t>
            </a:r>
            <a:r>
              <a:rPr lang="ko-KR" altLang="en-US" sz="2400" b="1" dirty="0" smtClean="0">
                <a:latin typeface="+mn-ea"/>
              </a:rPr>
              <a:t> 올 수도 있음</a:t>
            </a:r>
          </a:p>
          <a:p>
            <a:pPr>
              <a:lnSpc>
                <a:spcPts val="3500"/>
              </a:lnSpc>
              <a:buFont typeface="Arial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 한 줄을 모두 차지하거나 명령문 뒤에 달렸거나 상관없이</a:t>
            </a:r>
          </a:p>
          <a:p>
            <a:pPr>
              <a:lnSpc>
                <a:spcPts val="3500"/>
              </a:lnSpc>
            </a:pPr>
            <a:r>
              <a:rPr lang="ko-KR" altLang="en-US" sz="2400" b="1" dirty="0" smtClean="0">
                <a:latin typeface="+mn-ea"/>
              </a:rPr>
              <a:t> </a:t>
            </a:r>
            <a:r>
              <a:rPr lang="en-US" altLang="ko-KR" sz="2400" b="1" dirty="0" smtClean="0">
                <a:latin typeface="+mn-ea"/>
              </a:rPr>
              <a:t>#(</a:t>
            </a:r>
            <a:r>
              <a:rPr lang="ko-KR" altLang="en-US" sz="2400" b="1" dirty="0" err="1" smtClean="0">
                <a:latin typeface="+mn-ea"/>
              </a:rPr>
              <a:t>샵</a:t>
            </a:r>
            <a:r>
              <a:rPr lang="en-US" altLang="ko-KR" sz="2400" b="1" dirty="0" smtClean="0">
                <a:latin typeface="+mn-ea"/>
              </a:rPr>
              <a:t>) </a:t>
            </a:r>
            <a:r>
              <a:rPr lang="ko-KR" altLang="en-US" sz="2400" b="1" dirty="0" err="1" smtClean="0">
                <a:latin typeface="+mn-ea"/>
              </a:rPr>
              <a:t>기호와함께</a:t>
            </a:r>
            <a:r>
              <a:rPr lang="ko-KR" altLang="en-US" sz="2400" b="1" dirty="0" smtClean="0">
                <a:latin typeface="+mn-ea"/>
              </a:rPr>
              <a:t> </a:t>
            </a:r>
            <a:r>
              <a:rPr lang="ko-KR" altLang="en-US" sz="2400" b="1" dirty="0" err="1" smtClean="0">
                <a:latin typeface="+mn-ea"/>
              </a:rPr>
              <a:t>사용되면주석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  <a:buFont typeface="Arial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 Block </a:t>
            </a:r>
            <a:r>
              <a:rPr lang="ko-KR" altLang="en-US" sz="2400" b="1" dirty="0" smtClean="0">
                <a:latin typeface="+mn-ea"/>
              </a:rPr>
              <a:t>은  </a:t>
            </a:r>
            <a:r>
              <a:rPr lang="en-US" altLang="ko-KR" sz="2400" b="1" dirty="0" smtClean="0">
                <a:latin typeface="+mn-ea"/>
              </a:rPr>
              <a:t>“””         “””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기초 문법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6726" y="1145610"/>
            <a:ext cx="8652681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ko-KR" sz="2400" b="1" dirty="0" smtClean="0">
                <a:latin typeface="+mn-ea"/>
              </a:rPr>
              <a:t>2. </a:t>
            </a:r>
            <a:r>
              <a:rPr lang="ko-KR" altLang="en-US" sz="2400" b="1" dirty="0" smtClean="0">
                <a:latin typeface="+mn-ea"/>
              </a:rPr>
              <a:t>연속 라인</a:t>
            </a:r>
          </a:p>
          <a:p>
            <a:pPr marL="457200" indent="-457200"/>
            <a:endParaRPr lang="en-US" altLang="ko-KR" sz="2400" b="1" dirty="0" smtClean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   </a:t>
            </a:r>
            <a:r>
              <a:rPr lang="en-US" altLang="ko-KR" sz="2400" dirty="0" smtClean="0"/>
              <a:t>a = 1</a:t>
            </a:r>
          </a:p>
          <a:p>
            <a:r>
              <a:rPr lang="en-US" altLang="ko-KR" sz="2400" dirty="0" smtClean="0"/>
              <a:t>     b = 3</a:t>
            </a:r>
          </a:p>
          <a:p>
            <a:r>
              <a:rPr lang="en-US" altLang="ko-KR" sz="2400" dirty="0" smtClean="0"/>
              <a:t>     if (a == 1) and </a:t>
            </a:r>
            <a:r>
              <a:rPr lang="ko-KR" altLang="en-US" sz="2400" dirty="0" smtClean="0"/>
              <a:t>＼</a:t>
            </a:r>
          </a:p>
          <a:p>
            <a:r>
              <a:rPr lang="en-US" altLang="ko-KR" sz="2400" dirty="0" smtClean="0"/>
              <a:t>     (b == 3) :</a:t>
            </a:r>
          </a:p>
          <a:p>
            <a:r>
              <a:rPr lang="en-US" altLang="ko-KR" sz="2400" dirty="0" smtClean="0"/>
              <a:t>              print (‘connected lines’)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18615" y="2221259"/>
            <a:ext cx="7888406" cy="273921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r>
              <a:rPr lang="ko-KR" altLang="en-US" sz="2800" b="1" dirty="0" smtClean="0"/>
              <a:t>코딩이 길어져 한 화면에 나타나지 않을 때 사용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기초 문형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6726" y="1145610"/>
            <a:ext cx="8652681" cy="37856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ko-KR" sz="2400" b="1" dirty="0" smtClean="0">
                <a:latin typeface="+mn-ea"/>
              </a:rPr>
              <a:t>3. </a:t>
            </a:r>
            <a:r>
              <a:rPr lang="ko-KR" altLang="en-US" sz="2400" b="1" dirty="0" err="1" smtClean="0">
                <a:latin typeface="+mn-ea"/>
              </a:rPr>
              <a:t>할당문</a:t>
            </a:r>
            <a:endParaRPr lang="en-US" altLang="ko-KR" sz="2400" b="1" dirty="0" smtClean="0">
              <a:latin typeface="+mn-ea"/>
            </a:endParaRPr>
          </a:p>
          <a:p>
            <a:pPr marL="457200" indent="-457200"/>
            <a:endParaRPr lang="en-US" altLang="ko-KR" sz="2400" b="1" dirty="0" smtClean="0">
              <a:latin typeface="+mn-ea"/>
            </a:endParaRPr>
          </a:p>
          <a:p>
            <a:pPr indent="355600"/>
            <a:r>
              <a:rPr lang="en-US" altLang="ko-KR" sz="2400" b="1" dirty="0" smtClean="0"/>
              <a:t>c, d = 3, 4</a:t>
            </a:r>
          </a:p>
          <a:p>
            <a:pPr indent="355600"/>
            <a:r>
              <a:rPr lang="en-US" altLang="ko-KR" sz="2400" b="1" dirty="0" smtClean="0"/>
              <a:t>print  (c, d)</a:t>
            </a:r>
          </a:p>
          <a:p>
            <a:pPr indent="355600"/>
            <a:r>
              <a:rPr lang="en-US" altLang="ko-KR" sz="2400" b="1" dirty="0" smtClean="0"/>
              <a:t>x = y = z = 0</a:t>
            </a:r>
          </a:p>
          <a:p>
            <a:pPr indent="355600"/>
            <a:r>
              <a:rPr lang="en-US" altLang="ko-KR" sz="2400" b="1" dirty="0" smtClean="0"/>
              <a:t>print  (x, y, z)</a:t>
            </a:r>
          </a:p>
          <a:p>
            <a:pPr indent="355600"/>
            <a:r>
              <a:rPr lang="en-US" altLang="ko-KR" sz="2400" b="1" dirty="0" smtClean="0"/>
              <a:t>e = 3.5; f = 5.6</a:t>
            </a:r>
          </a:p>
          <a:p>
            <a:pPr indent="355600"/>
            <a:r>
              <a:rPr lang="en-US" altLang="ko-KR" sz="2400" b="1" dirty="0" smtClean="0"/>
              <a:t>print (e, f )</a:t>
            </a:r>
            <a:endParaRPr lang="en-US" altLang="ko-KR" sz="2400" b="1" dirty="0" smtClean="0">
              <a:latin typeface="+mn-ea"/>
            </a:endParaRPr>
          </a:p>
          <a:p>
            <a:pPr marL="457200" indent="-457200"/>
            <a:endParaRPr lang="en-US" altLang="ko-KR" sz="2400" b="1" dirty="0" smtClean="0">
              <a:latin typeface="+mn-ea"/>
            </a:endParaRPr>
          </a:p>
          <a:p>
            <a:pPr marL="457200" indent="-457200"/>
            <a:endParaRPr lang="ko-KR" altLang="en-US" sz="24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18615" y="2221259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기초 문형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17157" y="1637731"/>
            <a:ext cx="44493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latin typeface="+mn-ea"/>
              </a:rPr>
              <a:t># </a:t>
            </a:r>
            <a:r>
              <a:rPr lang="ko-KR" altLang="en-US" b="1" dirty="0" smtClean="0">
                <a:latin typeface="+mn-ea"/>
              </a:rPr>
              <a:t> </a:t>
            </a:r>
            <a:r>
              <a:rPr lang="ko-KR" altLang="en-US" b="1" dirty="0" err="1" smtClean="0">
                <a:solidFill>
                  <a:srgbClr val="0000FF"/>
                </a:solidFill>
                <a:latin typeface="+mn-ea"/>
              </a:rPr>
              <a:t>줄바꿈을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 하지 않으려면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, (</a:t>
            </a:r>
            <a:r>
              <a:rPr lang="en-US" altLang="ko-KR" b="1" dirty="0" err="1" smtClean="0">
                <a:solidFill>
                  <a:srgbClr val="0000FF"/>
                </a:solidFill>
                <a:latin typeface="+mn-ea"/>
              </a:rPr>
              <a:t>ver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 3 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이상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) </a:t>
            </a:r>
          </a:p>
          <a:p>
            <a:r>
              <a:rPr lang="en-US" altLang="ko-KR" b="1" dirty="0" smtClean="0">
                <a:latin typeface="+mn-ea"/>
              </a:rPr>
              <a:t>#  ,end=“ “</a:t>
            </a:r>
          </a:p>
          <a:p>
            <a:r>
              <a:rPr lang="en-US" altLang="ko-KR" b="1" dirty="0" smtClean="0">
                <a:latin typeface="+mn-ea"/>
              </a:rPr>
              <a:t># print(‘hello’,  end= “  “)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6726" y="1145610"/>
            <a:ext cx="8652681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ko-KR" sz="2800" b="1" dirty="0" smtClean="0">
                <a:latin typeface="+mn-ea"/>
              </a:rPr>
              <a:t>3. </a:t>
            </a:r>
            <a:r>
              <a:rPr lang="ko-KR" altLang="en-US" sz="2800" b="1" dirty="0" err="1" smtClean="0">
                <a:latin typeface="+mn-ea"/>
              </a:rPr>
              <a:t>할당문</a:t>
            </a:r>
            <a:r>
              <a:rPr lang="ko-KR" altLang="en-US" sz="2800" b="1" dirty="0" smtClean="0">
                <a:latin typeface="+mn-ea"/>
              </a:rPr>
              <a:t>  </a:t>
            </a:r>
            <a:r>
              <a:rPr lang="en-US" altLang="ko-KR" sz="2800" b="1" dirty="0" smtClean="0">
                <a:latin typeface="+mn-ea"/>
              </a:rPr>
              <a:t>:  swap</a:t>
            </a:r>
          </a:p>
          <a:p>
            <a:pPr marL="457200" indent="-457200"/>
            <a:endParaRPr lang="en-US" altLang="ko-KR" sz="2800" b="1" dirty="0" smtClean="0">
              <a:latin typeface="+mn-ea"/>
            </a:endParaRPr>
          </a:p>
          <a:p>
            <a:pPr indent="355600"/>
            <a:r>
              <a:rPr lang="en-US" altLang="ko-KR" sz="2800" b="1" dirty="0" smtClean="0">
                <a:latin typeface="+mn-ea"/>
              </a:rPr>
              <a:t>e=5.7;  f=9.5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print(e, f, end=“  “)</a:t>
            </a:r>
          </a:p>
          <a:p>
            <a:pPr marL="457200" indent="-457200"/>
            <a:r>
              <a:rPr lang="en-US" altLang="ko-KR" sz="2800" b="1" dirty="0" smtClean="0">
                <a:latin typeface="+mn-ea"/>
              </a:rPr>
              <a:t>   e, f = f, e</a:t>
            </a:r>
          </a:p>
          <a:p>
            <a:pPr marL="457200" indent="-457200"/>
            <a:r>
              <a:rPr lang="en-US" altLang="ko-KR" sz="2800" b="1" dirty="0" smtClean="0">
                <a:latin typeface="+mn-ea"/>
              </a:rPr>
              <a:t>   print (e, f)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18615" y="2221259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기초 문형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6726" y="1145610"/>
            <a:ext cx="8652681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ko-KR" sz="2800" b="1" dirty="0" smtClean="0">
                <a:latin typeface="+mn-ea"/>
              </a:rPr>
              <a:t>3. </a:t>
            </a:r>
            <a:r>
              <a:rPr lang="ko-KR" altLang="en-US" sz="2800" b="1" dirty="0" err="1" smtClean="0">
                <a:latin typeface="+mn-ea"/>
              </a:rPr>
              <a:t>할당문</a:t>
            </a:r>
            <a:r>
              <a:rPr lang="ko-KR" altLang="en-US" sz="2800" b="1" dirty="0" smtClean="0">
                <a:latin typeface="+mn-ea"/>
              </a:rPr>
              <a:t>  </a:t>
            </a:r>
            <a:r>
              <a:rPr lang="en-US" altLang="ko-KR" sz="2800" b="1" dirty="0" smtClean="0">
                <a:latin typeface="+mn-ea"/>
              </a:rPr>
              <a:t>:  swap</a:t>
            </a:r>
          </a:p>
          <a:p>
            <a:pPr marL="457200" indent="-457200"/>
            <a:endParaRPr lang="en-US" altLang="ko-KR" sz="2800" b="1" dirty="0" smtClean="0">
              <a:latin typeface="+mn-ea"/>
            </a:endParaRPr>
          </a:p>
          <a:p>
            <a:pPr indent="355600"/>
            <a:r>
              <a:rPr lang="en-US" altLang="ko-KR" sz="2800" b="1" dirty="0" smtClean="0">
                <a:latin typeface="+mn-ea"/>
              </a:rPr>
              <a:t>a=1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a +=4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print (a)</a:t>
            </a:r>
          </a:p>
          <a:p>
            <a:pPr indent="355600"/>
            <a:endParaRPr lang="en-US" altLang="ko-KR" sz="2800" b="1" dirty="0" smtClean="0">
              <a:latin typeface="+mn-ea"/>
            </a:endParaRPr>
          </a:p>
          <a:p>
            <a:pPr indent="355600"/>
            <a:r>
              <a:rPr lang="en-US" altLang="ko-KR" sz="2800" b="1" dirty="0" smtClean="0">
                <a:latin typeface="+mn-ea"/>
              </a:rPr>
              <a:t>a=10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a-=5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print (a)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18615" y="2221259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기초 문형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6726" y="1145610"/>
            <a:ext cx="8652681" cy="31085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ko-KR" sz="2800" b="1" dirty="0" smtClean="0">
                <a:latin typeface="+mn-ea"/>
              </a:rPr>
              <a:t>2. </a:t>
            </a:r>
            <a:r>
              <a:rPr lang="ko-KR" altLang="en-US" sz="2800" b="1" dirty="0" err="1" smtClean="0">
                <a:latin typeface="+mn-ea"/>
              </a:rPr>
              <a:t>실수형</a:t>
            </a:r>
            <a:r>
              <a:rPr lang="ko-KR" altLang="en-US" sz="2800" b="1" dirty="0" smtClean="0">
                <a:latin typeface="+mn-ea"/>
              </a:rPr>
              <a:t> 상수</a:t>
            </a:r>
            <a:r>
              <a:rPr lang="en-US" altLang="ko-KR" sz="2800" b="1" dirty="0" smtClean="0">
                <a:latin typeface="+mn-ea"/>
              </a:rPr>
              <a:t/>
            </a:r>
            <a:br>
              <a:rPr lang="en-US" altLang="ko-KR" sz="2800" b="1" dirty="0" smtClean="0">
                <a:latin typeface="+mn-ea"/>
              </a:rPr>
            </a:br>
            <a:endParaRPr lang="en-US" altLang="ko-KR" sz="2800" b="1" dirty="0" smtClean="0">
              <a:latin typeface="+mn-ea"/>
            </a:endParaRPr>
          </a:p>
          <a:p>
            <a:pPr indent="355600"/>
            <a:r>
              <a:rPr lang="en-US" altLang="ko-KR" sz="2800" b="1" dirty="0" smtClean="0">
                <a:latin typeface="+mn-ea"/>
              </a:rPr>
              <a:t>a = 1.2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b = 3.5e3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c = -0.2e-4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print (type(a), type(b), type(c))</a:t>
            </a:r>
          </a:p>
          <a:p>
            <a:pPr indent="355600"/>
            <a:r>
              <a:rPr lang="en-US" altLang="ko-KR" sz="2800" b="1" dirty="0" smtClean="0">
                <a:latin typeface="+mn-ea"/>
              </a:rPr>
              <a:t>print (a, b, c)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수치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6726" y="1145610"/>
            <a:ext cx="8652681" cy="415498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sz="2800" dirty="0" smtClean="0"/>
              <a:t>a=</a:t>
            </a:r>
            <a:r>
              <a:rPr lang="en-US" sz="2800" b="1" dirty="0" smtClean="0"/>
              <a:t>'</a:t>
            </a:r>
            <a:r>
              <a:rPr lang="en-US" sz="2800" b="1" dirty="0" err="1" smtClean="0"/>
              <a:t>kim</a:t>
            </a:r>
            <a:r>
              <a:rPr lang="en-US" sz="2800" b="1" dirty="0" smtClean="0"/>
              <a:t>'</a:t>
            </a:r>
          </a:p>
          <a:p>
            <a:pPr marL="457200" indent="-457200"/>
            <a:r>
              <a:rPr lang="en-US" sz="2800" dirty="0" smtClean="0"/>
              <a:t>b=</a:t>
            </a:r>
            <a:r>
              <a:rPr lang="en-US" sz="2800" b="1" dirty="0" smtClean="0"/>
              <a:t>'park'</a:t>
            </a:r>
          </a:p>
          <a:p>
            <a:pPr marL="457200" indent="-457200"/>
            <a:r>
              <a:rPr lang="en-US" sz="2800" dirty="0" smtClean="0"/>
              <a:t>print (</a:t>
            </a:r>
            <a:r>
              <a:rPr lang="en-US" sz="2800" b="1" dirty="0" smtClean="0"/>
              <a:t>'%s  %s'  </a:t>
            </a:r>
            <a:r>
              <a:rPr lang="en-US" sz="2800" dirty="0" smtClean="0"/>
              <a:t>%(a, b))</a:t>
            </a:r>
          </a:p>
          <a:p>
            <a:pPr marL="457200" indent="-457200"/>
            <a:r>
              <a:rPr lang="en-US" sz="2800" dirty="0" smtClean="0"/>
              <a:t>print (</a:t>
            </a:r>
            <a:r>
              <a:rPr lang="en-US" sz="2800" b="1" dirty="0" smtClean="0"/>
              <a:t>'{}  {}'</a:t>
            </a:r>
            <a:r>
              <a:rPr lang="en-US" sz="2800" dirty="0" smtClean="0"/>
              <a:t>.format(a, b))</a:t>
            </a:r>
          </a:p>
          <a:p>
            <a:pPr marL="457200" indent="-457200"/>
            <a:r>
              <a:rPr lang="en-US" sz="2800" dirty="0" smtClean="0"/>
              <a:t>a=567</a:t>
            </a:r>
          </a:p>
          <a:p>
            <a:pPr marL="457200" indent="-457200"/>
            <a:r>
              <a:rPr lang="en-US" sz="2800" dirty="0" smtClean="0"/>
              <a:t>print (</a:t>
            </a:r>
            <a:r>
              <a:rPr lang="en-US" sz="2800" b="1" dirty="0" smtClean="0"/>
              <a:t>'%f  %10.2f'  </a:t>
            </a:r>
            <a:r>
              <a:rPr lang="en-US" sz="2800" dirty="0" smtClean="0"/>
              <a:t>%(a, a))        </a:t>
            </a:r>
            <a:r>
              <a:rPr lang="en-US" sz="2000" dirty="0" smtClean="0">
                <a:solidFill>
                  <a:srgbClr val="0000FF"/>
                </a:solidFill>
              </a:rPr>
              <a:t># %</a:t>
            </a:r>
            <a:r>
              <a:rPr lang="en-US" sz="2000" dirty="0" err="1" smtClean="0">
                <a:solidFill>
                  <a:srgbClr val="0000FF"/>
                </a:solidFill>
              </a:rPr>
              <a:t>a.b</a:t>
            </a:r>
            <a:r>
              <a:rPr lang="en-US" sz="2000" dirty="0" smtClean="0">
                <a:solidFill>
                  <a:srgbClr val="0000FF"/>
                </a:solidFill>
              </a:rPr>
              <a:t> : a=</a:t>
            </a:r>
            <a:r>
              <a:rPr lang="ko-KR" altLang="en-US" sz="2000" dirty="0" smtClean="0">
                <a:solidFill>
                  <a:srgbClr val="0000FF"/>
                </a:solidFill>
              </a:rPr>
              <a:t>자릿수</a:t>
            </a:r>
            <a:r>
              <a:rPr lang="en-US" altLang="ko-KR" sz="2000" dirty="0" smtClean="0">
                <a:solidFill>
                  <a:srgbClr val="0000FF"/>
                </a:solidFill>
              </a:rPr>
              <a:t>,b=</a:t>
            </a:r>
            <a:r>
              <a:rPr lang="ko-KR" altLang="en-US" sz="2000" dirty="0" smtClean="0">
                <a:solidFill>
                  <a:srgbClr val="0000FF"/>
                </a:solidFill>
              </a:rPr>
              <a:t>소수점자릿수</a:t>
            </a:r>
            <a:endParaRPr lang="en-US" altLang="ko-KR" sz="2000" dirty="0" smtClean="0">
              <a:solidFill>
                <a:srgbClr val="0000FF"/>
              </a:solidFill>
            </a:endParaRPr>
          </a:p>
          <a:p>
            <a:pPr marL="457200" indent="-457200"/>
            <a:endParaRPr lang="en-US" altLang="ko-KR" sz="2400" b="1" dirty="0" smtClean="0">
              <a:solidFill>
                <a:srgbClr val="0000FF"/>
              </a:solidFill>
              <a:latin typeface="+mn-ea"/>
            </a:endParaRPr>
          </a:p>
          <a:p>
            <a:pPr marL="457200" indent="-457200"/>
            <a:r>
              <a:rPr lang="en-US" altLang="ko-KR" sz="2400" b="1" dirty="0" smtClean="0">
                <a:solidFill>
                  <a:srgbClr val="0000FF"/>
                </a:solidFill>
                <a:latin typeface="+mn-ea"/>
              </a:rPr>
              <a:t>%- format  </a:t>
            </a:r>
            <a:r>
              <a:rPr lang="en-US" altLang="ko-KR" sz="2400" b="1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 "%</a:t>
            </a:r>
            <a:r>
              <a:rPr lang="en-US" altLang="ko-KR" sz="2400" b="1" dirty="0" err="1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datatype</a:t>
            </a:r>
            <a:r>
              <a:rPr lang="en-US" altLang="ko-KR" sz="2400" b="1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"  %(variable) </a:t>
            </a:r>
            <a:r>
              <a:rPr lang="ko-KR" altLang="en-US" sz="2400" b="1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형태</a:t>
            </a:r>
            <a:endParaRPr lang="en-US" altLang="ko-KR" sz="2400" b="1" dirty="0" smtClean="0">
              <a:solidFill>
                <a:srgbClr val="0000FF"/>
              </a:solidFill>
              <a:latin typeface="+mn-ea"/>
              <a:sym typeface="Wingdings" pitchFamily="2" charset="2"/>
            </a:endParaRPr>
          </a:p>
          <a:p>
            <a:pPr marL="457200" indent="-457200"/>
            <a:r>
              <a:rPr lang="en-US" altLang="ko-KR" sz="2400" b="1" dirty="0" err="1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str.format</a:t>
            </a:r>
            <a:r>
              <a:rPr lang="en-US" altLang="ko-KR" sz="2400" b="1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()  "~~~{</a:t>
            </a:r>
            <a:r>
              <a:rPr lang="en-US" altLang="ko-KR" sz="2400" b="1" dirty="0" err="1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datatype</a:t>
            </a:r>
            <a:r>
              <a:rPr lang="en-US" altLang="ko-KR" sz="2400" b="1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}~~~".format(argument)</a:t>
            </a:r>
            <a:endParaRPr lang="en-US" altLang="ko-KR" sz="2400" b="1" dirty="0" smtClean="0">
              <a:solidFill>
                <a:srgbClr val="0000FF"/>
              </a:solidFill>
              <a:latin typeface="+mn-ea"/>
            </a:endParaRPr>
          </a:p>
          <a:p>
            <a:pPr marL="457200" indent="-457200"/>
            <a:endParaRPr lang="ko-KR" altLang="en-US" sz="24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화면 입출력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화면 입출력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352" y="1246874"/>
            <a:ext cx="6242845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문자열 함수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6" y="1246870"/>
            <a:ext cx="7834039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문자열 함수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7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6" y="1246870"/>
            <a:ext cx="7834039" cy="37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77419" y="981837"/>
            <a:ext cx="8652681" cy="2785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ts val="4200"/>
              </a:lnSpc>
            </a:pPr>
            <a:r>
              <a:rPr lang="en-US" altLang="ko-KR" sz="2800" b="1" dirty="0" smtClean="0">
                <a:latin typeface="+mn-ea"/>
              </a:rPr>
              <a:t>1. </a:t>
            </a:r>
            <a:r>
              <a:rPr lang="ko-KR" altLang="en-US" sz="2800" b="1" dirty="0" smtClean="0">
                <a:latin typeface="+mn-ea"/>
              </a:rPr>
              <a:t>리스트</a:t>
            </a:r>
            <a:endParaRPr lang="en-US" altLang="ko-KR" sz="2800" b="1" dirty="0" smtClean="0">
              <a:latin typeface="+mn-ea"/>
            </a:endParaRPr>
          </a:p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대괄호 </a:t>
            </a:r>
            <a:r>
              <a:rPr lang="en-US" altLang="ko-KR" sz="2400" dirty="0" smtClean="0">
                <a:latin typeface="+mn-ea"/>
              </a:rPr>
              <a:t>[ ]</a:t>
            </a:r>
            <a:r>
              <a:rPr lang="ko-KR" altLang="en-US" sz="2400" dirty="0" smtClean="0">
                <a:latin typeface="+mn-ea"/>
              </a:rPr>
              <a:t>를 사용하여 객체를 저장</a:t>
            </a:r>
            <a:endParaRPr lang="en-US" altLang="ko-KR" sz="2400" dirty="0" smtClean="0">
              <a:latin typeface="+mn-ea"/>
            </a:endParaRPr>
          </a:p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ko-KR" altLang="en-US" sz="2400" dirty="0" smtClean="0">
                <a:latin typeface="+mn-ea"/>
              </a:rPr>
              <a:t> 리스트</a:t>
            </a:r>
            <a:r>
              <a:rPr lang="en-US" altLang="ko-KR" sz="2400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임의의 객체를 순차적으로 저장하는 집합적 </a:t>
            </a:r>
            <a:r>
              <a:rPr lang="ko-KR" altLang="en-US" sz="2400" dirty="0" err="1" smtClean="0">
                <a:latin typeface="+mn-ea"/>
              </a:rPr>
              <a:t>자료형</a:t>
            </a:r>
            <a:endParaRPr lang="ko-KR" altLang="en-US" sz="2400" dirty="0" smtClean="0">
              <a:latin typeface="+mn-ea"/>
            </a:endParaRPr>
          </a:p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ko-KR" altLang="en-US" sz="2400" dirty="0" smtClean="0">
                <a:latin typeface="+mn-ea"/>
              </a:rPr>
              <a:t> 문자열이 지닌 대부분의 연산들은 리스트도 지원</a:t>
            </a:r>
            <a:endParaRPr lang="en-US" altLang="ko-KR" sz="2400" dirty="0" smtClean="0">
              <a:latin typeface="+mn-ea"/>
            </a:endParaRPr>
          </a:p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smtClean="0">
                <a:latin typeface="+mn-ea"/>
              </a:rPr>
              <a:t>L = [1, 2, 3]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683243" y="1254627"/>
            <a:ext cx="7777514" cy="45807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L = [1,2,3]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(type(L))    # </a:t>
            </a:r>
            <a:r>
              <a:rPr lang="ko-KR" altLang="en-US" sz="2400" b="1" dirty="0" err="1" smtClean="0">
                <a:latin typeface="+mn-ea"/>
              </a:rPr>
              <a:t>자료형</a:t>
            </a:r>
            <a:r>
              <a:rPr lang="ko-KR" altLang="en-US" sz="2400" b="1" dirty="0" smtClean="0">
                <a:latin typeface="+mn-ea"/>
              </a:rPr>
              <a:t> 출력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</a:t>
            </a:r>
            <a:r>
              <a:rPr lang="en-US" altLang="ko-KR" sz="2400" b="1" dirty="0" err="1" smtClean="0">
                <a:latin typeface="+mn-ea"/>
              </a:rPr>
              <a:t>len</a:t>
            </a:r>
            <a:r>
              <a:rPr lang="en-US" altLang="ko-KR" sz="2400" b="1" dirty="0" smtClean="0">
                <a:latin typeface="+mn-ea"/>
              </a:rPr>
              <a:t>(L))      # </a:t>
            </a:r>
            <a:r>
              <a:rPr lang="ko-KR" altLang="en-US" sz="2400" b="1" dirty="0" smtClean="0">
                <a:latin typeface="+mn-ea"/>
              </a:rPr>
              <a:t>데이터 개수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(L[1])        # </a:t>
            </a:r>
            <a:r>
              <a:rPr lang="ko-KR" altLang="en-US" sz="2400" b="1" dirty="0" smtClean="0">
                <a:latin typeface="+mn-ea"/>
              </a:rPr>
              <a:t>두번째 데이터</a:t>
            </a:r>
            <a:r>
              <a:rPr lang="en-US" altLang="ko-KR" sz="2400" b="1" dirty="0" smtClean="0">
                <a:latin typeface="+mn-ea"/>
              </a:rPr>
              <a:t>, Offset</a:t>
            </a:r>
            <a:r>
              <a:rPr lang="ko-KR" altLang="en-US" sz="2400" b="1" dirty="0" smtClean="0">
                <a:latin typeface="+mn-ea"/>
              </a:rPr>
              <a:t>은 </a:t>
            </a:r>
            <a:r>
              <a:rPr lang="en-US" altLang="ko-KR" sz="2400" b="1" dirty="0" smtClean="0">
                <a:latin typeface="+mn-ea"/>
              </a:rPr>
              <a:t>0 </a:t>
            </a:r>
            <a:r>
              <a:rPr lang="ko-KR" altLang="en-US" sz="2400" b="1" dirty="0" smtClean="0">
                <a:latin typeface="+mn-ea"/>
              </a:rPr>
              <a:t>부터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data_1 = L[1]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(L[-1])       # </a:t>
            </a:r>
            <a:r>
              <a:rPr lang="ko-KR" altLang="en-US" sz="2400" b="1" dirty="0" smtClean="0">
                <a:latin typeface="+mn-ea"/>
              </a:rPr>
              <a:t>마지막 데이터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(L[1:3])      # </a:t>
            </a:r>
            <a:r>
              <a:rPr lang="ko-KR" altLang="en-US" sz="2400" b="1" dirty="0" err="1" smtClean="0">
                <a:latin typeface="+mn-ea"/>
              </a:rPr>
              <a:t>슬라이싱</a:t>
            </a:r>
            <a:r>
              <a:rPr lang="en-US" altLang="ko-KR" sz="2400" b="1" dirty="0" smtClean="0">
                <a:latin typeface="+mn-ea"/>
              </a:rPr>
              <a:t>, 1, 2</a:t>
            </a:r>
            <a:r>
              <a:rPr lang="ko-KR" altLang="en-US" sz="2400" b="1" dirty="0" smtClean="0">
                <a:latin typeface="+mn-ea"/>
              </a:rPr>
              <a:t>번째 데이터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(L[::-1])      # </a:t>
            </a:r>
            <a:r>
              <a:rPr lang="ko-KR" altLang="en-US" sz="2400" b="1" dirty="0" smtClean="0">
                <a:latin typeface="+mn-ea"/>
              </a:rPr>
              <a:t>역순으로 출력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 + L)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 * 3)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342048" y="1297845"/>
            <a:ext cx="8460757" cy="50295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400" b="1" dirty="0">
                <a:latin typeface="+mn-ea"/>
              </a:rPr>
              <a:t>L = [</a:t>
            </a:r>
            <a:r>
              <a:rPr lang="en-US" altLang="ko-KR" sz="2400" b="1" dirty="0" smtClean="0">
                <a:latin typeface="+mn-ea"/>
              </a:rPr>
              <a:t>1,2,3,4]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err="1" smtClean="0">
                <a:latin typeface="+mn-ea"/>
              </a:rPr>
              <a:t>L.append</a:t>
            </a:r>
            <a:r>
              <a:rPr lang="en-US" altLang="ko-KR" sz="2400" b="1" dirty="0" smtClean="0">
                <a:latin typeface="+mn-ea"/>
              </a:rPr>
              <a:t>(5)          # </a:t>
            </a:r>
            <a:r>
              <a:rPr lang="ko-KR" altLang="en-US" sz="2400" b="1" dirty="0" smtClean="0">
                <a:latin typeface="+mn-ea"/>
              </a:rPr>
              <a:t>리스트 마지막에 데이터 추가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(L)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err="1" smtClean="0">
                <a:latin typeface="+mn-ea"/>
              </a:rPr>
              <a:t>L.insert</a:t>
            </a:r>
            <a:r>
              <a:rPr lang="en-US" altLang="ko-KR" sz="2400" b="1" dirty="0" smtClean="0">
                <a:latin typeface="+mn-ea"/>
              </a:rPr>
              <a:t>(2, 9)          # </a:t>
            </a:r>
            <a:r>
              <a:rPr lang="ko-KR" altLang="en-US" sz="2400" b="1" dirty="0" smtClean="0">
                <a:latin typeface="+mn-ea"/>
              </a:rPr>
              <a:t>원하는 위치에 데이터 추가</a:t>
            </a:r>
            <a:r>
              <a:rPr lang="en-US" altLang="ko-KR" sz="2400" b="1" dirty="0" smtClean="0">
                <a:latin typeface="+mn-ea"/>
              </a:rPr>
              <a:t>(</a:t>
            </a:r>
            <a:r>
              <a:rPr lang="ko-KR" altLang="en-US" sz="2400" b="1" dirty="0" smtClean="0">
                <a:latin typeface="+mn-ea"/>
              </a:rPr>
              <a:t>위치</a:t>
            </a:r>
            <a:r>
              <a:rPr lang="en-US" altLang="ko-KR" sz="2400" b="1" dirty="0" smtClean="0">
                <a:latin typeface="+mn-ea"/>
              </a:rPr>
              <a:t>, </a:t>
            </a:r>
            <a:r>
              <a:rPr lang="ko-KR" altLang="en-US" sz="2400" b="1" dirty="0" smtClean="0">
                <a:latin typeface="+mn-ea"/>
              </a:rPr>
              <a:t>값</a:t>
            </a:r>
            <a:r>
              <a:rPr lang="en-US" altLang="ko-KR" sz="2400" b="1" dirty="0" smtClean="0">
                <a:latin typeface="+mn-ea"/>
              </a:rPr>
              <a:t>)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(L)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del L[0]                # </a:t>
            </a:r>
            <a:r>
              <a:rPr lang="ko-KR" altLang="en-US" sz="2400" b="1" dirty="0" smtClean="0">
                <a:latin typeface="+mn-ea"/>
              </a:rPr>
              <a:t>리스트 내 데이터 삭제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>
                <a:latin typeface="+mn-ea"/>
              </a:rPr>
              <a:t>print (L)</a:t>
            </a:r>
            <a:br>
              <a:rPr lang="en-US" altLang="ko-KR" sz="2400" b="1" dirty="0">
                <a:latin typeface="+mn-ea"/>
              </a:rPr>
            </a:br>
            <a:r>
              <a:rPr lang="en-US" altLang="ko-KR" sz="2400" b="1" dirty="0" err="1" smtClean="0">
                <a:latin typeface="+mn-ea"/>
              </a:rPr>
              <a:t>L.reverse</a:t>
            </a:r>
            <a:r>
              <a:rPr lang="en-US" altLang="ko-KR" sz="2400" b="1" dirty="0" smtClean="0">
                <a:latin typeface="+mn-ea"/>
              </a:rPr>
              <a:t>()             # </a:t>
            </a:r>
            <a:r>
              <a:rPr lang="ko-KR" altLang="en-US" sz="2400" b="1" dirty="0" smtClean="0">
                <a:latin typeface="+mn-ea"/>
              </a:rPr>
              <a:t>리스트 순서 변경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>
                <a:latin typeface="+mn-ea"/>
              </a:rPr>
              <a:t>print (L)</a:t>
            </a:r>
            <a:br>
              <a:rPr lang="en-US" altLang="ko-KR" sz="2400" b="1" dirty="0">
                <a:latin typeface="+mn-ea"/>
              </a:rPr>
            </a:br>
            <a:r>
              <a:rPr lang="en-US" altLang="ko-KR" sz="2400" b="1" dirty="0" err="1" smtClean="0">
                <a:latin typeface="+mn-ea"/>
              </a:rPr>
              <a:t>L.sort</a:t>
            </a:r>
            <a:r>
              <a:rPr lang="en-US" altLang="ko-KR" sz="2400" b="1" dirty="0" smtClean="0">
                <a:latin typeface="+mn-ea"/>
              </a:rPr>
              <a:t>()                 # </a:t>
            </a:r>
            <a:r>
              <a:rPr lang="ko-KR" altLang="en-US" sz="2400" b="1" dirty="0" smtClean="0">
                <a:latin typeface="+mn-ea"/>
              </a:rPr>
              <a:t>리스트를 오름 </a:t>
            </a:r>
            <a:r>
              <a:rPr lang="ko-KR" altLang="en-US" sz="2400" b="1" dirty="0" err="1" smtClean="0">
                <a:latin typeface="+mn-ea"/>
              </a:rPr>
              <a:t>차순으로</a:t>
            </a:r>
            <a:r>
              <a:rPr lang="ko-KR" altLang="en-US" sz="2400" b="1" dirty="0" smtClean="0">
                <a:latin typeface="+mn-ea"/>
              </a:rPr>
              <a:t> 정렬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975343" y="1343527"/>
            <a:ext cx="7777514" cy="41319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L = list(range(10))        # 0~9</a:t>
            </a:r>
            <a:r>
              <a:rPr lang="ko-KR" altLang="en-US" sz="2400" b="1" dirty="0" smtClean="0">
                <a:latin typeface="+mn-ea"/>
              </a:rPr>
              <a:t>까지 </a:t>
            </a:r>
            <a:r>
              <a:rPr lang="en-US" altLang="ko-KR" sz="2400" b="1" dirty="0" smtClean="0">
                <a:latin typeface="+mn-ea"/>
              </a:rPr>
              <a:t>list member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(L) 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(L[::2])                # 2 </a:t>
            </a:r>
            <a:r>
              <a:rPr lang="ko-KR" altLang="en-US" sz="2400" b="1" dirty="0" smtClean="0">
                <a:latin typeface="+mn-ea"/>
              </a:rPr>
              <a:t>간격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(L[::-1])               # </a:t>
            </a:r>
            <a:r>
              <a:rPr lang="ko-KR" altLang="en-US" sz="2400" b="1" dirty="0" smtClean="0">
                <a:latin typeface="+mn-ea"/>
              </a:rPr>
              <a:t>역순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>
                <a:latin typeface="+mn-ea"/>
              </a:rPr>
              <a:t>print (L</a:t>
            </a:r>
            <a:r>
              <a:rPr lang="en-US" altLang="ko-KR" sz="2400" b="1" dirty="0" smtClean="0">
                <a:latin typeface="+mn-ea"/>
              </a:rPr>
              <a:t>[:-</a:t>
            </a:r>
            <a:r>
              <a:rPr lang="en-US" altLang="ko-KR" sz="2400" b="1" dirty="0">
                <a:latin typeface="+mn-ea"/>
              </a:rPr>
              <a:t>1])               # </a:t>
            </a:r>
            <a:r>
              <a:rPr lang="en-US" altLang="ko-KR" sz="2400" b="1" dirty="0" smtClean="0">
                <a:latin typeface="+mn-ea"/>
              </a:rPr>
              <a:t> </a:t>
            </a:r>
            <a:r>
              <a:rPr lang="ko-KR" altLang="en-US" sz="2400" b="1" dirty="0" smtClean="0">
                <a:latin typeface="+mn-ea"/>
              </a:rPr>
              <a:t>마지막 데이터 삭제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>
                <a:latin typeface="+mn-ea"/>
              </a:rPr>
              <a:t>print (L</a:t>
            </a:r>
            <a:r>
              <a:rPr lang="en-US" altLang="ko-KR" sz="2400" b="1" dirty="0" smtClean="0">
                <a:latin typeface="+mn-ea"/>
              </a:rPr>
              <a:t>[-</a:t>
            </a:r>
            <a:r>
              <a:rPr lang="en-US" altLang="ko-KR" sz="2400" b="1" dirty="0">
                <a:latin typeface="+mn-ea"/>
              </a:rPr>
              <a:t>1])            </a:t>
            </a:r>
            <a:r>
              <a:rPr lang="en-US" altLang="ko-KR" sz="2400" b="1" dirty="0" smtClean="0">
                <a:latin typeface="+mn-ea"/>
              </a:rPr>
              <a:t>    </a:t>
            </a:r>
            <a:r>
              <a:rPr lang="en-US" altLang="ko-KR" sz="2400" b="1" dirty="0">
                <a:latin typeface="+mn-ea"/>
              </a:rPr>
              <a:t>#  </a:t>
            </a:r>
            <a:r>
              <a:rPr lang="ko-KR" altLang="en-US" sz="2400" b="1" dirty="0">
                <a:latin typeface="+mn-ea"/>
              </a:rPr>
              <a:t>마지막 </a:t>
            </a:r>
            <a:r>
              <a:rPr lang="ko-KR" altLang="en-US" sz="2400" b="1" dirty="0" smtClean="0">
                <a:latin typeface="+mn-ea"/>
              </a:rPr>
              <a:t>데이터만 저장 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( 4 in L )             # </a:t>
            </a:r>
            <a:r>
              <a:rPr lang="ko-KR" altLang="en-US" sz="2400" b="1" dirty="0" smtClean="0">
                <a:latin typeface="+mn-ea"/>
              </a:rPr>
              <a:t>멤버 변수 점검</a:t>
            </a:r>
            <a:endParaRPr lang="ko-KR" altLang="en-US" sz="2400" b="1" dirty="0">
              <a:latin typeface="+mn-ea"/>
            </a:endParaRPr>
          </a:p>
          <a:p>
            <a:pPr>
              <a:lnSpc>
                <a:spcPts val="3500"/>
              </a:lnSpc>
            </a:pPr>
            <a:endParaRPr lang="ko-KR" altLang="en-US" sz="2400" b="1" dirty="0">
              <a:latin typeface="+mn-ea"/>
            </a:endParaRPr>
          </a:p>
          <a:p>
            <a:pPr>
              <a:lnSpc>
                <a:spcPts val="3500"/>
              </a:lnSpc>
            </a:pPr>
            <a:endParaRPr lang="ko-KR" altLang="en-US" sz="2400" b="1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640713" y="964720"/>
            <a:ext cx="7777514" cy="58932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400" dirty="0" smtClean="0"/>
              <a:t>L1 = [1, 2, 3, 4, 5]</a:t>
            </a:r>
            <a:br>
              <a:rPr lang="en-US" altLang="ko-KR" sz="2400" dirty="0" smtClean="0"/>
            </a:br>
            <a:r>
              <a:rPr lang="en-US" altLang="ko-KR" sz="2400" dirty="0" smtClean="0"/>
              <a:t>L2 = [</a:t>
            </a:r>
            <a:r>
              <a:rPr lang="en-US" altLang="ko-KR" sz="2400" b="1" dirty="0" smtClean="0"/>
              <a:t>'a'</a:t>
            </a:r>
            <a:r>
              <a:rPr lang="en-US" altLang="ko-KR" sz="2400" dirty="0" smtClean="0"/>
              <a:t>, </a:t>
            </a:r>
            <a:r>
              <a:rPr lang="en-US" altLang="ko-KR" sz="2400" b="1" dirty="0" smtClean="0"/>
              <a:t>'b'</a:t>
            </a:r>
            <a:r>
              <a:rPr lang="en-US" altLang="ko-KR" sz="2400" dirty="0" smtClean="0"/>
              <a:t>, </a:t>
            </a:r>
            <a:r>
              <a:rPr lang="en-US" altLang="ko-KR" sz="2400" b="1" dirty="0" smtClean="0"/>
              <a:t>'c'</a:t>
            </a:r>
            <a:r>
              <a:rPr lang="en-US" altLang="ko-KR" sz="2400" dirty="0" smtClean="0"/>
              <a:t>, </a:t>
            </a:r>
            <a:r>
              <a:rPr lang="en-US" altLang="ko-KR" sz="2400" b="1" dirty="0" smtClean="0"/>
              <a:t>'d'</a:t>
            </a:r>
            <a:r>
              <a:rPr lang="en-US" altLang="ko-KR" sz="2400" dirty="0" smtClean="0"/>
              <a:t>, ]</a:t>
            </a:r>
            <a:br>
              <a:rPr lang="en-US" altLang="ko-KR" sz="2400" dirty="0" smtClean="0"/>
            </a:br>
            <a:r>
              <a:rPr lang="en-US" altLang="ko-KR" sz="2400" dirty="0" smtClean="0"/>
              <a:t>print (L1)</a:t>
            </a:r>
            <a:br>
              <a:rPr lang="en-US" altLang="ko-KR" sz="2400" dirty="0" smtClean="0"/>
            </a:br>
            <a:r>
              <a:rPr lang="en-US" altLang="ko-KR" sz="2400" dirty="0" smtClean="0"/>
              <a:t>print (L2)</a:t>
            </a:r>
            <a:br>
              <a:rPr lang="en-US" altLang="ko-KR" sz="2400" dirty="0" smtClean="0"/>
            </a:br>
            <a:r>
              <a:rPr lang="en-US" altLang="ko-KR" sz="2400" dirty="0" smtClean="0"/>
              <a:t>print (L1+L2)                   </a:t>
            </a:r>
            <a:r>
              <a:rPr lang="en-US" altLang="ko-KR" dirty="0" smtClean="0">
                <a:solidFill>
                  <a:srgbClr val="0000FF"/>
                </a:solidFill>
              </a:rPr>
              <a:t># </a:t>
            </a:r>
            <a:r>
              <a:rPr lang="ko-KR" altLang="en-US" dirty="0" smtClean="0">
                <a:solidFill>
                  <a:srgbClr val="0000FF"/>
                </a:solidFill>
              </a:rPr>
              <a:t>출력만 함께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SUM_L=L1+L2                </a:t>
            </a:r>
            <a:r>
              <a:rPr lang="en-US" altLang="ko-KR" dirty="0" smtClean="0">
                <a:solidFill>
                  <a:srgbClr val="0000FF"/>
                </a:solidFill>
              </a:rPr>
              <a:t># L1, L2</a:t>
            </a:r>
            <a:r>
              <a:rPr lang="ko-KR" altLang="en-US" dirty="0" smtClean="0">
                <a:solidFill>
                  <a:srgbClr val="0000FF"/>
                </a:solidFill>
              </a:rPr>
              <a:t>를 더한 </a:t>
            </a:r>
            <a:r>
              <a:rPr lang="en-US" altLang="ko-KR" dirty="0" smtClean="0">
                <a:solidFill>
                  <a:srgbClr val="0000FF"/>
                </a:solidFill>
              </a:rPr>
              <a:t>SUM_L list </a:t>
            </a:r>
            <a:r>
              <a:rPr lang="ko-KR" altLang="en-US" dirty="0" smtClean="0">
                <a:solidFill>
                  <a:srgbClr val="0000FF"/>
                </a:solidFill>
              </a:rPr>
              <a:t>생성</a:t>
            </a:r>
            <a:r>
              <a:rPr lang="en-US" altLang="ko-KR" dirty="0" smtClean="0">
                <a:solidFill>
                  <a:srgbClr val="0000FF"/>
                </a:solidFill>
              </a:rPr>
              <a:t/>
            </a:r>
            <a:br>
              <a:rPr lang="en-US" altLang="ko-KR" dirty="0" smtClean="0">
                <a:solidFill>
                  <a:srgbClr val="0000FF"/>
                </a:solidFill>
              </a:rPr>
            </a:br>
            <a:r>
              <a:rPr lang="en-US" altLang="ko-KR" sz="2400" dirty="0" smtClean="0"/>
              <a:t>print (SUM_L)</a:t>
            </a:r>
            <a:br>
              <a:rPr lang="en-US" altLang="ko-KR" sz="2400" dirty="0" smtClean="0"/>
            </a:br>
            <a:r>
              <a:rPr lang="en-US" altLang="ko-KR" sz="2400" dirty="0" smtClean="0"/>
              <a:t>L1.extend([6, 7])            </a:t>
            </a:r>
            <a:r>
              <a:rPr lang="en-US" altLang="ko-KR" dirty="0" smtClean="0">
                <a:solidFill>
                  <a:srgbClr val="0000FF"/>
                </a:solidFill>
              </a:rPr>
              <a:t># L1 </a:t>
            </a:r>
            <a:r>
              <a:rPr lang="ko-KR" altLang="en-US" dirty="0" smtClean="0">
                <a:solidFill>
                  <a:srgbClr val="0000FF"/>
                </a:solidFill>
              </a:rPr>
              <a:t>멤버 변수 추가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print (L1)</a:t>
            </a:r>
            <a:br>
              <a:rPr lang="en-US" altLang="ko-KR" sz="2400" dirty="0" smtClean="0"/>
            </a:br>
            <a:r>
              <a:rPr lang="en-US" altLang="ko-KR" sz="2400" dirty="0" smtClean="0"/>
              <a:t>L1.append(8)                  </a:t>
            </a:r>
            <a:r>
              <a:rPr lang="en-US" altLang="ko-KR" dirty="0" smtClean="0">
                <a:solidFill>
                  <a:srgbClr val="0000FF"/>
                </a:solidFill>
              </a:rPr>
              <a:t>#L1 </a:t>
            </a:r>
            <a:r>
              <a:rPr lang="ko-KR" altLang="en-US" dirty="0" smtClean="0">
                <a:solidFill>
                  <a:srgbClr val="0000FF"/>
                </a:solidFill>
              </a:rPr>
              <a:t>멤버 변수 추가</a:t>
            </a:r>
            <a:r>
              <a:rPr lang="en-US" altLang="ko-KR" dirty="0" smtClean="0">
                <a:solidFill>
                  <a:srgbClr val="0000FF"/>
                </a:solidFill>
              </a:rPr>
              <a:t/>
            </a:r>
            <a:br>
              <a:rPr lang="en-US" altLang="ko-KR" dirty="0" smtClean="0">
                <a:solidFill>
                  <a:srgbClr val="0000FF"/>
                </a:solidFill>
              </a:rPr>
            </a:br>
            <a:r>
              <a:rPr lang="en-US" altLang="ko-KR" sz="2400" dirty="0" smtClean="0"/>
              <a:t>print (L1)</a:t>
            </a:r>
            <a:br>
              <a:rPr lang="en-US" altLang="ko-KR" sz="2400" dirty="0" smtClean="0"/>
            </a:br>
            <a:r>
              <a:rPr lang="en-US" altLang="ko-KR" sz="2400" dirty="0" smtClean="0"/>
              <a:t>L2.extend(L1)                 </a:t>
            </a:r>
            <a:r>
              <a:rPr lang="en-US" altLang="ko-KR" dirty="0" smtClean="0"/>
              <a:t> </a:t>
            </a:r>
            <a:r>
              <a:rPr lang="en-US" altLang="ko-KR" dirty="0" smtClean="0">
                <a:solidFill>
                  <a:srgbClr val="0000FF"/>
                </a:solidFill>
              </a:rPr>
              <a:t>#L1 </a:t>
            </a:r>
            <a:r>
              <a:rPr lang="ko-KR" altLang="en-US" dirty="0" smtClean="0">
                <a:solidFill>
                  <a:srgbClr val="0000FF"/>
                </a:solidFill>
              </a:rPr>
              <a:t>멤버 변수를 </a:t>
            </a:r>
            <a:r>
              <a:rPr lang="en-US" altLang="ko-KR" dirty="0" smtClean="0">
                <a:solidFill>
                  <a:srgbClr val="0000FF"/>
                </a:solidFill>
              </a:rPr>
              <a:t>L2</a:t>
            </a:r>
            <a:r>
              <a:rPr lang="ko-KR" altLang="en-US" dirty="0" smtClean="0">
                <a:solidFill>
                  <a:srgbClr val="0000FF"/>
                </a:solidFill>
              </a:rPr>
              <a:t>에 추가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print (L2)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640713" y="964720"/>
            <a:ext cx="7777514" cy="36830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fr-FR" altLang="ko-KR" sz="2400" dirty="0" smtClean="0"/>
              <a:t>t = [1, 2, 3, 4, 5]</a:t>
            </a:r>
            <a:br>
              <a:rPr lang="fr-FR" altLang="ko-KR" sz="2400" dirty="0" smtClean="0"/>
            </a:br>
            <a:r>
              <a:rPr lang="fr-FR" altLang="ko-KR" sz="2400" dirty="0" smtClean="0"/>
              <a:t>a,b,c,d,e = t                   </a:t>
            </a:r>
            <a:r>
              <a:rPr lang="fr-FR" altLang="ko-KR" dirty="0" smtClean="0">
                <a:solidFill>
                  <a:srgbClr val="0000FF"/>
                </a:solidFill>
              </a:rPr>
              <a:t># </a:t>
            </a:r>
            <a:r>
              <a:rPr lang="ko-KR" altLang="en-US" dirty="0" smtClean="0">
                <a:solidFill>
                  <a:srgbClr val="0000FF"/>
                </a:solidFill>
              </a:rPr>
              <a:t>리스트 멤버를 각각의 변수에 할당</a:t>
            </a:r>
            <a:r>
              <a:rPr lang="fr-FR" altLang="ko-KR" sz="2400" dirty="0" smtClean="0"/>
              <a:t/>
            </a:r>
            <a:br>
              <a:rPr lang="fr-FR" altLang="ko-KR" sz="2400" dirty="0" smtClean="0"/>
            </a:br>
            <a:r>
              <a:rPr lang="fr-FR" altLang="ko-KR" sz="2400" dirty="0" smtClean="0"/>
              <a:t/>
            </a:r>
            <a:br>
              <a:rPr lang="fr-FR" altLang="ko-KR" sz="2400" dirty="0" smtClean="0"/>
            </a:br>
            <a:r>
              <a:rPr lang="fr-FR" altLang="ko-KR" sz="2400" dirty="0" smtClean="0"/>
              <a:t>print (a)</a:t>
            </a:r>
            <a:br>
              <a:rPr lang="fr-FR" altLang="ko-KR" sz="2400" dirty="0" smtClean="0"/>
            </a:br>
            <a:r>
              <a:rPr lang="fr-FR" altLang="ko-KR" sz="2400" dirty="0" smtClean="0"/>
              <a:t>print (b)</a:t>
            </a:r>
            <a:br>
              <a:rPr lang="fr-FR" altLang="ko-KR" sz="2400" dirty="0" smtClean="0"/>
            </a:br>
            <a:r>
              <a:rPr lang="fr-FR" altLang="ko-KR" sz="2400" dirty="0" smtClean="0"/>
              <a:t>print (c)</a:t>
            </a:r>
            <a:br>
              <a:rPr lang="fr-FR" altLang="ko-KR" sz="2400" dirty="0" smtClean="0"/>
            </a:br>
            <a:r>
              <a:rPr lang="fr-FR" altLang="ko-KR" sz="2400" dirty="0" smtClean="0"/>
              <a:t>print (d)</a:t>
            </a:r>
            <a:br>
              <a:rPr lang="fr-FR" altLang="ko-KR" sz="2400" dirty="0" smtClean="0"/>
            </a:br>
            <a:r>
              <a:rPr lang="fr-FR" altLang="ko-KR" sz="2400" dirty="0" smtClean="0"/>
              <a:t>print (e)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언패킹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640712" y="964720"/>
            <a:ext cx="8269371" cy="41319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400" dirty="0" err="1" smtClean="0"/>
              <a:t>kor</a:t>
            </a:r>
            <a:r>
              <a:rPr lang="en-US" altLang="ko-KR" sz="2400" dirty="0" smtClean="0"/>
              <a:t> = [77, 56, 56, 47, 77]</a:t>
            </a:r>
            <a:br>
              <a:rPr lang="en-US" altLang="ko-KR" sz="2400" dirty="0" smtClean="0"/>
            </a:br>
            <a:r>
              <a:rPr lang="en-US" altLang="ko-KR" sz="2400" dirty="0" smtClean="0"/>
              <a:t>eng = [13, 56, 86, 99, 55]</a:t>
            </a:r>
            <a:br>
              <a:rPr lang="en-US" altLang="ko-KR" sz="2400" dirty="0" smtClean="0"/>
            </a:br>
            <a:r>
              <a:rPr lang="en-US" altLang="ko-KR" sz="2400" dirty="0" smtClean="0"/>
              <a:t>math = [33, 44, 55,667,77]</a:t>
            </a:r>
          </a:p>
          <a:p>
            <a:pPr>
              <a:lnSpc>
                <a:spcPts val="3500"/>
              </a:lnSpc>
            </a:pP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err="1" smtClean="0"/>
              <a:t>midterm_score</a:t>
            </a:r>
            <a:r>
              <a:rPr lang="en-US" altLang="ko-KR" sz="2400" dirty="0" smtClean="0"/>
              <a:t>=[</a:t>
            </a:r>
            <a:r>
              <a:rPr lang="en-US" altLang="ko-KR" sz="2400" dirty="0" err="1" smtClean="0"/>
              <a:t>kor</a:t>
            </a:r>
            <a:r>
              <a:rPr lang="en-US" altLang="ko-KR" sz="2400" dirty="0" smtClean="0"/>
              <a:t>, eng, math]           </a:t>
            </a:r>
            <a:r>
              <a:rPr lang="en-US" altLang="ko-KR" dirty="0" smtClean="0">
                <a:solidFill>
                  <a:srgbClr val="0000FF"/>
                </a:solidFill>
              </a:rPr>
              <a:t># List</a:t>
            </a:r>
            <a:r>
              <a:rPr lang="ko-KR" altLang="en-US" dirty="0" smtClean="0">
                <a:solidFill>
                  <a:srgbClr val="0000FF"/>
                </a:solidFill>
              </a:rPr>
              <a:t>를 다른 </a:t>
            </a:r>
            <a:r>
              <a:rPr lang="en-US" altLang="ko-KR" dirty="0" smtClean="0">
                <a:solidFill>
                  <a:srgbClr val="0000FF"/>
                </a:solidFill>
              </a:rPr>
              <a:t>List </a:t>
            </a:r>
            <a:r>
              <a:rPr lang="ko-KR" altLang="en-US" dirty="0" smtClean="0">
                <a:solidFill>
                  <a:srgbClr val="0000FF"/>
                </a:solidFill>
              </a:rPr>
              <a:t>멤버변수로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print (</a:t>
            </a:r>
            <a:r>
              <a:rPr lang="en-US" altLang="ko-KR" sz="2400" dirty="0" err="1" smtClean="0"/>
              <a:t>midterm_score</a:t>
            </a:r>
            <a:r>
              <a:rPr lang="en-US" altLang="ko-KR" sz="2400" dirty="0" smtClean="0"/>
              <a:t>)</a:t>
            </a:r>
          </a:p>
          <a:p>
            <a:pPr>
              <a:lnSpc>
                <a:spcPts val="3500"/>
              </a:lnSpc>
            </a:pPr>
            <a:r>
              <a:rPr lang="en-US" altLang="ko-KR" sz="2400" dirty="0" smtClean="0"/>
              <a:t>print (</a:t>
            </a:r>
            <a:r>
              <a:rPr lang="en-US" altLang="ko-KR" sz="2400" dirty="0" err="1" smtClean="0"/>
              <a:t>midterm_score</a:t>
            </a:r>
            <a:r>
              <a:rPr lang="en-US" altLang="ko-KR" sz="2400" dirty="0" smtClean="0"/>
              <a:t>[1][3])                   </a:t>
            </a:r>
            <a:r>
              <a:rPr lang="en-US" altLang="ko-KR" dirty="0" smtClean="0">
                <a:solidFill>
                  <a:srgbClr val="0000FF"/>
                </a:solidFill>
              </a:rPr>
              <a:t># 2</a:t>
            </a:r>
            <a:r>
              <a:rPr lang="ko-KR" altLang="en-US" dirty="0" smtClean="0">
                <a:solidFill>
                  <a:srgbClr val="0000FF"/>
                </a:solidFill>
              </a:rPr>
              <a:t>번째 </a:t>
            </a:r>
            <a:r>
              <a:rPr lang="en-US" altLang="ko-KR" dirty="0" smtClean="0">
                <a:solidFill>
                  <a:srgbClr val="0000FF"/>
                </a:solidFill>
              </a:rPr>
              <a:t>List, 4</a:t>
            </a:r>
            <a:r>
              <a:rPr lang="ko-KR" altLang="en-US" dirty="0" smtClean="0">
                <a:solidFill>
                  <a:srgbClr val="0000FF"/>
                </a:solidFill>
              </a:rPr>
              <a:t>번째 값</a:t>
            </a:r>
            <a:r>
              <a:rPr lang="en-US" altLang="ko-KR" dirty="0" smtClean="0">
                <a:solidFill>
                  <a:srgbClr val="0000FF"/>
                </a:solidFill>
              </a:rPr>
              <a:t/>
            </a:r>
            <a:br>
              <a:rPr lang="en-US" altLang="ko-KR" dirty="0" smtClean="0">
                <a:solidFill>
                  <a:srgbClr val="0000FF"/>
                </a:solidFill>
              </a:rPr>
            </a:br>
            <a:endParaRPr lang="ko-KR" altLang="en-US" sz="24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- 2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차원 리스트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249567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24026" y="1135767"/>
            <a:ext cx="8652681" cy="47859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US" altLang="ko-KR" sz="2400" b="1" dirty="0" smtClean="0">
                <a:latin typeface="+mn-ea"/>
              </a:rPr>
              <a:t>2. </a:t>
            </a:r>
            <a:r>
              <a:rPr lang="ko-KR" altLang="en-US" sz="2400" b="1" dirty="0" err="1" smtClean="0">
                <a:latin typeface="+mn-ea"/>
              </a:rPr>
              <a:t>튜플의</a:t>
            </a:r>
            <a:r>
              <a:rPr lang="ko-KR" altLang="en-US" sz="2400" b="1" dirty="0" smtClean="0">
                <a:latin typeface="+mn-ea"/>
              </a:rPr>
              <a:t> 정의와 기본 연산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dirty="0" smtClean="0">
                <a:latin typeface="+mn-ea"/>
              </a:rPr>
              <a:t>•</a:t>
            </a:r>
            <a:r>
              <a:rPr lang="ko-KR" altLang="en-US" sz="2000" dirty="0" err="1" smtClean="0">
                <a:latin typeface="+mn-ea"/>
              </a:rPr>
              <a:t>튜플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smtClean="0">
                <a:latin typeface="+mn-ea"/>
              </a:rPr>
              <a:t>소괄호를 사용하며 리스트와 유사하지만 </a:t>
            </a:r>
            <a:r>
              <a:rPr lang="ko-KR" altLang="en-US" sz="2000" dirty="0" err="1" smtClean="0">
                <a:latin typeface="+mn-ea"/>
              </a:rPr>
              <a:t>튜플</a:t>
            </a:r>
            <a:r>
              <a:rPr lang="ko-KR" altLang="en-US" sz="2000" dirty="0" smtClean="0">
                <a:latin typeface="+mn-ea"/>
              </a:rPr>
              <a:t> 내의 </a:t>
            </a:r>
            <a:r>
              <a:rPr lang="en-US" altLang="ko-KR" sz="2000" dirty="0" smtClean="0">
                <a:latin typeface="+mn-ea"/>
              </a:rPr>
              <a:t/>
            </a:r>
            <a:br>
              <a:rPr lang="en-US" altLang="ko-KR" sz="2000" dirty="0" smtClean="0">
                <a:latin typeface="+mn-ea"/>
              </a:rPr>
            </a:br>
            <a:r>
              <a:rPr lang="en-US" altLang="ko-KR" sz="2000" dirty="0" smtClean="0">
                <a:latin typeface="+mn-ea"/>
              </a:rPr>
              <a:t>        </a:t>
            </a:r>
            <a:r>
              <a:rPr lang="ko-KR" altLang="en-US" sz="2000" dirty="0" smtClean="0">
                <a:latin typeface="+mn-ea"/>
              </a:rPr>
              <a:t>값을 변경할 수 없음</a:t>
            </a:r>
          </a:p>
          <a:p>
            <a:pPr>
              <a:lnSpc>
                <a:spcPts val="4000"/>
              </a:lnSpc>
            </a:pPr>
            <a:r>
              <a:rPr lang="en-US" altLang="ko-KR" sz="2000" dirty="0" smtClean="0">
                <a:latin typeface="+mn-ea"/>
              </a:rPr>
              <a:t>•</a:t>
            </a:r>
            <a:r>
              <a:rPr lang="ko-KR" altLang="en-US" sz="2000" dirty="0" smtClean="0">
                <a:latin typeface="+mn-ea"/>
              </a:rPr>
              <a:t>적합한 사용 예</a:t>
            </a:r>
          </a:p>
          <a:p>
            <a:pPr>
              <a:lnSpc>
                <a:spcPts val="4000"/>
              </a:lnSpc>
            </a:pPr>
            <a:r>
              <a:rPr lang="en-US" altLang="ko-KR" sz="2000" dirty="0" smtClean="0">
                <a:latin typeface="+mn-ea"/>
              </a:rPr>
              <a:t>- months =(‘</a:t>
            </a:r>
            <a:r>
              <a:rPr lang="en-US" altLang="ko-KR" sz="2000" dirty="0" err="1" smtClean="0">
                <a:latin typeface="+mn-ea"/>
              </a:rPr>
              <a:t>January','February','March','April','May</a:t>
            </a:r>
            <a:r>
              <a:rPr lang="en-US" altLang="ko-KR" sz="2000" dirty="0" smtClean="0">
                <a:latin typeface="+mn-ea"/>
              </a:rPr>
              <a:t>',  </a:t>
            </a:r>
            <a:br>
              <a:rPr lang="en-US" altLang="ko-KR" sz="2000" dirty="0" smtClean="0">
                <a:latin typeface="+mn-ea"/>
              </a:rPr>
            </a:br>
            <a:r>
              <a:rPr lang="en-US" altLang="ko-KR" sz="2000" dirty="0" smtClean="0">
                <a:latin typeface="+mn-ea"/>
              </a:rPr>
              <a:t>                '</a:t>
            </a:r>
            <a:r>
              <a:rPr lang="en-US" altLang="ko-KR" sz="2000" dirty="0" err="1" smtClean="0">
                <a:latin typeface="+mn-ea"/>
              </a:rPr>
              <a:t>June','July','August','September</a:t>
            </a:r>
            <a:r>
              <a:rPr lang="en-US" altLang="ko-KR" sz="2000" dirty="0" smtClean="0">
                <a:latin typeface="+mn-ea"/>
              </a:rPr>
              <a:t>', 'October',  </a:t>
            </a:r>
            <a:br>
              <a:rPr lang="en-US" altLang="ko-KR" sz="2000" dirty="0" smtClean="0">
                <a:latin typeface="+mn-ea"/>
              </a:rPr>
            </a:br>
            <a:r>
              <a:rPr lang="en-US" altLang="ko-KR" sz="2000" dirty="0" smtClean="0">
                <a:latin typeface="+mn-ea"/>
              </a:rPr>
              <a:t>                'November',' December')</a:t>
            </a:r>
          </a:p>
          <a:p>
            <a:pPr>
              <a:lnSpc>
                <a:spcPts val="4000"/>
              </a:lnSpc>
            </a:pPr>
            <a:r>
              <a:rPr lang="en-US" altLang="ko-KR" sz="2000" dirty="0" smtClean="0">
                <a:latin typeface="+mn-ea"/>
              </a:rPr>
              <a:t>- </a:t>
            </a:r>
            <a:r>
              <a:rPr lang="ko-KR" altLang="en-US" sz="2000" dirty="0" smtClean="0">
                <a:latin typeface="+mn-ea"/>
              </a:rPr>
              <a:t>각 값에 대해 인덱스가 부여됨</a:t>
            </a:r>
          </a:p>
          <a:p>
            <a:pPr>
              <a:lnSpc>
                <a:spcPts val="4000"/>
              </a:lnSpc>
            </a:pPr>
            <a:r>
              <a:rPr lang="en-US" altLang="ko-KR" sz="2000" dirty="0" smtClean="0">
                <a:latin typeface="+mn-ea"/>
              </a:rPr>
              <a:t>•</a:t>
            </a:r>
            <a:r>
              <a:rPr lang="ko-KR" altLang="en-US" sz="2000" dirty="0" smtClean="0">
                <a:latin typeface="+mn-ea"/>
              </a:rPr>
              <a:t>문자열이 지닌 대부분의 연산들은 </a:t>
            </a:r>
            <a:r>
              <a:rPr lang="ko-KR" altLang="en-US" sz="2000" dirty="0" err="1" smtClean="0">
                <a:latin typeface="+mn-ea"/>
              </a:rPr>
              <a:t>튜플도</a:t>
            </a:r>
            <a:r>
              <a:rPr lang="ko-KR" altLang="en-US" sz="2000" dirty="0" smtClean="0">
                <a:latin typeface="+mn-ea"/>
              </a:rPr>
              <a:t> 지원</a:t>
            </a:r>
            <a:endParaRPr lang="en-US" altLang="ko-KR" sz="2000" b="1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0627" y="1719149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2857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rgbClr val="0000FF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rgbClr val="0000FF"/>
                </a:solidFill>
                <a:latin typeface="+mn-ea"/>
              </a:rPr>
              <a:t>(</a:t>
            </a:r>
            <a:r>
              <a:rPr lang="en-US" altLang="ko-KR" sz="2800" b="1" dirty="0" err="1" smtClean="0">
                <a:solidFill>
                  <a:srgbClr val="0000FF"/>
                </a:solidFill>
                <a:latin typeface="+mn-ea"/>
              </a:rPr>
              <a:t>Tuple</a:t>
            </a:r>
            <a:r>
              <a:rPr lang="en-US" altLang="ko-KR" sz="2800" b="1" dirty="0" smtClean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집합</a:t>
            </a:r>
            <a:r>
              <a:rPr lang="en-US" altLang="ko-KR" sz="2800" b="1" dirty="0" smtClean="0">
                <a:solidFill>
                  <a:srgbClr val="0000FF"/>
                </a:solidFill>
                <a:latin typeface="+mn-ea"/>
              </a:rPr>
              <a:t>)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1047466" y="1178152"/>
            <a:ext cx="6674134" cy="34163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ko-KR" sz="2400" b="1" dirty="0" smtClean="0">
                <a:latin typeface="+mn-ea"/>
              </a:rPr>
              <a:t>t = (1,2,3,4,5)</a:t>
            </a:r>
          </a:p>
          <a:p>
            <a:r>
              <a:rPr lang="fr-FR" altLang="ko-KR" sz="2400" b="1" dirty="0" smtClean="0">
                <a:latin typeface="+mn-ea"/>
              </a:rPr>
              <a:t>print (len(t))         # </a:t>
            </a:r>
            <a:r>
              <a:rPr lang="ko-KR" altLang="en-US" sz="2400" b="1" dirty="0" smtClean="0">
                <a:latin typeface="+mn-ea"/>
              </a:rPr>
              <a:t>개수 확인</a:t>
            </a:r>
            <a:endParaRPr lang="fr-FR" altLang="ko-KR" sz="2400" b="1" dirty="0" smtClean="0">
              <a:latin typeface="+mn-ea"/>
            </a:endParaRPr>
          </a:p>
          <a:p>
            <a:r>
              <a:rPr lang="fr-FR" altLang="ko-KR" sz="2400" b="1" dirty="0" smtClean="0">
                <a:latin typeface="+mn-ea"/>
              </a:rPr>
              <a:t>print (t[0])           # </a:t>
            </a:r>
            <a:r>
              <a:rPr lang="ko-KR" altLang="en-US" sz="2400" b="1" dirty="0" smtClean="0">
                <a:latin typeface="+mn-ea"/>
              </a:rPr>
              <a:t>첫번째 데이터</a:t>
            </a:r>
            <a:endParaRPr lang="fr-FR" altLang="ko-KR" sz="2400" b="1" dirty="0" smtClean="0">
              <a:latin typeface="+mn-ea"/>
            </a:endParaRPr>
          </a:p>
          <a:p>
            <a:r>
              <a:rPr lang="fr-FR" altLang="ko-KR" sz="2400" b="1" dirty="0" smtClean="0">
                <a:latin typeface="+mn-ea"/>
              </a:rPr>
              <a:t>print (t[-1])          # </a:t>
            </a:r>
            <a:r>
              <a:rPr lang="ko-KR" altLang="en-US" sz="2400" b="1" dirty="0" smtClean="0">
                <a:latin typeface="+mn-ea"/>
              </a:rPr>
              <a:t>마지막 데이터</a:t>
            </a:r>
            <a:endParaRPr lang="fr-FR" altLang="ko-KR" sz="2400" b="1" dirty="0" smtClean="0">
              <a:latin typeface="+mn-ea"/>
            </a:endParaRPr>
          </a:p>
          <a:p>
            <a:r>
              <a:rPr lang="fr-FR" altLang="ko-KR" sz="2400" b="1" dirty="0" smtClean="0">
                <a:latin typeface="+mn-ea"/>
              </a:rPr>
              <a:t>print (t[::2])          # </a:t>
            </a:r>
            <a:r>
              <a:rPr lang="ko-KR" altLang="en-US" sz="2400" b="1" dirty="0" smtClean="0">
                <a:latin typeface="+mn-ea"/>
              </a:rPr>
              <a:t>확장 </a:t>
            </a:r>
            <a:r>
              <a:rPr lang="ko-KR" altLang="en-US" sz="2400" b="1" dirty="0" err="1" smtClean="0">
                <a:latin typeface="+mn-ea"/>
              </a:rPr>
              <a:t>슬라이싱</a:t>
            </a:r>
            <a:r>
              <a:rPr lang="en-US" altLang="ko-KR" sz="2400" b="1" dirty="0" smtClean="0">
                <a:latin typeface="+mn-ea"/>
              </a:rPr>
              <a:t>, 2</a:t>
            </a:r>
            <a:r>
              <a:rPr lang="ko-KR" altLang="en-US" sz="2400" b="1" dirty="0" smtClean="0">
                <a:latin typeface="+mn-ea"/>
              </a:rPr>
              <a:t>씩 표시</a:t>
            </a:r>
            <a:endParaRPr lang="fr-FR" altLang="ko-KR" sz="2400" b="1" dirty="0" smtClean="0">
              <a:latin typeface="+mn-ea"/>
            </a:endParaRPr>
          </a:p>
          <a:p>
            <a:r>
              <a:rPr lang="fr-FR" altLang="ko-KR" sz="2400" b="1" dirty="0" smtClean="0">
                <a:latin typeface="+mn-ea"/>
              </a:rPr>
              <a:t>print (t + t + t)    </a:t>
            </a:r>
          </a:p>
          <a:p>
            <a:r>
              <a:rPr lang="fr-FR" altLang="ko-KR" sz="2400" b="1" dirty="0" smtClean="0">
                <a:latin typeface="+mn-ea"/>
              </a:rPr>
              <a:t>print (t * 3)</a:t>
            </a:r>
          </a:p>
          <a:p>
            <a:r>
              <a:rPr lang="fr-FR" altLang="ko-KR" sz="2400" b="1" dirty="0" smtClean="0">
                <a:latin typeface="+mn-ea"/>
              </a:rPr>
              <a:t>print (3 in t)         # </a:t>
            </a:r>
            <a:r>
              <a:rPr lang="ko-KR" altLang="en-US" sz="2400" b="1" dirty="0" smtClean="0">
                <a:latin typeface="+mn-ea"/>
              </a:rPr>
              <a:t>멤버 검사</a:t>
            </a:r>
            <a:endParaRPr lang="fr-FR" altLang="ko-KR" sz="2400" b="1" dirty="0" smtClean="0">
              <a:latin typeface="+mn-ea"/>
            </a:endParaRPr>
          </a:p>
          <a:p>
            <a:r>
              <a:rPr lang="fr-FR" altLang="ko-KR" sz="2400" b="1" dirty="0" smtClean="0">
                <a:latin typeface="+mn-ea"/>
              </a:rPr>
              <a:t>print (9 in t)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rgbClr val="0000FF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70912" y="1081815"/>
            <a:ext cx="8652681" cy="4196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00"/>
              </a:lnSpc>
            </a:pPr>
            <a:r>
              <a:rPr lang="en-US" altLang="ko-KR" sz="2800" b="1" dirty="0" smtClean="0">
                <a:latin typeface="+mn-ea"/>
              </a:rPr>
              <a:t>3. </a:t>
            </a:r>
            <a:r>
              <a:rPr lang="ko-KR" altLang="en-US" sz="2800" b="1" dirty="0" smtClean="0">
                <a:latin typeface="+mn-ea"/>
              </a:rPr>
              <a:t>사전</a:t>
            </a:r>
            <a:r>
              <a:rPr lang="en-US" altLang="ko-KR" sz="2800" b="1" dirty="0" smtClean="0">
                <a:latin typeface="+mn-ea"/>
              </a:rPr>
              <a:t/>
            </a:r>
            <a:br>
              <a:rPr lang="en-US" altLang="ko-KR" sz="2800" b="1" dirty="0" smtClean="0">
                <a:latin typeface="+mn-ea"/>
              </a:rPr>
            </a:br>
            <a:r>
              <a:rPr lang="en-US" altLang="ko-KR" sz="2400" dirty="0" smtClean="0"/>
              <a:t> • </a:t>
            </a:r>
            <a:r>
              <a:rPr lang="ko-KR" altLang="en-US" sz="2400" dirty="0" smtClean="0"/>
              <a:t>정수형 인덱스가 아닌 키를 이용하여 값을 저장하는 자료 구조</a:t>
            </a:r>
          </a:p>
          <a:p>
            <a:pPr marL="177800">
              <a:lnSpc>
                <a:spcPts val="4000"/>
              </a:lnSpc>
            </a:pPr>
            <a:r>
              <a:rPr lang="en-US" altLang="ko-KR" sz="2400" dirty="0" smtClean="0"/>
              <a:t>- </a:t>
            </a:r>
            <a:r>
              <a:rPr lang="ko-KR" altLang="en-US" sz="2400" dirty="0" smtClean="0"/>
              <a:t>저장된 각 자료에 대한 순서는 의미 없음</a:t>
            </a:r>
          </a:p>
          <a:p>
            <a:pPr>
              <a:lnSpc>
                <a:spcPts val="4000"/>
              </a:lnSpc>
            </a:pPr>
            <a:r>
              <a:rPr lang="en-US" altLang="ko-KR" sz="2400" dirty="0" smtClean="0"/>
              <a:t>•</a:t>
            </a:r>
            <a:r>
              <a:rPr lang="ko-KR" altLang="en-US" sz="2400" dirty="0" err="1" smtClean="0"/>
              <a:t>매핑</a:t>
            </a:r>
            <a:r>
              <a:rPr lang="en-US" altLang="ko-KR" sz="2400" dirty="0" smtClean="0"/>
              <a:t>(Mapping) </a:t>
            </a:r>
            <a:r>
              <a:rPr lang="ko-KR" altLang="en-US" sz="2400" dirty="0" smtClean="0"/>
              <a:t>함수와 비슷한 역할을 함</a:t>
            </a:r>
          </a:p>
          <a:p>
            <a:pPr marL="88900" indent="88900">
              <a:lnSpc>
                <a:spcPts val="4000"/>
              </a:lnSpc>
              <a:buFontTx/>
              <a:buChar char="-"/>
            </a:pPr>
            <a:r>
              <a:rPr lang="en-US" altLang="ko-KR" sz="2400" dirty="0" smtClean="0"/>
              <a:t> x</a:t>
            </a:r>
            <a:r>
              <a:rPr lang="ko-KR" altLang="en-US" sz="2400" dirty="0" smtClean="0"/>
              <a:t>라는 키값을 넣으면 값 </a:t>
            </a:r>
            <a:r>
              <a:rPr lang="en-US" altLang="ko-KR" sz="2400" dirty="0" smtClean="0"/>
              <a:t>y</a:t>
            </a:r>
            <a:r>
              <a:rPr lang="ko-KR" altLang="en-US" sz="2400" dirty="0" smtClean="0"/>
              <a:t>를 반환함</a:t>
            </a:r>
            <a:endParaRPr lang="en-US" altLang="ko-KR" sz="2400" dirty="0" smtClean="0"/>
          </a:p>
          <a:p>
            <a:pPr>
              <a:lnSpc>
                <a:spcPts val="4000"/>
              </a:lnSpc>
              <a:buFontTx/>
              <a:buChar char="-"/>
            </a:pPr>
            <a:endParaRPr lang="en-US" altLang="ko-KR" sz="2400" b="1" dirty="0" smtClean="0">
              <a:latin typeface="+mn-ea"/>
            </a:endParaRPr>
          </a:p>
          <a:p>
            <a:pPr>
              <a:lnSpc>
                <a:spcPts val="4000"/>
              </a:lnSpc>
            </a:pPr>
            <a:r>
              <a:rPr lang="en-US" altLang="ko-KR" sz="2400" b="1" dirty="0" smtClean="0">
                <a:latin typeface="+mn-ea"/>
              </a:rPr>
              <a:t> </a:t>
            </a:r>
            <a:r>
              <a:rPr lang="en-US" altLang="ko-KR" sz="2400" dirty="0" smtClean="0"/>
              <a:t>d = {'one': '</a:t>
            </a:r>
            <a:r>
              <a:rPr lang="en-US" altLang="ko-KR" sz="2400" dirty="0" err="1" smtClean="0"/>
              <a:t>hana</a:t>
            </a:r>
            <a:r>
              <a:rPr lang="en-US" altLang="ko-KR" sz="2400" dirty="0" smtClean="0"/>
              <a:t>', 'two': '</a:t>
            </a:r>
            <a:r>
              <a:rPr lang="en-US" altLang="ko-KR" sz="2400" dirty="0" err="1" smtClean="0"/>
              <a:t>dul</a:t>
            </a:r>
            <a:r>
              <a:rPr lang="en-US" altLang="ko-KR" sz="2400" dirty="0" smtClean="0"/>
              <a:t>', 'three': 'set'}</a:t>
            </a:r>
          </a:p>
          <a:p>
            <a:pPr>
              <a:lnSpc>
                <a:spcPts val="4000"/>
              </a:lnSpc>
            </a:pPr>
            <a:r>
              <a:rPr lang="en-US" altLang="ko-KR" sz="2400" dirty="0" smtClean="0"/>
              <a:t>  print (d['one'])</a:t>
            </a:r>
            <a:endParaRPr lang="en-US" altLang="ko-KR" sz="2400" b="1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18863" y="2318879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36726" y="1145610"/>
            <a:ext cx="8652681" cy="31700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latin typeface="+mn-ea"/>
              </a:rPr>
              <a:t>3. </a:t>
            </a:r>
            <a:r>
              <a:rPr lang="ko-KR" altLang="en-US" sz="2800" b="1" dirty="0" smtClean="0">
                <a:latin typeface="+mn-ea"/>
              </a:rPr>
              <a:t>사전</a:t>
            </a:r>
            <a:endParaRPr lang="en-US" altLang="ko-KR" sz="2800" b="1" dirty="0" smtClean="0">
              <a:latin typeface="+mn-ea"/>
            </a:endParaRPr>
          </a:p>
          <a:p>
            <a:r>
              <a:rPr lang="en-US" altLang="ko-KR" sz="2800" b="1" dirty="0" smtClean="0">
                <a:latin typeface="+mn-ea"/>
              </a:rPr>
              <a:t/>
            </a:r>
            <a:br>
              <a:rPr lang="en-US" altLang="ko-KR" sz="28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d = {'one': '</a:t>
            </a:r>
            <a:r>
              <a:rPr lang="en-US" altLang="ko-KR" sz="2400" b="1" dirty="0" err="1" smtClean="0">
                <a:latin typeface="+mn-ea"/>
              </a:rPr>
              <a:t>hana</a:t>
            </a:r>
            <a:r>
              <a:rPr lang="en-US" altLang="ko-KR" sz="2400" b="1" dirty="0" smtClean="0">
                <a:latin typeface="+mn-ea"/>
              </a:rPr>
              <a:t>', 'two': '</a:t>
            </a:r>
            <a:r>
              <a:rPr lang="en-US" altLang="ko-KR" sz="2400" b="1" dirty="0" err="1" smtClean="0">
                <a:latin typeface="+mn-ea"/>
              </a:rPr>
              <a:t>dul</a:t>
            </a:r>
            <a:r>
              <a:rPr lang="en-US" altLang="ko-KR" sz="2400" b="1" dirty="0" smtClean="0">
                <a:latin typeface="+mn-ea"/>
              </a:rPr>
              <a:t>', 'three': 'set'}</a:t>
            </a:r>
          </a:p>
          <a:p>
            <a:r>
              <a:rPr lang="en-US" altLang="ko-KR" sz="2400" b="1" dirty="0" smtClean="0">
                <a:latin typeface="+mn-ea"/>
              </a:rPr>
              <a:t>d['four'] = 'net' # </a:t>
            </a:r>
            <a:r>
              <a:rPr lang="ko-KR" altLang="en-US" sz="2400" b="1" dirty="0" smtClean="0">
                <a:latin typeface="+mn-ea"/>
              </a:rPr>
              <a:t>새 항목의 삽입</a:t>
            </a:r>
          </a:p>
          <a:p>
            <a:r>
              <a:rPr lang="en-US" altLang="ko-KR" sz="2400" b="1" dirty="0" smtClean="0">
                <a:latin typeface="+mn-ea"/>
              </a:rPr>
              <a:t>print (d)</a:t>
            </a:r>
          </a:p>
          <a:p>
            <a:r>
              <a:rPr lang="en-US" altLang="ko-KR" sz="2400" b="1" dirty="0" smtClean="0">
                <a:latin typeface="+mn-ea"/>
              </a:rPr>
              <a:t>d['one'] = 1 # </a:t>
            </a:r>
            <a:r>
              <a:rPr lang="ko-KR" altLang="en-US" sz="2400" b="1" dirty="0" smtClean="0">
                <a:latin typeface="+mn-ea"/>
              </a:rPr>
              <a:t>기존 항목의 값 변경</a:t>
            </a:r>
          </a:p>
          <a:p>
            <a:r>
              <a:rPr lang="en-US" altLang="ko-KR" sz="2400" b="1" dirty="0" smtClean="0">
                <a:latin typeface="+mn-ea"/>
              </a:rPr>
              <a:t>print (d)</a:t>
            </a:r>
          </a:p>
          <a:p>
            <a:r>
              <a:rPr lang="en-US" altLang="ko-KR" sz="2400" b="1" dirty="0" smtClean="0">
                <a:latin typeface="+mn-ea"/>
              </a:rPr>
              <a:t>print ('one' in d) # </a:t>
            </a:r>
            <a:r>
              <a:rPr lang="ko-KR" altLang="en-US" sz="2400" b="1" dirty="0" smtClean="0">
                <a:latin typeface="+mn-ea"/>
              </a:rPr>
              <a:t>키에 대한 멤버 검사</a:t>
            </a:r>
            <a:endParaRPr lang="en-US" altLang="ko-KR" sz="2400" b="1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0627" y="1798179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66605" y="1071182"/>
            <a:ext cx="8652681" cy="34163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 smtClean="0"/>
              <a:t>country_code</a:t>
            </a:r>
            <a:r>
              <a:rPr lang="en-US" altLang="ko-KR" sz="2400" dirty="0" smtClean="0"/>
              <a:t> = {}</a:t>
            </a:r>
            <a:br>
              <a:rPr lang="en-US" altLang="ko-KR" sz="2400" dirty="0" smtClean="0"/>
            </a:br>
            <a:r>
              <a:rPr lang="en-US" altLang="ko-KR" sz="2400" dirty="0" err="1" smtClean="0"/>
              <a:t>country_code</a:t>
            </a:r>
            <a:r>
              <a:rPr lang="en-US" altLang="ko-KR" sz="2400" dirty="0" smtClean="0"/>
              <a:t> = {</a:t>
            </a:r>
            <a:r>
              <a:rPr lang="en-US" altLang="ko-KR" sz="2400" b="1" dirty="0" smtClean="0"/>
              <a:t>"America"</a:t>
            </a:r>
            <a:r>
              <a:rPr lang="en-US" altLang="ko-KR" sz="2400" dirty="0" smtClean="0"/>
              <a:t>: 1, </a:t>
            </a:r>
            <a:r>
              <a:rPr lang="en-US" altLang="ko-KR" sz="2400" b="1" dirty="0" smtClean="0"/>
              <a:t>"Korea"</a:t>
            </a:r>
            <a:r>
              <a:rPr lang="en-US" altLang="ko-KR" sz="2400" dirty="0" smtClean="0"/>
              <a:t>:82, </a:t>
            </a:r>
            <a:r>
              <a:rPr lang="en-US" altLang="ko-KR" sz="2400" b="1" dirty="0" smtClean="0"/>
              <a:t>"China"</a:t>
            </a:r>
            <a:r>
              <a:rPr lang="en-US" altLang="ko-KR" sz="2400" dirty="0" smtClean="0"/>
              <a:t>:86, </a:t>
            </a:r>
            <a:r>
              <a:rPr lang="en-US" altLang="ko-KR" sz="2400" b="1" dirty="0" smtClean="0"/>
              <a:t>"Japan"</a:t>
            </a:r>
            <a:r>
              <a:rPr lang="en-US" altLang="ko-KR" sz="2400" dirty="0" smtClean="0"/>
              <a:t>:81}</a:t>
            </a:r>
            <a:br>
              <a:rPr lang="en-US" altLang="ko-KR" sz="2400" dirty="0" smtClean="0"/>
            </a:br>
            <a:r>
              <a:rPr lang="en-US" altLang="ko-KR" sz="2400" dirty="0" smtClean="0"/>
              <a:t>print (</a:t>
            </a:r>
            <a:r>
              <a:rPr lang="en-US" altLang="ko-KR" sz="2400" dirty="0" err="1" smtClean="0"/>
              <a:t>country_code</a:t>
            </a:r>
            <a:r>
              <a:rPr lang="en-US" altLang="ko-KR" sz="2400" dirty="0" smtClean="0"/>
              <a:t>)</a:t>
            </a:r>
            <a:br>
              <a:rPr lang="en-US" altLang="ko-KR" sz="2400" dirty="0" smtClean="0"/>
            </a:br>
            <a:r>
              <a:rPr lang="en-US" altLang="ko-KR" sz="2400" dirty="0" smtClean="0"/>
              <a:t>print (</a:t>
            </a:r>
            <a:r>
              <a:rPr lang="en-US" altLang="ko-KR" sz="2400" dirty="0" err="1" smtClean="0"/>
              <a:t>country_code.items</a:t>
            </a:r>
            <a:r>
              <a:rPr lang="en-US" altLang="ko-KR" sz="2400" dirty="0" smtClean="0"/>
              <a:t>())</a:t>
            </a:r>
            <a:br>
              <a:rPr lang="en-US" altLang="ko-KR" sz="2400" dirty="0" smtClean="0"/>
            </a:br>
            <a:r>
              <a:rPr lang="en-US" altLang="ko-KR" sz="2400" dirty="0" smtClean="0"/>
              <a:t>print (</a:t>
            </a:r>
            <a:r>
              <a:rPr lang="en-US" altLang="ko-KR" sz="2400" dirty="0" err="1" smtClean="0"/>
              <a:t>country_code.keys</a:t>
            </a:r>
            <a:r>
              <a:rPr lang="en-US" altLang="ko-KR" sz="2400" dirty="0" smtClean="0"/>
              <a:t>())</a:t>
            </a:r>
            <a:br>
              <a:rPr lang="en-US" altLang="ko-KR" sz="2400" dirty="0" smtClean="0"/>
            </a:br>
            <a:r>
              <a:rPr lang="en-US" altLang="ko-KR" sz="2400" dirty="0" smtClean="0"/>
              <a:t>print (</a:t>
            </a:r>
            <a:r>
              <a:rPr lang="en-US" altLang="ko-KR" sz="2400" b="1" dirty="0" smtClean="0"/>
              <a:t>"Japan" in </a:t>
            </a:r>
            <a:r>
              <a:rPr lang="en-US" altLang="ko-KR" sz="2400" dirty="0" err="1" smtClean="0"/>
              <a:t>country_code.keys</a:t>
            </a:r>
            <a:r>
              <a:rPr lang="en-US" altLang="ko-KR" sz="2400" dirty="0" smtClean="0"/>
              <a:t>())</a:t>
            </a:r>
            <a:br>
              <a:rPr lang="en-US" altLang="ko-KR" sz="2400" dirty="0" smtClean="0"/>
            </a:br>
            <a:r>
              <a:rPr lang="en-US" altLang="ko-KR" sz="2400" dirty="0" smtClean="0"/>
              <a:t>print (1 </a:t>
            </a:r>
            <a:r>
              <a:rPr lang="en-US" altLang="ko-KR" sz="2400" b="1" dirty="0" smtClean="0"/>
              <a:t>in </a:t>
            </a:r>
            <a:r>
              <a:rPr lang="en-US" altLang="ko-KR" sz="2400" dirty="0" err="1" smtClean="0"/>
              <a:t>country_code.values</a:t>
            </a:r>
            <a:r>
              <a:rPr lang="en-US" altLang="ko-KR" sz="2400" dirty="0" smtClean="0"/>
              <a:t>())</a:t>
            </a:r>
            <a:br>
              <a:rPr lang="en-US" altLang="ko-KR" sz="2400" dirty="0" smtClean="0"/>
            </a:br>
            <a:r>
              <a:rPr lang="en-US" altLang="ko-KR" sz="2400" b="1" dirty="0" smtClean="0"/>
              <a:t>for </a:t>
            </a:r>
            <a:r>
              <a:rPr lang="en-US" altLang="ko-KR" sz="2400" dirty="0" smtClean="0"/>
              <a:t>k, v </a:t>
            </a:r>
            <a:r>
              <a:rPr lang="en-US" altLang="ko-KR" sz="2400" b="1" dirty="0" smtClean="0"/>
              <a:t>in </a:t>
            </a:r>
            <a:r>
              <a:rPr lang="en-US" altLang="ko-KR" sz="2400" dirty="0" err="1" smtClean="0"/>
              <a:t>country_code.items</a:t>
            </a:r>
            <a:r>
              <a:rPr lang="en-US" altLang="ko-KR" sz="2400" dirty="0" smtClean="0"/>
              <a:t>():</a:t>
            </a:r>
            <a:br>
              <a:rPr lang="en-US" altLang="ko-KR" sz="2400" dirty="0" smtClean="0"/>
            </a:br>
            <a:r>
              <a:rPr lang="en-US" altLang="ko-KR" sz="2400" dirty="0" smtClean="0"/>
              <a:t>    print(k, v)</a:t>
            </a:r>
            <a:endParaRPr lang="en-US" altLang="ko-KR" sz="2400" b="1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0627" y="1798179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내장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자료형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리스트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튜플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rgbClr val="0000FF"/>
                </a:solidFill>
                <a:latin typeface="+mn-ea"/>
              </a:rPr>
              <a:t>사전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77419" y="982385"/>
            <a:ext cx="8652681" cy="1708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ko-KR" altLang="en-US" sz="2400" dirty="0" smtClean="0">
                <a:latin typeface="+mn-ea"/>
              </a:rPr>
              <a:t> 나중에 넣은 데이터를 먼저 반환하도록 설계된 메모리 구조</a:t>
            </a:r>
            <a:endParaRPr lang="en-US" altLang="ko-KR" sz="2400" dirty="0" smtClean="0">
              <a:latin typeface="+mn-ea"/>
            </a:endParaRPr>
          </a:p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+mn-ea"/>
              </a:rPr>
              <a:t> Last In First Out (LIFO)</a:t>
            </a:r>
          </a:p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smtClean="0">
                <a:latin typeface="+mn-ea"/>
              </a:rPr>
              <a:t>Data</a:t>
            </a:r>
            <a:r>
              <a:rPr lang="ko-KR" altLang="en-US" sz="2400" dirty="0" smtClean="0">
                <a:latin typeface="+mn-ea"/>
              </a:rPr>
              <a:t>의 입력을 </a:t>
            </a:r>
            <a:r>
              <a:rPr lang="en-US" altLang="ko-KR" sz="2400" dirty="0" smtClean="0">
                <a:latin typeface="+mn-ea"/>
              </a:rPr>
              <a:t>Push, </a:t>
            </a:r>
            <a:r>
              <a:rPr lang="ko-KR" altLang="en-US" sz="2400" dirty="0" smtClean="0">
                <a:latin typeface="+mn-ea"/>
              </a:rPr>
              <a:t>출력을 </a:t>
            </a:r>
            <a:r>
              <a:rPr lang="en-US" altLang="ko-KR" sz="2400" dirty="0" smtClean="0">
                <a:latin typeface="+mn-ea"/>
              </a:rPr>
              <a:t>Pop </a:t>
            </a:r>
            <a:r>
              <a:rPr lang="ko-KR" altLang="en-US" sz="2400" dirty="0" smtClean="0">
                <a:latin typeface="+mn-ea"/>
              </a:rPr>
              <a:t>이라고 함</a:t>
            </a:r>
            <a:endParaRPr lang="ko-KR" altLang="en-US" sz="24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0627" y="1716840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548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스택과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큐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Stack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17897" y="2786049"/>
            <a:ext cx="2626242" cy="37856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a=[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3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4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a.append(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10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a.append(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20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(a.pop())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(a.pop())</a:t>
            </a:r>
            <a:b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(a)</a:t>
            </a:r>
            <a:endParaRPr kumimoji="1" lang="ko-KR" altLang="ko-KR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스택과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큐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Stack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42259" y="1563860"/>
            <a:ext cx="6709146" cy="2677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 smtClean="0"/>
              <a:t>word=input(</a:t>
            </a:r>
            <a:r>
              <a:rPr lang="en-US" altLang="ko-KR" sz="2400" b="1" dirty="0" smtClean="0"/>
              <a:t>"input a word:"</a:t>
            </a:r>
            <a:r>
              <a:rPr lang="en-US" altLang="ko-KR" sz="2400" dirty="0" smtClean="0"/>
              <a:t>)</a:t>
            </a:r>
            <a:br>
              <a:rPr lang="en-US" altLang="ko-KR" sz="2400" dirty="0" smtClean="0"/>
            </a:br>
            <a:r>
              <a:rPr lang="en-US" altLang="ko-KR" sz="2400" dirty="0" err="1" smtClean="0"/>
              <a:t>word_list</a:t>
            </a:r>
            <a:r>
              <a:rPr lang="en-US" altLang="ko-KR" sz="2400" dirty="0" smtClean="0"/>
              <a:t>=list(word)       # </a:t>
            </a:r>
            <a:r>
              <a:rPr lang="ko-KR" altLang="en-US" sz="2400" dirty="0" smtClean="0"/>
              <a:t>문자열을 </a:t>
            </a:r>
            <a:r>
              <a:rPr lang="en-US" altLang="ko-KR" sz="2400" dirty="0" smtClean="0"/>
              <a:t>list</a:t>
            </a:r>
            <a:r>
              <a:rPr lang="ko-KR" altLang="en-US" sz="2400" dirty="0" smtClean="0"/>
              <a:t>로 변환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result = []</a:t>
            </a:r>
            <a:br>
              <a:rPr lang="en-US" altLang="ko-KR" sz="2400" dirty="0" smtClean="0"/>
            </a:br>
            <a:r>
              <a:rPr lang="en-US" altLang="ko-KR" sz="2400" b="1" dirty="0" smtClean="0"/>
              <a:t>for </a:t>
            </a:r>
            <a:r>
              <a:rPr lang="en-US" altLang="ko-KR" sz="2400" dirty="0" smtClean="0"/>
              <a:t>_ </a:t>
            </a:r>
            <a:r>
              <a:rPr lang="en-US" altLang="ko-KR" sz="2400" b="1" dirty="0" smtClean="0"/>
              <a:t>in </a:t>
            </a:r>
            <a:r>
              <a:rPr lang="en-US" altLang="ko-KR" sz="2400" dirty="0" smtClean="0"/>
              <a:t>range(</a:t>
            </a:r>
            <a:r>
              <a:rPr lang="en-US" altLang="ko-KR" sz="2400" dirty="0" err="1" smtClean="0"/>
              <a:t>len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word_list</a:t>
            </a:r>
            <a:r>
              <a:rPr lang="en-US" altLang="ko-KR" sz="2400" dirty="0" smtClean="0"/>
              <a:t>)):</a:t>
            </a:r>
            <a:br>
              <a:rPr lang="en-US" altLang="ko-KR" sz="2400" dirty="0" smtClean="0"/>
            </a:br>
            <a:r>
              <a:rPr lang="en-US" altLang="ko-KR" sz="2400" dirty="0" smtClean="0"/>
              <a:t>    </a:t>
            </a:r>
            <a:r>
              <a:rPr lang="en-US" altLang="ko-KR" sz="2400" dirty="0" err="1" smtClean="0"/>
              <a:t>result.append</a:t>
            </a:r>
            <a:r>
              <a:rPr lang="en-US" altLang="ko-KR" sz="2400" dirty="0" smtClean="0"/>
              <a:t>(word_list.pop())</a:t>
            </a:r>
            <a:br>
              <a:rPr lang="en-US" altLang="ko-KR" sz="2400" dirty="0" smtClean="0"/>
            </a:br>
            <a:r>
              <a:rPr lang="en-US" altLang="ko-KR" sz="2400" dirty="0" smtClean="0"/>
              <a:t>print (result)</a:t>
            </a:r>
            <a:endParaRPr kumimoji="1" lang="ko-KR" altLang="ko-KR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14670" y="1052624"/>
            <a:ext cx="3708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 </a:t>
            </a:r>
            <a:r>
              <a:rPr lang="ko-KR" altLang="en-US" b="1" dirty="0" smtClean="0">
                <a:solidFill>
                  <a:srgbClr val="0000FF"/>
                </a:solidFill>
              </a:rPr>
              <a:t>입력 문자열을 역순으로 출력하기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스택과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큐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2800" b="1" dirty="0" smtClean="0">
                <a:solidFill>
                  <a:srgbClr val="0000FF"/>
                </a:solidFill>
                <a:latin typeface="+mn-ea"/>
              </a:rPr>
              <a:t>Queue</a:t>
            </a:r>
            <a:endParaRPr lang="ko-KR" altLang="en-US" sz="2800" b="1" dirty="0" smtClean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9606" y="1022703"/>
            <a:ext cx="8304029" cy="156966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ko-KR" sz="2400" dirty="0" smtClean="0"/>
              <a:t> </a:t>
            </a:r>
            <a:r>
              <a:rPr lang="ko-KR" altLang="en-US" sz="2400" dirty="0" smtClean="0"/>
              <a:t>먼저 넣은 데이터를 먼저 반환하도록 설계된 메모리 구조</a:t>
            </a:r>
            <a:endParaRPr lang="en-US" altLang="ko-KR" sz="2400" dirty="0" smtClean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First In Fist Out(FIFO)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kumimoji="1" lang="en-US" altLang="ko-KR" sz="2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 Stack</a:t>
            </a:r>
            <a:r>
              <a:rPr kumimoji="1" lang="ko-KR" altLang="en-US" sz="2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과 반대 개념</a:t>
            </a:r>
            <a:endParaRPr kumimoji="1" lang="en-US" altLang="ko-KR" sz="2400" dirty="0" smtClean="0"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kumimoji="1" lang="en-US" altLang="ko-K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r>
              <a:rPr kumimoji="1" lang="ko-KR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넣는 것을 </a:t>
            </a:r>
            <a:r>
              <a:rPr kumimoji="1" lang="en-US" altLang="ko-KR" sz="2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PUT, </a:t>
            </a:r>
            <a:r>
              <a:rPr kumimoji="1" lang="ko-KR" altLang="en-US" sz="2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꺼내는 것을 </a:t>
            </a:r>
            <a:r>
              <a:rPr kumimoji="1" lang="en-US" altLang="ko-KR" sz="2400" dirty="0" smtClean="0">
                <a:latin typeface="굴림" pitchFamily="50" charset="-127"/>
                <a:ea typeface="굴림" pitchFamily="50" charset="-127"/>
                <a:cs typeface="굴림" pitchFamily="50" charset="-127"/>
              </a:rPr>
              <a:t>GET</a:t>
            </a:r>
            <a:endParaRPr kumimoji="1" lang="ko-KR" altLang="ko-KR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201478" y="3258901"/>
            <a:ext cx="4774020" cy="175432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a=[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3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4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a.append(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10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)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a.append(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20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)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(a.pop(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0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))</a:t>
            </a: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# 1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(a)</a:t>
            </a:r>
            <a:endParaRPr kumimoji="1" lang="ko-KR" altLang="ko-KR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045" y="1860872"/>
            <a:ext cx="6242845" cy="3987130"/>
          </a:xfrm>
          <a:prstGeom prst="rect">
            <a:avLst/>
          </a:prstGeom>
        </p:spPr>
      </p:pic>
      <p:sp>
        <p:nvSpPr>
          <p:cNvPr id="4" name="TextBox 6"/>
          <p:cNvSpPr txBox="1"/>
          <p:nvPr/>
        </p:nvSpPr>
        <p:spPr>
          <a:xfrm>
            <a:off x="1241947" y="1310185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latin typeface="+mn-ea"/>
              </a:rPr>
              <a:t>a=10, b=20, c=3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산술 연산자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Pandas</a:t>
            </a:r>
            <a:r>
              <a:rPr lang="ko-KR" altLang="en-US" sz="2800" b="1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: Series</a:t>
            </a: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, DataFrame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96892" y="435428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rgbClr val="C00000"/>
                </a:solidFill>
              </a:rPr>
              <a:t>pip install pandas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89619" y="6604084"/>
            <a:ext cx="19543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mtClean="0"/>
              <a:t>출처</a:t>
            </a:r>
            <a:r>
              <a:rPr lang="en-US" altLang="ko-KR" sz="1050" smtClean="0"/>
              <a:t>: </a:t>
            </a:r>
            <a:r>
              <a:rPr lang="ko-KR" altLang="en-US" sz="1050" smtClean="0"/>
              <a:t>https</a:t>
            </a:r>
            <a:r>
              <a:rPr lang="ko-KR" altLang="en-US" sz="1050"/>
              <a:t>://wikidocs.net/4364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78823" y="1218588"/>
            <a:ext cx="57955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from pandas import Series, DataFrame</a:t>
            </a:r>
          </a:p>
          <a:p>
            <a:endParaRPr lang="ko-KR" altLang="en-US" sz="1200"/>
          </a:p>
          <a:p>
            <a:r>
              <a:rPr lang="ko-KR" altLang="en-US" sz="1200"/>
              <a:t>kakao=Series([95000, 96000, 93200, 98500, 97600])</a:t>
            </a:r>
          </a:p>
          <a:p>
            <a:r>
              <a:rPr lang="ko-KR" altLang="en-US" sz="1200"/>
              <a:t>print (kakao</a:t>
            </a:r>
            <a:r>
              <a:rPr lang="ko-KR" altLang="en-US" sz="1200" smtClean="0"/>
              <a:t>)</a:t>
            </a:r>
            <a:endParaRPr lang="en-US" altLang="ko-KR" sz="1200" smtClean="0"/>
          </a:p>
          <a:p>
            <a:r>
              <a:rPr lang="en-US" altLang="ko-KR" sz="1200"/>
              <a:t>print (kakao[0</a:t>
            </a:r>
            <a:r>
              <a:rPr lang="en-US" altLang="ko-KR" sz="1200" smtClean="0"/>
              <a:t>])     #95000</a:t>
            </a:r>
            <a:endParaRPr lang="en-US" altLang="ko-KR" sz="1200"/>
          </a:p>
          <a:p>
            <a:r>
              <a:rPr lang="en-US" altLang="ko-KR" sz="1200"/>
              <a:t>print (kakao[1</a:t>
            </a:r>
            <a:r>
              <a:rPr lang="en-US" altLang="ko-KR" sz="1200" smtClean="0"/>
              <a:t>])     #96000</a:t>
            </a:r>
            <a:endParaRPr lang="en-US" altLang="ko-KR" sz="1200"/>
          </a:p>
          <a:p>
            <a:r>
              <a:rPr lang="en-US" altLang="ko-KR" sz="1200"/>
              <a:t>print (kakao[2</a:t>
            </a:r>
            <a:r>
              <a:rPr lang="en-US" altLang="ko-KR" sz="1200" smtClean="0"/>
              <a:t>])     #93200</a:t>
            </a:r>
            <a:endParaRPr lang="ko-KR" altLang="en-US" sz="120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979" y="1069657"/>
            <a:ext cx="1733550" cy="1304925"/>
          </a:xfrm>
          <a:prstGeom prst="rect">
            <a:avLst/>
          </a:prstGeom>
        </p:spPr>
      </p:pic>
      <p:cxnSp>
        <p:nvCxnSpPr>
          <p:cNvPr id="11" name="직선 화살표 연결선 10"/>
          <p:cNvCxnSpPr/>
          <p:nvPr/>
        </p:nvCxnSpPr>
        <p:spPr>
          <a:xfrm>
            <a:off x="4180114" y="1619794"/>
            <a:ext cx="53122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339634" y="2725783"/>
            <a:ext cx="8412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94514" y="2412274"/>
            <a:ext cx="2312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0000FF"/>
                </a:solidFill>
              </a:rPr>
              <a:t>index</a:t>
            </a:r>
            <a:r>
              <a:rPr lang="ko-KR" altLang="en-US" sz="1200" smtClean="0">
                <a:solidFill>
                  <a:srgbClr val="0000FF"/>
                </a:solidFill>
              </a:rPr>
              <a:t>는 자동으로 </a:t>
            </a:r>
            <a:r>
              <a:rPr lang="en-US" altLang="ko-KR" sz="1200" smtClean="0">
                <a:solidFill>
                  <a:srgbClr val="0000FF"/>
                </a:solidFill>
              </a:rPr>
              <a:t>'0'</a:t>
            </a:r>
            <a:r>
              <a:rPr lang="ko-KR" altLang="en-US" sz="1200" smtClean="0">
                <a:solidFill>
                  <a:srgbClr val="0000FF"/>
                </a:solidFill>
              </a:rPr>
              <a:t>부터 부여됨</a:t>
            </a:r>
            <a:endParaRPr lang="ko-KR" altLang="en-US" sz="1200">
              <a:solidFill>
                <a:srgbClr val="0000FF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87531" y="2822641"/>
            <a:ext cx="70060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from pandas import Series, DataFrame</a:t>
            </a:r>
          </a:p>
          <a:p>
            <a:endParaRPr lang="ko-KR" altLang="en-US" sz="1200"/>
          </a:p>
          <a:p>
            <a:r>
              <a:rPr lang="ko-KR" altLang="en-US" sz="1200"/>
              <a:t>kakao=Series([95000, 96000, 93200, 98500, 97600], </a:t>
            </a:r>
          </a:p>
          <a:p>
            <a:r>
              <a:rPr lang="ko-KR" altLang="en-US" sz="1200"/>
              <a:t>             index=['2018-03-15','2018-03-16','2018-03-17','2018-03-18','2018-03-19'])</a:t>
            </a:r>
          </a:p>
          <a:p>
            <a:r>
              <a:rPr lang="ko-KR" altLang="en-US" sz="1200"/>
              <a:t>print (kakao</a:t>
            </a:r>
            <a:r>
              <a:rPr lang="ko-KR" altLang="en-US" sz="1200" smtClean="0"/>
              <a:t>)</a:t>
            </a:r>
            <a:endParaRPr lang="en-US" altLang="ko-KR" sz="1200" smtClean="0"/>
          </a:p>
          <a:p>
            <a:r>
              <a:rPr lang="en-US" altLang="ko-KR" sz="1200"/>
              <a:t>print (kakao['2018-03-15</a:t>
            </a:r>
            <a:r>
              <a:rPr lang="en-US" altLang="ko-KR" sz="1200" smtClean="0"/>
              <a:t>'])      # index</a:t>
            </a:r>
            <a:r>
              <a:rPr lang="ko-KR" altLang="en-US" sz="1200" smtClean="0"/>
              <a:t>로 접금</a:t>
            </a:r>
            <a:endParaRPr lang="ko-KR" altLang="en-US" sz="120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526" y="2889749"/>
            <a:ext cx="1762125" cy="1304925"/>
          </a:xfrm>
          <a:prstGeom prst="rect">
            <a:avLst/>
          </a:prstGeom>
        </p:spPr>
      </p:pic>
      <p:cxnSp>
        <p:nvCxnSpPr>
          <p:cNvPr id="17" name="직선 화살표 연결선 16"/>
          <p:cNvCxnSpPr/>
          <p:nvPr/>
        </p:nvCxnSpPr>
        <p:spPr>
          <a:xfrm>
            <a:off x="5934891" y="3435531"/>
            <a:ext cx="53122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83029" y="4367349"/>
            <a:ext cx="8412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361405" y="4410951"/>
            <a:ext cx="78594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from pandas import Series, DataFrame</a:t>
            </a:r>
          </a:p>
          <a:p>
            <a:endParaRPr lang="ko-KR" altLang="en-US" sz="1200"/>
          </a:p>
          <a:p>
            <a:r>
              <a:rPr lang="ko-KR" altLang="en-US" sz="1200"/>
              <a:t>kakao=Series([95000, 96000, 93200, 98500, 97600], </a:t>
            </a:r>
          </a:p>
          <a:p>
            <a:r>
              <a:rPr lang="ko-KR" altLang="en-US" sz="1200"/>
              <a:t>             index=['2018-03-15','2018-03-16','2018-03-17','2018-03-18','2018-03-19'])</a:t>
            </a:r>
          </a:p>
          <a:p>
            <a:endParaRPr lang="ko-KR" altLang="en-US" sz="1200"/>
          </a:p>
          <a:p>
            <a:r>
              <a:rPr lang="ko-KR" altLang="en-US" sz="1200"/>
              <a:t>for date in kakao.index:</a:t>
            </a:r>
          </a:p>
          <a:p>
            <a:r>
              <a:rPr lang="ko-KR" altLang="en-US" sz="1200"/>
              <a:t>	print(date)</a:t>
            </a:r>
          </a:p>
          <a:p>
            <a:r>
              <a:rPr lang="ko-KR" altLang="en-US" sz="1200"/>
              <a:t>for price in kakao.values:</a:t>
            </a:r>
          </a:p>
          <a:p>
            <a:r>
              <a:rPr lang="ko-KR" altLang="en-US" sz="1200"/>
              <a:t>	print(price)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203" y="4484097"/>
            <a:ext cx="1752600" cy="2000250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>
            <a:off x="6035039" y="5294811"/>
            <a:ext cx="53122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46915" y="6257109"/>
            <a:ext cx="1541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0000FF"/>
                </a:solidFill>
              </a:rPr>
              <a:t>index</a:t>
            </a:r>
            <a:r>
              <a:rPr lang="ko-KR" altLang="en-US" sz="1200" smtClean="0">
                <a:solidFill>
                  <a:srgbClr val="0000FF"/>
                </a:solidFill>
              </a:rPr>
              <a:t>와 </a:t>
            </a:r>
            <a:r>
              <a:rPr lang="en-US" altLang="ko-KR" sz="1200" smtClean="0">
                <a:solidFill>
                  <a:srgbClr val="0000FF"/>
                </a:solidFill>
              </a:rPr>
              <a:t>value</a:t>
            </a:r>
            <a:r>
              <a:rPr lang="ko-KR" altLang="en-US" sz="1200" smtClean="0">
                <a:solidFill>
                  <a:srgbClr val="0000FF"/>
                </a:solidFill>
              </a:rPr>
              <a:t>로 접근</a:t>
            </a:r>
            <a:endParaRPr lang="ko-KR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1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Pandas</a:t>
            </a:r>
            <a:r>
              <a:rPr lang="ko-KR" altLang="en-US" sz="2800" b="1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: Series</a:t>
            </a: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, DataFrame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89619" y="6604084"/>
            <a:ext cx="19543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mtClean="0"/>
              <a:t>출처</a:t>
            </a:r>
            <a:r>
              <a:rPr lang="en-US" altLang="ko-KR" sz="1050" smtClean="0"/>
              <a:t>: </a:t>
            </a:r>
            <a:r>
              <a:rPr lang="ko-KR" altLang="en-US" sz="1050" smtClean="0"/>
              <a:t>https</a:t>
            </a:r>
            <a:r>
              <a:rPr lang="ko-KR" altLang="en-US" sz="1050"/>
              <a:t>://wikidocs.net/4364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23" y="1235801"/>
            <a:ext cx="4332922" cy="16989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33554" y="1915886"/>
            <a:ext cx="3339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mtClean="0"/>
              <a:t>나와 친구가 가지고 있는 주식의 합을 구하기</a:t>
            </a:r>
            <a:endParaRPr lang="en-US" altLang="ko-KR" sz="120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smtClean="0"/>
              <a:t>index</a:t>
            </a:r>
            <a:r>
              <a:rPr lang="ko-KR" altLang="en-US" sz="1200" smtClean="0"/>
              <a:t>의 순서가 다를 수 있음</a:t>
            </a:r>
            <a:endParaRPr lang="ko-KR" altLang="en-US" sz="1200"/>
          </a:p>
        </p:txBody>
      </p:sp>
      <p:sp>
        <p:nvSpPr>
          <p:cNvPr id="4" name="직사각형 3"/>
          <p:cNvSpPr/>
          <p:nvPr/>
        </p:nvSpPr>
        <p:spPr>
          <a:xfrm>
            <a:off x="383178" y="3338122"/>
            <a:ext cx="691896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/>
              <a:t>from pandas import Series, DataFrame</a:t>
            </a:r>
          </a:p>
          <a:p>
            <a:endParaRPr lang="ko-KR" altLang="en-US" sz="1600"/>
          </a:p>
          <a:p>
            <a:r>
              <a:rPr lang="ko-KR" altLang="en-US" sz="1600"/>
              <a:t>mine   = Series([10, 20, 30], index=['naver', 'sk', 'kt'])</a:t>
            </a:r>
          </a:p>
          <a:p>
            <a:r>
              <a:rPr lang="ko-KR" altLang="en-US" sz="1600"/>
              <a:t>friend = Series([10, 30, 20], index=['kt', 'naver', 'sk'])</a:t>
            </a:r>
          </a:p>
          <a:p>
            <a:endParaRPr lang="ko-KR" altLang="en-US" sz="1600"/>
          </a:p>
          <a:p>
            <a:r>
              <a:rPr lang="ko-KR" altLang="en-US" sz="1600"/>
              <a:t>merge=mine+friend</a:t>
            </a:r>
          </a:p>
          <a:p>
            <a:r>
              <a:rPr lang="ko-KR" altLang="en-US" sz="1600"/>
              <a:t>print(merge)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334" y="3617731"/>
            <a:ext cx="1600200" cy="981075"/>
          </a:xfrm>
          <a:prstGeom prst="rect">
            <a:avLst/>
          </a:prstGeom>
        </p:spPr>
      </p:pic>
      <p:cxnSp>
        <p:nvCxnSpPr>
          <p:cNvPr id="23" name="직선 화살표 연결선 22"/>
          <p:cNvCxnSpPr/>
          <p:nvPr/>
        </p:nvCxnSpPr>
        <p:spPr>
          <a:xfrm>
            <a:off x="5181599" y="4119154"/>
            <a:ext cx="53122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67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Pandas</a:t>
            </a:r>
            <a:r>
              <a:rPr lang="ko-KR" altLang="en-US" sz="2800" b="1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: </a:t>
            </a: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Series,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DataFrame</a:t>
            </a:r>
            <a:endParaRPr lang="ko-KR" altLang="en-US" sz="2800" b="1" dirty="0" smtClean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89619" y="6604084"/>
            <a:ext cx="19543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mtClean="0"/>
              <a:t>출처</a:t>
            </a:r>
            <a:r>
              <a:rPr lang="en-US" altLang="ko-KR" sz="1050" smtClean="0"/>
              <a:t>: </a:t>
            </a:r>
            <a:r>
              <a:rPr lang="ko-KR" altLang="en-US" sz="1050" smtClean="0"/>
              <a:t>https</a:t>
            </a:r>
            <a:r>
              <a:rPr lang="ko-KR" altLang="en-US" sz="1050"/>
              <a:t>://wikidocs.net/4364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553" y="1062444"/>
            <a:ext cx="2300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2</a:t>
            </a:r>
            <a:r>
              <a:rPr lang="ko-KR" altLang="en-US" sz="1400" smtClean="0"/>
              <a:t>차원 형태의 자료 구조</a:t>
            </a:r>
            <a:endParaRPr lang="ko-KR" altLang="en-US" sz="140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26" y="1578292"/>
            <a:ext cx="73914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1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Pandas</a:t>
            </a:r>
            <a:r>
              <a:rPr lang="ko-KR" altLang="en-US" sz="2800" b="1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: </a:t>
            </a: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Series,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DataFrame</a:t>
            </a:r>
            <a:endParaRPr lang="ko-KR" altLang="en-US" sz="2800" b="1" dirty="0" smtClean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89619" y="6604084"/>
            <a:ext cx="19543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mtClean="0"/>
              <a:t>출처</a:t>
            </a:r>
            <a:r>
              <a:rPr lang="en-US" altLang="ko-KR" sz="1050" smtClean="0"/>
              <a:t>: </a:t>
            </a:r>
            <a:r>
              <a:rPr lang="ko-KR" altLang="en-US" sz="1050" smtClean="0"/>
              <a:t>https</a:t>
            </a:r>
            <a:r>
              <a:rPr lang="ko-KR" altLang="en-US" sz="1050"/>
              <a:t>://wikidocs.net/4364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507" y="1036319"/>
            <a:ext cx="6426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DataFrame </a:t>
            </a:r>
            <a:r>
              <a:rPr lang="ko-KR" altLang="en-US" sz="1400" smtClean="0"/>
              <a:t>객체 생성 방법 </a:t>
            </a:r>
            <a:r>
              <a:rPr lang="en-US" altLang="ko-KR" sz="1400" smtClean="0"/>
              <a:t>: Dictionary</a:t>
            </a:r>
            <a:r>
              <a:rPr lang="ko-KR" altLang="en-US" sz="1400" smtClean="0"/>
              <a:t>를 사용하여 각 </a:t>
            </a:r>
            <a:r>
              <a:rPr lang="en-US" altLang="ko-KR" sz="1400" smtClean="0"/>
              <a:t>column</a:t>
            </a:r>
            <a:r>
              <a:rPr lang="ko-KR" altLang="en-US" sz="1400" smtClean="0"/>
              <a:t>의 데이터를 저장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40080" y="1517193"/>
            <a:ext cx="3391989" cy="1815882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/>
              <a:t>from pandas import Series, DataFrame</a:t>
            </a:r>
          </a:p>
          <a:p>
            <a:endParaRPr lang="ko-KR" altLang="en-US" sz="1400"/>
          </a:p>
          <a:p>
            <a:r>
              <a:rPr lang="ko-KR" altLang="en-US" sz="1400"/>
              <a:t>raw_data = {'col0': [1, 2, 3, 4],</a:t>
            </a:r>
          </a:p>
          <a:p>
            <a:r>
              <a:rPr lang="ko-KR" altLang="en-US" sz="1400"/>
              <a:t>            'col1': [10, 20, 30, 40],</a:t>
            </a:r>
          </a:p>
          <a:p>
            <a:r>
              <a:rPr lang="ko-KR" altLang="en-US" sz="1400"/>
              <a:t>            'col2': [100, 200, 300, 400]}</a:t>
            </a:r>
          </a:p>
          <a:p>
            <a:endParaRPr lang="ko-KR" altLang="en-US" sz="1400"/>
          </a:p>
          <a:p>
            <a:r>
              <a:rPr lang="ko-KR" altLang="en-US" sz="1400"/>
              <a:t>data = DataFrame(raw_data)</a:t>
            </a:r>
          </a:p>
          <a:p>
            <a:r>
              <a:rPr lang="ko-KR" altLang="en-US" sz="1400"/>
              <a:t>print(data)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82" y="1854381"/>
            <a:ext cx="1714500" cy="1181100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>
            <a:off x="4362993" y="2473234"/>
            <a:ext cx="53122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631372" y="3644598"/>
            <a:ext cx="3418114" cy="2462213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/>
              <a:t>from pandas import Series, DataFrame</a:t>
            </a:r>
          </a:p>
          <a:p>
            <a:endParaRPr lang="ko-KR" altLang="en-US" sz="1400"/>
          </a:p>
          <a:p>
            <a:r>
              <a:rPr lang="ko-KR" altLang="en-US" sz="1400"/>
              <a:t>raw_data = {'col0': [1, 2, 3, 4],</a:t>
            </a:r>
          </a:p>
          <a:p>
            <a:r>
              <a:rPr lang="ko-KR" altLang="en-US" sz="1400"/>
              <a:t>            'col1': [10, 20, 30, 40],</a:t>
            </a:r>
          </a:p>
          <a:p>
            <a:r>
              <a:rPr lang="ko-KR" altLang="en-US" sz="1400"/>
              <a:t>            'col2': [100, 200, 300, 400]}</a:t>
            </a:r>
          </a:p>
          <a:p>
            <a:endParaRPr lang="ko-KR" altLang="en-US" sz="1400"/>
          </a:p>
          <a:p>
            <a:r>
              <a:rPr lang="ko-KR" altLang="en-US" sz="1400"/>
              <a:t>data = DataFrame(raw_data)</a:t>
            </a:r>
          </a:p>
          <a:p>
            <a:endParaRPr lang="ko-KR" altLang="en-US" sz="1400"/>
          </a:p>
          <a:p>
            <a:r>
              <a:rPr lang="ko-KR" altLang="en-US" sz="1400"/>
              <a:t>print (data['col0'])</a:t>
            </a:r>
          </a:p>
          <a:p>
            <a:r>
              <a:rPr lang="ko-KR" altLang="en-US" sz="1400"/>
              <a:t>print (data['col1'])</a:t>
            </a:r>
          </a:p>
          <a:p>
            <a:r>
              <a:rPr lang="ko-KR" altLang="en-US" sz="1400"/>
              <a:t>print (data['col2'])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872" y="3238364"/>
            <a:ext cx="2228850" cy="2924175"/>
          </a:xfrm>
          <a:prstGeom prst="rect">
            <a:avLst/>
          </a:prstGeom>
        </p:spPr>
      </p:pic>
      <p:cxnSp>
        <p:nvCxnSpPr>
          <p:cNvPr id="11" name="직선 화살표 연결선 10"/>
          <p:cNvCxnSpPr/>
          <p:nvPr/>
        </p:nvCxnSpPr>
        <p:spPr>
          <a:xfrm>
            <a:off x="4358639" y="4828902"/>
            <a:ext cx="53122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98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Pandas</a:t>
            </a:r>
            <a:r>
              <a:rPr lang="ko-KR" altLang="en-US" sz="2800" b="1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: </a:t>
            </a: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Series, </a:t>
            </a:r>
            <a:r>
              <a:rPr lang="en-US" altLang="ko-KR" sz="2800" b="1" smtClean="0">
                <a:solidFill>
                  <a:srgbClr val="0000FF"/>
                </a:solidFill>
                <a:latin typeface="+mn-ea"/>
              </a:rPr>
              <a:t>DataFrame</a:t>
            </a:r>
            <a:endParaRPr lang="ko-KR" altLang="en-US" sz="2800" b="1" dirty="0" smtClean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89619" y="6604084"/>
            <a:ext cx="19543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smtClean="0"/>
              <a:t>출처</a:t>
            </a:r>
            <a:r>
              <a:rPr lang="en-US" altLang="ko-KR" sz="1050" smtClean="0"/>
              <a:t>: </a:t>
            </a:r>
            <a:r>
              <a:rPr lang="ko-KR" altLang="en-US" sz="1050" smtClean="0"/>
              <a:t>https</a:t>
            </a:r>
            <a:r>
              <a:rPr lang="ko-KR" altLang="en-US" sz="1050"/>
              <a:t>://wikidocs.net/4364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2" y="3081474"/>
            <a:ext cx="3380014" cy="13571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3771" y="1323703"/>
            <a:ext cx="4731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data </a:t>
            </a:r>
            <a:r>
              <a:rPr lang="ko-KR" altLang="en-US" sz="1400" smtClean="0"/>
              <a:t>변수가 </a:t>
            </a:r>
            <a:r>
              <a:rPr lang="en-US" altLang="ko-KR" sz="1400" smtClean="0"/>
              <a:t>binding</a:t>
            </a:r>
            <a:r>
              <a:rPr lang="ko-KR" altLang="en-US" sz="1400" smtClean="0"/>
              <a:t>하고 있는 </a:t>
            </a:r>
            <a:r>
              <a:rPr lang="en-US" altLang="ko-KR" sz="1400" smtClean="0"/>
              <a:t>Dataframe </a:t>
            </a:r>
            <a:r>
              <a:rPr lang="ko-KR" altLang="en-US" sz="1400" smtClean="0"/>
              <a:t>객체 내부 구조</a:t>
            </a:r>
            <a:endParaRPr lang="ko-KR" altLang="en-US" sz="14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314" y="1872342"/>
            <a:ext cx="4810303" cy="3986621"/>
          </a:xfrm>
          <a:prstGeom prst="rect">
            <a:avLst/>
          </a:prstGeom>
        </p:spPr>
      </p:pic>
      <p:cxnSp>
        <p:nvCxnSpPr>
          <p:cNvPr id="14" name="직선 화살표 연결선 13"/>
          <p:cNvCxnSpPr/>
          <p:nvPr/>
        </p:nvCxnSpPr>
        <p:spPr>
          <a:xfrm>
            <a:off x="3657598" y="3962400"/>
            <a:ext cx="30480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54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18" y="1685681"/>
            <a:ext cx="8077900" cy="4444369"/>
          </a:xfrm>
          <a:prstGeom prst="rect">
            <a:avLst/>
          </a:prstGeom>
        </p:spPr>
      </p:pic>
      <p:sp>
        <p:nvSpPr>
          <p:cNvPr id="4" name="TextBox 6"/>
          <p:cNvSpPr txBox="1"/>
          <p:nvPr/>
        </p:nvSpPr>
        <p:spPr>
          <a:xfrm>
            <a:off x="736980" y="1228299"/>
            <a:ext cx="1580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a=10, b=20</a:t>
            </a:r>
            <a:endParaRPr lang="ko-KR" altLang="en-US" sz="24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관계 연산자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비교 연산자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38" y="1707337"/>
            <a:ext cx="8468078" cy="254225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논리 연산자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98394" y="1208796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ko-KR" altLang="en-US" sz="2800" b="1" dirty="0" smtClean="0">
                <a:latin typeface="+mn-ea"/>
              </a:rPr>
              <a:t>들여쓰기</a:t>
            </a:r>
            <a:endParaRPr lang="en-US" altLang="ko-KR" sz="2800" b="1" dirty="0" smtClean="0">
              <a:latin typeface="+mn-ea"/>
            </a:endParaRPr>
          </a:p>
          <a:p>
            <a:r>
              <a:rPr lang="en-US" altLang="ko-KR" sz="2000" b="1" dirty="0" smtClean="0">
                <a:latin typeface="+mn-ea"/>
              </a:rPr>
              <a:t/>
            </a:r>
            <a:br>
              <a:rPr lang="en-US" altLang="ko-KR" sz="2000" b="1" dirty="0" smtClean="0">
                <a:latin typeface="+mn-ea"/>
              </a:rPr>
            </a:br>
            <a:r>
              <a:rPr lang="en-US" altLang="ko-KR" sz="2800" b="1" dirty="0" smtClean="0">
                <a:latin typeface="+mn-ea"/>
              </a:rPr>
              <a:t>a = 3</a:t>
            </a:r>
            <a:endParaRPr lang="ko-KR" altLang="en-US" sz="2800" b="1" dirty="0" smtClean="0">
              <a:latin typeface="+mn-ea"/>
            </a:endParaRPr>
          </a:p>
          <a:p>
            <a:r>
              <a:rPr lang="en-US" altLang="ko-KR" sz="2800" b="1" dirty="0" smtClean="0">
                <a:latin typeface="+mn-ea"/>
              </a:rPr>
              <a:t>if a &gt; 1: </a:t>
            </a:r>
            <a:br>
              <a:rPr lang="en-US" altLang="ko-KR" sz="2800" b="1" dirty="0" smtClean="0">
                <a:latin typeface="+mn-ea"/>
              </a:rPr>
            </a:br>
            <a:r>
              <a:rPr lang="en-US" altLang="ko-KR" sz="2800" b="1" dirty="0" smtClean="0">
                <a:latin typeface="+mn-ea"/>
              </a:rPr>
              <a:t>     print ('big‘) </a:t>
            </a:r>
          </a:p>
          <a:p>
            <a:r>
              <a:rPr lang="en-US" altLang="ko-KR" sz="2800" b="1" dirty="0" smtClean="0">
                <a:latin typeface="+mn-ea"/>
              </a:rPr>
              <a:t>     print ('really?‘) 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제어문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02859" y="1167853"/>
            <a:ext cx="4572000" cy="4708981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US" altLang="ko-KR" sz="2800" b="1" dirty="0" smtClean="0">
                <a:latin typeface="+mn-ea"/>
              </a:rPr>
              <a:t>if </a:t>
            </a:r>
            <a:r>
              <a:rPr lang="ko-KR" altLang="en-US" sz="2800" b="1" dirty="0" smtClean="0">
                <a:latin typeface="+mn-ea"/>
              </a:rPr>
              <a:t>문</a:t>
            </a:r>
            <a:endParaRPr lang="en-US" altLang="ko-KR" sz="2800" b="1" dirty="0" smtClean="0">
              <a:latin typeface="+mn-ea"/>
            </a:endParaRPr>
          </a:p>
          <a:p>
            <a:endParaRPr lang="ko-KR" altLang="en-US" sz="2000" dirty="0" smtClean="0"/>
          </a:p>
          <a:p>
            <a:r>
              <a:rPr lang="en-US" altLang="ko-KR" sz="2800" b="1" dirty="0" smtClean="0"/>
              <a:t>if </a:t>
            </a:r>
            <a:r>
              <a:rPr lang="ko-KR" altLang="en-US" sz="2800" b="1" dirty="0" err="1" smtClean="0"/>
              <a:t>조건식</a:t>
            </a:r>
            <a:r>
              <a:rPr lang="en-US" altLang="ko-KR" sz="2800" b="1" dirty="0" smtClean="0"/>
              <a:t>1: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     statements </a:t>
            </a:r>
            <a:br>
              <a:rPr lang="en-US" altLang="ko-KR" sz="2800" b="1" dirty="0" smtClean="0"/>
            </a:br>
            <a:r>
              <a:rPr lang="en-US" altLang="ko-KR" sz="2800" b="1" dirty="0" err="1" smtClean="0"/>
              <a:t>elif</a:t>
            </a:r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조건식</a:t>
            </a:r>
            <a:r>
              <a:rPr lang="en-US" altLang="ko-KR" sz="2800" b="1" dirty="0" smtClean="0"/>
              <a:t>2: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     statements </a:t>
            </a:r>
            <a:br>
              <a:rPr lang="en-US" altLang="ko-KR" sz="2800" b="1" dirty="0" smtClean="0"/>
            </a:br>
            <a:r>
              <a:rPr lang="en-US" altLang="ko-KR" sz="2800" b="1" dirty="0" err="1" smtClean="0"/>
              <a:t>elif</a:t>
            </a:r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조건식</a:t>
            </a:r>
            <a:r>
              <a:rPr lang="en-US" altLang="ko-KR" sz="2800" b="1" dirty="0" smtClean="0"/>
              <a:t>3: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     statements </a:t>
            </a:r>
          </a:p>
          <a:p>
            <a:r>
              <a:rPr lang="en-US" altLang="ko-KR" sz="2800" b="1" dirty="0" smtClean="0"/>
              <a:t>else: </a:t>
            </a:r>
          </a:p>
          <a:p>
            <a:r>
              <a:rPr lang="en-US" altLang="ko-KR" sz="2800" b="1" dirty="0" smtClean="0"/>
              <a:t>     statements </a:t>
            </a:r>
            <a:r>
              <a:rPr lang="en-US" altLang="ko-KR" sz="2000" b="1" dirty="0" smtClean="0">
                <a:latin typeface="+mn-ea"/>
              </a:rPr>
              <a:t/>
            </a:r>
            <a:br>
              <a:rPr lang="en-US" altLang="ko-KR" sz="2000" b="1" dirty="0" smtClean="0">
                <a:latin typeface="+mn-ea"/>
              </a:rPr>
            </a:br>
            <a:endParaRPr lang="ko-KR" altLang="en-US" sz="28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719016" y="1163809"/>
            <a:ext cx="4892722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• 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조건식이나 </a:t>
            </a:r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else 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다음에 콜론</a:t>
            </a:r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(:) 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표기 필요 </a:t>
            </a:r>
          </a:p>
          <a:p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•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들여쓰기</a:t>
            </a:r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(indentation)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를 잘 지켜야 함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제어문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576317" y="1154206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 b="1" dirty="0" smtClean="0">
              <a:latin typeface="+mn-ea"/>
            </a:endParaRPr>
          </a:p>
          <a:p>
            <a:r>
              <a:rPr lang="en-US" altLang="ko-KR" sz="2800" b="1" dirty="0" smtClean="0">
                <a:latin typeface="+mn-ea"/>
              </a:rPr>
              <a:t>a = 10 </a:t>
            </a:r>
          </a:p>
          <a:p>
            <a:endParaRPr lang="en-US" altLang="ko-KR" sz="2800" b="1" dirty="0" smtClean="0">
              <a:latin typeface="+mn-ea"/>
            </a:endParaRPr>
          </a:p>
          <a:p>
            <a:r>
              <a:rPr lang="en-US" altLang="ko-KR" sz="2800" b="1" dirty="0" smtClean="0">
                <a:latin typeface="+mn-ea"/>
              </a:rPr>
              <a:t>if a &gt; 5: </a:t>
            </a:r>
          </a:p>
          <a:p>
            <a:r>
              <a:rPr lang="en-US" altLang="ko-KR" sz="2800" b="1" dirty="0" smtClean="0">
                <a:latin typeface="+mn-ea"/>
              </a:rPr>
              <a:t>     print ('Big' )</a:t>
            </a:r>
          </a:p>
          <a:p>
            <a:r>
              <a:rPr lang="en-US" altLang="ko-KR" sz="2800" b="1" dirty="0" smtClean="0">
                <a:latin typeface="+mn-ea"/>
              </a:rPr>
              <a:t>else: </a:t>
            </a:r>
          </a:p>
          <a:p>
            <a:r>
              <a:rPr lang="en-US" altLang="ko-KR" sz="2800" b="1" dirty="0" smtClean="0">
                <a:latin typeface="+mn-ea"/>
              </a:rPr>
              <a:t>     print ('Small‘) 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제어문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02858" y="1167853"/>
            <a:ext cx="5725237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US" altLang="ko-KR" sz="2800" b="1" dirty="0" smtClean="0">
                <a:latin typeface="+mn-ea"/>
              </a:rPr>
              <a:t>for </a:t>
            </a:r>
            <a:r>
              <a:rPr lang="ko-KR" altLang="en-US" sz="2800" b="1" dirty="0" smtClean="0">
                <a:latin typeface="+mn-ea"/>
              </a:rPr>
              <a:t>문</a:t>
            </a:r>
            <a:endParaRPr lang="ko-KR" altLang="en-US" sz="2000" dirty="0" smtClean="0">
              <a:latin typeface="+mn-ea"/>
            </a:endParaRPr>
          </a:p>
          <a:p>
            <a:endParaRPr lang="ko-KR" altLang="en-US" sz="2800" dirty="0" smtClean="0">
              <a:latin typeface="+mn-ea"/>
            </a:endParaRPr>
          </a:p>
          <a:p>
            <a:r>
              <a:rPr lang="en-US" altLang="ko-KR" sz="2800" dirty="0" smtClean="0">
                <a:latin typeface="+mn-ea"/>
              </a:rPr>
              <a:t>for &lt;</a:t>
            </a:r>
            <a:r>
              <a:rPr lang="ko-KR" altLang="en-US" sz="2800" dirty="0" err="1" smtClean="0">
                <a:latin typeface="+mn-ea"/>
              </a:rPr>
              <a:t>타겟</a:t>
            </a:r>
            <a:r>
              <a:rPr lang="en-US" altLang="ko-KR" sz="2800" dirty="0" smtClean="0">
                <a:latin typeface="+mn-ea"/>
              </a:rPr>
              <a:t>&gt; in &lt;</a:t>
            </a:r>
            <a:r>
              <a:rPr lang="ko-KR" altLang="en-US" sz="2800" dirty="0" smtClean="0">
                <a:latin typeface="+mn-ea"/>
              </a:rPr>
              <a:t>컨테이너 객체</a:t>
            </a:r>
            <a:r>
              <a:rPr lang="en-US" altLang="ko-KR" sz="2800" dirty="0" smtClean="0">
                <a:latin typeface="+mn-ea"/>
              </a:rPr>
              <a:t>&gt;:      </a:t>
            </a:r>
            <a:br>
              <a:rPr lang="en-US" altLang="ko-KR" sz="2800" dirty="0" smtClean="0">
                <a:latin typeface="+mn-ea"/>
              </a:rPr>
            </a:br>
            <a:r>
              <a:rPr lang="en-US" altLang="ko-KR" sz="2800" dirty="0" smtClean="0">
                <a:latin typeface="+mn-ea"/>
              </a:rPr>
              <a:t>     statements </a:t>
            </a:r>
          </a:p>
          <a:p>
            <a:r>
              <a:rPr lang="en-US" altLang="ko-KR" sz="2800" dirty="0" smtClean="0">
                <a:latin typeface="+mn-ea"/>
              </a:rPr>
              <a:t>else: </a:t>
            </a:r>
          </a:p>
          <a:p>
            <a:r>
              <a:rPr lang="en-US" altLang="ko-KR" sz="2800" dirty="0" smtClean="0">
                <a:latin typeface="+mn-ea"/>
              </a:rPr>
              <a:t>     statements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55093" y="4055114"/>
            <a:ext cx="798394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ko-KR" altLang="en-US" sz="2400" b="1" dirty="0" smtClean="0">
                <a:solidFill>
                  <a:srgbClr val="000099"/>
                </a:solidFill>
                <a:latin typeface="+mn-ea"/>
              </a:rPr>
              <a:t> 컨테이너 객체에서 원소를 꺼내 </a:t>
            </a:r>
            <a:r>
              <a:rPr lang="ko-KR" altLang="en-US" sz="2400" b="1" dirty="0" err="1" smtClean="0">
                <a:solidFill>
                  <a:srgbClr val="000099"/>
                </a:solidFill>
                <a:latin typeface="+mn-ea"/>
              </a:rPr>
              <a:t>타겟에</a:t>
            </a:r>
            <a:r>
              <a:rPr lang="ko-KR" altLang="en-US" sz="2400" b="1" dirty="0" smtClean="0">
                <a:solidFill>
                  <a:srgbClr val="000099"/>
                </a:solidFill>
                <a:latin typeface="+mn-ea"/>
              </a:rPr>
              <a:t> 삽입</a:t>
            </a:r>
            <a:endParaRPr lang="en-US" altLang="ko-KR" sz="2400" b="1" dirty="0" smtClean="0">
              <a:solidFill>
                <a:srgbClr val="000099"/>
              </a:solidFill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400" b="1" dirty="0" smtClean="0">
                <a:solidFill>
                  <a:srgbClr val="000099"/>
                </a:solidFill>
                <a:latin typeface="+mn-ea"/>
              </a:rPr>
              <a:t> statement</a:t>
            </a:r>
            <a:r>
              <a:rPr lang="ko-KR" altLang="en-US" sz="2400" b="1" dirty="0" smtClean="0">
                <a:solidFill>
                  <a:srgbClr val="000099"/>
                </a:solidFill>
                <a:latin typeface="+mn-ea"/>
              </a:rPr>
              <a:t>는 타겟의 </a:t>
            </a:r>
            <a:r>
              <a:rPr lang="en-US" altLang="ko-KR" sz="2400" b="1" dirty="0" smtClean="0">
                <a:solidFill>
                  <a:srgbClr val="000099"/>
                </a:solidFill>
                <a:latin typeface="+mn-ea"/>
              </a:rPr>
              <a:t>value</a:t>
            </a:r>
            <a:r>
              <a:rPr lang="ko-KR" altLang="en-US" sz="2400" b="1" dirty="0" smtClean="0">
                <a:solidFill>
                  <a:srgbClr val="000099"/>
                </a:solidFill>
                <a:latin typeface="+mn-ea"/>
              </a:rPr>
              <a:t>를 활용하여 코딩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for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153236" y="1234070"/>
            <a:ext cx="6939886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b="1" smtClean="0">
                <a:latin typeface="+mn-ea"/>
              </a:rPr>
              <a:t>a </a:t>
            </a:r>
            <a:r>
              <a:rPr lang="en-US" altLang="ko-KR" sz="3600" b="1" dirty="0" smtClean="0">
                <a:latin typeface="+mn-ea"/>
              </a:rPr>
              <a:t>= ['cat', 'cow', 'tiger'] </a:t>
            </a:r>
          </a:p>
          <a:p>
            <a:r>
              <a:rPr lang="en-US" altLang="ko-KR" sz="3600" b="1" dirty="0" smtClean="0">
                <a:latin typeface="+mn-ea"/>
              </a:rPr>
              <a:t>for x in a: </a:t>
            </a:r>
          </a:p>
          <a:p>
            <a:r>
              <a:rPr lang="en-US" altLang="ko-KR" sz="3600" b="1" dirty="0" smtClean="0">
                <a:latin typeface="+mn-ea"/>
              </a:rPr>
              <a:t>     print (</a:t>
            </a:r>
            <a:r>
              <a:rPr lang="en-US" altLang="ko-KR" sz="3600" b="1" dirty="0" err="1" smtClean="0">
                <a:latin typeface="+mn-ea"/>
              </a:rPr>
              <a:t>len</a:t>
            </a:r>
            <a:r>
              <a:rPr lang="en-US" altLang="ko-KR" sz="3600" b="1" dirty="0" smtClean="0">
                <a:latin typeface="+mn-ea"/>
              </a:rPr>
              <a:t>(x), x)</a:t>
            </a:r>
            <a:endParaRPr lang="en-US" altLang="ko-KR" sz="36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for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84745" y="1228005"/>
            <a:ext cx="7185547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latin typeface="+mn-ea"/>
              </a:rPr>
              <a:t>for x in range(10):</a:t>
            </a:r>
          </a:p>
          <a:p>
            <a:r>
              <a:rPr lang="en-US" altLang="ko-KR" sz="2400" b="1" dirty="0" smtClean="0">
                <a:latin typeface="+mn-ea"/>
              </a:rPr>
              <a:t>     if x &gt; 3:         # 3</a:t>
            </a:r>
            <a:r>
              <a:rPr lang="ko-KR" altLang="en-US" sz="2400" b="1" dirty="0" smtClean="0">
                <a:latin typeface="+mn-ea"/>
              </a:rPr>
              <a:t>보다 크다면</a:t>
            </a:r>
            <a:endParaRPr lang="en-US" altLang="ko-KR" sz="2400" b="1" dirty="0" smtClean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          break       # for </a:t>
            </a:r>
            <a:r>
              <a:rPr lang="ko-KR" altLang="en-US" sz="2400" b="1" dirty="0" smtClean="0">
                <a:latin typeface="+mn-ea"/>
              </a:rPr>
              <a:t>문을 중단하고 빠져나감 </a:t>
            </a:r>
            <a:endParaRPr lang="en-US" altLang="ko-KR" sz="2400" b="1" dirty="0" smtClean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     print (x)         # 3</a:t>
            </a:r>
            <a:r>
              <a:rPr lang="ko-KR" altLang="en-US" sz="2400" b="1" dirty="0" smtClean="0">
                <a:latin typeface="+mn-ea"/>
              </a:rPr>
              <a:t>보다 작다면 출력</a:t>
            </a:r>
            <a:endParaRPr lang="en-US" altLang="ko-KR" sz="2400" b="1" dirty="0" smtClean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print ('done')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for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921224" y="1216378"/>
            <a:ext cx="7240137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latin typeface="+mn-ea"/>
              </a:rPr>
              <a:t>for x in range(10):</a:t>
            </a:r>
          </a:p>
          <a:p>
            <a:r>
              <a:rPr lang="en-US" altLang="ko-KR" sz="2400" b="1" dirty="0" smtClean="0">
                <a:latin typeface="+mn-ea"/>
              </a:rPr>
              <a:t>     if x &lt; 8:            </a:t>
            </a:r>
            <a:r>
              <a:rPr lang="en-US" altLang="ko-KR" b="1" dirty="0" smtClean="0">
                <a:latin typeface="+mn-ea"/>
              </a:rPr>
              <a:t># x</a:t>
            </a:r>
            <a:r>
              <a:rPr lang="ko-KR" altLang="en-US" b="1" dirty="0" smtClean="0">
                <a:latin typeface="+mn-ea"/>
              </a:rPr>
              <a:t>가 </a:t>
            </a:r>
            <a:r>
              <a:rPr lang="en-US" altLang="ko-KR" b="1" dirty="0" smtClean="0">
                <a:latin typeface="+mn-ea"/>
              </a:rPr>
              <a:t>8</a:t>
            </a:r>
            <a:r>
              <a:rPr lang="ko-KR" altLang="en-US" b="1" dirty="0" smtClean="0">
                <a:latin typeface="+mn-ea"/>
              </a:rPr>
              <a:t>보다 작다면</a:t>
            </a:r>
            <a:r>
              <a:rPr lang="en-US" altLang="ko-KR" b="1" dirty="0" smtClean="0">
                <a:latin typeface="+mn-ea"/>
              </a:rPr>
              <a:t>        </a:t>
            </a:r>
          </a:p>
          <a:p>
            <a:r>
              <a:rPr lang="en-US" altLang="ko-KR" sz="2400" b="1" dirty="0" smtClean="0">
                <a:latin typeface="+mn-ea"/>
              </a:rPr>
              <a:t>        continue        </a:t>
            </a:r>
            <a:r>
              <a:rPr lang="en-US" altLang="ko-KR" b="1" dirty="0" smtClean="0">
                <a:latin typeface="+mn-ea"/>
              </a:rPr>
              <a:t># </a:t>
            </a:r>
            <a:r>
              <a:rPr lang="ko-KR" altLang="en-US" b="1" dirty="0" smtClean="0">
                <a:latin typeface="+mn-ea"/>
              </a:rPr>
              <a:t>다음 문장을 수행하지 않고 다음 </a:t>
            </a:r>
            <a:r>
              <a:rPr lang="en-US" altLang="ko-KR" b="1" dirty="0" smtClean="0">
                <a:latin typeface="+mn-ea"/>
              </a:rPr>
              <a:t>for</a:t>
            </a:r>
            <a:endParaRPr lang="en-US" altLang="ko-KR" sz="2400" b="1" dirty="0" smtClean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     print (x</a:t>
            </a:r>
            <a:r>
              <a:rPr lang="en-US" altLang="ko-KR" b="1" dirty="0" smtClean="0">
                <a:latin typeface="+mn-ea"/>
              </a:rPr>
              <a:t>)                # </a:t>
            </a:r>
            <a:r>
              <a:rPr lang="ko-KR" altLang="en-US" b="1" dirty="0" smtClean="0">
                <a:latin typeface="+mn-ea"/>
              </a:rPr>
              <a:t>문으로 돌아감</a:t>
            </a:r>
            <a:endParaRPr lang="en-US" altLang="ko-KR" sz="2400" b="1" dirty="0" smtClean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print ('done')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for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511792" y="1079901"/>
            <a:ext cx="7240137" cy="32932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400" b="1" dirty="0" smtClean="0"/>
              <a:t>  1 </a:t>
            </a:r>
            <a:r>
              <a:rPr lang="ko-KR" altLang="en-US" sz="2400" b="1" dirty="0" smtClean="0"/>
              <a:t>부터 </a:t>
            </a:r>
            <a:r>
              <a:rPr lang="en-US" altLang="ko-KR" sz="2400" b="1" dirty="0" smtClean="0"/>
              <a:t>100</a:t>
            </a:r>
            <a:r>
              <a:rPr lang="ko-KR" altLang="en-US" sz="2400" b="1" dirty="0" smtClean="0"/>
              <a:t>까지 더하기</a:t>
            </a:r>
            <a:endParaRPr lang="en-US" altLang="ko-KR" sz="2400" b="1" dirty="0" smtClean="0"/>
          </a:p>
          <a:p>
            <a:endParaRPr lang="en-US" altLang="ko-KR" sz="2400" b="1" dirty="0" smtClean="0"/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sum=0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for x in range(1, 101):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     sum += x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print (sum)</a:t>
            </a:r>
          </a:p>
          <a:p>
            <a:endParaRPr lang="en-US" altLang="ko-KR" sz="2000" b="1" dirty="0" smtClean="0">
              <a:solidFill>
                <a:srgbClr val="0000FF"/>
              </a:solidFill>
            </a:endParaRPr>
          </a:p>
          <a:p>
            <a:r>
              <a:rPr lang="ko-KR" altLang="en-US" sz="2000" b="1" dirty="0" smtClean="0">
                <a:solidFill>
                  <a:srgbClr val="0000FF"/>
                </a:solidFill>
              </a:rPr>
              <a:t>또는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, </a:t>
            </a:r>
          </a:p>
          <a:p>
            <a:endParaRPr lang="en-US" altLang="ko-KR" sz="2000" b="1" dirty="0" smtClean="0">
              <a:solidFill>
                <a:srgbClr val="0000FF"/>
              </a:solidFill>
            </a:endParaRPr>
          </a:p>
          <a:p>
            <a:r>
              <a:rPr lang="en-US" sz="2000" b="1" dirty="0" smtClean="0">
                <a:solidFill>
                  <a:srgbClr val="0000FF"/>
                </a:solidFill>
              </a:rPr>
              <a:t>print (sum(range(1,101)))         // sum()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함수를 사용할 수 있음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for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858955" y="1416041"/>
            <a:ext cx="6061312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latin typeface="+mn-ea"/>
              </a:rPr>
              <a:t>for </a:t>
            </a:r>
            <a:r>
              <a:rPr lang="en-US" altLang="ko-KR" sz="2800" b="1" dirty="0" err="1" smtClean="0">
                <a:latin typeface="+mn-ea"/>
              </a:rPr>
              <a:t>i</a:t>
            </a:r>
            <a:r>
              <a:rPr lang="en-US" altLang="ko-KR" sz="2800" b="1" dirty="0" smtClean="0">
                <a:latin typeface="+mn-ea"/>
              </a:rPr>
              <a:t> in range(0, 100, 2):</a:t>
            </a:r>
          </a:p>
          <a:p>
            <a:r>
              <a:rPr lang="en-US" altLang="ko-KR" sz="2800" b="1" dirty="0" smtClean="0">
                <a:latin typeface="+mn-ea"/>
              </a:rPr>
              <a:t>     print (</a:t>
            </a:r>
            <a:r>
              <a:rPr lang="en-US" altLang="ko-KR" sz="2800" b="1" dirty="0" err="1" smtClean="0">
                <a:latin typeface="+mn-ea"/>
              </a:rPr>
              <a:t>i</a:t>
            </a:r>
            <a:r>
              <a:rPr lang="en-US" altLang="ko-KR" sz="2800" b="1" dirty="0" smtClean="0">
                <a:latin typeface="+mn-ea"/>
              </a:rPr>
              <a:t>) </a:t>
            </a:r>
          </a:p>
          <a:p>
            <a:r>
              <a:rPr lang="en-US" altLang="ko-KR" sz="2800" b="1" dirty="0" smtClean="0">
                <a:latin typeface="+mn-ea"/>
              </a:rPr>
              <a:t>for </a:t>
            </a:r>
            <a:r>
              <a:rPr lang="en-US" altLang="ko-KR" sz="2800" b="1" dirty="0" err="1" smtClean="0">
                <a:latin typeface="+mn-ea"/>
              </a:rPr>
              <a:t>i</a:t>
            </a:r>
            <a:r>
              <a:rPr lang="en-US" altLang="ko-KR" sz="2800" b="1" dirty="0" smtClean="0">
                <a:latin typeface="+mn-ea"/>
              </a:rPr>
              <a:t> in range(100, 2, -2):   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역순</a:t>
            </a:r>
            <a:endParaRPr lang="en-US" altLang="ko-KR" sz="2800" b="1" dirty="0" smtClean="0">
              <a:solidFill>
                <a:srgbClr val="0000FF"/>
              </a:solidFill>
              <a:latin typeface="+mn-ea"/>
            </a:endParaRPr>
          </a:p>
          <a:p>
            <a:r>
              <a:rPr lang="en-US" altLang="ko-KR" sz="2800" b="1" dirty="0" smtClean="0">
                <a:latin typeface="+mn-ea"/>
              </a:rPr>
              <a:t>     print (</a:t>
            </a:r>
            <a:r>
              <a:rPr lang="en-US" altLang="ko-KR" sz="2800" b="1" dirty="0" err="1" smtClean="0">
                <a:latin typeface="+mn-ea"/>
              </a:rPr>
              <a:t>i</a:t>
            </a:r>
            <a:r>
              <a:rPr lang="en-US" altLang="ko-KR" sz="2800" b="1" dirty="0" smtClean="0">
                <a:latin typeface="+mn-ea"/>
              </a:rPr>
              <a:t>) </a:t>
            </a:r>
          </a:p>
          <a:p>
            <a:endParaRPr lang="en-US" altLang="ko-KR" sz="2800" b="1" dirty="0" smtClean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for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531220" y="3913685"/>
            <a:ext cx="76710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range(stop)             //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하나의 매개변수는 마지막 값 표시 </a:t>
            </a:r>
            <a:endParaRPr lang="en-US" altLang="ko-KR" sz="2000" b="1" dirty="0" smtClean="0">
              <a:solidFill>
                <a:srgbClr val="0000FF"/>
              </a:solidFill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range(start, stop)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range(start, stop, step)</a:t>
            </a:r>
            <a:endParaRPr lang="ko-KR" altLang="en-US" sz="20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38836" y="1079901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smtClean="0">
                <a:latin typeface="+mn-ea"/>
              </a:rPr>
              <a:t>while</a:t>
            </a:r>
            <a:r>
              <a:rPr lang="ko-KR" altLang="en-US" sz="3200" b="1" dirty="0" smtClean="0">
                <a:latin typeface="+mn-ea"/>
              </a:rPr>
              <a:t>문</a:t>
            </a:r>
            <a:endParaRPr lang="ko-KR" altLang="en-US" sz="32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09435" y="1752683"/>
            <a:ext cx="8475259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while 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조건식이 만족하는 동안 </a:t>
            </a:r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while 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블록내의 </a:t>
            </a:r>
            <a:r>
              <a:rPr lang="en-US" altLang="ko-KR" b="1" dirty="0" smtClean="0">
                <a:solidFill>
                  <a:srgbClr val="000099"/>
                </a:solidFill>
                <a:latin typeface="+mn-ea"/>
              </a:rPr>
              <a:t>statements </a:t>
            </a:r>
            <a:r>
              <a:rPr lang="ko-KR" altLang="en-US" b="1" dirty="0" smtClean="0">
                <a:solidFill>
                  <a:srgbClr val="000099"/>
                </a:solidFill>
                <a:latin typeface="+mn-ea"/>
              </a:rPr>
              <a:t>들을 반복 수행한다 </a:t>
            </a:r>
            <a:endParaRPr lang="ko-KR" altLang="en-US" b="1" dirty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40090" y="2394128"/>
            <a:ext cx="5670644" cy="18158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latin typeface="+mn-ea"/>
              </a:rPr>
              <a:t>count = 1 </a:t>
            </a:r>
          </a:p>
          <a:p>
            <a:r>
              <a:rPr lang="en-US" altLang="ko-KR" sz="2800" b="1" dirty="0" smtClean="0">
                <a:latin typeface="+mn-ea"/>
              </a:rPr>
              <a:t>while count &lt; 11: </a:t>
            </a:r>
          </a:p>
          <a:p>
            <a:r>
              <a:rPr lang="en-US" altLang="ko-KR" sz="2800" b="1" dirty="0" smtClean="0">
                <a:latin typeface="+mn-ea"/>
              </a:rPr>
              <a:t>     print (count )</a:t>
            </a:r>
          </a:p>
          <a:p>
            <a:r>
              <a:rPr lang="en-US" altLang="ko-KR" sz="2800" b="1" dirty="0" smtClean="0">
                <a:latin typeface="+mn-ea"/>
              </a:rPr>
              <a:t>     count = count + 1 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while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66560" y="1181183"/>
            <a:ext cx="8475259" cy="407515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</a:pP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import 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random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/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guess_number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= 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random.randint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(1, 100)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print (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guess_number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user_input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= 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int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(input(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"</a:t>
            </a:r>
            <a:r>
              <a:rPr lang="ko-KR" altLang="en-US" b="1" dirty="0" smtClean="0">
                <a:latin typeface="HY그래픽M" pitchFamily="18" charset="-127"/>
                <a:ea typeface="HY그래픽M" pitchFamily="18" charset="-127"/>
              </a:rPr>
              <a:t>숫자를 입력하세요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(1~100):"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))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while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(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user_input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!= 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guess_number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):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   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if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(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user_input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&gt; 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guess_number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):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       print (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'</a:t>
            </a:r>
            <a:r>
              <a:rPr lang="ko-KR" altLang="en-US" b="1" dirty="0" err="1" smtClean="0">
                <a:latin typeface="HY그래픽M" pitchFamily="18" charset="-127"/>
                <a:ea typeface="HY그래픽M" pitchFamily="18" charset="-127"/>
              </a:rPr>
              <a:t>입력값이</a:t>
            </a:r>
            <a:r>
              <a:rPr lang="ko-KR" altLang="en-US" b="1" dirty="0" smtClean="0">
                <a:latin typeface="HY그래픽M" pitchFamily="18" charset="-127"/>
                <a:ea typeface="HY그래픽M" pitchFamily="18" charset="-127"/>
              </a:rPr>
              <a:t> 큽니다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'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   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else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: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       print (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'</a:t>
            </a:r>
            <a:r>
              <a:rPr lang="ko-KR" altLang="en-US" b="1" dirty="0" err="1" smtClean="0">
                <a:latin typeface="HY그래픽M" pitchFamily="18" charset="-127"/>
                <a:ea typeface="HY그래픽M" pitchFamily="18" charset="-127"/>
              </a:rPr>
              <a:t>입력값이</a:t>
            </a:r>
            <a:r>
              <a:rPr lang="ko-KR" altLang="en-US" b="1" dirty="0" smtClean="0">
                <a:latin typeface="HY그래픽M" pitchFamily="18" charset="-127"/>
                <a:ea typeface="HY그래픽M" pitchFamily="18" charset="-127"/>
              </a:rPr>
              <a:t> 작습니다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.'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   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user_input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 = </a:t>
            </a:r>
            <a:r>
              <a:rPr lang="en-US" altLang="ko-KR" dirty="0" err="1" smtClean="0">
                <a:latin typeface="HY그래픽M" pitchFamily="18" charset="-127"/>
                <a:ea typeface="HY그래픽M" pitchFamily="18" charset="-127"/>
              </a:rPr>
              <a:t>int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(input(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"</a:t>
            </a:r>
            <a:r>
              <a:rPr lang="ko-KR" altLang="en-US" b="1" dirty="0" smtClean="0">
                <a:latin typeface="HY그래픽M" pitchFamily="18" charset="-127"/>
                <a:ea typeface="HY그래픽M" pitchFamily="18" charset="-127"/>
              </a:rPr>
              <a:t>숫자를 입력하세요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(1~100):"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))</a:t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/>
            </a:r>
            <a:br>
              <a:rPr lang="en-US" altLang="ko-KR" dirty="0" smtClean="0">
                <a:latin typeface="HY그래픽M" pitchFamily="18" charset="-127"/>
                <a:ea typeface="HY그래픽M" pitchFamily="18" charset="-127"/>
              </a:rPr>
            </a:b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print (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'</a:t>
            </a:r>
            <a:r>
              <a:rPr lang="ko-KR" altLang="en-US" b="1" dirty="0" smtClean="0">
                <a:latin typeface="HY그래픽M" pitchFamily="18" charset="-127"/>
                <a:ea typeface="HY그래픽M" pitchFamily="18" charset="-127"/>
              </a:rPr>
              <a:t>맞았습니다</a:t>
            </a:r>
            <a:r>
              <a:rPr lang="en-US" altLang="ko-KR" b="1" dirty="0" smtClean="0">
                <a:latin typeface="HY그래픽M" pitchFamily="18" charset="-127"/>
                <a:ea typeface="HY그래픽M" pitchFamily="18" charset="-127"/>
              </a:rPr>
              <a:t>.'</a:t>
            </a:r>
            <a:r>
              <a:rPr lang="en-US" altLang="ko-KR" dirty="0" smtClean="0">
                <a:latin typeface="HY그래픽M" pitchFamily="18" charset="-127"/>
                <a:ea typeface="HY그래픽M" pitchFamily="18" charset="-127"/>
              </a:rPr>
              <a:t>)</a:t>
            </a:r>
            <a:endParaRPr lang="ko-KR" altLang="en-US" b="1" dirty="0">
              <a:solidFill>
                <a:srgbClr val="000099"/>
              </a:solidFill>
              <a:latin typeface="HY그래픽M" pitchFamily="18" charset="-127"/>
              <a:ea typeface="HY그래픽M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반복문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연습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임의의 숫자 맞추기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56441" y="1298263"/>
            <a:ext cx="8052559" cy="34163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HY그래픽" pitchFamily="18" charset="-127"/>
                <a:ea typeface="HY그래픽" pitchFamily="18" charset="-127"/>
              </a:rPr>
              <a:t>함수는 반복 코드를 없애 주어 코드의 길이를 짧게 만들어 준다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HY그래픽" pitchFamily="18" charset="-127"/>
                <a:ea typeface="HY그래픽" pitchFamily="18" charset="-127"/>
              </a:rPr>
              <a:t>코드의 유지 보수가 용이하다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HY그래픽" pitchFamily="18" charset="-127"/>
                <a:ea typeface="HY그래픽" pitchFamily="18" charset="-127"/>
              </a:rPr>
              <a:t>코드의 가독성이 높아진다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def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 </a:t>
            </a:r>
            <a:r>
              <a:rPr lang="ko-KR" altLang="en-US" sz="2400" b="1" dirty="0" smtClean="0">
                <a:latin typeface="HY그래픽" pitchFamily="18" charset="-127"/>
                <a:ea typeface="HY그래픽" pitchFamily="18" charset="-127"/>
              </a:rPr>
              <a:t>를 사용하여 만든다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</a:t>
            </a:r>
          </a:p>
          <a:p>
            <a:pPr marL="342900" indent="-342900"/>
            <a:endParaRPr lang="en-US" altLang="ko-KR" sz="2400" b="1" dirty="0" smtClean="0">
              <a:latin typeface="HY그래픽" pitchFamily="18" charset="-127"/>
              <a:ea typeface="HY그래픽" pitchFamily="18" charset="-127"/>
            </a:endParaRPr>
          </a:p>
          <a:p>
            <a:pPr marL="342900" indent="-342900"/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    def  </a:t>
            </a:r>
            <a:r>
              <a:rPr lang="ko-KR" altLang="en-US" sz="2400" b="1" dirty="0" smtClean="0">
                <a:latin typeface="HY그래픽" pitchFamily="18" charset="-127"/>
                <a:ea typeface="HY그래픽" pitchFamily="18" charset="-127"/>
              </a:rPr>
              <a:t>함수이름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(</a:t>
            </a:r>
            <a:r>
              <a:rPr lang="ko-KR" altLang="en-US" sz="2400" b="1" dirty="0" smtClean="0">
                <a:latin typeface="HY그래픽" pitchFamily="18" charset="-127"/>
                <a:ea typeface="HY그래픽" pitchFamily="18" charset="-127"/>
              </a:rPr>
              <a:t>인수들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):</a:t>
            </a:r>
          </a:p>
          <a:p>
            <a:pPr marL="342900" indent="-342900"/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         &lt;statement&gt;</a:t>
            </a:r>
          </a:p>
          <a:p>
            <a:pPr marL="342900" indent="-342900"/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         return &lt;value&gt;         </a:t>
            </a:r>
            <a:r>
              <a:rPr lang="en-US" altLang="ko-KR" sz="2000" b="1" dirty="0" smtClean="0">
                <a:solidFill>
                  <a:srgbClr val="0000FF"/>
                </a:solidFill>
                <a:latin typeface="HY그래픽" pitchFamily="18" charset="-127"/>
                <a:ea typeface="HY그래픽" pitchFamily="18" charset="-127"/>
              </a:rPr>
              <a:t># </a:t>
            </a:r>
            <a:r>
              <a:rPr lang="ko-KR" altLang="en-US" sz="2000" b="1" dirty="0" smtClean="0">
                <a:solidFill>
                  <a:srgbClr val="0000FF"/>
                </a:solidFill>
                <a:latin typeface="HY그래픽" pitchFamily="18" charset="-127"/>
                <a:ea typeface="HY그래픽" pitchFamily="18" charset="-127"/>
              </a:rPr>
              <a:t>결과값을 호출한 곳으로 돌려줌</a:t>
            </a:r>
            <a:endParaRPr lang="en-US" altLang="ko-KR" sz="2400" b="1" dirty="0">
              <a:solidFill>
                <a:srgbClr val="0000FF"/>
              </a:solidFill>
              <a:latin typeface="HY그래픽" pitchFamily="18" charset="-127"/>
              <a:ea typeface="HY그래픽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함수 만들기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88570" y="1464311"/>
            <a:ext cx="8166859" cy="230832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add(a, b):</a:t>
            </a:r>
          </a:p>
          <a:p>
            <a:r>
              <a:rPr lang="en-US" altLang="ko-KR" sz="2400" b="1" dirty="0">
                <a:latin typeface="+mn-ea"/>
              </a:rPr>
              <a:t>	return </a:t>
            </a:r>
            <a:r>
              <a:rPr lang="en-US" altLang="ko-KR" sz="2400" b="1" dirty="0" err="1">
                <a:latin typeface="+mn-ea"/>
              </a:rPr>
              <a:t>a+b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print (add(5, 10))</a:t>
            </a: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print (add([2, 4, 6], [8, 10, 12</a:t>
            </a:r>
            <a:r>
              <a:rPr lang="en-US" altLang="ko-KR" sz="2400" b="1" dirty="0" smtClean="0">
                <a:latin typeface="+mn-ea"/>
              </a:rPr>
              <a:t>]))     # </a:t>
            </a:r>
            <a:r>
              <a:rPr lang="ko-KR" altLang="en-US" sz="2400" b="1" dirty="0" smtClean="0">
                <a:latin typeface="+mn-ea"/>
              </a:rPr>
              <a:t>리스트 연산 가능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함수 만들기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812041" y="1108711"/>
            <a:ext cx="6353033" cy="415498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latin typeface="+mn-ea"/>
              </a:rPr>
              <a:t>def </a:t>
            </a:r>
            <a:r>
              <a:rPr lang="en-US" altLang="ko-KR" sz="2400" b="1" dirty="0" err="1" smtClean="0">
                <a:latin typeface="+mn-ea"/>
              </a:rPr>
              <a:t>test_text</a:t>
            </a:r>
            <a:r>
              <a:rPr lang="en-US" altLang="ko-KR" sz="2400" b="1" dirty="0" smtClean="0">
                <a:latin typeface="+mn-ea"/>
              </a:rPr>
              <a:t>():</a:t>
            </a:r>
          </a:p>
          <a:p>
            <a:r>
              <a:rPr lang="en-US" altLang="ko-KR" sz="2400" b="1" dirty="0" smtClean="0">
                <a:latin typeface="+mn-ea"/>
              </a:rPr>
              <a:t>	print ("test function")</a:t>
            </a:r>
          </a:p>
          <a:p>
            <a:r>
              <a:rPr lang="en-US" altLang="ko-KR" sz="2400" b="1" dirty="0" smtClean="0">
                <a:latin typeface="+mn-ea"/>
              </a:rPr>
              <a:t>	</a:t>
            </a:r>
          </a:p>
          <a:p>
            <a:r>
              <a:rPr lang="en-US" altLang="ko-KR" sz="2400" b="1" dirty="0" smtClean="0">
                <a:latin typeface="+mn-ea"/>
              </a:rPr>
              <a:t>def test_text1():</a:t>
            </a:r>
          </a:p>
          <a:p>
            <a:r>
              <a:rPr lang="en-US" altLang="ko-KR" sz="2400" b="1" dirty="0" smtClean="0">
                <a:latin typeface="+mn-ea"/>
              </a:rPr>
              <a:t>	return 555</a:t>
            </a:r>
          </a:p>
          <a:p>
            <a:r>
              <a:rPr lang="en-US" altLang="ko-KR" sz="2400" b="1" dirty="0" smtClean="0">
                <a:latin typeface="+mn-ea"/>
              </a:rPr>
              <a:t>	</a:t>
            </a:r>
          </a:p>
          <a:p>
            <a:r>
              <a:rPr lang="en-US" altLang="ko-KR" sz="2400" b="1" dirty="0" err="1" smtClean="0">
                <a:latin typeface="+mn-ea"/>
              </a:rPr>
              <a:t>test_text</a:t>
            </a:r>
            <a:r>
              <a:rPr lang="en-US" altLang="ko-KR" sz="2400" b="1" dirty="0" smtClean="0">
                <a:latin typeface="+mn-ea"/>
              </a:rPr>
              <a:t>()</a:t>
            </a:r>
          </a:p>
          <a:p>
            <a:r>
              <a:rPr lang="en-US" altLang="ko-KR" sz="2400" b="1" dirty="0" smtClean="0">
                <a:latin typeface="+mn-ea"/>
              </a:rPr>
              <a:t>print ("!!!")</a:t>
            </a:r>
          </a:p>
          <a:p>
            <a:r>
              <a:rPr lang="en-US" altLang="ko-KR" sz="2400" b="1" dirty="0" smtClean="0">
                <a:latin typeface="+mn-ea"/>
              </a:rPr>
              <a:t>test_text1()</a:t>
            </a:r>
          </a:p>
          <a:p>
            <a:r>
              <a:rPr lang="en-US" altLang="ko-KR" sz="2400" b="1" dirty="0" smtClean="0">
                <a:latin typeface="+mn-ea"/>
              </a:rPr>
              <a:t>print ("???")</a:t>
            </a:r>
          </a:p>
          <a:p>
            <a:r>
              <a:rPr lang="en-US" altLang="ko-KR" sz="2400" b="1" dirty="0" smtClean="0">
                <a:latin typeface="+mn-ea"/>
              </a:rPr>
              <a:t>print (test_text1())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함수 만들기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함수 내에서 다른 함수 호출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86855" y="1323832"/>
            <a:ext cx="6796585" cy="30469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def 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add(a, b):</a:t>
            </a:r>
            <a:b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   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return 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a+b</a:t>
            </a:r>
            <a:b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/>
            </a:r>
            <a:b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def 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addabs(a, b):</a:t>
            </a:r>
            <a:b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   c = add(a, b)</a:t>
            </a:r>
            <a:b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   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return abs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(c)</a:t>
            </a:r>
            <a:b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/>
            </a:r>
            <a:b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print 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(addabs(-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3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, -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5</a:t>
            </a: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))</a:t>
            </a:r>
            <a:endParaRPr kumimoji="1" lang="ko-KR" altLang="ko-KR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Y그래픽" pitchFamily="18" charset="-127"/>
              <a:ea typeface="HY그래픽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-9525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함수 호출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9140" y="1151821"/>
            <a:ext cx="6796585" cy="4401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en-US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C</a:t>
            </a:r>
            <a:r>
              <a:rPr kumimoji="1" lang="ko-KR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언어에서 함수로 인수를 전달하는 방법</a:t>
            </a:r>
            <a:r>
              <a:rPr kumimoji="1" lang="en-US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/>
            </a:r>
            <a:br>
              <a:rPr kumimoji="1" lang="en-US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en-US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 - Call</a:t>
            </a:r>
            <a:r>
              <a:rPr kumimoji="1" lang="en-US" altLang="ko-KR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by value : </a:t>
            </a:r>
            <a:r>
              <a:rPr kumimoji="1" lang="ko-KR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값을 직접 전달</a:t>
            </a:r>
            <a:endParaRPr kumimoji="1" lang="en-US" altLang="ko-KR" sz="2000" b="1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HY그래픽" pitchFamily="18" charset="-127"/>
              <a:ea typeface="HY그래픽" pitchFamily="18" charset="-127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 - Call by Reference : </a:t>
            </a:r>
            <a:r>
              <a:rPr kumimoji="1" lang="ko-KR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변수를 참조하는 주소를 전달</a:t>
            </a:r>
            <a:endParaRPr kumimoji="1" lang="en-US" altLang="ko-KR" sz="2000" b="1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HY그래픽" pitchFamily="18" charset="-127"/>
              <a:ea typeface="HY그래픽" pitchFamily="18" charset="-127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1" lang="en-US" altLang="ko-KR" sz="2000" b="1" baseline="0" dirty="0" smtClean="0">
              <a:latin typeface="HY그래픽" pitchFamily="18" charset="-127"/>
              <a:ea typeface="HY그래픽" pitchFamily="18" charset="-127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en-US" altLang="ko-KR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</a:t>
            </a:r>
            <a:r>
              <a:rPr kumimoji="1" lang="ko-KR" altLang="en-US" sz="2000" b="1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파이썬에서</a:t>
            </a:r>
            <a:r>
              <a:rPr kumimoji="1" lang="ko-KR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인수 전달 방법</a:t>
            </a:r>
            <a:r>
              <a:rPr kumimoji="1" lang="en-US" altLang="ko-KR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/>
            </a:r>
            <a:br>
              <a:rPr kumimoji="1" lang="en-US" altLang="ko-KR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en-US" altLang="ko-KR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 - Call by Object reference </a:t>
            </a:r>
            <a:r>
              <a:rPr kumimoji="1" lang="ko-KR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HY그래픽" pitchFamily="18" charset="-127"/>
                <a:ea typeface="HY그래픽" pitchFamily="18" charset="-127"/>
                <a:cs typeface="굴림" pitchFamily="50" charset="-127"/>
              </a:rPr>
              <a:t>혹은 </a:t>
            </a:r>
            <a:r>
              <a:rPr kumimoji="1" lang="en-US" altLang="ko-KR" sz="2000" b="1" dirty="0" smtClean="0">
                <a:latin typeface="HY그래픽" pitchFamily="18" charset="-127"/>
                <a:ea typeface="HY그래픽" pitchFamily="18" charset="-127"/>
                <a:cs typeface="굴림" pitchFamily="50" charset="-127"/>
              </a:rPr>
              <a:t>Call by Sharing</a:t>
            </a:r>
            <a:br>
              <a:rPr kumimoji="1" lang="en-US" altLang="ko-KR" sz="2000" b="1" dirty="0" smtClean="0">
                <a:latin typeface="HY그래픽" pitchFamily="18" charset="-127"/>
                <a:ea typeface="HY그래픽" pitchFamily="18" charset="-127"/>
                <a:cs typeface="굴림" pitchFamily="50" charset="-127"/>
              </a:rPr>
            </a:br>
            <a:r>
              <a:rPr kumimoji="1" lang="en-US" altLang="ko-KR" sz="2000" b="1" dirty="0" smtClean="0"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 - </a:t>
            </a:r>
            <a:r>
              <a:rPr kumimoji="1" lang="ko-KR" altLang="en-US" sz="2000" b="1" dirty="0" err="1" smtClean="0">
                <a:latin typeface="HY그래픽" pitchFamily="18" charset="-127"/>
                <a:ea typeface="HY그래픽" pitchFamily="18" charset="-127"/>
                <a:cs typeface="굴림" pitchFamily="50" charset="-127"/>
              </a:rPr>
              <a:t>호출시</a:t>
            </a:r>
            <a:r>
              <a:rPr kumimoji="1" lang="ko-KR" altLang="en-US" sz="2000" b="1" dirty="0" smtClean="0">
                <a:latin typeface="HY그래픽" pitchFamily="18" charset="-127"/>
                <a:ea typeface="HY그래픽" pitchFamily="18" charset="-127"/>
                <a:cs typeface="굴림" pitchFamily="50" charset="-127"/>
              </a:rPr>
              <a:t> 객체의 참조를 전달</a:t>
            </a:r>
            <a:endParaRPr kumimoji="1" lang="en-US" altLang="ko-KR" sz="2000" b="1" dirty="0" smtClean="0">
              <a:latin typeface="HY그래픽" pitchFamily="18" charset="-127"/>
              <a:ea typeface="HY그래픽" pitchFamily="18" charset="-127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1" lang="en-US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Y그래픽" pitchFamily="18" charset="-127"/>
              <a:ea typeface="HY그래픽" pitchFamily="18" charset="-127"/>
              <a:cs typeface="굴림" pitchFamily="50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dirty="0" smtClean="0">
                <a:solidFill>
                  <a:srgbClr val="0000FF"/>
                </a:solidFill>
              </a:rPr>
              <a:t>       def </a:t>
            </a:r>
            <a:r>
              <a:rPr lang="en-US" altLang="ko-KR" sz="2000" dirty="0" err="1" smtClean="0">
                <a:solidFill>
                  <a:srgbClr val="0000FF"/>
                </a:solidFill>
              </a:rPr>
              <a:t>func</a:t>
            </a:r>
            <a:r>
              <a:rPr lang="en-US" altLang="ko-KR" sz="2000" dirty="0" smtClean="0">
                <a:solidFill>
                  <a:srgbClr val="0000FF"/>
                </a:solidFill>
              </a:rPr>
              <a:t>(value):</a:t>
            </a:r>
            <a:br>
              <a:rPr lang="en-US" altLang="ko-KR" sz="2000" dirty="0" smtClean="0">
                <a:solidFill>
                  <a:srgbClr val="0000FF"/>
                </a:solidFill>
              </a:rPr>
            </a:br>
            <a:r>
              <a:rPr lang="en-US" altLang="ko-KR" sz="2000" dirty="0" smtClean="0">
                <a:solidFill>
                  <a:srgbClr val="0000FF"/>
                </a:solidFill>
              </a:rPr>
              <a:t>               value=10</a:t>
            </a:r>
            <a:br>
              <a:rPr lang="en-US" altLang="ko-KR" sz="2000" dirty="0" smtClean="0">
                <a:solidFill>
                  <a:srgbClr val="0000FF"/>
                </a:solidFill>
              </a:rPr>
            </a:br>
            <a:r>
              <a:rPr lang="en-US" altLang="ko-KR" sz="2000" dirty="0" smtClean="0">
                <a:solidFill>
                  <a:srgbClr val="0000FF"/>
                </a:solidFill>
              </a:rPr>
              <a:t/>
            </a:r>
            <a:br>
              <a:rPr lang="en-US" altLang="ko-KR" sz="2000" dirty="0" smtClean="0">
                <a:solidFill>
                  <a:srgbClr val="0000FF"/>
                </a:solidFill>
              </a:rPr>
            </a:br>
            <a:r>
              <a:rPr lang="en-US" altLang="ko-KR" sz="2000" dirty="0" smtClean="0">
                <a:solidFill>
                  <a:srgbClr val="0000FF"/>
                </a:solidFill>
              </a:rPr>
              <a:t>       a=20</a:t>
            </a:r>
            <a:br>
              <a:rPr lang="en-US" altLang="ko-KR" sz="2000" dirty="0" smtClean="0">
                <a:solidFill>
                  <a:srgbClr val="0000FF"/>
                </a:solidFill>
              </a:rPr>
            </a:br>
            <a:r>
              <a:rPr lang="en-US" altLang="ko-KR" sz="2000" dirty="0" smtClean="0">
                <a:solidFill>
                  <a:srgbClr val="0000FF"/>
                </a:solidFill>
              </a:rPr>
              <a:t>       </a:t>
            </a:r>
            <a:r>
              <a:rPr lang="en-US" altLang="ko-KR" sz="2000" dirty="0" err="1" smtClean="0">
                <a:solidFill>
                  <a:srgbClr val="0000FF"/>
                </a:solidFill>
              </a:rPr>
              <a:t>func</a:t>
            </a:r>
            <a:r>
              <a:rPr lang="en-US" altLang="ko-KR" sz="2000" dirty="0" smtClean="0">
                <a:solidFill>
                  <a:srgbClr val="0000FF"/>
                </a:solidFill>
              </a:rPr>
              <a:t>(a)</a:t>
            </a:r>
            <a:br>
              <a:rPr lang="en-US" altLang="ko-KR" sz="2000" dirty="0" smtClean="0">
                <a:solidFill>
                  <a:srgbClr val="0000FF"/>
                </a:solidFill>
              </a:rPr>
            </a:br>
            <a:r>
              <a:rPr lang="en-US" altLang="ko-KR" sz="2000" dirty="0" smtClean="0">
                <a:solidFill>
                  <a:srgbClr val="0000FF"/>
                </a:solidFill>
              </a:rPr>
              <a:t>       print (a)</a:t>
            </a:r>
            <a:endParaRPr kumimoji="1" lang="ko-KR" altLang="ko-KR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HY그래픽" pitchFamily="18" charset="-127"/>
              <a:ea typeface="HY그래픽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전역 변수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global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61710" y="1608082"/>
            <a:ext cx="3011214" cy="19389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def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func():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value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20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value=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10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func()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(value)</a:t>
            </a:r>
            <a:endParaRPr kumimoji="1" lang="ko-KR" altLang="ko-KR" sz="4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08952" y="1497722"/>
            <a:ext cx="4225159" cy="224676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def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func():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global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value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value=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20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value=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10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func()</a:t>
            </a:r>
            <a:b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(value)</a:t>
            </a:r>
            <a:endParaRPr kumimoji="1" lang="ko-KR" altLang="ko-KR" sz="4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 rot="5400000">
            <a:off x="2506732" y="2648607"/>
            <a:ext cx="245942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05641" y="1108711"/>
            <a:ext cx="8154159" cy="41319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일반적인 함수를 한 줄의 문</a:t>
            </a:r>
            <a:r>
              <a:rPr lang="en-US" altLang="ko-KR" sz="2400" b="1" dirty="0" smtClean="0">
                <a:latin typeface="+mn-ea"/>
              </a:rPr>
              <a:t>(statement)</a:t>
            </a:r>
            <a:r>
              <a:rPr lang="ko-KR" altLang="en-US" sz="2400" b="1" dirty="0" smtClean="0">
                <a:latin typeface="+mn-ea"/>
              </a:rPr>
              <a:t>으로 정의할 수 있는 새로운 함수 정의 </a:t>
            </a: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함수 몸체에는 식</a:t>
            </a:r>
            <a:r>
              <a:rPr lang="en-US" altLang="ko-KR" sz="2400" b="1" dirty="0" smtClean="0">
                <a:latin typeface="+mn-ea"/>
              </a:rPr>
              <a:t>(expression)</a:t>
            </a:r>
            <a:r>
              <a:rPr lang="ko-KR" altLang="en-US" sz="2400" b="1" dirty="0" smtClean="0">
                <a:latin typeface="+mn-ea"/>
              </a:rPr>
              <a:t>만 올 수 있다</a:t>
            </a:r>
            <a:r>
              <a:rPr lang="en-US" altLang="ko-KR" sz="2400" b="1" dirty="0" smtClean="0">
                <a:latin typeface="+mn-ea"/>
              </a:rPr>
              <a:t>.</a:t>
            </a: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대부분 함수 이름을 정의하지 않고 일회성으로 활용</a:t>
            </a: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syntax : lambda </a:t>
            </a:r>
            <a:r>
              <a:rPr lang="ko-KR" altLang="en-US" sz="2400" b="1" dirty="0" smtClean="0">
                <a:latin typeface="+mn-ea"/>
              </a:rPr>
              <a:t>콤마로 구분된 인수들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b="1" dirty="0" smtClean="0">
                <a:latin typeface="+mn-ea"/>
              </a:rPr>
              <a:t>식</a:t>
            </a: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example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f=lambda x: x+1        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print (f(5))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람다 함수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축약 함수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05641" y="1108711"/>
            <a:ext cx="8154159" cy="18876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400" b="1" dirty="0" err="1" smtClean="0">
                <a:latin typeface="+mn-ea"/>
              </a:rPr>
              <a:t>incr</a:t>
            </a:r>
            <a:r>
              <a:rPr lang="en-US" altLang="ko-KR" sz="2400" b="1" dirty="0" smtClean="0">
                <a:latin typeface="+mn-ea"/>
              </a:rPr>
              <a:t> = lambda x, </a:t>
            </a:r>
            <a:r>
              <a:rPr lang="en-US" altLang="ko-KR" sz="2400" b="1" dirty="0" err="1" smtClean="0">
                <a:latin typeface="+mn-ea"/>
              </a:rPr>
              <a:t>inc</a:t>
            </a:r>
            <a:r>
              <a:rPr lang="en-US" altLang="ko-KR" sz="2400" b="1" dirty="0" smtClean="0">
                <a:latin typeface="+mn-ea"/>
              </a:rPr>
              <a:t>=1 : </a:t>
            </a:r>
            <a:r>
              <a:rPr lang="en-US" altLang="ko-KR" sz="2400" b="1" dirty="0" err="1" smtClean="0">
                <a:latin typeface="+mn-ea"/>
              </a:rPr>
              <a:t>x+inc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35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</a:t>
            </a:r>
            <a:r>
              <a:rPr lang="en-US" altLang="ko-KR" sz="2400" b="1" dirty="0" err="1" smtClean="0">
                <a:latin typeface="+mn-ea"/>
              </a:rPr>
              <a:t>incr</a:t>
            </a:r>
            <a:r>
              <a:rPr lang="en-US" altLang="ko-KR" sz="2400" b="1" dirty="0" smtClean="0">
                <a:latin typeface="+mn-ea"/>
              </a:rPr>
              <a:t>(10))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+mn-ea"/>
              </a:rPr>
              <a:t>print (</a:t>
            </a:r>
            <a:r>
              <a:rPr lang="en-US" altLang="ko-KR" sz="2400" b="1" dirty="0" err="1" smtClean="0">
                <a:latin typeface="+mn-ea"/>
              </a:rPr>
              <a:t>incr</a:t>
            </a:r>
            <a:r>
              <a:rPr lang="en-US" altLang="ko-KR" sz="2400" b="1" dirty="0" smtClean="0">
                <a:latin typeface="+mn-ea"/>
              </a:rPr>
              <a:t>(10, 20))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람다 함수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축약 함수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ts val="3500"/>
              </a:lnSpc>
              <a:buFont typeface="Wingdings" pitchFamily="2" charset="2"/>
              <a:buChar char="§"/>
            </a:pPr>
            <a:r>
              <a:rPr lang="ko-KR" altLang="en-US" sz="3200" b="1" dirty="0" smtClean="0">
                <a:solidFill>
                  <a:schemeClr val="tx1"/>
                </a:solidFill>
                <a:latin typeface="+mn-ea"/>
              </a:rPr>
              <a:t>함수 작성법</a:t>
            </a:r>
            <a:endParaRPr lang="ko-KR" altLang="en-US" sz="3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2607" y="1182414"/>
            <a:ext cx="7189076" cy="2272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400"/>
              </a:lnSpc>
            </a:pPr>
            <a:r>
              <a:rPr lang="ko-KR" altLang="en-US" sz="2800" b="1" dirty="0" smtClean="0"/>
              <a:t>컴퓨터가 이해할 수 있는 코드는</a:t>
            </a:r>
            <a:endParaRPr lang="en-US" altLang="ko-KR" sz="2800" b="1" dirty="0" smtClean="0"/>
          </a:p>
          <a:p>
            <a:pPr>
              <a:lnSpc>
                <a:spcPts val="3400"/>
              </a:lnSpc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어느 바보나 다 짤 수 있다</a:t>
            </a: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.</a:t>
            </a:r>
          </a:p>
          <a:p>
            <a:pPr>
              <a:lnSpc>
                <a:spcPts val="3400"/>
              </a:lnSpc>
            </a:pP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좋은 프로그래머는 사람이 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이해할 수 있는 코드를 짠다</a:t>
            </a: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.</a:t>
            </a:r>
          </a:p>
          <a:p>
            <a:pPr>
              <a:lnSpc>
                <a:spcPts val="3400"/>
              </a:lnSpc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                          - </a:t>
            </a:r>
            <a:r>
              <a:rPr lang="ko-KR" altLang="en-US" sz="2800" b="1" dirty="0" err="1" smtClean="0">
                <a:latin typeface="HY그래픽M" pitchFamily="18" charset="-127"/>
                <a:ea typeface="HY그래픽M" pitchFamily="18" charset="-127"/>
              </a:rPr>
              <a:t>마틴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 </a:t>
            </a:r>
            <a:r>
              <a:rPr lang="ko-KR" altLang="en-US" sz="2800" b="1" dirty="0" err="1" smtClean="0">
                <a:latin typeface="HY그래픽M" pitchFamily="18" charset="-127"/>
                <a:ea typeface="HY그래픽M" pitchFamily="18" charset="-127"/>
              </a:rPr>
              <a:t>파울러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 </a:t>
            </a: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-</a:t>
            </a:r>
            <a:endParaRPr lang="ko-KR" altLang="en-US" sz="2800" b="1" dirty="0">
              <a:latin typeface="HY그래픽M" pitchFamily="18" charset="-127"/>
              <a:ea typeface="HY그래픽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ts val="3500"/>
              </a:lnSpc>
              <a:buFont typeface="Wingdings" pitchFamily="2" charset="2"/>
              <a:buChar char="§"/>
            </a:pPr>
            <a:r>
              <a:rPr lang="ko-KR" altLang="en-US" sz="3200" b="1" dirty="0" smtClean="0">
                <a:solidFill>
                  <a:schemeClr val="tx1"/>
                </a:solidFill>
                <a:latin typeface="+mn-ea"/>
              </a:rPr>
              <a:t>함수 작성법</a:t>
            </a:r>
            <a:endParaRPr lang="ko-KR" altLang="en-US" sz="3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2607" y="1182414"/>
            <a:ext cx="8229600" cy="4452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들여쓰기 공백 </a:t>
            </a: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4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칸 권장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한 줄은  최대 </a:t>
            </a: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79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자 까지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불 필요한 공백 제거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연산자는 </a:t>
            </a: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1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칸 이상 띄우지 말 것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주석은 항상 개선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err="1" smtClean="0">
                <a:latin typeface="HY그래픽M" pitchFamily="18" charset="-127"/>
                <a:ea typeface="HY그래픽M" pitchFamily="18" charset="-127"/>
              </a:rPr>
              <a:t>함수명은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 소문자로 구성</a:t>
            </a: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,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필요하면 밑줄 사용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함수는 가능하면 짧게 작성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함수 이름에 함수의 기능을 유추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하나의 함수에는 유사한 기능만</a:t>
            </a:r>
            <a:endParaRPr lang="en-US" altLang="ko-KR" sz="2800" b="1" dirty="0" smtClean="0">
              <a:latin typeface="HY그래픽M" pitchFamily="18" charset="-127"/>
              <a:ea typeface="HY그래픽M" pitchFamily="18" charset="-127"/>
            </a:endParaRPr>
          </a:p>
          <a:p>
            <a:pPr>
              <a:lnSpc>
                <a:spcPts val="3400"/>
              </a:lnSpc>
              <a:buFont typeface="Arial" pitchFamily="34" charset="0"/>
              <a:buChar char="•"/>
            </a:pPr>
            <a:r>
              <a:rPr lang="en-US" altLang="ko-KR" sz="2800" b="1" dirty="0" smtClean="0">
                <a:latin typeface="HY그래픽M" pitchFamily="18" charset="-127"/>
                <a:ea typeface="HY그래픽M" pitchFamily="18" charset="-127"/>
              </a:rPr>
              <a:t>  </a:t>
            </a:r>
            <a:r>
              <a:rPr lang="ko-KR" altLang="en-US" sz="2800" b="1" dirty="0" smtClean="0">
                <a:latin typeface="HY그래픽M" pitchFamily="18" charset="-127"/>
                <a:ea typeface="HY그래픽M" pitchFamily="18" charset="-127"/>
              </a:rPr>
              <a:t>인자로 받은 값 자체를 바꾸진 말 것</a:t>
            </a:r>
            <a:endParaRPr lang="ko-KR" altLang="en-US" sz="2800" b="1" dirty="0">
              <a:latin typeface="HY그래픽M" pitchFamily="18" charset="-127"/>
              <a:ea typeface="HY그래픽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812041" y="1108711"/>
            <a:ext cx="6353033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latin typeface="+mn-ea"/>
              </a:rPr>
              <a:t>a=input()</a:t>
            </a:r>
          </a:p>
          <a:p>
            <a:r>
              <a:rPr lang="en-US" altLang="ko-KR" sz="2400" b="1" dirty="0" smtClean="0">
                <a:latin typeface="+mn-ea"/>
              </a:rPr>
              <a:t>print(a)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00665" y="2776039"/>
            <a:ext cx="6353033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latin typeface="+mn-ea"/>
              </a:rPr>
              <a:t>name=input(“</a:t>
            </a:r>
            <a:r>
              <a:rPr lang="ko-KR" altLang="en-US" sz="2400" b="1" dirty="0" smtClean="0">
                <a:latin typeface="+mn-ea"/>
              </a:rPr>
              <a:t>이름을 입력해주세요</a:t>
            </a:r>
            <a:r>
              <a:rPr lang="en-US" altLang="ko-KR" sz="2400" b="1" dirty="0" smtClean="0">
                <a:latin typeface="+mn-ea"/>
              </a:rPr>
              <a:t>: “)</a:t>
            </a:r>
          </a:p>
          <a:p>
            <a:r>
              <a:rPr lang="en-US" altLang="ko-KR" sz="2400" b="1" dirty="0" smtClean="0">
                <a:latin typeface="+mn-ea"/>
              </a:rPr>
              <a:t>print("</a:t>
            </a:r>
            <a:r>
              <a:rPr lang="ko-KR" altLang="en-US" sz="2400" b="1" dirty="0" smtClean="0">
                <a:latin typeface="+mn-ea"/>
              </a:rPr>
              <a:t>당신의 이름은 </a:t>
            </a:r>
            <a:r>
              <a:rPr lang="en-US" altLang="ko-KR" sz="2400" b="1" dirty="0" smtClean="0">
                <a:latin typeface="+mn-ea"/>
              </a:rPr>
              <a:t>%s </a:t>
            </a:r>
            <a:r>
              <a:rPr lang="ko-KR" altLang="en-US" sz="2400" b="1" dirty="0" smtClean="0">
                <a:latin typeface="+mn-ea"/>
              </a:rPr>
              <a:t>입니다</a:t>
            </a:r>
            <a:r>
              <a:rPr lang="en-US" altLang="ko-KR" sz="2400" b="1" dirty="0" smtClean="0">
                <a:latin typeface="+mn-ea"/>
              </a:rPr>
              <a:t>." %(name))</a:t>
            </a:r>
            <a:endParaRPr lang="ko-KR" altLang="en-US" sz="2400" b="1" dirty="0">
              <a:latin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559558" y="2333767"/>
            <a:ext cx="8134066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사용자 입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84494" y="1286131"/>
            <a:ext cx="8372903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f=open("D:\</a:t>
            </a:r>
            <a:r>
              <a:rPr lang="ko-KR" altLang="en-US" sz="2400" b="1" dirty="0" err="1" smtClean="0">
                <a:latin typeface="굴림" pitchFamily="50" charset="-127"/>
                <a:ea typeface="굴림" pitchFamily="50" charset="-127"/>
              </a:rPr>
              <a:t>새파일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.txt", 'w')   </a:t>
            </a:r>
            <a:r>
              <a:rPr lang="en-US" altLang="ko-KR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# </a:t>
            </a:r>
            <a:r>
              <a:rPr lang="ko-KR" altLang="en-US" b="1" dirty="0" err="1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두개</a:t>
            </a:r>
            <a:r>
              <a:rPr lang="ko-KR" altLang="en-US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 매개변수</a:t>
            </a:r>
            <a:r>
              <a:rPr lang="en-US" altLang="ko-KR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파일명</a:t>
            </a:r>
            <a:r>
              <a:rPr lang="en-US" altLang="ko-KR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/</a:t>
            </a:r>
            <a:r>
              <a:rPr lang="ko-KR" altLang="en-US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모드</a:t>
            </a:r>
            <a:endParaRPr lang="en-US" altLang="ko-KR" b="1" dirty="0" smtClean="0">
              <a:solidFill>
                <a:srgbClr val="0000FF"/>
              </a:solidFill>
              <a:latin typeface="굴림" pitchFamily="50" charset="-127"/>
              <a:ea typeface="굴림" pitchFamily="50" charset="-127"/>
            </a:endParaRPr>
          </a:p>
          <a:p>
            <a:r>
              <a:rPr lang="en-US" altLang="ko-KR" sz="2400" b="1" dirty="0" err="1" smtClean="0">
                <a:latin typeface="굴림" pitchFamily="50" charset="-127"/>
                <a:ea typeface="굴림" pitchFamily="50" charset="-127"/>
              </a:rPr>
              <a:t>f.close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()</a:t>
            </a:r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60" y="2420564"/>
            <a:ext cx="8297375" cy="184115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파일 읽기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16507" y="1325560"/>
            <a:ext cx="7936173" cy="314445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400"/>
              </a:lnSpc>
            </a:pPr>
            <a:r>
              <a:rPr lang="en-US" altLang="ko-KR" sz="2400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f=open(“</a:t>
            </a:r>
            <a:r>
              <a:rPr lang="ko-KR" altLang="en-US" sz="2400" b="1" dirty="0" err="1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새파일</a:t>
            </a:r>
            <a:r>
              <a:rPr lang="en-US" altLang="ko-KR" sz="2400" b="1" dirty="0" smtClean="0">
                <a:solidFill>
                  <a:srgbClr val="0000FF"/>
                </a:solidFill>
                <a:latin typeface="굴림" pitchFamily="50" charset="-127"/>
                <a:ea typeface="굴림" pitchFamily="50" charset="-127"/>
              </a:rPr>
              <a:t>.txt", 'w‘, encoding=‘utf-8’)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for </a:t>
            </a:r>
            <a:r>
              <a:rPr lang="en-US" altLang="ko-KR" sz="2400" b="1" dirty="0" err="1" smtClean="0">
                <a:latin typeface="굴림" pitchFamily="50" charset="-127"/>
                <a:ea typeface="굴림" pitchFamily="50" charset="-127"/>
              </a:rPr>
              <a:t>i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 in range(1, 11):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	data = "%d</a:t>
            </a:r>
            <a:r>
              <a:rPr lang="ko-KR" altLang="en-US" sz="2400" b="1" dirty="0" smtClean="0">
                <a:latin typeface="굴림" pitchFamily="50" charset="-127"/>
                <a:ea typeface="굴림" pitchFamily="50" charset="-127"/>
              </a:rPr>
              <a:t>번째 줄입니다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. \n"  %</a:t>
            </a:r>
            <a:r>
              <a:rPr lang="en-US" altLang="ko-KR" sz="2400" b="1" dirty="0" err="1" smtClean="0">
                <a:latin typeface="굴림" pitchFamily="50" charset="-127"/>
                <a:ea typeface="굴림" pitchFamily="50" charset="-127"/>
              </a:rPr>
              <a:t>i</a:t>
            </a:r>
            <a:endParaRPr lang="en-US" altLang="ko-KR" sz="2400" b="1" dirty="0" smtClean="0">
              <a:latin typeface="굴림" pitchFamily="50" charset="-127"/>
              <a:ea typeface="굴림" pitchFamily="50" charset="-127"/>
            </a:endParaRPr>
          </a:p>
          <a:p>
            <a:pPr>
              <a:lnSpc>
                <a:spcPts val="3400"/>
              </a:lnSpc>
            </a:pP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	</a:t>
            </a:r>
            <a:r>
              <a:rPr lang="en-US" altLang="ko-KR" sz="2400" b="1" dirty="0" err="1" smtClean="0">
                <a:latin typeface="굴림" pitchFamily="50" charset="-127"/>
                <a:ea typeface="굴림" pitchFamily="50" charset="-127"/>
              </a:rPr>
              <a:t>f.write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(data)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err="1" smtClean="0">
                <a:latin typeface="굴림" pitchFamily="50" charset="-127"/>
                <a:ea typeface="굴림" pitchFamily="50" charset="-127"/>
              </a:rPr>
              <a:t>f.close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()</a:t>
            </a:r>
          </a:p>
          <a:p>
            <a:pPr>
              <a:lnSpc>
                <a:spcPts val="3400"/>
              </a:lnSpc>
            </a:pPr>
            <a:endParaRPr lang="en-US" altLang="ko-KR" sz="2400" b="1" dirty="0" smtClean="0">
              <a:latin typeface="굴림" pitchFamily="50" charset="-127"/>
              <a:ea typeface="굴림" pitchFamily="50" charset="-127"/>
            </a:endParaRPr>
          </a:p>
          <a:p>
            <a:pPr>
              <a:lnSpc>
                <a:spcPts val="3400"/>
              </a:lnSpc>
            </a:pPr>
            <a:endParaRPr lang="en-US" altLang="ko-KR" sz="2400" b="1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파일 읽기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634620" y="1204753"/>
            <a:ext cx="7799695" cy="16312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f=open(“</a:t>
            </a:r>
            <a:r>
              <a:rPr lang="ko-KR" altLang="en-US" sz="2400" b="1" dirty="0" err="1" smtClean="0">
                <a:latin typeface="굴림" pitchFamily="50" charset="-127"/>
                <a:ea typeface="굴림" pitchFamily="50" charset="-127"/>
              </a:rPr>
              <a:t>새파일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.txt", 'r‘, encoding=‘utf-8’)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line=</a:t>
            </a:r>
            <a:r>
              <a:rPr lang="en-US" altLang="ko-KR" sz="2400" b="1" dirty="0" err="1" smtClean="0">
                <a:latin typeface="굴림" pitchFamily="50" charset="-127"/>
                <a:ea typeface="굴림" pitchFamily="50" charset="-127"/>
              </a:rPr>
              <a:t>f.readline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()          </a:t>
            </a:r>
            <a:r>
              <a:rPr lang="en-US" altLang="ko-KR" sz="2400" dirty="0" smtClean="0">
                <a:solidFill>
                  <a:srgbClr val="000099"/>
                </a:solidFill>
                <a:latin typeface="굴림" pitchFamily="50" charset="-127"/>
                <a:ea typeface="굴림" pitchFamily="50" charset="-127"/>
              </a:rPr>
              <a:t># </a:t>
            </a:r>
            <a:r>
              <a:rPr lang="ko-KR" altLang="en-US" sz="2400" dirty="0" smtClean="0">
                <a:solidFill>
                  <a:srgbClr val="000099"/>
                </a:solidFill>
                <a:latin typeface="굴림" pitchFamily="50" charset="-127"/>
                <a:ea typeface="굴림" pitchFamily="50" charset="-127"/>
              </a:rPr>
              <a:t>한 줄 읽기</a:t>
            </a:r>
            <a:endParaRPr lang="en-US" altLang="ko-KR" sz="2400" dirty="0" smtClean="0">
              <a:solidFill>
                <a:srgbClr val="000099"/>
              </a:solidFill>
              <a:latin typeface="굴림" pitchFamily="50" charset="-127"/>
              <a:ea typeface="굴림" pitchFamily="50" charset="-127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print(line)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 err="1" smtClean="0">
                <a:latin typeface="굴림" pitchFamily="50" charset="-127"/>
                <a:ea typeface="굴림" pitchFamily="50" charset="-127"/>
              </a:rPr>
              <a:t>f.close</a:t>
            </a:r>
            <a:r>
              <a:rPr lang="en-US" altLang="ko-KR" sz="2400" b="1" dirty="0" smtClean="0">
                <a:latin typeface="굴림" pitchFamily="50" charset="-127"/>
                <a:ea typeface="굴림" pitchFamily="50" charset="-127"/>
              </a:rPr>
              <a:t>()</a:t>
            </a:r>
            <a:endParaRPr lang="ko-KR" altLang="en-US" sz="2400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93678" y="3316111"/>
            <a:ext cx="6707875" cy="230832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f=open(“</a:t>
            </a:r>
            <a:r>
              <a:rPr lang="ko-KR" altLang="en-US" sz="2400" b="1" dirty="0" err="1" smtClean="0">
                <a:solidFill>
                  <a:srgbClr val="000099"/>
                </a:solidFill>
              </a:rPr>
              <a:t>새파일</a:t>
            </a:r>
            <a:r>
              <a:rPr lang="en-US" altLang="ko-KR" sz="2400" b="1" dirty="0" smtClean="0">
                <a:solidFill>
                  <a:srgbClr val="000099"/>
                </a:solidFill>
              </a:rPr>
              <a:t>.txt", 'r‘, encoding=‘utf-8’)</a:t>
            </a:r>
          </a:p>
          <a:p>
            <a:r>
              <a:rPr lang="en-US" altLang="ko-KR" sz="2400" b="1" dirty="0" smtClean="0">
                <a:solidFill>
                  <a:srgbClr val="000099"/>
                </a:solidFill>
              </a:rPr>
              <a:t>while True:</a:t>
            </a:r>
          </a:p>
          <a:p>
            <a:r>
              <a:rPr lang="en-US" altLang="ko-KR" sz="2400" b="1" dirty="0" smtClean="0">
                <a:solidFill>
                  <a:srgbClr val="000099"/>
                </a:solidFill>
              </a:rPr>
              <a:t>	line=</a:t>
            </a:r>
            <a:r>
              <a:rPr lang="en-US" altLang="ko-KR" sz="2400" b="1" dirty="0" err="1" smtClean="0">
                <a:solidFill>
                  <a:srgbClr val="000099"/>
                </a:solidFill>
              </a:rPr>
              <a:t>f.readline</a:t>
            </a:r>
            <a:r>
              <a:rPr lang="en-US" altLang="ko-KR" sz="2400" b="1" dirty="0" smtClean="0">
                <a:solidFill>
                  <a:srgbClr val="000099"/>
                </a:solidFill>
              </a:rPr>
              <a:t>()</a:t>
            </a:r>
          </a:p>
          <a:p>
            <a:r>
              <a:rPr lang="en-US" altLang="ko-KR" sz="2400" b="1" dirty="0" smtClean="0">
                <a:solidFill>
                  <a:srgbClr val="000099"/>
                </a:solidFill>
              </a:rPr>
              <a:t>	if not line: break</a:t>
            </a:r>
          </a:p>
          <a:p>
            <a:r>
              <a:rPr lang="en-US" altLang="ko-KR" sz="2400" b="1" dirty="0" smtClean="0">
                <a:solidFill>
                  <a:srgbClr val="000099"/>
                </a:solidFill>
              </a:rPr>
              <a:t>	print(line)</a:t>
            </a:r>
          </a:p>
          <a:p>
            <a:r>
              <a:rPr lang="en-US" altLang="ko-KR" sz="2400" b="1" dirty="0" err="1" smtClean="0">
                <a:solidFill>
                  <a:srgbClr val="000099"/>
                </a:solidFill>
              </a:rPr>
              <a:t>f.close</a:t>
            </a:r>
            <a:r>
              <a:rPr lang="en-US" altLang="ko-KR" sz="2400" b="1" dirty="0" smtClean="0">
                <a:solidFill>
                  <a:srgbClr val="000099"/>
                </a:solidFill>
              </a:rPr>
              <a:t>()</a:t>
            </a:r>
            <a:endParaRPr lang="ko-KR" altLang="en-US" sz="2400" b="1" dirty="0">
              <a:solidFill>
                <a:srgbClr val="000099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559558" y="3152647"/>
            <a:ext cx="8134066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파일 읽기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539085" y="1803232"/>
            <a:ext cx="7513093" cy="24006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f=open(“</a:t>
            </a:r>
            <a:r>
              <a:rPr lang="ko-KR" altLang="en-US" sz="2400" b="1" dirty="0" err="1" smtClean="0">
                <a:latin typeface="HY그래픽" pitchFamily="18" charset="-127"/>
                <a:ea typeface="HY그래픽" pitchFamily="18" charset="-127"/>
              </a:rPr>
              <a:t>새파일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.txt", 'r’, encoding=‘utf-8’)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lines=</a:t>
            </a: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f.readlines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()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for line in lines: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	print(line)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f.close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()</a:t>
            </a:r>
            <a:endParaRPr lang="ko-KR" altLang="en-US" sz="2400" b="1" dirty="0">
              <a:latin typeface="HY그래픽" pitchFamily="18" charset="-127"/>
              <a:ea typeface="HY그래픽" pitchFamily="18" charset="-127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55935" y="1078173"/>
            <a:ext cx="9088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en-US" altLang="ko-KR" sz="2000" b="1" dirty="0" err="1" smtClean="0"/>
              <a:t>readlines</a:t>
            </a:r>
            <a:r>
              <a:rPr lang="en-US" altLang="ko-KR" sz="2000" b="1" dirty="0" smtClean="0"/>
              <a:t>()   </a:t>
            </a:r>
            <a:r>
              <a:rPr lang="ko-KR" altLang="en-US" sz="2000" b="1" dirty="0" smtClean="0"/>
              <a:t>파일의 모든 라인을 읽어서 각각의 줄을 요소로 갖는 리스트로 리턴</a:t>
            </a:r>
            <a:endParaRPr lang="ko-KR" altLang="en-US" sz="20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파일 읽기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TextBox 10"/>
          <p:cNvSpPr txBox="1"/>
          <p:nvPr/>
        </p:nvSpPr>
        <p:spPr>
          <a:xfrm>
            <a:off x="287951" y="1105469"/>
            <a:ext cx="5562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en-US" altLang="ko-KR" sz="2000" b="1" dirty="0" err="1" smtClean="0"/>
              <a:t>f.read</a:t>
            </a:r>
            <a:r>
              <a:rPr lang="en-US" altLang="ko-KR" sz="2000" b="1" dirty="0" smtClean="0"/>
              <a:t>() </a:t>
            </a:r>
            <a:r>
              <a:rPr lang="ko-KR" altLang="en-US" sz="2000" b="1" dirty="0" smtClean="0"/>
              <a:t>함수는 파일 내용 전체를 문자열로 리턴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661916" y="1898766"/>
            <a:ext cx="7813344" cy="18876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f=open(“</a:t>
            </a:r>
            <a:r>
              <a:rPr lang="ko-KR" altLang="en-US" sz="2400" b="1" dirty="0" err="1" smtClean="0">
                <a:latin typeface="HY그래픽" pitchFamily="18" charset="-127"/>
                <a:ea typeface="HY그래픽" pitchFamily="18" charset="-127"/>
              </a:rPr>
              <a:t>새파일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.txt", 'r', encoding=‘utf-8’)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s=</a:t>
            </a: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f.read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()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print (s)</a:t>
            </a:r>
          </a:p>
          <a:p>
            <a:pPr>
              <a:lnSpc>
                <a:spcPts val="3500"/>
              </a:lnSpc>
            </a:pP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f.close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()</a:t>
            </a:r>
            <a:endParaRPr lang="ko-KR" altLang="en-US" sz="2400" b="1" dirty="0">
              <a:latin typeface="HY그래픽" pitchFamily="18" charset="-127"/>
              <a:ea typeface="HY그래픽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파일 읽기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TextBox 10"/>
          <p:cNvSpPr txBox="1"/>
          <p:nvPr/>
        </p:nvSpPr>
        <p:spPr>
          <a:xfrm>
            <a:off x="287951" y="1105469"/>
            <a:ext cx="3185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 </a:t>
            </a:r>
            <a:r>
              <a:rPr lang="ko-KR" altLang="en-US" sz="2000" b="1" dirty="0" smtClean="0"/>
              <a:t>새로운 값을 추가할 경우 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648267" y="1748640"/>
            <a:ext cx="7035421" cy="25930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f=open(“</a:t>
            </a:r>
            <a:r>
              <a:rPr lang="ko-KR" altLang="en-US" sz="2400" b="1" dirty="0" err="1" smtClean="0">
                <a:latin typeface="HY그래픽" pitchFamily="18" charset="-127"/>
                <a:ea typeface="HY그래픽" pitchFamily="18" charset="-127"/>
              </a:rPr>
              <a:t>새파일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.txt", 'a', encoding=‘utf-8’)</a:t>
            </a:r>
          </a:p>
          <a:p>
            <a:pPr>
              <a:lnSpc>
                <a:spcPts val="39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for </a:t>
            </a: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i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 in range(11, 20):</a:t>
            </a:r>
          </a:p>
          <a:p>
            <a:pPr>
              <a:lnSpc>
                <a:spcPts val="39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	data = "%d</a:t>
            </a:r>
            <a:r>
              <a:rPr lang="ko-KR" altLang="en-US" sz="2400" b="1" dirty="0" smtClean="0">
                <a:latin typeface="HY그래픽" pitchFamily="18" charset="-127"/>
                <a:ea typeface="HY그래픽" pitchFamily="18" charset="-127"/>
              </a:rPr>
              <a:t>번째 줄입니다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.\n" %</a:t>
            </a: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i</a:t>
            </a:r>
            <a:endParaRPr lang="en-US" altLang="ko-KR" sz="2400" b="1" dirty="0" smtClean="0">
              <a:latin typeface="HY그래픽" pitchFamily="18" charset="-127"/>
              <a:ea typeface="HY그래픽" pitchFamily="18" charset="-127"/>
            </a:endParaRPr>
          </a:p>
          <a:p>
            <a:pPr>
              <a:lnSpc>
                <a:spcPts val="3900"/>
              </a:lnSpc>
            </a:pP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	</a:t>
            </a: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f.write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(data)</a:t>
            </a:r>
          </a:p>
          <a:p>
            <a:pPr>
              <a:lnSpc>
                <a:spcPts val="3900"/>
              </a:lnSpc>
            </a:pPr>
            <a:r>
              <a:rPr lang="en-US" altLang="ko-KR" sz="2400" b="1" dirty="0" err="1" smtClean="0">
                <a:latin typeface="HY그래픽" pitchFamily="18" charset="-127"/>
                <a:ea typeface="HY그래픽" pitchFamily="18" charset="-127"/>
              </a:rPr>
              <a:t>f.close</a:t>
            </a:r>
            <a:r>
              <a:rPr lang="en-US" altLang="ko-KR" sz="2400" b="1" dirty="0" smtClean="0">
                <a:latin typeface="HY그래픽" pitchFamily="18" charset="-127"/>
                <a:ea typeface="HY그래픽" pitchFamily="18" charset="-127"/>
              </a:rPr>
              <a:t>()</a:t>
            </a:r>
            <a:endParaRPr lang="ko-KR" altLang="en-US" sz="2400" b="1" dirty="0">
              <a:latin typeface="HY그래픽" pitchFamily="18" charset="-127"/>
              <a:ea typeface="HY그래픽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파일에 새로운 값 추가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TextBox 10"/>
          <p:cNvSpPr txBox="1"/>
          <p:nvPr/>
        </p:nvSpPr>
        <p:spPr>
          <a:xfrm>
            <a:off x="287951" y="1105469"/>
            <a:ext cx="6324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 </a:t>
            </a:r>
            <a:r>
              <a:rPr lang="ko-KR" altLang="en-US" sz="2000" b="1" dirty="0" smtClean="0"/>
              <a:t>파일을 열고 닫는 것을 자동으로 처리</a:t>
            </a:r>
            <a:endParaRPr lang="en-US" altLang="ko-KR" sz="2000" b="1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with </a:t>
            </a:r>
            <a:r>
              <a:rPr lang="ko-KR" altLang="en-US" sz="2000" b="1" dirty="0" smtClean="0"/>
              <a:t>문을 벗어나면 자동으로 파일 객체 </a:t>
            </a:r>
            <a:r>
              <a:rPr lang="en-US" altLang="ko-KR" sz="2000" b="1" dirty="0" smtClean="0"/>
              <a:t>f</a:t>
            </a:r>
            <a:r>
              <a:rPr lang="ko-KR" altLang="en-US" sz="2000" b="1" dirty="0" smtClean="0"/>
              <a:t>가 </a:t>
            </a:r>
            <a:r>
              <a:rPr lang="en-US" altLang="ko-KR" sz="2000" b="1" dirty="0" smtClean="0"/>
              <a:t>close </a:t>
            </a:r>
            <a:r>
              <a:rPr lang="ko-KR" altLang="en-US" sz="2000" b="1" dirty="0" smtClean="0"/>
              <a:t>된다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620972" y="2444677"/>
            <a:ext cx="8099948" cy="10429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00"/>
              </a:lnSpc>
            </a:pPr>
            <a:r>
              <a:rPr lang="en-US" sz="2400" b="1" dirty="0" smtClean="0"/>
              <a:t>with </a:t>
            </a:r>
            <a:r>
              <a:rPr lang="en-US" sz="2400" dirty="0" smtClean="0"/>
              <a:t>open(</a:t>
            </a:r>
            <a:r>
              <a:rPr lang="en-US" sz="2400" b="1" dirty="0" smtClean="0"/>
              <a:t>"</a:t>
            </a:r>
            <a:r>
              <a:rPr lang="ko-KR" altLang="en-US" sz="2400" b="1" dirty="0" err="1" smtClean="0"/>
              <a:t>새파일</a:t>
            </a:r>
            <a:r>
              <a:rPr lang="en-US" altLang="ko-KR" sz="2400" b="1" dirty="0" smtClean="0"/>
              <a:t>1.</a:t>
            </a:r>
            <a:r>
              <a:rPr lang="en-US" sz="2400" b="1" dirty="0" smtClean="0"/>
              <a:t>txt"</a:t>
            </a:r>
            <a:r>
              <a:rPr lang="en-US" sz="2400" dirty="0" smtClean="0"/>
              <a:t>, </a:t>
            </a:r>
            <a:r>
              <a:rPr lang="en-US" sz="2400" b="1" dirty="0" smtClean="0"/>
              <a:t>'w'</a:t>
            </a:r>
            <a:r>
              <a:rPr lang="en-US" sz="2400" dirty="0" smtClean="0"/>
              <a:t>, encoding=</a:t>
            </a:r>
            <a:r>
              <a:rPr lang="en-US" sz="2400" b="1" dirty="0" smtClean="0"/>
              <a:t>'utf-8'</a:t>
            </a:r>
            <a:r>
              <a:rPr lang="en-US" sz="2400" dirty="0" smtClean="0"/>
              <a:t>) </a:t>
            </a:r>
            <a:r>
              <a:rPr lang="en-US" sz="2400" b="1" dirty="0" smtClean="0"/>
              <a:t>as </a:t>
            </a:r>
            <a:r>
              <a:rPr lang="en-US" sz="2400" dirty="0" smtClean="0"/>
              <a:t>f:</a:t>
            </a:r>
            <a:br>
              <a:rPr lang="en-US" sz="2400" dirty="0" smtClean="0"/>
            </a:br>
            <a:r>
              <a:rPr lang="en-US" sz="2400" dirty="0" smtClean="0"/>
              <a:t>          </a:t>
            </a:r>
            <a:r>
              <a:rPr lang="en-US" sz="2400" dirty="0" err="1" smtClean="0"/>
              <a:t>f.write</a:t>
            </a:r>
            <a:r>
              <a:rPr lang="en-US" sz="2400" dirty="0" smtClean="0"/>
              <a:t>(</a:t>
            </a:r>
            <a:r>
              <a:rPr lang="en-US" sz="2400" b="1" dirty="0" smtClean="0"/>
              <a:t>"</a:t>
            </a:r>
            <a:r>
              <a:rPr lang="ko-KR" altLang="en-US" sz="2400" b="1" dirty="0" smtClean="0"/>
              <a:t>새로운 파일을 만들고 닫습니다</a:t>
            </a:r>
            <a:r>
              <a:rPr lang="en-US" altLang="ko-KR" sz="2400" b="1" dirty="0" smtClean="0"/>
              <a:t>."</a:t>
            </a:r>
            <a:r>
              <a:rPr lang="en-US" altLang="ko-KR" sz="2400" dirty="0" smtClean="0"/>
              <a:t>)</a:t>
            </a:r>
            <a:endParaRPr lang="ko-KR" altLang="en-US" sz="2400" b="1" dirty="0">
              <a:latin typeface="HY그래픽" pitchFamily="18" charset="-127"/>
              <a:ea typeface="HY그래픽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파일 읽기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TextBox 10"/>
          <p:cNvSpPr txBox="1"/>
          <p:nvPr/>
        </p:nvSpPr>
        <p:spPr>
          <a:xfrm>
            <a:off x="287951" y="1105469"/>
            <a:ext cx="85363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 </a:t>
            </a:r>
            <a:r>
              <a:rPr lang="ko-KR" altLang="en-US" sz="2000" b="1" dirty="0" smtClean="0"/>
              <a:t>파일로 기록할 문자열을 줄 단위로 가지고 있으면 </a:t>
            </a:r>
            <a:r>
              <a:rPr lang="en-US" altLang="ko-KR" sz="2000" b="1" dirty="0" err="1" smtClean="0"/>
              <a:t>writelines</a:t>
            </a:r>
            <a:r>
              <a:rPr lang="en-US" altLang="ko-KR" sz="2000" b="1" dirty="0" smtClean="0"/>
              <a:t>() </a:t>
            </a:r>
            <a:r>
              <a:rPr lang="ko-KR" altLang="en-US" sz="2000" b="1" dirty="0" err="1" smtClean="0"/>
              <a:t>메소드</a:t>
            </a:r>
            <a:r>
              <a:rPr lang="ko-KR" altLang="en-US" sz="2000" b="1" dirty="0" smtClean="0"/>
              <a:t> 사용</a:t>
            </a:r>
            <a:endParaRPr lang="en-US" altLang="ko-KR" sz="2000" b="1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리스트 안의 문자열을 연속으로 출력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620972" y="2444677"/>
            <a:ext cx="8099948" cy="159274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00"/>
              </a:lnSpc>
            </a:pPr>
            <a:r>
              <a:rPr lang="en-US" sz="2400" dirty="0" smtClean="0"/>
              <a:t>lines=[</a:t>
            </a:r>
            <a:r>
              <a:rPr lang="en-US" sz="2400" b="1" dirty="0" smtClean="0"/>
              <a:t>'first line\n'</a:t>
            </a:r>
            <a:r>
              <a:rPr lang="en-US" sz="2400" dirty="0" smtClean="0"/>
              <a:t>, </a:t>
            </a:r>
            <a:r>
              <a:rPr lang="en-US" sz="2400" b="1" dirty="0" smtClean="0"/>
              <a:t>'second line\n'</a:t>
            </a:r>
            <a:r>
              <a:rPr lang="en-US" sz="2400" dirty="0" smtClean="0"/>
              <a:t>, </a:t>
            </a:r>
            <a:r>
              <a:rPr lang="en-US" sz="2400" b="1" dirty="0" smtClean="0"/>
              <a:t>'third line\n‘</a:t>
            </a:r>
            <a:r>
              <a:rPr lang="en-US" sz="2400" dirty="0" smtClean="0"/>
              <a:t>]</a:t>
            </a:r>
            <a:br>
              <a:rPr lang="en-US" sz="2400" dirty="0" smtClean="0"/>
            </a:br>
            <a:r>
              <a:rPr lang="en-US" sz="2400" dirty="0" smtClean="0"/>
              <a:t>f =open(</a:t>
            </a:r>
            <a:r>
              <a:rPr lang="en-US" sz="2400" b="1" dirty="0" smtClean="0"/>
              <a:t>'text1.txt'</a:t>
            </a:r>
            <a:r>
              <a:rPr lang="en-US" sz="2400" dirty="0" smtClean="0"/>
              <a:t>, </a:t>
            </a:r>
            <a:r>
              <a:rPr lang="en-US" sz="2400" b="1" dirty="0" smtClean="0"/>
              <a:t>'w'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r>
              <a:rPr lang="en-US" sz="2400" dirty="0" err="1" smtClean="0"/>
              <a:t>f.writelines</a:t>
            </a:r>
            <a:r>
              <a:rPr lang="en-US" sz="2400" dirty="0" smtClean="0"/>
              <a:t>(lines)</a:t>
            </a:r>
            <a:endParaRPr lang="ko-KR" altLang="en-US" sz="2400" b="1" dirty="0">
              <a:latin typeface="HY그래픽" pitchFamily="18" charset="-127"/>
              <a:ea typeface="HY그래픽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줄 단위로 쓰기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30686" y="1304962"/>
            <a:ext cx="8278314" cy="21677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객체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실 생활에서 일종의 물건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             </a:t>
            </a:r>
            <a:r>
              <a:rPr lang="ko-KR" altLang="en-US" sz="2000" b="1" dirty="0" smtClean="0"/>
              <a:t>속성</a:t>
            </a:r>
            <a:r>
              <a:rPr lang="en-US" altLang="ko-KR" sz="2000" b="1" dirty="0" smtClean="0"/>
              <a:t>(Attribute)</a:t>
            </a:r>
            <a:r>
              <a:rPr lang="ko-KR" altLang="en-US" sz="2000" b="1" dirty="0" smtClean="0"/>
              <a:t>과 행동</a:t>
            </a:r>
            <a:r>
              <a:rPr lang="en-US" altLang="ko-KR" sz="2000" b="1" dirty="0" smtClean="0"/>
              <a:t>(Action)</a:t>
            </a:r>
            <a:r>
              <a:rPr lang="ko-KR" altLang="en-US" sz="2000" b="1" dirty="0" smtClean="0"/>
              <a:t>을 가짐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smtClean="0"/>
              <a:t>OOP</a:t>
            </a:r>
            <a:r>
              <a:rPr lang="ko-KR" altLang="en-US" sz="2000" b="1" dirty="0" smtClean="0"/>
              <a:t>는 이러한 객체 개념을 프로그램으로 표현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속성은 </a:t>
            </a:r>
            <a:r>
              <a:rPr lang="en-US" altLang="ko-KR" sz="2000" b="1" dirty="0" smtClean="0"/>
              <a:t>variable, </a:t>
            </a:r>
            <a:r>
              <a:rPr lang="ko-KR" altLang="en-US" sz="2000" b="1" dirty="0" smtClean="0"/>
              <a:t>행동은 함수로 표현됨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err="1" smtClean="0"/>
              <a:t>파이썬</a:t>
            </a:r>
            <a:r>
              <a:rPr lang="ko-KR" altLang="en-US" sz="2000" b="1" dirty="0" smtClean="0"/>
              <a:t> 역시 객체 지향 프로그래밍 언어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OOP: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Objective Oriented Programming Overview</a:t>
            </a:r>
            <a:endParaRPr lang="ko-KR" altLang="en-US" sz="20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30686" y="1304962"/>
            <a:ext cx="8278314" cy="26314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인공 지능 축구 프로그램을 작성한다고 가정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객체 종류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팀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선수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심판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공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smtClean="0"/>
              <a:t>Action : </a:t>
            </a:r>
            <a:r>
              <a:rPr lang="ko-KR" altLang="en-US" sz="2000" b="1" dirty="0" smtClean="0"/>
              <a:t>선수 </a:t>
            </a:r>
            <a:r>
              <a:rPr lang="en-US" altLang="ko-KR" sz="2000" b="1" dirty="0" smtClean="0"/>
              <a:t>= </a:t>
            </a:r>
            <a:r>
              <a:rPr lang="ko-KR" altLang="en-US" sz="2000" b="1" dirty="0" smtClean="0"/>
              <a:t>공을 차다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패스하다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</a:pPr>
            <a:r>
              <a:rPr lang="en-US" altLang="ko-KR" sz="2000" b="1" dirty="0" smtClean="0"/>
              <a:t>                      </a:t>
            </a:r>
            <a:r>
              <a:rPr lang="ko-KR" altLang="en-US" sz="2000" b="1" dirty="0" smtClean="0"/>
              <a:t>심판 </a:t>
            </a:r>
            <a:r>
              <a:rPr lang="en-US" altLang="ko-KR" sz="2000" b="1" dirty="0" smtClean="0"/>
              <a:t>= </a:t>
            </a:r>
            <a:r>
              <a:rPr lang="ko-KR" altLang="en-US" sz="2000" b="1" dirty="0" smtClean="0"/>
              <a:t>휘슬을 분다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경고를 준다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Attribute : </a:t>
            </a:r>
            <a:r>
              <a:rPr lang="ko-KR" altLang="en-US" sz="2000" b="1" dirty="0" smtClean="0"/>
              <a:t>선수 </a:t>
            </a:r>
            <a:r>
              <a:rPr lang="en-US" altLang="ko-KR" sz="2000" b="1" dirty="0" smtClean="0"/>
              <a:t>= </a:t>
            </a:r>
            <a:r>
              <a:rPr lang="ko-KR" altLang="en-US" sz="2000" b="1" dirty="0" smtClean="0"/>
              <a:t>선수 이름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포지션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소속팀</a:t>
            </a:r>
            <a:endParaRPr lang="en-US" altLang="ko-KR" sz="2000" b="1" dirty="0" smtClean="0"/>
          </a:p>
          <a:p>
            <a:pPr marL="342900" indent="-342900">
              <a:lnSpc>
                <a:spcPts val="3300"/>
              </a:lnSpc>
            </a:pPr>
            <a:r>
              <a:rPr lang="en-US" altLang="ko-KR" sz="2000" b="1" dirty="0" smtClean="0"/>
              <a:t>                           </a:t>
            </a:r>
            <a:r>
              <a:rPr lang="ko-KR" altLang="en-US" sz="2000" b="1" dirty="0" smtClean="0"/>
              <a:t>팀 </a:t>
            </a:r>
            <a:r>
              <a:rPr lang="en-US" altLang="ko-KR" sz="2000" b="1" dirty="0" smtClean="0"/>
              <a:t>= </a:t>
            </a:r>
            <a:r>
              <a:rPr lang="ko-KR" altLang="en-US" sz="2000" b="1" dirty="0" err="1" smtClean="0"/>
              <a:t>팀이름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팀 연고지</a:t>
            </a:r>
            <a:r>
              <a:rPr lang="en-US" altLang="ko-KR" sz="2000" b="1" dirty="0" smtClean="0"/>
              <a:t>, </a:t>
            </a:r>
            <a:r>
              <a:rPr lang="ko-KR" altLang="en-US" sz="2000" b="1" dirty="0" err="1" smtClean="0"/>
              <a:t>팀소속</a:t>
            </a:r>
            <a:r>
              <a:rPr lang="ko-KR" altLang="en-US" sz="2000" b="1" dirty="0" smtClean="0"/>
              <a:t> 선수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OOP: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Objective Oriented Programming Overview</a:t>
            </a:r>
            <a:endParaRPr lang="ko-KR" altLang="en-US" sz="20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30686" y="1304962"/>
            <a:ext cx="8278314" cy="93871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smtClean="0"/>
              <a:t>OOP</a:t>
            </a:r>
            <a:r>
              <a:rPr lang="ko-KR" altLang="en-US" sz="2000" b="1" dirty="0" smtClean="0"/>
              <a:t>는 설계도에 해당하는 클래스</a:t>
            </a:r>
            <a:r>
              <a:rPr lang="en-US" altLang="ko-KR" sz="2000" b="1" dirty="0" smtClean="0"/>
              <a:t>(class)</a:t>
            </a:r>
            <a:r>
              <a:rPr lang="ko-KR" altLang="en-US" sz="2000" b="1" dirty="0" smtClean="0"/>
              <a:t>와 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ko-KR" altLang="en-US" sz="2000" b="1" dirty="0" smtClean="0"/>
              <a:t>실제 구현체인 </a:t>
            </a:r>
            <a:r>
              <a:rPr lang="ko-KR" altLang="en-US" sz="2000" b="1" dirty="0" err="1" smtClean="0"/>
              <a:t>인스턴스</a:t>
            </a:r>
            <a:r>
              <a:rPr lang="en-US" altLang="ko-KR" sz="2000" b="1" dirty="0" smtClean="0"/>
              <a:t>(instance)</a:t>
            </a:r>
            <a:r>
              <a:rPr lang="ko-KR" altLang="en-US" sz="2000" b="1" dirty="0" smtClean="0"/>
              <a:t>로 나눔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OOP: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 Objective Oriented Programming Overview</a:t>
            </a:r>
            <a:endParaRPr lang="ko-KR" altLang="en-US" sz="2000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Picture 4" descr="관련 이미지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3927" y="2689760"/>
            <a:ext cx="2857500" cy="2857500"/>
          </a:xfrm>
          <a:prstGeom prst="rect">
            <a:avLst/>
          </a:prstGeom>
          <a:noFill/>
        </p:spPr>
      </p:pic>
      <p:pic>
        <p:nvPicPr>
          <p:cNvPr id="6" name="Picture 6" descr="붕어빵에 대한 이미지 검색결과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16159" y="3170711"/>
            <a:ext cx="2600070" cy="1852551"/>
          </a:xfrm>
          <a:prstGeom prst="rect">
            <a:avLst/>
          </a:prstGeom>
          <a:noFill/>
        </p:spPr>
      </p:pic>
      <p:sp>
        <p:nvSpPr>
          <p:cNvPr id="7" name="오른쪽 화살표 6"/>
          <p:cNvSpPr/>
          <p:nvPr/>
        </p:nvSpPr>
        <p:spPr>
          <a:xfrm>
            <a:off x="4465122" y="3871355"/>
            <a:ext cx="831273" cy="463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86296" y="5569527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/>
              <a:t>붕어빵 틀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Class</a:t>
            </a:r>
            <a:endParaRPr lang="ko-KR" altLang="en-US" b="1" dirty="0"/>
          </a:p>
        </p:txBody>
      </p:sp>
      <p:sp>
        <p:nvSpPr>
          <p:cNvPr id="9" name="TextBox 9"/>
          <p:cNvSpPr txBox="1"/>
          <p:nvPr/>
        </p:nvSpPr>
        <p:spPr>
          <a:xfrm>
            <a:off x="6339444" y="5460669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/>
              <a:t>붕어빵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Instance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30686" y="1304962"/>
            <a:ext cx="8278314" cy="40934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err="1" smtClean="0"/>
              <a:t>파이썬</a:t>
            </a:r>
            <a:r>
              <a:rPr lang="ko-KR" altLang="en-US" sz="2000" b="1" dirty="0" smtClean="0"/>
              <a:t> 클래스는 새로운 이름 공간을 지원하는 또다른 단위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대표적 이름공간 </a:t>
            </a:r>
            <a:r>
              <a:rPr lang="en-US" altLang="ko-KR" sz="2000" b="1" dirty="0" smtClean="0"/>
              <a:t>= </a:t>
            </a:r>
            <a:r>
              <a:rPr lang="ko-KR" altLang="en-US" sz="2000" b="1" dirty="0" smtClean="0"/>
              <a:t>모듈</a:t>
            </a:r>
            <a:r>
              <a:rPr lang="en-US" altLang="ko-KR" sz="2000" b="1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클래스 정의 구문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   class </a:t>
            </a:r>
            <a:r>
              <a:rPr lang="ko-KR" altLang="en-US" sz="2000" b="1" dirty="0" smtClean="0"/>
              <a:t>클래스 이름</a:t>
            </a:r>
            <a:r>
              <a:rPr lang="en-US" altLang="ko-KR" sz="2000" b="1" dirty="0" smtClean="0"/>
              <a:t>:</a:t>
            </a:r>
          </a:p>
          <a:p>
            <a:r>
              <a:rPr lang="en-US" altLang="ko-KR" sz="2000" b="1" dirty="0"/>
              <a:t> </a:t>
            </a:r>
            <a:r>
              <a:rPr lang="en-US" altLang="ko-KR" sz="2000" b="1" dirty="0" smtClean="0"/>
              <a:t>               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모듈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클래스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인스턴스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모듈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파일 단위로 이름 공간을 구성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클래스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클래스 영역 내에 이름 공간을 구성</a:t>
            </a:r>
            <a:endParaRPr lang="en-US" altLang="ko-KR" sz="2000" b="1" dirty="0" smtClean="0"/>
          </a:p>
          <a:p>
            <a:r>
              <a:rPr lang="en-US" altLang="ko-KR" sz="2000" b="1" dirty="0"/>
              <a:t> </a:t>
            </a:r>
            <a:r>
              <a:rPr lang="en-US" altLang="ko-KR" sz="2000" b="1" dirty="0" smtClean="0"/>
              <a:t>     - </a:t>
            </a:r>
            <a:r>
              <a:rPr lang="ko-KR" altLang="en-US" sz="2000" b="1" dirty="0" smtClean="0"/>
              <a:t>인스턴스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인스턴스 영역 내에 이름 공간을 구성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        </a:t>
            </a:r>
            <a:r>
              <a:rPr lang="ko-KR" altLang="en-US" sz="2000" b="1" dirty="0" smtClean="0"/>
              <a:t>클래스가 공장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붕어빵 틀이면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인스턴스는 </a:t>
            </a:r>
            <a:r>
              <a:rPr lang="ko-KR" altLang="en-US" sz="2000" b="1" dirty="0" err="1" smtClean="0"/>
              <a:t>공장용품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붕어빵 재료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30686" y="1304962"/>
            <a:ext cx="8278314" cy="22980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32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400" b="1" dirty="0" smtClean="0"/>
              <a:t>변수와 </a:t>
            </a:r>
            <a:r>
              <a:rPr lang="ko-KR" altLang="en-US" sz="2400" b="1" dirty="0" err="1" smtClean="0"/>
              <a:t>클래스명</a:t>
            </a:r>
            <a:r>
              <a:rPr lang="en-US" altLang="ko-KR" sz="2400" b="1" dirty="0" smtClean="0"/>
              <a:t>, </a:t>
            </a:r>
            <a:r>
              <a:rPr lang="ko-KR" altLang="en-US" sz="2400" b="1" dirty="0" err="1" smtClean="0"/>
              <a:t>함수명은</a:t>
            </a:r>
            <a:r>
              <a:rPr lang="ko-KR" altLang="en-US" sz="2400" b="1" dirty="0" smtClean="0"/>
              <a:t> 짓는 방식이 존재</a:t>
            </a:r>
            <a:endParaRPr lang="en-US" altLang="ko-KR" sz="2400" b="1" dirty="0" smtClean="0"/>
          </a:p>
          <a:p>
            <a:pPr marL="342900" indent="-342900">
              <a:lnSpc>
                <a:spcPts val="32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 err="1" smtClean="0"/>
              <a:t>snake_case</a:t>
            </a:r>
            <a:r>
              <a:rPr lang="en-US" altLang="ko-KR" sz="2400" b="1" dirty="0" smtClean="0"/>
              <a:t> : </a:t>
            </a:r>
            <a:r>
              <a:rPr lang="ko-KR" altLang="en-US" sz="2400" b="1" dirty="0" err="1" smtClean="0"/>
              <a:t>띄워쓰기</a:t>
            </a:r>
            <a:r>
              <a:rPr lang="ko-KR" altLang="en-US" sz="2400" b="1" dirty="0" smtClean="0"/>
              <a:t> 부분에 </a:t>
            </a:r>
            <a:r>
              <a:rPr lang="en-US" altLang="ko-KR" sz="2400" b="1" dirty="0" smtClean="0"/>
              <a:t>"_" </a:t>
            </a:r>
            <a:r>
              <a:rPr lang="ko-KR" altLang="en-US" sz="2400" b="1" dirty="0" smtClean="0"/>
              <a:t>를 추가</a:t>
            </a:r>
            <a:r>
              <a:rPr lang="en-US" altLang="ko-KR" sz="2400" b="1" dirty="0" smtClean="0"/>
              <a:t/>
            </a:r>
            <a:br>
              <a:rPr lang="en-US" altLang="ko-KR" sz="2400" b="1" dirty="0" smtClean="0"/>
            </a:br>
            <a:r>
              <a:rPr lang="ko-KR" altLang="en-US" sz="2400" b="1" dirty="0" smtClean="0"/>
              <a:t>뱀처럼 </a:t>
            </a:r>
            <a:r>
              <a:rPr lang="ko-KR" altLang="en-US" sz="2400" b="1" dirty="0" err="1" smtClean="0"/>
              <a:t>늘여쓰기</a:t>
            </a:r>
            <a:r>
              <a:rPr lang="en-US" altLang="ko-KR" sz="2400" b="1" dirty="0" smtClean="0"/>
              <a:t>, </a:t>
            </a:r>
            <a:r>
              <a:rPr lang="ko-KR" altLang="en-US" sz="2400" b="1" dirty="0" err="1" smtClean="0"/>
              <a:t>파이썬</a:t>
            </a:r>
            <a:r>
              <a:rPr lang="ko-KR" altLang="en-US" sz="2400" b="1" dirty="0" smtClean="0"/>
              <a:t> 함수</a:t>
            </a:r>
            <a:r>
              <a:rPr lang="en-US" altLang="ko-KR" sz="2400" b="1" dirty="0" smtClean="0"/>
              <a:t>/</a:t>
            </a:r>
            <a:r>
              <a:rPr lang="ko-KR" altLang="en-US" sz="2400" b="1" dirty="0" err="1" smtClean="0"/>
              <a:t>변수명에</a:t>
            </a:r>
            <a:r>
              <a:rPr lang="ko-KR" altLang="en-US" sz="2400" b="1" dirty="0" smtClean="0"/>
              <a:t> 사용</a:t>
            </a:r>
            <a:endParaRPr lang="en-US" altLang="ko-KR" sz="2400" b="1" dirty="0" smtClean="0"/>
          </a:p>
          <a:p>
            <a:pPr marL="342900" indent="-3429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 smtClean="0"/>
              <a:t>CamelCase</a:t>
            </a:r>
            <a:r>
              <a:rPr lang="en-US" altLang="ko-KR" sz="2400" b="1" dirty="0" smtClean="0"/>
              <a:t> : </a:t>
            </a:r>
            <a:r>
              <a:rPr lang="ko-KR" altLang="en-US" sz="2400" b="1" dirty="0" err="1" smtClean="0"/>
              <a:t>띄워쓰기</a:t>
            </a:r>
            <a:r>
              <a:rPr lang="ko-KR" altLang="en-US" sz="2400" b="1" dirty="0" smtClean="0"/>
              <a:t> 부분에 대문자</a:t>
            </a:r>
            <a:r>
              <a:rPr lang="en-US" altLang="ko-KR" sz="2400" b="1" dirty="0" smtClean="0"/>
              <a:t/>
            </a:r>
            <a:br>
              <a:rPr lang="en-US" altLang="ko-KR" sz="2400" b="1" dirty="0" smtClean="0"/>
            </a:b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낙타의 등 모양</a:t>
            </a:r>
            <a:r>
              <a:rPr lang="en-US" altLang="ko-KR" sz="2400" b="1" dirty="0" smtClean="0"/>
              <a:t>, </a:t>
            </a:r>
            <a:r>
              <a:rPr lang="ko-KR" altLang="en-US" sz="2400" b="1" dirty="0" err="1" smtClean="0"/>
              <a:t>파이썬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Class </a:t>
            </a:r>
            <a:r>
              <a:rPr lang="ko-KR" altLang="en-US" sz="2400" b="1" dirty="0" smtClean="0"/>
              <a:t>명에 사용</a:t>
            </a:r>
            <a:endParaRPr lang="ko-KR" altLang="en-US" sz="24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Naming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21186" y="1152562"/>
            <a:ext cx="7935414" cy="37856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class S1:</a:t>
            </a:r>
          </a:p>
          <a:p>
            <a:r>
              <a:rPr lang="en-US" altLang="ko-KR" sz="2400" b="1" dirty="0"/>
              <a:t>	a=1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print (S1.a)	</a:t>
            </a:r>
          </a:p>
          <a:p>
            <a:r>
              <a:rPr lang="en-US" altLang="ko-KR" sz="2400" b="1" dirty="0"/>
              <a:t>S1.b =</a:t>
            </a:r>
            <a:r>
              <a:rPr lang="en-US" altLang="ko-KR" sz="2400" b="1" dirty="0" smtClean="0"/>
              <a:t>2                </a:t>
            </a:r>
            <a:r>
              <a:rPr lang="en-US" altLang="ko-KR" sz="2400" dirty="0" smtClean="0">
                <a:solidFill>
                  <a:srgbClr val="0000FF"/>
                </a:solidFill>
              </a:rPr>
              <a:t># class </a:t>
            </a:r>
            <a:r>
              <a:rPr lang="ko-KR" altLang="en-US" sz="2400" dirty="0" smtClean="0">
                <a:solidFill>
                  <a:srgbClr val="0000FF"/>
                </a:solidFill>
              </a:rPr>
              <a:t>이름 공간에 새로운 이름 생성</a:t>
            </a:r>
            <a:endParaRPr lang="en-US" altLang="ko-KR" sz="2400" dirty="0">
              <a:solidFill>
                <a:srgbClr val="0000FF"/>
              </a:solidFill>
            </a:endParaRPr>
          </a:p>
          <a:p>
            <a:r>
              <a:rPr lang="en-US" altLang="ko-KR" sz="2400" b="1" dirty="0"/>
              <a:t>print (S1.b)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print (</a:t>
            </a:r>
            <a:r>
              <a:rPr lang="en-US" altLang="ko-KR" sz="2400" b="1" dirty="0" err="1"/>
              <a:t>dir</a:t>
            </a:r>
            <a:r>
              <a:rPr lang="en-US" altLang="ko-KR" sz="2400" b="1" dirty="0"/>
              <a:t>(S1))     </a:t>
            </a:r>
            <a:r>
              <a:rPr lang="en-US" altLang="ko-KR" sz="2400" dirty="0">
                <a:solidFill>
                  <a:srgbClr val="0000FF"/>
                </a:solidFill>
              </a:rPr>
              <a:t># S1</a:t>
            </a:r>
            <a:r>
              <a:rPr lang="ko-KR" altLang="en-US" sz="2400" dirty="0">
                <a:solidFill>
                  <a:srgbClr val="0000FF"/>
                </a:solidFill>
              </a:rPr>
              <a:t>에 포함된 이름을 리스트로 반환</a:t>
            </a:r>
          </a:p>
          <a:p>
            <a:r>
              <a:rPr lang="en-US" altLang="ko-KR" sz="2400" b="1" dirty="0"/>
              <a:t>del S1.b </a:t>
            </a:r>
          </a:p>
          <a:p>
            <a:r>
              <a:rPr lang="en-US" altLang="ko-KR" sz="2400" b="1" dirty="0"/>
              <a:t>print (</a:t>
            </a:r>
            <a:r>
              <a:rPr lang="en-US" altLang="ko-KR" sz="2400" b="1" dirty="0" err="1"/>
              <a:t>dir</a:t>
            </a:r>
            <a:r>
              <a:rPr lang="en-US" altLang="ko-KR" sz="2400" b="1" dirty="0"/>
              <a:t>(S1))</a:t>
            </a:r>
            <a:endParaRPr lang="ko-KR" altLang="en-US" sz="24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21186" y="1152562"/>
            <a:ext cx="7935414" cy="30469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class S1:</a:t>
            </a:r>
          </a:p>
          <a:p>
            <a:r>
              <a:rPr lang="en-US" altLang="ko-KR" sz="2400" b="1" dirty="0"/>
              <a:t>	a=1</a:t>
            </a:r>
          </a:p>
          <a:p>
            <a:r>
              <a:rPr lang="en-US" altLang="ko-KR" sz="2400" b="1" dirty="0"/>
              <a:t>	</a:t>
            </a:r>
          </a:p>
          <a:p>
            <a:r>
              <a:rPr lang="en-US" altLang="ko-KR" sz="2400" b="1" dirty="0"/>
              <a:t>x=S1()	  </a:t>
            </a:r>
            <a:r>
              <a:rPr lang="en-US" altLang="ko-KR" sz="2400" b="1" dirty="0" smtClean="0"/>
              <a:t>                      # </a:t>
            </a:r>
            <a:r>
              <a:rPr lang="en-US" altLang="ko-KR" sz="2400" b="1" dirty="0"/>
              <a:t>x</a:t>
            </a:r>
            <a:r>
              <a:rPr lang="ko-KR" altLang="en-US" sz="2400" b="1" dirty="0"/>
              <a:t>는 </a:t>
            </a:r>
            <a:r>
              <a:rPr lang="en-US" altLang="ko-KR" sz="2400" b="1" dirty="0"/>
              <a:t>S1</a:t>
            </a:r>
            <a:r>
              <a:rPr lang="ko-KR" altLang="en-US" sz="2400" b="1" dirty="0"/>
              <a:t>의 클래스 인스턴스</a:t>
            </a:r>
          </a:p>
          <a:p>
            <a:r>
              <a:rPr lang="en-US" altLang="ko-KR" sz="2400" b="1" dirty="0"/>
              <a:t>print (</a:t>
            </a:r>
            <a:r>
              <a:rPr lang="en-US" altLang="ko-KR" sz="2400" b="1" dirty="0" err="1"/>
              <a:t>x.a</a:t>
            </a:r>
            <a:r>
              <a:rPr lang="en-US" altLang="ko-KR" sz="2400" b="1" dirty="0"/>
              <a:t>)</a:t>
            </a:r>
          </a:p>
          <a:p>
            <a:r>
              <a:rPr lang="en-US" altLang="ko-KR" sz="2400" b="1" dirty="0" err="1"/>
              <a:t>x.a</a:t>
            </a:r>
            <a:r>
              <a:rPr lang="en-US" altLang="ko-KR" sz="2400" b="1" dirty="0"/>
              <a:t>=10;</a:t>
            </a:r>
          </a:p>
          <a:p>
            <a:r>
              <a:rPr lang="en-US" altLang="ko-KR" sz="2400" b="1" dirty="0"/>
              <a:t>print (</a:t>
            </a:r>
            <a:r>
              <a:rPr lang="en-US" altLang="ko-KR" sz="2400" b="1" dirty="0" err="1"/>
              <a:t>x.a</a:t>
            </a:r>
            <a:r>
              <a:rPr lang="en-US" altLang="ko-KR" sz="2400" b="1" dirty="0" smtClean="0"/>
              <a:t>)                    # x</a:t>
            </a:r>
            <a:r>
              <a:rPr lang="ko-KR" altLang="en-US" sz="2400" b="1" dirty="0" smtClean="0"/>
              <a:t>의 </a:t>
            </a:r>
            <a:r>
              <a:rPr lang="en-US" altLang="ko-KR" sz="2400" b="1" dirty="0" smtClean="0"/>
              <a:t>a        </a:t>
            </a:r>
            <a:endParaRPr lang="en-US" altLang="ko-KR" sz="2400" b="1" dirty="0"/>
          </a:p>
          <a:p>
            <a:r>
              <a:rPr lang="en-US" altLang="ko-KR" sz="2400" b="1" dirty="0"/>
              <a:t>print (S1.a</a:t>
            </a:r>
            <a:r>
              <a:rPr lang="en-US" altLang="ko-KR" sz="2400" b="1" dirty="0" smtClean="0"/>
              <a:t>)                  #S1</a:t>
            </a:r>
            <a:r>
              <a:rPr lang="ko-KR" altLang="en-US" sz="2400" b="1" dirty="0" smtClean="0"/>
              <a:t>의 </a:t>
            </a:r>
            <a:r>
              <a:rPr lang="en-US" altLang="ko-KR" sz="2400" b="1" dirty="0"/>
              <a:t>a</a:t>
            </a:r>
            <a:endParaRPr lang="ko-KR" altLang="en-US" sz="24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21186" y="1101046"/>
            <a:ext cx="7935414" cy="52629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class Simple:</a:t>
            </a:r>
          </a:p>
          <a:p>
            <a:r>
              <a:rPr lang="en-US" altLang="ko-KR" sz="2400" b="1" dirty="0"/>
              <a:t>	pass</a:t>
            </a:r>
          </a:p>
          <a:p>
            <a:r>
              <a:rPr lang="en-US" altLang="ko-KR" sz="2400" b="1" dirty="0"/>
              <a:t>	</a:t>
            </a:r>
          </a:p>
          <a:p>
            <a:r>
              <a:rPr lang="en-US" altLang="ko-KR" sz="2400" b="1" dirty="0"/>
              <a:t>s1=Simple()</a:t>
            </a:r>
          </a:p>
          <a:p>
            <a:r>
              <a:rPr lang="en-US" altLang="ko-KR" sz="2400" b="1" dirty="0"/>
              <a:t>s2=Simple</a:t>
            </a:r>
            <a:r>
              <a:rPr lang="en-US" altLang="ko-KR" sz="2400" b="1" dirty="0" smtClean="0"/>
              <a:t>()</a:t>
            </a:r>
            <a:endParaRPr lang="en-US" altLang="ko-KR" sz="2400" b="1" dirty="0"/>
          </a:p>
          <a:p>
            <a:r>
              <a:rPr lang="en-US" altLang="ko-KR" sz="2400" b="1" dirty="0"/>
              <a:t>s1.stack=[]</a:t>
            </a:r>
          </a:p>
          <a:p>
            <a:r>
              <a:rPr lang="en-US" altLang="ko-KR" sz="2400" b="1" dirty="0"/>
              <a:t>s1.stack.append(1)</a:t>
            </a:r>
          </a:p>
          <a:p>
            <a:r>
              <a:rPr lang="en-US" altLang="ko-KR" sz="2400" b="1" dirty="0"/>
              <a:t>s1.stack.append(2)</a:t>
            </a:r>
          </a:p>
          <a:p>
            <a:r>
              <a:rPr lang="en-US" altLang="ko-KR" sz="2400" b="1" dirty="0"/>
              <a:t>s1.stack.append(3)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print (s1.stack)</a:t>
            </a:r>
          </a:p>
          <a:p>
            <a:r>
              <a:rPr lang="en-US" altLang="ko-KR" sz="2400" b="1" dirty="0"/>
              <a:t>print (s1.stack.pop())</a:t>
            </a:r>
          </a:p>
          <a:p>
            <a:r>
              <a:rPr lang="en-US" altLang="ko-KR" sz="2400" b="1" dirty="0"/>
              <a:t>print (s1.stack.pop())</a:t>
            </a:r>
          </a:p>
          <a:p>
            <a:r>
              <a:rPr lang="en-US" altLang="ko-KR" sz="2400" b="1" dirty="0"/>
              <a:t>print (s1.stack)</a:t>
            </a:r>
            <a:endParaRPr lang="ko-KR" altLang="en-US" sz="24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21186" y="1101046"/>
            <a:ext cx="8375084" cy="2352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클래스 안에 존재하는 함수를 클래스의 </a:t>
            </a:r>
            <a:r>
              <a:rPr lang="ko-KR" altLang="en-US" sz="2400" b="1" dirty="0" err="1" smtClean="0">
                <a:latin typeface="+mn-ea"/>
              </a:rPr>
              <a:t>메소드라고</a:t>
            </a:r>
            <a:r>
              <a:rPr lang="ko-KR" altLang="en-US" sz="2400" b="1" dirty="0" smtClean="0">
                <a:latin typeface="+mn-ea"/>
              </a:rPr>
              <a:t> 함</a:t>
            </a: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일반 함수와 다른 점은 첫번째 인수로 </a:t>
            </a:r>
            <a:r>
              <a:rPr lang="en-US" altLang="ko-KR" sz="2400" b="1" dirty="0" smtClean="0">
                <a:latin typeface="+mn-ea"/>
              </a:rPr>
              <a:t>self </a:t>
            </a:r>
            <a:r>
              <a:rPr lang="ko-KR" altLang="en-US" sz="2400" b="1" dirty="0" smtClean="0">
                <a:latin typeface="+mn-ea"/>
              </a:rPr>
              <a:t>사용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 - self : </a:t>
            </a:r>
            <a:r>
              <a:rPr lang="ko-KR" altLang="en-US" sz="2400" b="1" dirty="0" smtClean="0">
                <a:latin typeface="+mn-ea"/>
              </a:rPr>
              <a:t>인스턴스 객체 자신의 레퍼런스를 가지고 있음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 - </a:t>
            </a:r>
            <a:r>
              <a:rPr lang="ko-KR" altLang="en-US" sz="2400" b="1" dirty="0" smtClean="0">
                <a:latin typeface="+mn-ea"/>
              </a:rPr>
              <a:t>각 </a:t>
            </a:r>
            <a:r>
              <a:rPr lang="en-US" altLang="ko-KR" sz="2400" b="1" dirty="0" smtClean="0">
                <a:latin typeface="+mn-ea"/>
              </a:rPr>
              <a:t>instance </a:t>
            </a:r>
            <a:r>
              <a:rPr lang="ko-KR" altLang="en-US" sz="2400" b="1" dirty="0" smtClean="0">
                <a:latin typeface="+mn-ea"/>
              </a:rPr>
              <a:t>들은 </a:t>
            </a:r>
            <a:r>
              <a:rPr lang="en-US" altLang="ko-KR" sz="2400" b="1" dirty="0" smtClean="0">
                <a:latin typeface="+mn-ea"/>
              </a:rPr>
              <a:t>self</a:t>
            </a:r>
            <a:r>
              <a:rPr lang="ko-KR" altLang="en-US" sz="2400" b="1" dirty="0" smtClean="0">
                <a:latin typeface="+mn-ea"/>
              </a:rPr>
              <a:t>를 이용하여 자신의 이름 공간에 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    </a:t>
            </a:r>
            <a:r>
              <a:rPr lang="ko-KR" altLang="en-US" sz="2400" b="1" dirty="0" smtClean="0">
                <a:latin typeface="+mn-ea"/>
              </a:rPr>
              <a:t>접근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메소드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101046"/>
            <a:ext cx="8448540" cy="47089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class </a:t>
            </a:r>
            <a:r>
              <a:rPr lang="en-US" altLang="ko-KR" sz="2400" b="1" dirty="0" err="1">
                <a:latin typeface="+mn-ea"/>
              </a:rPr>
              <a:t>Myclass</a:t>
            </a:r>
            <a:r>
              <a:rPr lang="en-US" altLang="ko-KR" sz="2400" b="1" dirty="0">
                <a:latin typeface="+mn-ea"/>
              </a:rPr>
              <a:t>: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set(self, v):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		</a:t>
            </a:r>
            <a:r>
              <a:rPr lang="en-US" altLang="ko-KR" sz="2400" b="1" dirty="0" err="1">
                <a:latin typeface="+mn-ea"/>
              </a:rPr>
              <a:t>self.value</a:t>
            </a:r>
            <a:r>
              <a:rPr lang="en-US" altLang="ko-KR" sz="2400" b="1" dirty="0">
                <a:latin typeface="+mn-ea"/>
              </a:rPr>
              <a:t>=v 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get(self):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		return </a:t>
            </a:r>
            <a:r>
              <a:rPr lang="en-US" altLang="ko-KR" sz="2400" b="1" dirty="0" err="1">
                <a:latin typeface="+mn-ea"/>
              </a:rPr>
              <a:t>self.value</a:t>
            </a:r>
            <a:r>
              <a:rPr lang="en-US" altLang="ko-KR" sz="2400" b="1" dirty="0">
                <a:latin typeface="+mn-ea"/>
              </a:rPr>
              <a:t> </a:t>
            </a:r>
          </a:p>
          <a:p>
            <a:pPr>
              <a:lnSpc>
                <a:spcPts val="36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c = </a:t>
            </a:r>
            <a:r>
              <a:rPr lang="en-US" altLang="ko-KR" sz="2400" b="1" dirty="0" err="1">
                <a:latin typeface="+mn-ea"/>
              </a:rPr>
              <a:t>Myclass</a:t>
            </a:r>
            <a:r>
              <a:rPr lang="en-US" altLang="ko-KR" sz="2400" b="1" dirty="0">
                <a:latin typeface="+mn-ea"/>
              </a:rPr>
              <a:t>()     </a:t>
            </a:r>
            <a:r>
              <a:rPr lang="en-US" altLang="ko-KR" sz="2400" dirty="0">
                <a:solidFill>
                  <a:srgbClr val="0000FF"/>
                </a:solidFill>
                <a:latin typeface="+mn-ea"/>
              </a:rPr>
              <a:t>#instance </a:t>
            </a:r>
            <a:r>
              <a:rPr lang="ko-KR" altLang="en-US" sz="2400" dirty="0">
                <a:solidFill>
                  <a:srgbClr val="0000FF"/>
                </a:solidFill>
                <a:latin typeface="+mn-ea"/>
              </a:rPr>
              <a:t>생성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 err="1">
                <a:latin typeface="+mn-ea"/>
              </a:rPr>
              <a:t>c.set</a:t>
            </a:r>
            <a:r>
              <a:rPr lang="en-US" altLang="ko-KR" sz="2400" b="1" dirty="0">
                <a:latin typeface="+mn-ea"/>
              </a:rPr>
              <a:t>('egg')        </a:t>
            </a:r>
            <a:r>
              <a:rPr lang="en-US" altLang="ko-KR" sz="2400" dirty="0">
                <a:solidFill>
                  <a:srgbClr val="0000FF"/>
                </a:solidFill>
                <a:latin typeface="+mn-ea"/>
              </a:rPr>
              <a:t># method set </a:t>
            </a:r>
            <a:r>
              <a:rPr lang="ko-KR" altLang="en-US" sz="2400" dirty="0">
                <a:solidFill>
                  <a:srgbClr val="0000FF"/>
                </a:solidFill>
                <a:latin typeface="+mn-ea"/>
              </a:rPr>
              <a:t>호출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print (</a:t>
            </a:r>
            <a:r>
              <a:rPr lang="en-US" altLang="ko-KR" sz="2400" b="1" dirty="0" err="1">
                <a:latin typeface="+mn-ea"/>
              </a:rPr>
              <a:t>c.get</a:t>
            </a:r>
            <a:r>
              <a:rPr lang="en-US" altLang="ko-KR" sz="2400" b="1" dirty="0">
                <a:latin typeface="+mn-ea"/>
              </a:rPr>
              <a:t>())    </a:t>
            </a:r>
            <a:r>
              <a:rPr lang="en-US" altLang="ko-KR" sz="2400" b="1" dirty="0" smtClean="0">
                <a:latin typeface="+mn-ea"/>
              </a:rPr>
              <a:t> </a:t>
            </a:r>
            <a:r>
              <a:rPr lang="en-US" altLang="ko-KR" sz="2400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en-US" altLang="ko-KR" sz="2400" dirty="0">
                <a:solidFill>
                  <a:srgbClr val="0000FF"/>
                </a:solidFill>
                <a:latin typeface="+mn-ea"/>
              </a:rPr>
              <a:t>get </a:t>
            </a:r>
            <a:r>
              <a:rPr lang="ko-KR" altLang="en-US" sz="2400" dirty="0">
                <a:solidFill>
                  <a:srgbClr val="0000FF"/>
                </a:solidFill>
                <a:latin typeface="+mn-ea"/>
              </a:rPr>
              <a:t>호출</a:t>
            </a:r>
          </a:p>
          <a:p>
            <a:pPr>
              <a:lnSpc>
                <a:spcPts val="3600"/>
              </a:lnSpc>
            </a:pPr>
            <a:r>
              <a:rPr lang="en-US" altLang="ko-KR" sz="2400" b="1" dirty="0">
                <a:latin typeface="+mn-ea"/>
              </a:rPr>
              <a:t>print (</a:t>
            </a:r>
            <a:r>
              <a:rPr lang="en-US" altLang="ko-KR" sz="2400" b="1" dirty="0" err="1">
                <a:latin typeface="+mn-ea"/>
              </a:rPr>
              <a:t>c.value</a:t>
            </a:r>
            <a:r>
              <a:rPr lang="en-US" altLang="ko-KR" sz="2400" b="1" dirty="0">
                <a:latin typeface="+mn-ea"/>
              </a:rPr>
              <a:t>)    </a:t>
            </a:r>
            <a:r>
              <a:rPr lang="en-US" altLang="ko-KR" sz="2400" dirty="0">
                <a:solidFill>
                  <a:srgbClr val="0000FF"/>
                </a:solidFill>
                <a:latin typeface="+mn-ea"/>
              </a:rPr>
              <a:t># instance </a:t>
            </a:r>
            <a:r>
              <a:rPr lang="ko-KR" altLang="en-US" sz="2400" dirty="0">
                <a:solidFill>
                  <a:srgbClr val="0000FF"/>
                </a:solidFill>
                <a:latin typeface="+mn-ea"/>
              </a:rPr>
              <a:t>변수에 직접 접근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메소드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101046"/>
            <a:ext cx="8448540" cy="49011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class </a:t>
            </a:r>
            <a:r>
              <a:rPr lang="en-US" altLang="ko-KR" sz="2400" b="1" dirty="0" err="1">
                <a:latin typeface="+mn-ea"/>
              </a:rPr>
              <a:t>Myclass</a:t>
            </a:r>
            <a:r>
              <a:rPr lang="en-US" altLang="ko-KR" sz="2400" b="1" dirty="0">
                <a:latin typeface="+mn-ea"/>
              </a:rPr>
              <a:t>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set(self, v):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</a:t>
            </a:r>
            <a:r>
              <a:rPr lang="en-US" altLang="ko-KR" sz="2400" b="1" dirty="0" err="1">
                <a:latin typeface="+mn-ea"/>
              </a:rPr>
              <a:t>self.value</a:t>
            </a:r>
            <a:r>
              <a:rPr lang="en-US" altLang="ko-KR" sz="2400" b="1" dirty="0">
                <a:latin typeface="+mn-ea"/>
              </a:rPr>
              <a:t>=v 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incr</a:t>
            </a:r>
            <a:r>
              <a:rPr lang="en-US" altLang="ko-KR" sz="2400" b="1" dirty="0">
                <a:latin typeface="+mn-ea"/>
              </a:rPr>
              <a:t>(self):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</a:t>
            </a:r>
            <a:r>
              <a:rPr lang="en-US" altLang="ko-KR" sz="2400" b="1" dirty="0" err="1">
                <a:latin typeface="+mn-ea"/>
              </a:rPr>
              <a:t>self.set</a:t>
            </a:r>
            <a:r>
              <a:rPr lang="en-US" altLang="ko-KR" sz="2400" b="1" dirty="0">
                <a:latin typeface="+mn-ea"/>
              </a:rPr>
              <a:t>(self.value+1)   # </a:t>
            </a:r>
            <a:r>
              <a:rPr lang="ko-KR" altLang="en-US" sz="2400" b="1" dirty="0">
                <a:latin typeface="+mn-ea"/>
              </a:rPr>
              <a:t>내부 </a:t>
            </a:r>
            <a:r>
              <a:rPr lang="en-US" altLang="ko-KR" sz="2400" b="1" dirty="0">
                <a:latin typeface="+mn-ea"/>
              </a:rPr>
              <a:t>method </a:t>
            </a:r>
            <a:r>
              <a:rPr lang="ko-KR" altLang="en-US" sz="2400" b="1" dirty="0">
                <a:latin typeface="+mn-ea"/>
              </a:rPr>
              <a:t>사용</a:t>
            </a:r>
          </a:p>
          <a:p>
            <a:pPr>
              <a:lnSpc>
                <a:spcPts val="2900"/>
              </a:lnSpc>
            </a:pPr>
            <a:r>
              <a:rPr lang="ko-KR" altLang="en-US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get(self):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return </a:t>
            </a:r>
            <a:r>
              <a:rPr lang="en-US" altLang="ko-KR" sz="2400" b="1" dirty="0" err="1">
                <a:latin typeface="+mn-ea"/>
              </a:rPr>
              <a:t>self.value</a:t>
            </a:r>
            <a:r>
              <a:rPr lang="en-US" altLang="ko-KR" sz="2400" b="1" dirty="0">
                <a:latin typeface="+mn-ea"/>
              </a:rPr>
              <a:t> </a:t>
            </a:r>
          </a:p>
          <a:p>
            <a:pPr>
              <a:lnSpc>
                <a:spcPts val="29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c = </a:t>
            </a:r>
            <a:r>
              <a:rPr lang="en-US" altLang="ko-KR" sz="2400" b="1" dirty="0" err="1">
                <a:latin typeface="+mn-ea"/>
              </a:rPr>
              <a:t>Myclass</a:t>
            </a:r>
            <a:r>
              <a:rPr lang="en-US" altLang="ko-KR" sz="2400" b="1" dirty="0">
                <a:latin typeface="+mn-ea"/>
              </a:rPr>
              <a:t>()     #instance </a:t>
            </a:r>
            <a:r>
              <a:rPr lang="ko-KR" altLang="en-US" sz="2400" b="1" dirty="0">
                <a:latin typeface="+mn-ea"/>
              </a:rPr>
              <a:t>생성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 err="1">
                <a:latin typeface="+mn-ea"/>
              </a:rPr>
              <a:t>c.set</a:t>
            </a:r>
            <a:r>
              <a:rPr lang="en-US" altLang="ko-KR" sz="2400" b="1" dirty="0">
                <a:latin typeface="+mn-ea"/>
              </a:rPr>
              <a:t>(1)             # method set </a:t>
            </a:r>
            <a:r>
              <a:rPr lang="ko-KR" altLang="en-US" sz="2400" b="1" dirty="0">
                <a:latin typeface="+mn-ea"/>
              </a:rPr>
              <a:t>호출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print (</a:t>
            </a:r>
            <a:r>
              <a:rPr lang="en-US" altLang="ko-KR" sz="2400" b="1" dirty="0" err="1">
                <a:latin typeface="+mn-ea"/>
              </a:rPr>
              <a:t>c.get</a:t>
            </a:r>
            <a:r>
              <a:rPr lang="en-US" altLang="ko-KR" sz="2400" b="1" dirty="0">
                <a:latin typeface="+mn-ea"/>
              </a:rPr>
              <a:t>())    # get </a:t>
            </a:r>
            <a:r>
              <a:rPr lang="ko-KR" altLang="en-US" sz="2400" b="1" dirty="0">
                <a:latin typeface="+mn-ea"/>
              </a:rPr>
              <a:t>호출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 err="1">
                <a:latin typeface="+mn-ea"/>
              </a:rPr>
              <a:t>c.incr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print (</a:t>
            </a:r>
            <a:r>
              <a:rPr lang="en-US" altLang="ko-KR" sz="2400" b="1" dirty="0" err="1">
                <a:latin typeface="+mn-ea"/>
              </a:rPr>
              <a:t>c.get</a:t>
            </a:r>
            <a:r>
              <a:rPr lang="en-US" altLang="ko-KR" sz="2400" b="1" dirty="0">
                <a:latin typeface="+mn-ea"/>
              </a:rPr>
              <a:t>())</a:t>
            </a:r>
            <a:endParaRPr lang="ko-KR" altLang="en-US" sz="24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메소드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56658" y="1049530"/>
            <a:ext cx="8796270" cy="5427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def set(</a:t>
            </a:r>
            <a:r>
              <a:rPr lang="en-US" altLang="ko-KR" sz="2000" b="1" dirty="0" err="1">
                <a:latin typeface="+mn-ea"/>
              </a:rPr>
              <a:t>i</a:t>
            </a:r>
            <a:r>
              <a:rPr lang="en-US" altLang="ko-KR" sz="2000" b="1" dirty="0">
                <a:latin typeface="+mn-ea"/>
              </a:rPr>
              <a:t>):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	print ("Out of Class Function</a:t>
            </a:r>
            <a:r>
              <a:rPr lang="en-US" altLang="ko-KR" sz="2000" b="1" dirty="0" smtClean="0">
                <a:latin typeface="+mn-ea"/>
              </a:rPr>
              <a:t>!")</a:t>
            </a:r>
            <a:endParaRPr lang="en-US" altLang="ko-KR" sz="2000" b="1" dirty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class </a:t>
            </a:r>
            <a:r>
              <a:rPr lang="en-US" altLang="ko-KR" sz="2000" b="1" dirty="0" err="1">
                <a:latin typeface="+mn-ea"/>
              </a:rPr>
              <a:t>Myclass</a:t>
            </a:r>
            <a:r>
              <a:rPr lang="en-US" altLang="ko-KR" sz="2000" b="1" dirty="0">
                <a:latin typeface="+mn-ea"/>
              </a:rPr>
              <a:t>: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	</a:t>
            </a:r>
            <a:r>
              <a:rPr lang="en-US" altLang="ko-KR" sz="2000" b="1" dirty="0" err="1">
                <a:latin typeface="+mn-ea"/>
              </a:rPr>
              <a:t>def</a:t>
            </a:r>
            <a:r>
              <a:rPr lang="en-US" altLang="ko-KR" sz="2000" b="1" dirty="0">
                <a:latin typeface="+mn-ea"/>
              </a:rPr>
              <a:t> set(self, v):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		</a:t>
            </a:r>
            <a:r>
              <a:rPr lang="en-US" altLang="ko-KR" sz="2000" b="1" dirty="0" err="1">
                <a:latin typeface="+mn-ea"/>
              </a:rPr>
              <a:t>self.value</a:t>
            </a:r>
            <a:r>
              <a:rPr lang="en-US" altLang="ko-KR" sz="2000" b="1" dirty="0">
                <a:latin typeface="+mn-ea"/>
              </a:rPr>
              <a:t>=v 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	</a:t>
            </a:r>
            <a:r>
              <a:rPr lang="en-US" altLang="ko-KR" sz="2000" b="1" dirty="0" err="1">
                <a:latin typeface="+mn-ea"/>
              </a:rPr>
              <a:t>def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 err="1">
                <a:latin typeface="+mn-ea"/>
              </a:rPr>
              <a:t>incr</a:t>
            </a:r>
            <a:r>
              <a:rPr lang="en-US" altLang="ko-KR" sz="2000" b="1" dirty="0">
                <a:latin typeface="+mn-ea"/>
              </a:rPr>
              <a:t>(self):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		set(self.value+1)   # self </a:t>
            </a:r>
            <a:r>
              <a:rPr lang="ko-KR" altLang="en-US" sz="2000" b="1" dirty="0" smtClean="0">
                <a:latin typeface="+mn-ea"/>
              </a:rPr>
              <a:t>생략</a:t>
            </a:r>
            <a:endParaRPr lang="en-US" altLang="ko-KR" sz="2000" b="1" dirty="0" smtClean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               #</a:t>
            </a:r>
            <a:r>
              <a:rPr lang="en-US" altLang="ko-KR" sz="2000" b="1" dirty="0" err="1" smtClean="0">
                <a:latin typeface="+mn-ea"/>
              </a:rPr>
              <a:t>self.set</a:t>
            </a:r>
            <a:r>
              <a:rPr lang="en-US" altLang="ko-KR" sz="2000" b="1" dirty="0" smtClean="0">
                <a:latin typeface="+mn-ea"/>
              </a:rPr>
              <a:t>(5)                # class </a:t>
            </a:r>
            <a:r>
              <a:rPr lang="ko-KR" altLang="en-US" sz="2000" b="1" dirty="0" err="1" smtClean="0">
                <a:latin typeface="+mn-ea"/>
              </a:rPr>
              <a:t>메소드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ko-KR" altLang="en-US" sz="2000" b="1" dirty="0" err="1" smtClean="0">
                <a:latin typeface="+mn-ea"/>
              </a:rPr>
              <a:t>호출시</a:t>
            </a:r>
            <a:r>
              <a:rPr lang="ko-KR" altLang="en-US" sz="2000" b="1" dirty="0" smtClean="0">
                <a:latin typeface="+mn-ea"/>
              </a:rPr>
              <a:t> 인수 </a:t>
            </a:r>
            <a:r>
              <a:rPr lang="en-US" altLang="ko-KR" sz="2000" b="1" dirty="0" smtClean="0">
                <a:latin typeface="+mn-ea"/>
              </a:rPr>
              <a:t>self </a:t>
            </a:r>
            <a:r>
              <a:rPr lang="ko-KR" altLang="en-US" sz="2000" b="1" dirty="0" smtClean="0">
                <a:latin typeface="+mn-ea"/>
              </a:rPr>
              <a:t>사용</a:t>
            </a:r>
            <a:endParaRPr lang="ko-KR" altLang="en-US" sz="2000" b="1" dirty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ko-KR" altLang="en-US" sz="2000" b="1" dirty="0">
                <a:latin typeface="+mn-ea"/>
              </a:rPr>
              <a:t>	</a:t>
            </a:r>
            <a:r>
              <a:rPr lang="en-US" altLang="ko-KR" sz="2000" b="1" dirty="0" err="1">
                <a:latin typeface="+mn-ea"/>
              </a:rPr>
              <a:t>def</a:t>
            </a:r>
            <a:r>
              <a:rPr lang="en-US" altLang="ko-KR" sz="2000" b="1" dirty="0">
                <a:latin typeface="+mn-ea"/>
              </a:rPr>
              <a:t> get(self):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		return </a:t>
            </a:r>
            <a:r>
              <a:rPr lang="en-US" altLang="ko-KR" sz="2000" b="1" dirty="0" err="1">
                <a:latin typeface="+mn-ea"/>
              </a:rPr>
              <a:t>self.value</a:t>
            </a:r>
            <a:r>
              <a:rPr lang="en-US" altLang="ko-KR" sz="2000" b="1" dirty="0">
                <a:latin typeface="+mn-ea"/>
              </a:rPr>
              <a:t> </a:t>
            </a:r>
          </a:p>
          <a:p>
            <a:pPr>
              <a:lnSpc>
                <a:spcPts val="2600"/>
              </a:lnSpc>
            </a:pPr>
            <a:endParaRPr lang="en-US" altLang="ko-KR" sz="2000" b="1" dirty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c = </a:t>
            </a:r>
            <a:r>
              <a:rPr lang="en-US" altLang="ko-KR" sz="2000" b="1" dirty="0" err="1">
                <a:latin typeface="+mn-ea"/>
              </a:rPr>
              <a:t>Myclass</a:t>
            </a:r>
            <a:r>
              <a:rPr lang="en-US" altLang="ko-KR" sz="2000" b="1" dirty="0">
                <a:latin typeface="+mn-ea"/>
              </a:rPr>
              <a:t>()     </a:t>
            </a:r>
            <a:r>
              <a:rPr lang="en-US" altLang="ko-KR" sz="2000" dirty="0">
                <a:solidFill>
                  <a:srgbClr val="0000FF"/>
                </a:solidFill>
                <a:latin typeface="+mn-ea"/>
              </a:rPr>
              <a:t>#instance </a:t>
            </a:r>
            <a:r>
              <a:rPr lang="ko-KR" altLang="en-US" sz="2000" dirty="0">
                <a:solidFill>
                  <a:srgbClr val="0000FF"/>
                </a:solidFill>
                <a:latin typeface="+mn-ea"/>
              </a:rPr>
              <a:t>생성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>
                <a:latin typeface="+mn-ea"/>
              </a:rPr>
              <a:t>c.set</a:t>
            </a:r>
            <a:r>
              <a:rPr lang="en-US" altLang="ko-KR" sz="2000" b="1" dirty="0">
                <a:latin typeface="+mn-ea"/>
              </a:rPr>
              <a:t>(1)             </a:t>
            </a:r>
            <a:r>
              <a:rPr lang="en-US" altLang="ko-KR" sz="2000" dirty="0">
                <a:solidFill>
                  <a:srgbClr val="0000FF"/>
                </a:solidFill>
                <a:latin typeface="+mn-ea"/>
              </a:rPr>
              <a:t># method set </a:t>
            </a:r>
            <a:r>
              <a:rPr lang="ko-KR" altLang="en-US" sz="2000" dirty="0">
                <a:solidFill>
                  <a:srgbClr val="0000FF"/>
                </a:solidFill>
                <a:latin typeface="+mn-ea"/>
              </a:rPr>
              <a:t>호출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print (</a:t>
            </a:r>
            <a:r>
              <a:rPr lang="en-US" altLang="ko-KR" sz="2000" b="1" dirty="0" err="1">
                <a:latin typeface="+mn-ea"/>
              </a:rPr>
              <a:t>c.get</a:t>
            </a:r>
            <a:r>
              <a:rPr lang="en-US" altLang="ko-KR" sz="2000" b="1" dirty="0">
                <a:latin typeface="+mn-ea"/>
              </a:rPr>
              <a:t>())    </a:t>
            </a:r>
            <a:r>
              <a:rPr lang="en-US" altLang="ko-KR" sz="2000" b="1" dirty="0" smtClean="0">
                <a:latin typeface="+mn-ea"/>
              </a:rPr>
              <a:t>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en-US" altLang="ko-KR" sz="2000" dirty="0">
                <a:solidFill>
                  <a:srgbClr val="0000FF"/>
                </a:solidFill>
                <a:latin typeface="+mn-ea"/>
              </a:rPr>
              <a:t>get </a:t>
            </a:r>
            <a:r>
              <a:rPr lang="ko-KR" altLang="en-US" sz="2000" dirty="0">
                <a:solidFill>
                  <a:srgbClr val="0000FF"/>
                </a:solidFill>
                <a:latin typeface="+mn-ea"/>
              </a:rPr>
              <a:t>호출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>
                <a:latin typeface="+mn-ea"/>
              </a:rPr>
              <a:t>c.incr</a:t>
            </a:r>
            <a:r>
              <a:rPr lang="en-US" altLang="ko-KR" sz="2000" b="1" dirty="0">
                <a:latin typeface="+mn-ea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>
                <a:latin typeface="+mn-ea"/>
              </a:rPr>
              <a:t>print (</a:t>
            </a:r>
            <a:r>
              <a:rPr lang="en-US" altLang="ko-KR" sz="2000" b="1" dirty="0" err="1">
                <a:latin typeface="+mn-ea"/>
              </a:rPr>
              <a:t>c.get</a:t>
            </a:r>
            <a:r>
              <a:rPr lang="en-US" altLang="ko-KR" sz="2000" b="1" dirty="0">
                <a:latin typeface="+mn-ea"/>
              </a:rPr>
              <a:t>())</a:t>
            </a:r>
            <a:endParaRPr lang="ko-KR" altLang="en-US" sz="20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메소드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49269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Instance </a:t>
            </a:r>
            <a:r>
              <a:rPr lang="ko-KR" altLang="en-US" sz="2000" b="1" dirty="0" smtClean="0">
                <a:latin typeface="+mn-ea"/>
              </a:rPr>
              <a:t>객체와 무관하게 </a:t>
            </a:r>
            <a:r>
              <a:rPr lang="en-US" altLang="ko-KR" sz="2000" b="1" dirty="0" smtClean="0">
                <a:latin typeface="+mn-ea"/>
              </a:rPr>
              <a:t>class </a:t>
            </a:r>
            <a:r>
              <a:rPr lang="ko-KR" altLang="en-US" sz="2000" b="1" dirty="0" smtClean="0">
                <a:latin typeface="+mn-ea"/>
              </a:rPr>
              <a:t>이름 공간에 존재하는 </a:t>
            </a:r>
            <a:r>
              <a:rPr lang="en-US" altLang="ko-KR" sz="2000" b="1" dirty="0" smtClean="0">
                <a:latin typeface="+mn-ea"/>
              </a:rPr>
              <a:t/>
            </a:r>
            <a:br>
              <a:rPr lang="en-US" altLang="ko-KR" sz="2000" b="1" dirty="0" smtClean="0">
                <a:latin typeface="+mn-ea"/>
              </a:rPr>
            </a:br>
            <a:r>
              <a:rPr lang="en-US" altLang="ko-KR" sz="2000" b="1" dirty="0" smtClean="0">
                <a:latin typeface="+mn-ea"/>
              </a:rPr>
              <a:t>method</a:t>
            </a:r>
            <a:r>
              <a:rPr lang="ko-KR" altLang="en-US" sz="2000" b="1" dirty="0" smtClean="0">
                <a:latin typeface="+mn-ea"/>
              </a:rPr>
              <a:t>로 </a:t>
            </a:r>
            <a:r>
              <a:rPr lang="en-US" altLang="ko-KR" sz="2000" b="1" dirty="0" smtClean="0">
                <a:latin typeface="+mn-ea"/>
              </a:rPr>
              <a:t>class </a:t>
            </a:r>
            <a:r>
              <a:rPr lang="ko-KR" altLang="en-US" sz="2000" b="1" dirty="0" smtClean="0">
                <a:latin typeface="+mn-ea"/>
              </a:rPr>
              <a:t>이름을 이용하여 직접 호출</a:t>
            </a:r>
            <a:endParaRPr lang="en-US" altLang="ko-KR" sz="2000" b="1" dirty="0" smtClean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err="1" smtClean="0">
                <a:latin typeface="+mn-ea"/>
              </a:rPr>
              <a:t>인스턴스</a:t>
            </a:r>
            <a:r>
              <a:rPr lang="ko-KR" altLang="en-US" sz="2000" b="1" dirty="0" smtClean="0">
                <a:latin typeface="+mn-ea"/>
              </a:rPr>
              <a:t> 객체를 생성하지 않고 클래스 직접 호출</a:t>
            </a:r>
            <a:endParaRPr lang="en-US" altLang="ko-KR" sz="2000" b="1" dirty="0" smtClean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Decorator  @</a:t>
            </a:r>
            <a:r>
              <a:rPr lang="en-US" altLang="ko-KR" sz="2000" b="1" dirty="0" err="1" smtClean="0">
                <a:latin typeface="+mn-ea"/>
              </a:rPr>
              <a:t>staticmethod</a:t>
            </a:r>
            <a:r>
              <a:rPr lang="ko-KR" altLang="en-US" sz="2000" b="1" dirty="0" smtClean="0">
                <a:latin typeface="+mn-ea"/>
              </a:rPr>
              <a:t>를 사용하여 지정</a:t>
            </a:r>
            <a:endParaRPr lang="en-US" altLang="ko-KR" sz="2000" b="1" dirty="0" smtClean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class static: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	@</a:t>
            </a:r>
            <a:r>
              <a:rPr lang="en-US" altLang="ko-KR" sz="2000" b="1" dirty="0" err="1" smtClean="0">
                <a:latin typeface="+mn-ea"/>
              </a:rPr>
              <a:t>staticmethod</a:t>
            </a:r>
            <a:endParaRPr lang="en-US" altLang="ko-KR" sz="20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	def </a:t>
            </a:r>
            <a:r>
              <a:rPr lang="en-US" altLang="ko-KR" sz="2000" b="1" dirty="0" err="1" smtClean="0">
                <a:latin typeface="+mn-ea"/>
              </a:rPr>
              <a:t>static_m</a:t>
            </a:r>
            <a:r>
              <a:rPr lang="en-US" altLang="ko-KR" sz="2000" b="1" dirty="0" smtClean="0">
                <a:latin typeface="+mn-ea"/>
              </a:rPr>
              <a:t>(</a:t>
            </a:r>
            <a:r>
              <a:rPr lang="en-US" altLang="ko-KR" sz="2000" b="1" dirty="0" err="1" smtClean="0">
                <a:latin typeface="+mn-ea"/>
              </a:rPr>
              <a:t>x,y</a:t>
            </a:r>
            <a:r>
              <a:rPr lang="en-US" altLang="ko-KR" sz="2000" b="1" dirty="0" smtClean="0">
                <a:latin typeface="+mn-ea"/>
              </a:rPr>
              <a:t>):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		print ("static method", x, y)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err="1" smtClean="0">
                <a:latin typeface="+mn-ea"/>
              </a:rPr>
              <a:t>static.static_m</a:t>
            </a:r>
            <a:r>
              <a:rPr lang="en-US" altLang="ko-KR" sz="2000" b="1" dirty="0" smtClean="0">
                <a:latin typeface="+mn-ea"/>
              </a:rPr>
              <a:t>(10, 20) 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</a:rPr>
              <a:t># class</a:t>
            </a:r>
            <a:r>
              <a:rPr lang="ko-KR" altLang="en-US" sz="2000" dirty="0" smtClean="0">
                <a:solidFill>
                  <a:srgbClr val="0000FF"/>
                </a:solidFill>
                <a:latin typeface="+mn-ea"/>
              </a:rPr>
              <a:t>에서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</a:rPr>
              <a:t>call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smtClean="0">
                <a:latin typeface="+mn-ea"/>
              </a:rPr>
              <a:t>A=static()</a:t>
            </a:r>
          </a:p>
          <a:p>
            <a:pPr>
              <a:lnSpc>
                <a:spcPts val="2900"/>
              </a:lnSpc>
            </a:pPr>
            <a:r>
              <a:rPr lang="en-US" altLang="ko-KR" sz="2000" b="1" dirty="0" err="1" smtClean="0">
                <a:latin typeface="+mn-ea"/>
              </a:rPr>
              <a:t>A.static_m</a:t>
            </a:r>
            <a:r>
              <a:rPr lang="en-US" altLang="ko-KR" sz="2000" b="1" dirty="0" smtClean="0">
                <a:latin typeface="+mn-ea"/>
              </a:rPr>
              <a:t>(1,2)           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</a:rPr>
              <a:t>#instance</a:t>
            </a:r>
            <a:r>
              <a:rPr lang="ko-KR" altLang="en-US" sz="2000" dirty="0" smtClean="0">
                <a:solidFill>
                  <a:srgbClr val="0000FF"/>
                </a:solidFill>
                <a:latin typeface="+mn-ea"/>
              </a:rPr>
              <a:t>를 통해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</a:rPr>
              <a:t>call </a:t>
            </a:r>
            <a:r>
              <a:rPr lang="en-US" altLang="ko-KR" sz="2000" b="1" dirty="0" smtClean="0">
                <a:latin typeface="+mn-ea"/>
              </a:rPr>
              <a:t/>
            </a:r>
            <a:br>
              <a:rPr lang="en-US" altLang="ko-KR" sz="2000" b="1" dirty="0" smtClean="0">
                <a:latin typeface="+mn-ea"/>
              </a:rPr>
            </a:br>
            <a:endParaRPr lang="ko-KR" altLang="en-US" sz="20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메소드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정의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static method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49269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Instance </a:t>
            </a:r>
            <a:r>
              <a:rPr lang="ko-KR" altLang="en-US" sz="2400" b="1" dirty="0" smtClean="0">
                <a:latin typeface="+mn-ea"/>
              </a:rPr>
              <a:t>객체와 무관하게 </a:t>
            </a:r>
            <a:r>
              <a:rPr lang="en-US" altLang="ko-KR" sz="2400" b="1" dirty="0" smtClean="0">
                <a:latin typeface="+mn-ea"/>
              </a:rPr>
              <a:t>class </a:t>
            </a:r>
            <a:r>
              <a:rPr lang="ko-KR" altLang="en-US" sz="2400" b="1" dirty="0" smtClean="0">
                <a:latin typeface="+mn-ea"/>
              </a:rPr>
              <a:t>이름 공간에 존재하는 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method</a:t>
            </a:r>
            <a:r>
              <a:rPr lang="ko-KR" altLang="en-US" sz="2400" b="1" dirty="0" smtClean="0">
                <a:latin typeface="+mn-ea"/>
              </a:rPr>
              <a:t>로 </a:t>
            </a:r>
            <a:r>
              <a:rPr lang="en-US" altLang="ko-KR" sz="2400" b="1" dirty="0" smtClean="0">
                <a:latin typeface="+mn-ea"/>
              </a:rPr>
              <a:t>class </a:t>
            </a:r>
            <a:r>
              <a:rPr lang="ko-KR" altLang="en-US" sz="2400" b="1" dirty="0" smtClean="0">
                <a:latin typeface="+mn-ea"/>
              </a:rPr>
              <a:t>이름을 이용하여 직접 호출</a:t>
            </a: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첫 인수로 </a:t>
            </a:r>
            <a:r>
              <a:rPr lang="en-US" altLang="ko-KR" sz="2400" b="1" dirty="0" smtClean="0">
                <a:latin typeface="+mn-ea"/>
              </a:rPr>
              <a:t>class </a:t>
            </a:r>
            <a:r>
              <a:rPr lang="ko-KR" altLang="en-US" sz="2400" b="1" dirty="0" smtClean="0">
                <a:latin typeface="+mn-ea"/>
              </a:rPr>
              <a:t>객체를 자동으로 받는 </a:t>
            </a:r>
            <a:r>
              <a:rPr lang="en-US" altLang="ko-KR" sz="2400" b="1" dirty="0" smtClean="0">
                <a:latin typeface="+mn-ea"/>
              </a:rPr>
              <a:t>method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Decorator  @</a:t>
            </a:r>
            <a:r>
              <a:rPr lang="en-US" altLang="ko-KR" sz="2400" b="1" dirty="0" err="1" smtClean="0">
                <a:latin typeface="+mn-ea"/>
              </a:rPr>
              <a:t>classmethod</a:t>
            </a:r>
            <a:r>
              <a:rPr lang="ko-KR" altLang="en-US" sz="2400" b="1" dirty="0" smtClean="0">
                <a:latin typeface="+mn-ea"/>
              </a:rPr>
              <a:t>를 사용하여 지정</a:t>
            </a: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class </a:t>
            </a:r>
            <a:r>
              <a:rPr lang="en-US" altLang="ko-KR" sz="2400" b="1" dirty="0" err="1">
                <a:latin typeface="+mn-ea"/>
              </a:rPr>
              <a:t>ClassM</a:t>
            </a:r>
            <a:r>
              <a:rPr lang="en-US" altLang="ko-KR" sz="2400" b="1" dirty="0">
                <a:latin typeface="+mn-ea"/>
              </a:rPr>
              <a:t>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@</a:t>
            </a:r>
            <a:r>
              <a:rPr lang="en-US" altLang="ko-KR" sz="2400" b="1" dirty="0" err="1">
                <a:latin typeface="+mn-ea"/>
              </a:rPr>
              <a:t>classmethod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class_m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-US" altLang="ko-KR" sz="2400" b="1" dirty="0" err="1">
                <a:latin typeface="+mn-ea"/>
              </a:rPr>
              <a:t>cls</a:t>
            </a:r>
            <a:r>
              <a:rPr lang="en-US" altLang="ko-KR" sz="2400" b="1" dirty="0">
                <a:latin typeface="+mn-ea"/>
              </a:rPr>
              <a:t>, y):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print (</a:t>
            </a:r>
            <a:r>
              <a:rPr lang="en-US" altLang="ko-KR" sz="2400" b="1" dirty="0" err="1">
                <a:latin typeface="+mn-ea"/>
              </a:rPr>
              <a:t>cls</a:t>
            </a:r>
            <a:r>
              <a:rPr lang="en-US" altLang="ko-KR" sz="2400" b="1" dirty="0">
                <a:latin typeface="+mn-ea"/>
              </a:rPr>
              <a:t>, '-&gt;', y)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 err="1" smtClean="0">
                <a:latin typeface="+mn-ea"/>
              </a:rPr>
              <a:t>ClassM.class_m</a:t>
            </a:r>
            <a:r>
              <a:rPr lang="en-US" altLang="ko-KR" sz="2400" b="1" dirty="0" smtClean="0">
                <a:latin typeface="+mn-ea"/>
              </a:rPr>
              <a:t>(10</a:t>
            </a:r>
            <a:r>
              <a:rPr lang="en-US" altLang="ko-KR" sz="2400" b="1" dirty="0">
                <a:latin typeface="+mn-ea"/>
              </a:rPr>
              <a:t>)  </a:t>
            </a:r>
            <a:r>
              <a:rPr lang="en-US" altLang="ko-KR" sz="2400" b="1" dirty="0" smtClean="0">
                <a:latin typeface="+mn-ea"/>
              </a:rPr>
              <a:t>    </a:t>
            </a:r>
            <a:r>
              <a:rPr lang="en-US" altLang="ko-KR" sz="2400" dirty="0" smtClean="0">
                <a:solidFill>
                  <a:srgbClr val="0000FF"/>
                </a:solidFill>
                <a:latin typeface="+mn-ea"/>
              </a:rPr>
              <a:t>#</a:t>
            </a:r>
            <a:r>
              <a:rPr lang="ko-KR" altLang="en-US" sz="2400" dirty="0">
                <a:solidFill>
                  <a:srgbClr val="0000FF"/>
                </a:solidFill>
                <a:latin typeface="+mn-ea"/>
              </a:rPr>
              <a:t>첫번째 인수는 </a:t>
            </a:r>
            <a:r>
              <a:rPr lang="en-US" altLang="ko-KR" sz="2400" dirty="0" err="1">
                <a:solidFill>
                  <a:srgbClr val="0000FF"/>
                </a:solidFill>
                <a:latin typeface="+mn-ea"/>
              </a:rPr>
              <a:t>ClassM</a:t>
            </a:r>
            <a:r>
              <a:rPr lang="en-US" altLang="ko-KR" sz="240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00FF"/>
                </a:solidFill>
                <a:latin typeface="+mn-ea"/>
              </a:rPr>
              <a:t>전달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c=</a:t>
            </a:r>
            <a:r>
              <a:rPr lang="en-US" altLang="ko-KR" sz="2400" b="1" dirty="0" err="1">
                <a:latin typeface="+mn-ea"/>
              </a:rPr>
              <a:t>ClassM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 err="1">
                <a:latin typeface="+mn-ea"/>
              </a:rPr>
              <a:t>c.class_m</a:t>
            </a:r>
            <a:r>
              <a:rPr lang="en-US" altLang="ko-KR" sz="2400" b="1" dirty="0">
                <a:latin typeface="+mn-ea"/>
              </a:rPr>
              <a:t>(10</a:t>
            </a:r>
            <a:r>
              <a:rPr lang="en-US" altLang="ko-KR" sz="2400" b="1" dirty="0" smtClean="0">
                <a:latin typeface="+mn-ea"/>
              </a:rPr>
              <a:t>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메소드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정의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class method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2695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Class member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class </a:t>
            </a:r>
            <a:r>
              <a:rPr lang="ko-KR" altLang="en-US" sz="2400" b="1" dirty="0" smtClean="0">
                <a:latin typeface="+mn-ea"/>
              </a:rPr>
              <a:t>이름 공간에 생성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smtClean="0">
                <a:latin typeface="+mn-ea"/>
              </a:rPr>
              <a:t>  - </a:t>
            </a:r>
            <a:r>
              <a:rPr lang="ko-KR" altLang="en-US" sz="2400" b="1" dirty="0" smtClean="0">
                <a:latin typeface="+mn-ea"/>
              </a:rPr>
              <a:t>모든 </a:t>
            </a:r>
            <a:r>
              <a:rPr lang="en-US" altLang="ko-KR" sz="2400" b="1" dirty="0" smtClean="0">
                <a:latin typeface="+mn-ea"/>
              </a:rPr>
              <a:t>instance </a:t>
            </a:r>
            <a:r>
              <a:rPr lang="ko-KR" altLang="en-US" sz="2400" b="1" dirty="0" smtClean="0">
                <a:latin typeface="+mn-ea"/>
              </a:rPr>
              <a:t>들에 공유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Instance member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Instance </a:t>
            </a:r>
            <a:r>
              <a:rPr lang="ko-KR" altLang="en-US" sz="2400" b="1" dirty="0" smtClean="0">
                <a:latin typeface="+mn-ea"/>
              </a:rPr>
              <a:t>이름 공간에 생성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smtClean="0">
                <a:latin typeface="+mn-ea"/>
              </a:rPr>
              <a:t>  - </a:t>
            </a:r>
            <a:r>
              <a:rPr lang="ko-KR" altLang="en-US" sz="2400" b="1" dirty="0" smtClean="0">
                <a:latin typeface="+mn-ea"/>
              </a:rPr>
              <a:t>각각의 </a:t>
            </a:r>
            <a:r>
              <a:rPr lang="en-US" altLang="ko-KR" sz="2400" b="1" dirty="0" smtClean="0">
                <a:latin typeface="+mn-ea"/>
              </a:rPr>
              <a:t>instance </a:t>
            </a:r>
            <a:r>
              <a:rPr lang="ko-KR" altLang="en-US" sz="2400" b="1" dirty="0" smtClean="0">
                <a:latin typeface="+mn-ea"/>
              </a:rPr>
              <a:t>마다 독립성 보장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Class member, Instance member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45292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class member: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c_mem</a:t>
            </a:r>
            <a:r>
              <a:rPr lang="en-US" altLang="ko-KR" sz="2400" b="1" dirty="0">
                <a:latin typeface="+mn-ea"/>
              </a:rPr>
              <a:t>=10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a(self):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</a:t>
            </a:r>
            <a:r>
              <a:rPr lang="en-US" altLang="ko-KR" sz="2400" b="1" dirty="0" err="1">
                <a:latin typeface="+mn-ea"/>
              </a:rPr>
              <a:t>self.a_mem</a:t>
            </a:r>
            <a:r>
              <a:rPr lang="en-US" altLang="ko-KR" sz="2400" b="1" dirty="0">
                <a:latin typeface="+mn-ea"/>
              </a:rPr>
              <a:t>=20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b(self):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print (</a:t>
            </a:r>
            <a:r>
              <a:rPr lang="en-US" altLang="ko-KR" sz="2400" b="1" dirty="0" err="1">
                <a:latin typeface="+mn-ea"/>
              </a:rPr>
              <a:t>self.a_mem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print (</a:t>
            </a:r>
            <a:r>
              <a:rPr lang="en-US" altLang="ko-KR" sz="2400" b="1" dirty="0" err="1">
                <a:latin typeface="+mn-ea"/>
              </a:rPr>
              <a:t>self.c_mem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print (</a:t>
            </a:r>
            <a:r>
              <a:rPr lang="en-US" altLang="ko-KR" sz="2400" b="1" dirty="0" err="1">
                <a:latin typeface="+mn-ea"/>
              </a:rPr>
              <a:t>member.c_mem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m1=member()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print (m1.c_mem)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m1.a()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print (m1.a_mem)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Class member, Instance member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41831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err="1" smtClean="0">
                <a:solidFill>
                  <a:srgbClr val="0000FF"/>
                </a:solidFill>
                <a:latin typeface="+mn-ea"/>
              </a:rPr>
              <a:t>생성자</a:t>
            </a:r>
            <a:r>
              <a:rPr lang="ko-KR" altLang="en-US" sz="2400" b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2400" b="1" dirty="0" smtClean="0">
                <a:solidFill>
                  <a:srgbClr val="0000FF"/>
                </a:solidFill>
                <a:latin typeface="+mn-ea"/>
              </a:rPr>
              <a:t>method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__init__    : </a:t>
            </a:r>
            <a:r>
              <a:rPr lang="en-US" altLang="ko-KR" b="1" dirty="0" smtClean="0">
                <a:latin typeface="+mn-ea"/>
              </a:rPr>
              <a:t>__ </a:t>
            </a:r>
            <a:r>
              <a:rPr lang="ko-KR" altLang="en-US" b="1" dirty="0" err="1" smtClean="0">
                <a:latin typeface="+mn-ea"/>
              </a:rPr>
              <a:t>언더바</a:t>
            </a:r>
            <a:r>
              <a:rPr lang="ko-KR" altLang="en-US" b="1" dirty="0" smtClean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2</a:t>
            </a:r>
            <a:r>
              <a:rPr lang="ko-KR" altLang="en-US" b="1" dirty="0" smtClean="0">
                <a:latin typeface="+mn-ea"/>
              </a:rPr>
              <a:t>개는 특수한 예약 함수나 변수에 사용됨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</a:t>
            </a:r>
            <a:r>
              <a:rPr lang="ko-KR" altLang="en-US" sz="2400" b="1" dirty="0" smtClean="0">
                <a:latin typeface="+mn-ea"/>
              </a:rPr>
              <a:t>객체가 생성될 때 자동으로 생성되는 </a:t>
            </a:r>
            <a:r>
              <a:rPr lang="en-US" altLang="ko-KR" sz="2400" b="1" dirty="0" smtClean="0">
                <a:latin typeface="+mn-ea"/>
              </a:rPr>
              <a:t>method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self </a:t>
            </a:r>
            <a:r>
              <a:rPr lang="ko-KR" altLang="en-US" sz="2400" b="1" dirty="0" smtClean="0">
                <a:latin typeface="+mn-ea"/>
              </a:rPr>
              <a:t>인자가 정의되어야 함</a:t>
            </a: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endParaRPr lang="en-US" altLang="ko-KR" sz="2400" b="1" dirty="0" smtClean="0">
              <a:latin typeface="+mn-ea"/>
            </a:endParaRP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err="1" smtClean="0">
                <a:solidFill>
                  <a:srgbClr val="0000FF"/>
                </a:solidFill>
                <a:latin typeface="+mn-ea"/>
              </a:rPr>
              <a:t>소멸자</a:t>
            </a:r>
            <a:r>
              <a:rPr lang="ko-KR" altLang="en-US" sz="2400" b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2400" b="1" dirty="0" smtClean="0">
                <a:solidFill>
                  <a:srgbClr val="0000FF"/>
                </a:solidFill>
                <a:latin typeface="+mn-ea"/>
              </a:rPr>
              <a:t>method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__del__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</a:t>
            </a:r>
            <a:r>
              <a:rPr lang="ko-KR" altLang="en-US" sz="2400" b="1" dirty="0" smtClean="0">
                <a:latin typeface="+mn-ea"/>
              </a:rPr>
              <a:t>객체가 소멸될 때 자동으로 호출되는 </a:t>
            </a:r>
            <a:r>
              <a:rPr lang="en-US" altLang="ko-KR" sz="2400" b="1" dirty="0" smtClean="0">
                <a:latin typeface="+mn-ea"/>
              </a:rPr>
              <a:t>method</a:t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self </a:t>
            </a:r>
            <a:r>
              <a:rPr lang="ko-KR" altLang="en-US" sz="2400" b="1" dirty="0" smtClean="0">
                <a:latin typeface="+mn-ea"/>
              </a:rPr>
              <a:t>인자가 정의되어야 함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- </a:t>
            </a:r>
            <a:r>
              <a:rPr lang="ko-KR" altLang="en-US" sz="2400" b="1" dirty="0" err="1" smtClean="0">
                <a:latin typeface="+mn-ea"/>
              </a:rPr>
              <a:t>파이썬에서는</a:t>
            </a:r>
            <a:r>
              <a:rPr lang="ko-KR" altLang="en-US" sz="2400" b="1" dirty="0" smtClean="0">
                <a:latin typeface="+mn-ea"/>
              </a:rPr>
              <a:t> 메모리 등의 해제가 자동으로 되기 때문에</a:t>
            </a:r>
            <a:r>
              <a:rPr lang="en-US" altLang="ko-KR" sz="2400" b="1" dirty="0" smtClean="0">
                <a:latin typeface="+mn-ea"/>
              </a:rPr>
              <a:t/>
            </a:r>
            <a:br>
              <a:rPr lang="en-US" altLang="ko-KR" sz="2400" b="1" dirty="0" smtClean="0">
                <a:latin typeface="+mn-ea"/>
              </a:rPr>
            </a:br>
            <a:r>
              <a:rPr lang="en-US" altLang="ko-KR" sz="2400" b="1" dirty="0" smtClean="0">
                <a:latin typeface="+mn-ea"/>
              </a:rPr>
              <a:t>  </a:t>
            </a:r>
            <a:r>
              <a:rPr lang="ko-KR" altLang="en-US" sz="2400" b="1" dirty="0" smtClean="0">
                <a:latin typeface="+mn-ea"/>
              </a:rPr>
              <a:t>개발자가 별도 작성하지 않아도 됨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생성자와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소멸자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생성자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호출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2124" y="1073110"/>
            <a:ext cx="8036417" cy="20313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latin typeface="+mn-ea"/>
              </a:rPr>
              <a:t>class Super:</a:t>
            </a:r>
          </a:p>
          <a:p>
            <a:r>
              <a:rPr lang="en-US" altLang="ko-KR" b="1" dirty="0" smtClean="0">
                <a:latin typeface="+mn-ea"/>
              </a:rPr>
              <a:t>	def __init__(self):</a:t>
            </a:r>
          </a:p>
          <a:p>
            <a:r>
              <a:rPr lang="en-US" altLang="ko-KR" b="1" dirty="0" smtClean="0">
                <a:latin typeface="+mn-ea"/>
              </a:rPr>
              <a:t>		print ("super init called")</a:t>
            </a:r>
          </a:p>
          <a:p>
            <a:r>
              <a:rPr lang="en-US" altLang="ko-KR" b="1" dirty="0" smtClean="0">
                <a:latin typeface="+mn-ea"/>
              </a:rPr>
              <a:t>class Sub(Super):</a:t>
            </a:r>
          </a:p>
          <a:p>
            <a:r>
              <a:rPr lang="en-US" altLang="ko-KR" b="1" dirty="0" smtClean="0">
                <a:latin typeface="+mn-ea"/>
              </a:rPr>
              <a:t>	def __init__(self):</a:t>
            </a:r>
          </a:p>
          <a:p>
            <a:r>
              <a:rPr lang="en-US" altLang="ko-KR" b="1" dirty="0" smtClean="0">
                <a:latin typeface="+mn-ea"/>
              </a:rPr>
              <a:t>		print ("Sub init called")</a:t>
            </a:r>
          </a:p>
          <a:p>
            <a:r>
              <a:rPr lang="en-US" altLang="ko-KR" b="1" dirty="0" smtClean="0">
                <a:latin typeface="+mn-ea"/>
              </a:rPr>
              <a:t>s=Sub()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49011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from time import </a:t>
            </a:r>
            <a:r>
              <a:rPr lang="en-US" altLang="ko-KR" sz="2400" b="1" dirty="0" err="1">
                <a:latin typeface="+mn-ea"/>
              </a:rPr>
              <a:t>ctime</a:t>
            </a:r>
            <a:r>
              <a:rPr lang="en-US" altLang="ko-KR" sz="2400" b="1" dirty="0">
                <a:latin typeface="+mn-ea"/>
              </a:rPr>
              <a:t>, sleep</a:t>
            </a:r>
          </a:p>
          <a:p>
            <a:pPr>
              <a:lnSpc>
                <a:spcPts val="29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class Life: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__</a:t>
            </a:r>
            <a:r>
              <a:rPr lang="en-US" altLang="ko-KR" sz="2400" b="1" dirty="0" err="1">
                <a:latin typeface="+mn-ea"/>
              </a:rPr>
              <a:t>init</a:t>
            </a:r>
            <a:r>
              <a:rPr lang="en-US" altLang="ko-KR" sz="2400" b="1" dirty="0">
                <a:latin typeface="+mn-ea"/>
              </a:rPr>
              <a:t>__(self):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</a:t>
            </a:r>
            <a:r>
              <a:rPr lang="en-US" altLang="ko-KR" sz="2400" b="1" dirty="0" err="1">
                <a:latin typeface="+mn-ea"/>
              </a:rPr>
              <a:t>self.birth</a:t>
            </a:r>
            <a:r>
              <a:rPr lang="en-US" altLang="ko-KR" sz="2400" b="1" dirty="0">
                <a:latin typeface="+mn-ea"/>
              </a:rPr>
              <a:t>=</a:t>
            </a:r>
            <a:r>
              <a:rPr lang="en-US" altLang="ko-KR" sz="2400" b="1" dirty="0" err="1">
                <a:latin typeface="+mn-ea"/>
              </a:rPr>
              <a:t>ctime</a:t>
            </a:r>
            <a:r>
              <a:rPr lang="en-US" altLang="ko-KR" sz="2400" b="1" dirty="0">
                <a:latin typeface="+mn-ea"/>
              </a:rPr>
              <a:t>()   </a:t>
            </a:r>
            <a:r>
              <a:rPr lang="en-US" altLang="ko-KR" sz="2400" b="1" dirty="0" smtClean="0">
                <a:latin typeface="+mn-ea"/>
              </a:rPr>
              <a:t>  </a:t>
            </a:r>
            <a:r>
              <a:rPr lang="en-US" altLang="ko-KR" sz="2400" dirty="0">
                <a:solidFill>
                  <a:srgbClr val="0000FF"/>
                </a:solidFill>
                <a:latin typeface="+mn-ea"/>
              </a:rPr>
              <a:t>#</a:t>
            </a:r>
            <a:r>
              <a:rPr lang="ko-KR" altLang="en-US" sz="2400" dirty="0">
                <a:solidFill>
                  <a:srgbClr val="0000FF"/>
                </a:solidFill>
                <a:latin typeface="+mn-ea"/>
              </a:rPr>
              <a:t>현재 시간 </a:t>
            </a:r>
            <a:r>
              <a:rPr lang="ko-KR" altLang="en-US" sz="2400" dirty="0" smtClean="0">
                <a:solidFill>
                  <a:srgbClr val="0000FF"/>
                </a:solidFill>
                <a:latin typeface="+mn-ea"/>
              </a:rPr>
              <a:t>문자열 전달</a:t>
            </a:r>
            <a:endParaRPr lang="ko-KR" altLang="en-US" sz="240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ko-KR" altLang="en-US" sz="2400" b="1" dirty="0">
                <a:latin typeface="+mn-ea"/>
              </a:rPr>
              <a:t>		</a:t>
            </a:r>
            <a:r>
              <a:rPr lang="en-US" altLang="ko-KR" sz="2400" b="1" dirty="0">
                <a:latin typeface="+mn-ea"/>
              </a:rPr>
              <a:t>print ('birthday', </a:t>
            </a:r>
            <a:r>
              <a:rPr lang="en-US" altLang="ko-KR" sz="2400" b="1" dirty="0" err="1">
                <a:latin typeface="+mn-ea"/>
              </a:rPr>
              <a:t>self.birth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__del__(self):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print ('</a:t>
            </a:r>
            <a:r>
              <a:rPr lang="en-US" altLang="ko-KR" sz="2400" b="1" dirty="0" err="1">
                <a:latin typeface="+mn-ea"/>
              </a:rPr>
              <a:t>Deathday</a:t>
            </a:r>
            <a:r>
              <a:rPr lang="en-US" altLang="ko-KR" sz="2400" b="1" dirty="0">
                <a:latin typeface="+mn-ea"/>
              </a:rPr>
              <a:t>', </a:t>
            </a:r>
            <a:r>
              <a:rPr lang="en-US" altLang="ko-KR" sz="2400" b="1" dirty="0" err="1">
                <a:latin typeface="+mn-ea"/>
              </a:rPr>
              <a:t>ctime</a:t>
            </a:r>
            <a:r>
              <a:rPr lang="en-US" altLang="ko-KR" sz="2400" b="1" dirty="0" smtClean="0">
                <a:latin typeface="+mn-ea"/>
              </a:rPr>
              <a:t>())   </a:t>
            </a:r>
            <a:r>
              <a:rPr lang="en-US" altLang="ko-KR" sz="2400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2400" dirty="0" err="1" smtClean="0">
                <a:solidFill>
                  <a:srgbClr val="0000FF"/>
                </a:solidFill>
                <a:latin typeface="+mn-ea"/>
              </a:rPr>
              <a:t>소멸시간</a:t>
            </a:r>
            <a:r>
              <a:rPr lang="ko-KR" altLang="en-US" sz="2400" dirty="0" smtClean="0">
                <a:solidFill>
                  <a:srgbClr val="0000FF"/>
                </a:solidFill>
                <a:latin typeface="+mn-ea"/>
              </a:rPr>
              <a:t> 출력</a:t>
            </a:r>
            <a:endParaRPr lang="en-US" altLang="ko-KR" sz="240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test():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mylife</a:t>
            </a:r>
            <a:r>
              <a:rPr lang="en-US" altLang="ko-KR" sz="2400" b="1" dirty="0">
                <a:latin typeface="+mn-ea"/>
              </a:rPr>
              <a:t>=Life()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print ("sleeping for 3 sec")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sleep(3)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test()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생성자와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소멸자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304166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class Integer: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__</a:t>
            </a:r>
            <a:r>
              <a:rPr lang="en-US" altLang="ko-KR" sz="2400" b="1" dirty="0" err="1">
                <a:latin typeface="+mn-ea"/>
              </a:rPr>
              <a:t>init</a:t>
            </a:r>
            <a:r>
              <a:rPr lang="en-US" altLang="ko-KR" sz="2400" b="1" dirty="0">
                <a:latin typeface="+mn-ea"/>
              </a:rPr>
              <a:t>__(self, </a:t>
            </a:r>
            <a:r>
              <a:rPr lang="en-US" altLang="ko-KR" sz="2400" b="1" dirty="0" err="1">
                <a:latin typeface="+mn-ea"/>
              </a:rPr>
              <a:t>i</a:t>
            </a:r>
            <a:r>
              <a:rPr lang="en-US" altLang="ko-KR" sz="2400" b="1" dirty="0">
                <a:latin typeface="+mn-ea"/>
              </a:rPr>
              <a:t>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</a:t>
            </a:r>
            <a:r>
              <a:rPr lang="en-US" altLang="ko-KR" sz="2400" b="1" dirty="0" err="1">
                <a:latin typeface="+mn-ea"/>
              </a:rPr>
              <a:t>self.i</a:t>
            </a:r>
            <a:r>
              <a:rPr lang="en-US" altLang="ko-KR" sz="2400" b="1" dirty="0">
                <a:latin typeface="+mn-ea"/>
              </a:rPr>
              <a:t>=</a:t>
            </a:r>
            <a:r>
              <a:rPr lang="en-US" altLang="ko-KR" sz="2400" b="1" dirty="0" err="1">
                <a:latin typeface="+mn-ea"/>
              </a:rPr>
              <a:t>i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__</a:t>
            </a:r>
            <a:r>
              <a:rPr lang="en-US" altLang="ko-KR" sz="2400" b="1" dirty="0" err="1">
                <a:latin typeface="+mn-ea"/>
              </a:rPr>
              <a:t>str</a:t>
            </a:r>
            <a:r>
              <a:rPr lang="en-US" altLang="ko-KR" sz="2400" b="1" dirty="0">
                <a:latin typeface="+mn-ea"/>
              </a:rPr>
              <a:t>__(self):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		return "a="+</a:t>
            </a:r>
            <a:r>
              <a:rPr lang="en-US" altLang="ko-KR" sz="2400" b="1" dirty="0" err="1">
                <a:latin typeface="+mn-ea"/>
              </a:rPr>
              <a:t>str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-US" altLang="ko-KR" sz="2400" b="1" dirty="0" err="1">
                <a:latin typeface="+mn-ea"/>
              </a:rPr>
              <a:t>self.i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 err="1">
                <a:latin typeface="+mn-ea"/>
              </a:rPr>
              <a:t>i</a:t>
            </a:r>
            <a:r>
              <a:rPr lang="en-US" altLang="ko-KR" sz="2400" b="1" dirty="0">
                <a:latin typeface="+mn-ea"/>
              </a:rPr>
              <a:t>=Integer(10)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print (</a:t>
            </a:r>
            <a:r>
              <a:rPr lang="en-US" altLang="ko-KR" sz="2400" b="1" dirty="0" err="1">
                <a:latin typeface="+mn-ea"/>
              </a:rPr>
              <a:t>i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>
              <a:lnSpc>
                <a:spcPts val="2900"/>
              </a:lnSpc>
            </a:pPr>
            <a:r>
              <a:rPr lang="en-US" altLang="ko-KR" sz="2400" b="1" dirty="0">
                <a:latin typeface="+mn-ea"/>
              </a:rPr>
              <a:t>print (</a:t>
            </a:r>
            <a:r>
              <a:rPr lang="en-US" altLang="ko-KR" sz="2400" b="1" dirty="0" err="1">
                <a:latin typeface="+mn-ea"/>
              </a:rPr>
              <a:t>str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-US" altLang="ko-KR" sz="2400" b="1" dirty="0" err="1">
                <a:latin typeface="+mn-ea"/>
              </a:rPr>
              <a:t>i</a:t>
            </a:r>
            <a:r>
              <a:rPr lang="en-US" altLang="ko-KR" sz="2400" b="1" dirty="0">
                <a:latin typeface="+mn-ea"/>
              </a:rPr>
              <a:t>))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생성자와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소멸자</a:t>
            </a:r>
            <a:endParaRPr lang="ko-KR" altLang="en-US" sz="2800" b="1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47730" y="1088167"/>
            <a:ext cx="8448540" cy="49269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 </a:t>
            </a:r>
            <a:r>
              <a:rPr lang="ko-KR" altLang="en-US" sz="2400" b="1" dirty="0" smtClean="0">
                <a:latin typeface="+mn-ea"/>
              </a:rPr>
              <a:t>클래스 멤버 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b="1" dirty="0" smtClean="0">
                <a:latin typeface="+mn-ea"/>
              </a:rPr>
              <a:t>모든 </a:t>
            </a:r>
            <a:r>
              <a:rPr lang="ko-KR" altLang="en-US" sz="2400" b="1" dirty="0" err="1" smtClean="0">
                <a:latin typeface="+mn-ea"/>
              </a:rPr>
              <a:t>인스턴스</a:t>
            </a:r>
            <a:r>
              <a:rPr lang="ko-KR" altLang="en-US" sz="2400" b="1" dirty="0" smtClean="0">
                <a:latin typeface="+mn-ea"/>
              </a:rPr>
              <a:t> 객체에서 공유해서 사용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400" b="1" dirty="0" smtClean="0">
                <a:latin typeface="+mn-ea"/>
              </a:rPr>
              <a:t> </a:t>
            </a:r>
            <a:r>
              <a:rPr lang="ko-KR" altLang="en-US" sz="2400" b="1" dirty="0" err="1" smtClean="0">
                <a:latin typeface="+mn-ea"/>
              </a:rPr>
              <a:t>인스턴스</a:t>
            </a:r>
            <a:r>
              <a:rPr lang="ko-KR" altLang="en-US" sz="2400" b="1" dirty="0" smtClean="0">
                <a:latin typeface="+mn-ea"/>
              </a:rPr>
              <a:t> 멤버 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b="1" dirty="0" smtClean="0">
                <a:latin typeface="+mn-ea"/>
              </a:rPr>
              <a:t>각각의 </a:t>
            </a:r>
            <a:r>
              <a:rPr lang="ko-KR" altLang="en-US" sz="2400" b="1" dirty="0" err="1" smtClean="0">
                <a:latin typeface="+mn-ea"/>
              </a:rPr>
              <a:t>인스턴스</a:t>
            </a:r>
            <a:r>
              <a:rPr lang="ko-KR" altLang="en-US" sz="2400" b="1" dirty="0" smtClean="0">
                <a:latin typeface="+mn-ea"/>
              </a:rPr>
              <a:t> 객체 내에서만 참조</a:t>
            </a:r>
            <a:endParaRPr lang="en-US" altLang="ko-KR" sz="2400" b="1" dirty="0" smtClean="0">
              <a:latin typeface="+mn-ea"/>
            </a:endParaRPr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endParaRPr lang="en-US" altLang="ko-KR" sz="2400" b="1" dirty="0" smtClean="0">
              <a:latin typeface="+mn-ea"/>
            </a:endParaRPr>
          </a:p>
          <a:p>
            <a:pPr>
              <a:lnSpc>
                <a:spcPts val="2900"/>
              </a:lnSpc>
            </a:pPr>
            <a:r>
              <a:rPr lang="en-US" sz="2400" b="1" dirty="0" smtClean="0"/>
              <a:t>class </a:t>
            </a:r>
            <a:r>
              <a:rPr lang="en-US" sz="2400" dirty="0" err="1" smtClean="0"/>
              <a:t>Var</a:t>
            </a:r>
            <a:r>
              <a:rPr lang="en-US" sz="2400" dirty="0" smtClean="0"/>
              <a:t>:</a:t>
            </a:r>
            <a:br>
              <a:rPr lang="en-US" sz="2400" dirty="0" smtClean="0"/>
            </a:br>
            <a:r>
              <a:rPr lang="en-US" sz="2400" dirty="0" smtClean="0"/>
              <a:t>     </a:t>
            </a:r>
            <a:r>
              <a:rPr lang="en-US" sz="2400" dirty="0" err="1" smtClean="0"/>
              <a:t>c_mem</a:t>
            </a:r>
            <a:r>
              <a:rPr lang="en-US" sz="2400" dirty="0" smtClean="0"/>
              <a:t>=10                   # class member</a:t>
            </a:r>
            <a:br>
              <a:rPr lang="en-US" sz="2400" dirty="0" smtClean="0"/>
            </a:br>
            <a:r>
              <a:rPr lang="en-US" sz="2400" dirty="0" smtClean="0"/>
              <a:t>     </a:t>
            </a:r>
            <a:r>
              <a:rPr lang="en-US" sz="2400" b="1" dirty="0" smtClean="0"/>
              <a:t>def </a:t>
            </a:r>
            <a:r>
              <a:rPr lang="en-US" sz="2400" dirty="0" err="1" smtClean="0"/>
              <a:t>func</a:t>
            </a:r>
            <a:r>
              <a:rPr lang="en-US" sz="2400" dirty="0" smtClean="0"/>
              <a:t>(self):</a:t>
            </a:r>
            <a:br>
              <a:rPr lang="en-US" sz="2400" dirty="0" smtClean="0"/>
            </a:br>
            <a:r>
              <a:rPr lang="en-US" sz="2400" dirty="0" smtClean="0"/>
              <a:t>          </a:t>
            </a:r>
            <a:r>
              <a:rPr lang="en-US" sz="2400" dirty="0" err="1" smtClean="0"/>
              <a:t>self.i_mem</a:t>
            </a:r>
            <a:r>
              <a:rPr lang="en-US" sz="2400" dirty="0" smtClean="0"/>
              <a:t>=20       # instance member</a:t>
            </a:r>
            <a:br>
              <a:rPr lang="en-US" sz="2400" dirty="0" smtClean="0"/>
            </a:br>
            <a:r>
              <a:rPr lang="en-US" sz="2400" dirty="0" smtClean="0"/>
              <a:t>     </a:t>
            </a:r>
            <a:r>
              <a:rPr lang="en-US" sz="2400" b="1" dirty="0" smtClean="0"/>
              <a:t>def </a:t>
            </a:r>
            <a:r>
              <a:rPr lang="en-US" sz="2400" dirty="0" smtClean="0"/>
              <a:t>func_1(self):</a:t>
            </a:r>
            <a:br>
              <a:rPr lang="en-US" sz="2400" dirty="0" smtClean="0"/>
            </a:br>
            <a:r>
              <a:rPr lang="en-US" sz="2400" dirty="0" smtClean="0"/>
              <a:t>          </a:t>
            </a:r>
            <a:r>
              <a:rPr lang="en-US" sz="2400" b="1" dirty="0" smtClean="0"/>
              <a:t>return </a:t>
            </a:r>
            <a:r>
              <a:rPr lang="en-US" sz="2400" dirty="0" err="1" smtClean="0"/>
              <a:t>self.i_mem</a:t>
            </a:r>
            <a:r>
              <a:rPr lang="en-US" sz="2400" dirty="0" smtClean="0"/>
              <a:t>, </a:t>
            </a:r>
            <a:r>
              <a:rPr lang="en-US" sz="2400" dirty="0" err="1" smtClean="0"/>
              <a:t>self.c_mem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print (</a:t>
            </a:r>
            <a:r>
              <a:rPr lang="en-US" sz="2400" dirty="0" err="1" smtClean="0"/>
              <a:t>Var.c_mem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r>
              <a:rPr lang="en-US" sz="2400" dirty="0" err="1" smtClean="0"/>
              <a:t>c.func</a:t>
            </a:r>
            <a:r>
              <a:rPr lang="en-US" sz="2400" dirty="0" smtClean="0"/>
              <a:t>()</a:t>
            </a:r>
            <a:br>
              <a:rPr lang="en-US" sz="2400" dirty="0" smtClean="0"/>
            </a:br>
            <a:r>
              <a:rPr lang="en-US" sz="2400" dirty="0" smtClean="0"/>
              <a:t>print (</a:t>
            </a:r>
            <a:r>
              <a:rPr lang="en-US" sz="2400" dirty="0" err="1" smtClean="0"/>
              <a:t>c.i_mem</a:t>
            </a:r>
            <a:r>
              <a:rPr lang="en-US" sz="2400" dirty="0" smtClean="0"/>
              <a:t>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멤버와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인스턴스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멤버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TextBox 3"/>
          <p:cNvSpPr txBox="1"/>
          <p:nvPr/>
        </p:nvSpPr>
        <p:spPr>
          <a:xfrm>
            <a:off x="195072" y="250621"/>
            <a:ext cx="3810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/>
              <a:t>  </a:t>
            </a:r>
            <a:r>
              <a:rPr lang="ko-KR" altLang="en-US" sz="2800" b="1" dirty="0" smtClean="0"/>
              <a:t>클래스  </a:t>
            </a:r>
            <a:r>
              <a:rPr lang="en-US" altLang="ko-KR" sz="2800" b="1" dirty="0" smtClean="0"/>
              <a:t>: </a:t>
            </a:r>
            <a:r>
              <a:rPr lang="ko-KR" altLang="en-US" sz="2800" b="1" dirty="0" smtClean="0"/>
              <a:t>클래스 구조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545910" y="1024002"/>
            <a:ext cx="7458503" cy="56938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class </a:t>
            </a:r>
            <a:r>
              <a:rPr lang="ko-KR" altLang="en-US" sz="2800" b="1" dirty="0" smtClean="0"/>
              <a:t>클래스이름</a:t>
            </a:r>
            <a:r>
              <a:rPr lang="en-US" altLang="ko-KR" sz="2800" b="1" dirty="0" smtClean="0"/>
              <a:t>[(</a:t>
            </a:r>
            <a:r>
              <a:rPr lang="ko-KR" altLang="en-US" sz="2800" b="1" dirty="0" smtClean="0"/>
              <a:t>상속 </a:t>
            </a:r>
            <a:r>
              <a:rPr lang="ko-KR" altLang="en-US" sz="2800" b="1" dirty="0" err="1" smtClean="0"/>
              <a:t>클래스명</a:t>
            </a:r>
            <a:r>
              <a:rPr lang="en-US" altLang="ko-KR" sz="2800" b="1" dirty="0" smtClean="0"/>
              <a:t>)]: </a:t>
            </a:r>
          </a:p>
          <a:p>
            <a:r>
              <a:rPr lang="en-US" altLang="ko-KR" sz="2800" b="1" dirty="0" smtClean="0"/>
              <a:t>     &lt;</a:t>
            </a:r>
            <a:r>
              <a:rPr lang="ko-KR" altLang="en-US" sz="2800" b="1" dirty="0" smtClean="0"/>
              <a:t>클래스 변수 </a:t>
            </a:r>
            <a:r>
              <a:rPr lang="en-US" altLang="ko-KR" sz="2800" b="1" dirty="0" smtClean="0"/>
              <a:t>1&gt; </a:t>
            </a:r>
          </a:p>
          <a:p>
            <a:r>
              <a:rPr lang="en-US" altLang="ko-KR" sz="2800" b="1" dirty="0" smtClean="0"/>
              <a:t>     &lt;</a:t>
            </a:r>
            <a:r>
              <a:rPr lang="ko-KR" altLang="en-US" sz="2800" b="1" dirty="0" smtClean="0"/>
              <a:t>클래스 변수 </a:t>
            </a:r>
            <a:r>
              <a:rPr lang="en-US" altLang="ko-KR" sz="2800" b="1" dirty="0" smtClean="0"/>
              <a:t>2&gt; </a:t>
            </a:r>
          </a:p>
          <a:p>
            <a:r>
              <a:rPr lang="en-US" altLang="ko-KR" sz="2800" b="1" dirty="0" smtClean="0"/>
              <a:t>      ... </a:t>
            </a:r>
          </a:p>
          <a:p>
            <a:r>
              <a:rPr lang="en-US" altLang="ko-KR" sz="2800" b="1" dirty="0" smtClean="0"/>
              <a:t>     def </a:t>
            </a:r>
            <a:r>
              <a:rPr lang="ko-KR" altLang="en-US" sz="2800" b="1" dirty="0" err="1" smtClean="0"/>
              <a:t>메서드</a:t>
            </a:r>
            <a:r>
              <a:rPr lang="en-US" altLang="ko-KR" sz="2800" b="1" dirty="0" smtClean="0"/>
              <a:t>1(self[, </a:t>
            </a:r>
            <a:r>
              <a:rPr lang="ko-KR" altLang="en-US" sz="2800" b="1" dirty="0" smtClean="0"/>
              <a:t>인수</a:t>
            </a:r>
            <a:r>
              <a:rPr lang="en-US" altLang="ko-KR" sz="2800" b="1" dirty="0" smtClean="0"/>
              <a:t>1, </a:t>
            </a:r>
            <a:r>
              <a:rPr lang="ko-KR" altLang="en-US" sz="2800" b="1" dirty="0" smtClean="0"/>
              <a:t>인수</a:t>
            </a:r>
            <a:r>
              <a:rPr lang="en-US" altLang="ko-KR" sz="2800" b="1" dirty="0" smtClean="0"/>
              <a:t>2,,,]): </a:t>
            </a:r>
          </a:p>
          <a:p>
            <a:r>
              <a:rPr lang="en-US" altLang="ko-KR" sz="2800" b="1" dirty="0" smtClean="0"/>
              <a:t>           &lt;</a:t>
            </a:r>
            <a:r>
              <a:rPr lang="ko-KR" altLang="en-US" sz="2800" b="1" dirty="0" smtClean="0"/>
              <a:t>수행할 문장 </a:t>
            </a:r>
            <a:r>
              <a:rPr lang="en-US" altLang="ko-KR" sz="2800" b="1" dirty="0" smtClean="0"/>
              <a:t>1&gt; </a:t>
            </a:r>
          </a:p>
          <a:p>
            <a:r>
              <a:rPr lang="en-US" altLang="ko-KR" sz="2800" b="1" dirty="0" smtClean="0"/>
              <a:t>           &lt;</a:t>
            </a:r>
            <a:r>
              <a:rPr lang="ko-KR" altLang="en-US" sz="2800" b="1" dirty="0" smtClean="0"/>
              <a:t>수행할 문장 </a:t>
            </a:r>
            <a:r>
              <a:rPr lang="en-US" altLang="ko-KR" sz="2800" b="1" dirty="0" smtClean="0"/>
              <a:t>2&gt; </a:t>
            </a:r>
          </a:p>
          <a:p>
            <a:r>
              <a:rPr lang="en-US" altLang="ko-KR" sz="2800" b="1" dirty="0" smtClean="0"/>
              <a:t>            ... </a:t>
            </a:r>
          </a:p>
          <a:p>
            <a:r>
              <a:rPr lang="en-US" altLang="ko-KR" sz="2800" b="1" dirty="0" smtClean="0"/>
              <a:t>     def </a:t>
            </a:r>
            <a:r>
              <a:rPr lang="ko-KR" altLang="en-US" sz="2800" b="1" dirty="0" err="1" smtClean="0"/>
              <a:t>메서드</a:t>
            </a:r>
            <a:r>
              <a:rPr lang="en-US" altLang="ko-KR" sz="2800" b="1" dirty="0" smtClean="0"/>
              <a:t>2(self[, </a:t>
            </a:r>
            <a:r>
              <a:rPr lang="ko-KR" altLang="en-US" sz="2800" b="1" dirty="0" smtClean="0"/>
              <a:t>인수</a:t>
            </a:r>
            <a:r>
              <a:rPr lang="en-US" altLang="ko-KR" sz="2800" b="1" dirty="0" smtClean="0"/>
              <a:t>1, </a:t>
            </a:r>
            <a:r>
              <a:rPr lang="ko-KR" altLang="en-US" sz="2800" b="1" dirty="0" smtClean="0"/>
              <a:t>인수</a:t>
            </a:r>
            <a:r>
              <a:rPr lang="en-US" altLang="ko-KR" sz="2800" b="1" dirty="0" smtClean="0"/>
              <a:t>2,,,]): </a:t>
            </a:r>
          </a:p>
          <a:p>
            <a:r>
              <a:rPr lang="en-US" altLang="ko-KR" sz="2800" b="1" dirty="0" smtClean="0"/>
              <a:t>          &lt;</a:t>
            </a:r>
            <a:r>
              <a:rPr lang="ko-KR" altLang="en-US" sz="2800" b="1" dirty="0" smtClean="0"/>
              <a:t>수행할 문장</a:t>
            </a:r>
            <a:r>
              <a:rPr lang="en-US" altLang="ko-KR" sz="2800" b="1" dirty="0" smtClean="0"/>
              <a:t>1&gt; </a:t>
            </a:r>
          </a:p>
          <a:p>
            <a:r>
              <a:rPr lang="en-US" altLang="ko-KR" sz="2800" b="1" dirty="0" smtClean="0"/>
              <a:t>          &lt;</a:t>
            </a:r>
            <a:r>
              <a:rPr lang="ko-KR" altLang="en-US" sz="2800" b="1" dirty="0" smtClean="0"/>
              <a:t>수행할 문장</a:t>
            </a:r>
            <a:r>
              <a:rPr lang="en-US" altLang="ko-KR" sz="2800" b="1" dirty="0" smtClean="0"/>
              <a:t>2&gt; </a:t>
            </a:r>
          </a:p>
          <a:p>
            <a:r>
              <a:rPr lang="en-US" altLang="ko-KR" sz="2800" b="1" dirty="0" smtClean="0"/>
              <a:t>          ... </a:t>
            </a:r>
          </a:p>
          <a:p>
            <a:r>
              <a:rPr lang="en-US" altLang="ko-KR" sz="2800" b="1" dirty="0" smtClean="0"/>
              <a:t>... 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6781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구조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50128" y="1161281"/>
            <a:ext cx="7765576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400" b="1" dirty="0" smtClean="0"/>
              <a:t>  </a:t>
            </a:r>
            <a:r>
              <a:rPr lang="ko-KR" altLang="en-US" sz="2400" b="1" dirty="0" smtClean="0"/>
              <a:t>상속</a:t>
            </a:r>
            <a:r>
              <a:rPr lang="en-US" altLang="ko-KR" sz="2400" b="1" dirty="0" smtClean="0"/>
              <a:t>(Inheritance) : </a:t>
            </a:r>
            <a:r>
              <a:rPr lang="ko-KR" altLang="en-US" sz="2400" b="1" dirty="0" smtClean="0"/>
              <a:t>물려받다</a:t>
            </a:r>
            <a:r>
              <a:rPr lang="en-US" altLang="ko-KR" sz="2400" b="1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2400" b="1" dirty="0" smtClean="0"/>
              <a:t>  </a:t>
            </a:r>
            <a:r>
              <a:rPr lang="ko-KR" altLang="en-US" sz="2400" b="1" dirty="0" smtClean="0"/>
              <a:t>상속 </a:t>
            </a:r>
            <a:r>
              <a:rPr lang="en-US" altLang="ko-KR" sz="2400" b="1" dirty="0" smtClean="0"/>
              <a:t>= </a:t>
            </a:r>
            <a:r>
              <a:rPr lang="ko-KR" altLang="en-US" sz="2400" b="1" dirty="0" smtClean="0"/>
              <a:t>재 </a:t>
            </a:r>
            <a:r>
              <a:rPr lang="ko-KR" altLang="en-US" sz="2400" b="1" dirty="0" err="1" smtClean="0"/>
              <a:t>사용성</a:t>
            </a:r>
            <a:endParaRPr lang="en-US" altLang="ko-KR" sz="2400" b="1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400" b="1" dirty="0" smtClean="0"/>
              <a:t>  </a:t>
            </a:r>
            <a:r>
              <a:rPr lang="ko-KR" altLang="en-US" sz="2400" b="1" dirty="0" smtClean="0"/>
              <a:t>상속 받은 클래스는 상속해준 클래스의 속성 사용</a:t>
            </a:r>
            <a:endParaRPr lang="en-US" altLang="ko-KR" sz="2400" b="1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400" b="1" dirty="0" smtClean="0"/>
              <a:t>  </a:t>
            </a:r>
            <a:r>
              <a:rPr lang="ko-KR" altLang="en-US" sz="2400" b="1" dirty="0" smtClean="0"/>
              <a:t>추가 필요 기능 정의 혹은 기존 기능 변경</a:t>
            </a:r>
            <a:endParaRPr lang="en-US" altLang="ko-KR" sz="2400" b="1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400" b="1" dirty="0" smtClean="0"/>
              <a:t>  class </a:t>
            </a:r>
            <a:r>
              <a:rPr lang="ko-KR" altLang="en-US" sz="2400" b="1" dirty="0" err="1" smtClean="0"/>
              <a:t>클래스명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상속받을 </a:t>
            </a:r>
            <a:r>
              <a:rPr lang="ko-KR" altLang="en-US" sz="2400" b="1" dirty="0" err="1" smtClean="0"/>
              <a:t>클래스명</a:t>
            </a:r>
            <a:r>
              <a:rPr lang="en-US" altLang="ko-KR" sz="2400" b="1" dirty="0" smtClean="0"/>
              <a:t>)</a:t>
            </a:r>
            <a:endParaRPr lang="ko-KR" altLang="en-US" sz="24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클래스의 상속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084385" y="3848679"/>
            <a:ext cx="1378424" cy="45037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동 물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312451" y="4792649"/>
            <a:ext cx="1378424" cy="45037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사 </a:t>
            </a:r>
            <a:r>
              <a:rPr lang="ko-KR" altLang="en-US" b="1" dirty="0" err="1" smtClean="0">
                <a:solidFill>
                  <a:schemeClr val="tx1"/>
                </a:solidFill>
              </a:rPr>
              <a:t>람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958728" y="4794924"/>
            <a:ext cx="1378424" cy="45037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8" name="꺾인 연결선 7"/>
          <p:cNvCxnSpPr>
            <a:stCxn id="6" idx="0"/>
            <a:endCxn id="5" idx="2"/>
          </p:cNvCxnSpPr>
          <p:nvPr/>
        </p:nvCxnSpPr>
        <p:spPr>
          <a:xfrm rot="5400000" flipH="1" flipV="1">
            <a:off x="2640833" y="3659885"/>
            <a:ext cx="493594" cy="17719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7" idx="0"/>
            <a:endCxn id="5" idx="2"/>
          </p:cNvCxnSpPr>
          <p:nvPr/>
        </p:nvCxnSpPr>
        <p:spPr>
          <a:xfrm rot="16200000" flipV="1">
            <a:off x="4462835" y="3609818"/>
            <a:ext cx="495869" cy="187434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5"/>
          <p:cNvSpPr txBox="1"/>
          <p:nvPr/>
        </p:nvSpPr>
        <p:spPr>
          <a:xfrm>
            <a:off x="4585639" y="388962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smtClean="0">
                <a:solidFill>
                  <a:srgbClr val="0000FF"/>
                </a:solidFill>
              </a:rPr>
              <a:t>상위 클래스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1" name="TextBox 16"/>
          <p:cNvSpPr txBox="1"/>
          <p:nvPr/>
        </p:nvSpPr>
        <p:spPr>
          <a:xfrm>
            <a:off x="1271509" y="532491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smtClean="0">
                <a:solidFill>
                  <a:srgbClr val="0000FF"/>
                </a:solidFill>
              </a:rPr>
              <a:t>하위 </a:t>
            </a:r>
            <a:r>
              <a:rPr lang="ko-KR" altLang="en-US" b="1" dirty="0" smtClean="0">
                <a:solidFill>
                  <a:srgbClr val="0000FF"/>
                </a:solidFill>
              </a:rPr>
              <a:t>클래스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4945031" y="532718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smtClean="0">
                <a:solidFill>
                  <a:srgbClr val="0000FF"/>
                </a:solidFill>
              </a:rPr>
              <a:t>하위 </a:t>
            </a:r>
            <a:r>
              <a:rPr lang="ko-KR" altLang="en-US" b="1" dirty="0" smtClean="0">
                <a:solidFill>
                  <a:srgbClr val="0000FF"/>
                </a:solidFill>
              </a:rPr>
              <a:t>클래스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5952688" y="3577997"/>
            <a:ext cx="1340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FF"/>
                </a:solidFill>
              </a:rPr>
              <a:t>Base Class</a:t>
            </a:r>
          </a:p>
          <a:p>
            <a:r>
              <a:rPr lang="en-US" altLang="ko-KR" b="1" dirty="0" smtClean="0">
                <a:solidFill>
                  <a:srgbClr val="0000FF"/>
                </a:solidFill>
              </a:rPr>
              <a:t>Parent Class</a:t>
            </a:r>
          </a:p>
          <a:p>
            <a:r>
              <a:rPr lang="en-US" altLang="ko-KR" b="1" dirty="0" smtClean="0">
                <a:solidFill>
                  <a:srgbClr val="0000FF"/>
                </a:solidFill>
              </a:rPr>
              <a:t>Super Class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6405336" y="5040582"/>
            <a:ext cx="14569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FF"/>
                </a:solidFill>
              </a:rPr>
              <a:t>Derived Class</a:t>
            </a:r>
          </a:p>
          <a:p>
            <a:r>
              <a:rPr lang="en-US" altLang="ko-KR" b="1" dirty="0" smtClean="0">
                <a:solidFill>
                  <a:srgbClr val="0000FF"/>
                </a:solidFill>
              </a:rPr>
              <a:t>Child Class</a:t>
            </a:r>
          </a:p>
          <a:p>
            <a:r>
              <a:rPr lang="en-US" altLang="ko-KR" b="1" dirty="0" smtClean="0">
                <a:solidFill>
                  <a:srgbClr val="0000FF"/>
                </a:solidFill>
              </a:rPr>
              <a:t>Sub Class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클래스의 상속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2124" y="1073110"/>
            <a:ext cx="8036417" cy="31393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latin typeface="+mn-ea"/>
              </a:rPr>
              <a:t>class Person(object):</a:t>
            </a:r>
          </a:p>
          <a:p>
            <a:r>
              <a:rPr lang="en-US" altLang="ko-KR" b="1" dirty="0" smtClean="0">
                <a:latin typeface="+mn-ea"/>
              </a:rPr>
              <a:t>           def __init__(self, name, age):</a:t>
            </a:r>
          </a:p>
          <a:p>
            <a:r>
              <a:rPr lang="en-US" altLang="ko-KR" b="1" dirty="0" smtClean="0">
                <a:latin typeface="+mn-ea"/>
              </a:rPr>
              <a:t>		self.name = name</a:t>
            </a:r>
          </a:p>
          <a:p>
            <a:r>
              <a:rPr lang="en-US" altLang="ko-KR" b="1" dirty="0" smtClean="0">
                <a:latin typeface="+mn-ea"/>
              </a:rPr>
              <a:t>		</a:t>
            </a:r>
            <a:r>
              <a:rPr lang="en-US" altLang="ko-KR" b="1" dirty="0" err="1" smtClean="0">
                <a:latin typeface="+mn-ea"/>
              </a:rPr>
              <a:t>self.age</a:t>
            </a:r>
            <a:r>
              <a:rPr lang="en-US" altLang="ko-KR" b="1" dirty="0" smtClean="0">
                <a:latin typeface="+mn-ea"/>
              </a:rPr>
              <a:t>=age</a:t>
            </a:r>
          </a:p>
          <a:p>
            <a:endParaRPr lang="en-US" altLang="ko-KR" b="1" dirty="0" smtClean="0">
              <a:latin typeface="+mn-ea"/>
            </a:endParaRPr>
          </a:p>
          <a:p>
            <a:r>
              <a:rPr lang="en-US" altLang="ko-KR" b="1" dirty="0" smtClean="0">
                <a:latin typeface="+mn-ea"/>
              </a:rPr>
              <a:t>class Korean(Person):</a:t>
            </a:r>
          </a:p>
          <a:p>
            <a:r>
              <a:rPr lang="en-US" altLang="ko-KR" b="1" dirty="0" smtClean="0">
                <a:latin typeface="+mn-ea"/>
              </a:rPr>
              <a:t>	pass</a:t>
            </a:r>
          </a:p>
          <a:p>
            <a:endParaRPr lang="en-US" altLang="ko-KR" b="1" dirty="0" smtClean="0">
              <a:latin typeface="+mn-ea"/>
            </a:endParaRPr>
          </a:p>
          <a:p>
            <a:r>
              <a:rPr lang="en-US" altLang="ko-KR" b="1" dirty="0" err="1" smtClean="0">
                <a:latin typeface="+mn-ea"/>
              </a:rPr>
              <a:t>first_korean</a:t>
            </a:r>
            <a:r>
              <a:rPr lang="en-US" altLang="ko-KR" b="1" dirty="0" smtClean="0">
                <a:latin typeface="+mn-ea"/>
              </a:rPr>
              <a:t> = Korean("son", 47)</a:t>
            </a:r>
          </a:p>
          <a:p>
            <a:r>
              <a:rPr lang="en-US" altLang="ko-KR" b="1" dirty="0" smtClean="0">
                <a:latin typeface="+mn-ea"/>
              </a:rPr>
              <a:t>print (first_korean.name)</a:t>
            </a:r>
          </a:p>
          <a:p>
            <a:r>
              <a:rPr lang="en-US" altLang="ko-KR" b="1" dirty="0" smtClean="0">
                <a:latin typeface="+mn-ea"/>
              </a:rPr>
              <a:t>print (first_korean.age)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클래스의 상속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2124" y="1073110"/>
            <a:ext cx="8036417" cy="507831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latin typeface="+mn-ea"/>
              </a:rPr>
              <a:t>class Person:      # parent class </a:t>
            </a:r>
          </a:p>
          <a:p>
            <a:r>
              <a:rPr lang="en-US" altLang="ko-KR" b="1" dirty="0" smtClean="0">
                <a:latin typeface="+mn-ea"/>
              </a:rPr>
              <a:t>	def __init__(self, name, phone=None):</a:t>
            </a:r>
          </a:p>
          <a:p>
            <a:r>
              <a:rPr lang="en-US" altLang="ko-KR" b="1" dirty="0" smtClean="0">
                <a:latin typeface="+mn-ea"/>
              </a:rPr>
              <a:t>		self.name=name</a:t>
            </a:r>
          </a:p>
          <a:p>
            <a:r>
              <a:rPr lang="en-US" altLang="ko-KR" b="1" dirty="0" smtClean="0">
                <a:latin typeface="+mn-ea"/>
              </a:rPr>
              <a:t>		</a:t>
            </a:r>
            <a:r>
              <a:rPr lang="en-US" altLang="ko-KR" b="1" dirty="0" err="1" smtClean="0">
                <a:latin typeface="+mn-ea"/>
              </a:rPr>
              <a:t>self.phone</a:t>
            </a:r>
            <a:r>
              <a:rPr lang="en-US" altLang="ko-KR" b="1" dirty="0" smtClean="0">
                <a:latin typeface="+mn-ea"/>
              </a:rPr>
              <a:t>=phone</a:t>
            </a:r>
          </a:p>
          <a:p>
            <a:r>
              <a:rPr lang="en-US" altLang="ko-KR" b="1" dirty="0" smtClean="0">
                <a:latin typeface="+mn-ea"/>
              </a:rPr>
              <a:t>	def __</a:t>
            </a:r>
            <a:r>
              <a:rPr lang="en-US" altLang="ko-KR" b="1" dirty="0" err="1" smtClean="0">
                <a:latin typeface="+mn-ea"/>
              </a:rPr>
              <a:t>str</a:t>
            </a:r>
            <a:r>
              <a:rPr lang="en-US" altLang="ko-KR" b="1" dirty="0" smtClean="0">
                <a:latin typeface="+mn-ea"/>
              </a:rPr>
              <a:t>__(self):</a:t>
            </a:r>
          </a:p>
          <a:p>
            <a:r>
              <a:rPr lang="en-US" altLang="ko-KR" b="1" dirty="0" smtClean="0">
                <a:latin typeface="+mn-ea"/>
              </a:rPr>
              <a:t>		return "&lt;person %s %s&gt;" % (self.name, </a:t>
            </a:r>
            <a:r>
              <a:rPr lang="en-US" altLang="ko-KR" b="1" dirty="0" err="1" smtClean="0">
                <a:latin typeface="+mn-ea"/>
              </a:rPr>
              <a:t>self.phone</a:t>
            </a:r>
            <a:r>
              <a:rPr lang="en-US" altLang="ko-KR" b="1" dirty="0" smtClean="0">
                <a:latin typeface="+mn-ea"/>
              </a:rPr>
              <a:t>)</a:t>
            </a:r>
          </a:p>
          <a:p>
            <a:endParaRPr lang="en-US" altLang="ko-KR" b="1" dirty="0" smtClean="0">
              <a:latin typeface="+mn-ea"/>
            </a:endParaRPr>
          </a:p>
          <a:p>
            <a:r>
              <a:rPr lang="en-US" altLang="ko-KR" b="1" dirty="0" smtClean="0">
                <a:latin typeface="+mn-ea"/>
              </a:rPr>
              <a:t>class Employee(Person):    # child class </a:t>
            </a:r>
          </a:p>
          <a:p>
            <a:r>
              <a:rPr lang="en-US" altLang="ko-KR" b="1" dirty="0" smtClean="0">
                <a:latin typeface="+mn-ea"/>
              </a:rPr>
              <a:t>	def __init__(self, name, phone, position, salary):</a:t>
            </a:r>
          </a:p>
          <a:p>
            <a:r>
              <a:rPr lang="en-US" altLang="ko-KR" b="1" dirty="0" smtClean="0">
                <a:latin typeface="+mn-ea"/>
              </a:rPr>
              <a:t>		</a:t>
            </a:r>
            <a:r>
              <a:rPr lang="en-US" altLang="ko-KR" b="1" dirty="0" err="1" smtClean="0">
                <a:latin typeface="+mn-ea"/>
              </a:rPr>
              <a:t>Person.__init</a:t>
            </a:r>
            <a:r>
              <a:rPr lang="en-US" altLang="ko-KR" b="1" dirty="0" smtClean="0">
                <a:latin typeface="+mn-ea"/>
              </a:rPr>
              <a:t>__(self, name, phone)</a:t>
            </a:r>
          </a:p>
          <a:p>
            <a:r>
              <a:rPr lang="en-US" altLang="ko-KR" b="1" dirty="0" smtClean="0">
                <a:latin typeface="+mn-ea"/>
              </a:rPr>
              <a:t>		</a:t>
            </a:r>
            <a:r>
              <a:rPr lang="en-US" altLang="ko-KR" b="1" dirty="0" err="1" smtClean="0">
                <a:latin typeface="+mn-ea"/>
              </a:rPr>
              <a:t>self.position</a:t>
            </a:r>
            <a:r>
              <a:rPr lang="en-US" altLang="ko-KR" b="1" dirty="0" smtClean="0">
                <a:latin typeface="+mn-ea"/>
              </a:rPr>
              <a:t>=position</a:t>
            </a:r>
          </a:p>
          <a:p>
            <a:r>
              <a:rPr lang="en-US" altLang="ko-KR" b="1" dirty="0" smtClean="0">
                <a:latin typeface="+mn-ea"/>
              </a:rPr>
              <a:t>		</a:t>
            </a:r>
            <a:r>
              <a:rPr lang="en-US" altLang="ko-KR" b="1" dirty="0" err="1" smtClean="0">
                <a:latin typeface="+mn-ea"/>
              </a:rPr>
              <a:t>self.salary</a:t>
            </a:r>
            <a:r>
              <a:rPr lang="en-US" altLang="ko-KR" b="1" dirty="0" smtClean="0">
                <a:latin typeface="+mn-ea"/>
              </a:rPr>
              <a:t>=salary</a:t>
            </a:r>
          </a:p>
          <a:p>
            <a:r>
              <a:rPr lang="en-US" altLang="ko-KR" b="1" dirty="0" smtClean="0">
                <a:latin typeface="+mn-ea"/>
              </a:rPr>
              <a:t>		</a:t>
            </a:r>
          </a:p>
          <a:p>
            <a:r>
              <a:rPr lang="en-US" altLang="ko-KR" b="1" dirty="0" smtClean="0">
                <a:latin typeface="+mn-ea"/>
              </a:rPr>
              <a:t>p1=Person("</a:t>
            </a:r>
            <a:r>
              <a:rPr lang="en-US" altLang="ko-KR" b="1" dirty="0" err="1" smtClean="0">
                <a:latin typeface="+mn-ea"/>
              </a:rPr>
              <a:t>Miss_Kim</a:t>
            </a:r>
            <a:r>
              <a:rPr lang="en-US" altLang="ko-KR" b="1" dirty="0" smtClean="0">
                <a:latin typeface="+mn-ea"/>
              </a:rPr>
              <a:t>", "010-5252-6565")</a:t>
            </a:r>
          </a:p>
          <a:p>
            <a:r>
              <a:rPr lang="en-US" altLang="ko-KR" b="1" dirty="0" smtClean="0">
                <a:latin typeface="+mn-ea"/>
              </a:rPr>
              <a:t>print (p1)</a:t>
            </a:r>
          </a:p>
          <a:p>
            <a:r>
              <a:rPr lang="en-US" altLang="ko-KR" b="1" dirty="0" smtClean="0">
                <a:latin typeface="+mn-ea"/>
              </a:rPr>
              <a:t>e1=Employee("</a:t>
            </a:r>
            <a:r>
              <a:rPr lang="en-US" altLang="ko-KR" b="1" dirty="0" err="1" smtClean="0">
                <a:latin typeface="+mn-ea"/>
              </a:rPr>
              <a:t>MR.Park</a:t>
            </a:r>
            <a:r>
              <a:rPr lang="en-US" altLang="ko-KR" b="1" dirty="0" smtClean="0">
                <a:latin typeface="+mn-ea"/>
              </a:rPr>
              <a:t>", "010-9999-8888", "president", 500)</a:t>
            </a:r>
          </a:p>
          <a:p>
            <a:r>
              <a:rPr lang="en-US" altLang="ko-KR" b="1" dirty="0" smtClean="0">
                <a:latin typeface="+mn-ea"/>
              </a:rPr>
              <a:t>print (e1)</a:t>
            </a:r>
          </a:p>
          <a:p>
            <a:r>
              <a:rPr lang="en-US" altLang="ko-KR" b="1" dirty="0" smtClean="0">
                <a:latin typeface="+mn-ea"/>
              </a:rPr>
              <a:t>print (e1.position)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클래스의 상속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954357"/>
            <a:ext cx="8930244" cy="55092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 smtClean="0">
                <a:latin typeface="+mn-ea"/>
              </a:rPr>
              <a:t>class Person(object):</a:t>
            </a:r>
          </a:p>
          <a:p>
            <a:r>
              <a:rPr lang="en-US" altLang="ko-KR" sz="1600" b="1" dirty="0" smtClean="0">
                <a:latin typeface="+mn-ea"/>
              </a:rPr>
              <a:t>     def __init__(self, name, age, gender):</a:t>
            </a:r>
          </a:p>
          <a:p>
            <a:r>
              <a:rPr lang="en-US" altLang="ko-KR" sz="1600" b="1" dirty="0" smtClean="0">
                <a:latin typeface="+mn-ea"/>
              </a:rPr>
              <a:t>	self.name = name</a:t>
            </a:r>
          </a:p>
          <a:p>
            <a:r>
              <a:rPr lang="en-US" altLang="ko-KR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self.age</a:t>
            </a:r>
            <a:r>
              <a:rPr lang="en-US" altLang="ko-KR" sz="1600" b="1" dirty="0" smtClean="0">
                <a:latin typeface="+mn-ea"/>
              </a:rPr>
              <a:t>=age</a:t>
            </a:r>
          </a:p>
          <a:p>
            <a:r>
              <a:rPr lang="en-US" altLang="ko-KR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self.gender</a:t>
            </a:r>
            <a:r>
              <a:rPr lang="en-US" altLang="ko-KR" sz="1600" b="1" dirty="0" smtClean="0">
                <a:latin typeface="+mn-ea"/>
              </a:rPr>
              <a:t>=gender</a:t>
            </a:r>
          </a:p>
          <a:p>
            <a:r>
              <a:rPr lang="en-US" altLang="ko-KR" sz="1600" b="1" dirty="0" smtClean="0">
                <a:latin typeface="+mn-ea"/>
              </a:rPr>
              <a:t>     def </a:t>
            </a:r>
            <a:r>
              <a:rPr lang="en-US" altLang="ko-KR" sz="1600" b="1" dirty="0" err="1" smtClean="0">
                <a:latin typeface="+mn-ea"/>
              </a:rPr>
              <a:t>about_me</a:t>
            </a:r>
            <a:r>
              <a:rPr lang="en-US" altLang="ko-KR" sz="1600" b="1" dirty="0" smtClean="0">
                <a:latin typeface="+mn-ea"/>
              </a:rPr>
              <a:t>(self):</a:t>
            </a:r>
          </a:p>
          <a:p>
            <a:r>
              <a:rPr lang="en-US" altLang="ko-KR" sz="1600" b="1" dirty="0" smtClean="0">
                <a:latin typeface="+mn-ea"/>
              </a:rPr>
              <a:t>          print ("</a:t>
            </a:r>
            <a:r>
              <a:rPr lang="ko-KR" altLang="en-US" sz="1600" b="1" dirty="0" smtClean="0">
                <a:latin typeface="+mn-ea"/>
              </a:rPr>
              <a:t>저의 이름은 </a:t>
            </a:r>
            <a:r>
              <a:rPr lang="en-US" altLang="ko-KR" sz="1600" b="1" dirty="0" smtClean="0">
                <a:latin typeface="+mn-ea"/>
              </a:rPr>
              <a:t>", self.name, "</a:t>
            </a:r>
            <a:r>
              <a:rPr lang="ko-KR" altLang="en-US" sz="1600" b="1" dirty="0" err="1" smtClean="0">
                <a:latin typeface="+mn-ea"/>
              </a:rPr>
              <a:t>이구요</a:t>
            </a:r>
            <a:r>
              <a:rPr lang="en-US" altLang="ko-KR" sz="1600" b="1" dirty="0" smtClean="0">
                <a:latin typeface="+mn-ea"/>
              </a:rPr>
              <a:t>, </a:t>
            </a:r>
            <a:r>
              <a:rPr lang="ko-KR" altLang="en-US" sz="1600" b="1" dirty="0" smtClean="0">
                <a:latin typeface="+mn-ea"/>
              </a:rPr>
              <a:t>나이는 </a:t>
            </a:r>
            <a:r>
              <a:rPr lang="en-US" altLang="ko-KR" sz="1600" b="1" dirty="0" smtClean="0">
                <a:latin typeface="+mn-ea"/>
              </a:rPr>
              <a:t>", </a:t>
            </a:r>
            <a:r>
              <a:rPr lang="en-US" altLang="ko-KR" sz="1600" b="1" dirty="0" err="1" smtClean="0">
                <a:latin typeface="+mn-ea"/>
              </a:rPr>
              <a:t>str</a:t>
            </a:r>
            <a:r>
              <a:rPr lang="en-US" altLang="ko-KR" sz="1600" b="1" dirty="0" smtClean="0">
                <a:latin typeface="+mn-ea"/>
              </a:rPr>
              <a:t>(</a:t>
            </a:r>
            <a:r>
              <a:rPr lang="en-US" altLang="ko-KR" sz="1600" b="1" dirty="0" err="1" smtClean="0">
                <a:latin typeface="+mn-ea"/>
              </a:rPr>
              <a:t>self.age</a:t>
            </a:r>
            <a:r>
              <a:rPr lang="en-US" altLang="ko-KR" sz="1600" b="1" dirty="0" smtClean="0">
                <a:latin typeface="+mn-ea"/>
              </a:rPr>
              <a:t>), "</a:t>
            </a:r>
            <a:r>
              <a:rPr lang="ko-KR" altLang="en-US" sz="1600" b="1" dirty="0" smtClean="0">
                <a:latin typeface="+mn-ea"/>
              </a:rPr>
              <a:t>살 입니다</a:t>
            </a:r>
            <a:r>
              <a:rPr lang="en-US" altLang="ko-KR" sz="1600" b="1" dirty="0" smtClean="0">
                <a:latin typeface="+mn-ea"/>
              </a:rPr>
              <a:t>.")</a:t>
            </a:r>
          </a:p>
          <a:p>
            <a:r>
              <a:rPr lang="en-US" altLang="ko-KR" sz="1600" b="1" dirty="0" smtClean="0">
                <a:latin typeface="+mn-ea"/>
              </a:rPr>
              <a:t>class Employee(Person):</a:t>
            </a:r>
          </a:p>
          <a:p>
            <a:r>
              <a:rPr lang="en-US" altLang="ko-KR" sz="1600" b="1" dirty="0" smtClean="0">
                <a:latin typeface="+mn-ea"/>
              </a:rPr>
              <a:t>     def __init__(self, name, age, gender, salary, </a:t>
            </a:r>
            <a:r>
              <a:rPr lang="en-US" altLang="ko-KR" sz="1600" b="1" dirty="0" err="1" smtClean="0">
                <a:latin typeface="+mn-ea"/>
              </a:rPr>
              <a:t>hire_date</a:t>
            </a:r>
            <a:r>
              <a:rPr lang="en-US" altLang="ko-KR" sz="1600" b="1" dirty="0" smtClean="0">
                <a:latin typeface="+mn-ea"/>
              </a:rPr>
              <a:t>):</a:t>
            </a:r>
          </a:p>
          <a:p>
            <a:r>
              <a:rPr lang="en-US" altLang="ko-KR" sz="1600" b="1" dirty="0" smtClean="0">
                <a:latin typeface="+mn-ea"/>
              </a:rPr>
              <a:t>	super().__init__(name, age, gender)  </a:t>
            </a:r>
            <a:r>
              <a:rPr lang="en-US" altLang="ko-KR" sz="1600" b="1" dirty="0" smtClean="0">
                <a:solidFill>
                  <a:srgbClr val="0000FF"/>
                </a:solidFill>
                <a:latin typeface="+mn-ea"/>
              </a:rPr>
              <a:t>#</a:t>
            </a:r>
            <a:r>
              <a:rPr lang="ko-KR" altLang="en-US" sz="1600" b="1" dirty="0" smtClean="0">
                <a:solidFill>
                  <a:srgbClr val="0000FF"/>
                </a:solidFill>
                <a:latin typeface="+mn-ea"/>
              </a:rPr>
              <a:t>부모 객체 사용</a:t>
            </a:r>
          </a:p>
          <a:p>
            <a:r>
              <a:rPr lang="ko-KR" altLang="en-US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self.salary</a:t>
            </a:r>
            <a:r>
              <a:rPr lang="en-US" altLang="ko-KR" sz="1600" b="1" dirty="0" smtClean="0">
                <a:latin typeface="+mn-ea"/>
              </a:rPr>
              <a:t> = salary</a:t>
            </a:r>
          </a:p>
          <a:p>
            <a:r>
              <a:rPr lang="en-US" altLang="ko-KR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self.hire_date</a:t>
            </a:r>
            <a:r>
              <a:rPr lang="en-US" altLang="ko-KR" sz="1600" b="1" dirty="0" smtClean="0">
                <a:latin typeface="+mn-ea"/>
              </a:rPr>
              <a:t>=</a:t>
            </a:r>
            <a:r>
              <a:rPr lang="en-US" altLang="ko-KR" sz="1600" b="1" dirty="0" err="1" smtClean="0">
                <a:latin typeface="+mn-ea"/>
              </a:rPr>
              <a:t>hire_date</a:t>
            </a:r>
            <a:endParaRPr lang="en-US" altLang="ko-KR" sz="1600" b="1" dirty="0" smtClean="0">
              <a:latin typeface="+mn-ea"/>
            </a:endParaRPr>
          </a:p>
          <a:p>
            <a:r>
              <a:rPr lang="en-US" altLang="ko-KR" sz="1600" b="1" dirty="0" smtClean="0">
                <a:latin typeface="+mn-ea"/>
              </a:rPr>
              <a:t>     def </a:t>
            </a:r>
            <a:r>
              <a:rPr lang="en-US" altLang="ko-KR" sz="1600" b="1" dirty="0" err="1" smtClean="0">
                <a:latin typeface="+mn-ea"/>
              </a:rPr>
              <a:t>do_work</a:t>
            </a:r>
            <a:r>
              <a:rPr lang="en-US" altLang="ko-KR" sz="1600" b="1" dirty="0" smtClean="0">
                <a:latin typeface="+mn-ea"/>
              </a:rPr>
              <a:t>(self):      </a:t>
            </a:r>
            <a:r>
              <a:rPr lang="en-US" altLang="ko-KR" sz="1600" b="1" dirty="0" smtClean="0">
                <a:solidFill>
                  <a:srgbClr val="0000FF"/>
                </a:solidFill>
                <a:latin typeface="+mn-ea"/>
              </a:rPr>
              <a:t> #</a:t>
            </a:r>
            <a:r>
              <a:rPr lang="ko-KR" altLang="en-US" sz="1600" b="1" dirty="0" smtClean="0">
                <a:solidFill>
                  <a:srgbClr val="0000FF"/>
                </a:solidFill>
                <a:latin typeface="+mn-ea"/>
              </a:rPr>
              <a:t>새로운 </a:t>
            </a:r>
            <a:r>
              <a:rPr lang="ko-KR" altLang="en-US" sz="1600" b="1" dirty="0" err="1" smtClean="0">
                <a:solidFill>
                  <a:srgbClr val="0000FF"/>
                </a:solidFill>
                <a:latin typeface="+mn-ea"/>
              </a:rPr>
              <a:t>메서드</a:t>
            </a:r>
            <a:r>
              <a:rPr lang="ko-KR" altLang="en-US" sz="1600" b="1" dirty="0" smtClean="0">
                <a:solidFill>
                  <a:srgbClr val="0000FF"/>
                </a:solidFill>
                <a:latin typeface="+mn-ea"/>
              </a:rPr>
              <a:t> 추가 </a:t>
            </a:r>
          </a:p>
          <a:p>
            <a:r>
              <a:rPr lang="ko-KR" altLang="en-US" sz="1600" b="1" dirty="0" smtClean="0">
                <a:latin typeface="+mn-ea"/>
              </a:rPr>
              <a:t>	</a:t>
            </a:r>
            <a:r>
              <a:rPr lang="en-US" altLang="ko-KR" sz="1600" b="1" dirty="0" smtClean="0">
                <a:latin typeface="+mn-ea"/>
              </a:rPr>
              <a:t>print ("</a:t>
            </a:r>
            <a:r>
              <a:rPr lang="ko-KR" altLang="en-US" sz="1600" b="1" dirty="0" smtClean="0">
                <a:latin typeface="+mn-ea"/>
              </a:rPr>
              <a:t>열심히 일을 합니다</a:t>
            </a:r>
            <a:r>
              <a:rPr lang="en-US" altLang="ko-KR" sz="1600" b="1" dirty="0" smtClean="0">
                <a:latin typeface="+mn-ea"/>
              </a:rPr>
              <a:t>.")</a:t>
            </a:r>
          </a:p>
          <a:p>
            <a:r>
              <a:rPr lang="en-US" altLang="ko-KR" sz="1600" b="1" dirty="0" smtClean="0">
                <a:latin typeface="+mn-ea"/>
              </a:rPr>
              <a:t>     def </a:t>
            </a:r>
            <a:r>
              <a:rPr lang="en-US" altLang="ko-KR" sz="1600" b="1" dirty="0" err="1" smtClean="0">
                <a:latin typeface="+mn-ea"/>
              </a:rPr>
              <a:t>about_me</a:t>
            </a:r>
            <a:r>
              <a:rPr lang="en-US" altLang="ko-KR" sz="1600" b="1" dirty="0" smtClean="0">
                <a:latin typeface="+mn-ea"/>
              </a:rPr>
              <a:t>(self):         </a:t>
            </a:r>
            <a:r>
              <a:rPr lang="en-US" altLang="ko-KR" sz="16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600" b="1" dirty="0" smtClean="0">
                <a:solidFill>
                  <a:srgbClr val="0000FF"/>
                </a:solidFill>
                <a:latin typeface="+mn-ea"/>
              </a:rPr>
              <a:t>부모 클래스 함수 재정의</a:t>
            </a:r>
          </a:p>
          <a:p>
            <a:r>
              <a:rPr lang="ko-KR" altLang="en-US" sz="1600" b="1" dirty="0" smtClean="0">
                <a:latin typeface="+mn-ea"/>
              </a:rPr>
              <a:t>          </a:t>
            </a:r>
            <a:r>
              <a:rPr lang="en-US" altLang="ko-KR" sz="1600" b="1" dirty="0" smtClean="0">
                <a:latin typeface="+mn-ea"/>
              </a:rPr>
              <a:t>super().</a:t>
            </a:r>
            <a:r>
              <a:rPr lang="en-US" altLang="ko-KR" sz="1600" b="1" dirty="0" err="1" smtClean="0">
                <a:latin typeface="+mn-ea"/>
              </a:rPr>
              <a:t>about_me</a:t>
            </a:r>
            <a:r>
              <a:rPr lang="en-US" altLang="ko-KR" sz="1600" b="1" dirty="0" smtClean="0">
                <a:latin typeface="+mn-ea"/>
              </a:rPr>
              <a:t>()     </a:t>
            </a:r>
            <a:r>
              <a:rPr lang="en-US" altLang="ko-KR" sz="16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600" b="1" dirty="0" smtClean="0">
                <a:solidFill>
                  <a:srgbClr val="0000FF"/>
                </a:solidFill>
                <a:latin typeface="+mn-ea"/>
              </a:rPr>
              <a:t>부모 클래스 함수 사용</a:t>
            </a:r>
          </a:p>
          <a:p>
            <a:r>
              <a:rPr lang="en-US" altLang="ko-KR" sz="1600" b="1" dirty="0" smtClean="0">
                <a:latin typeface="+mn-ea"/>
              </a:rPr>
              <a:t>          print ("</a:t>
            </a:r>
            <a:r>
              <a:rPr lang="ko-KR" altLang="en-US" sz="1600" b="1" dirty="0" smtClean="0">
                <a:latin typeface="+mn-ea"/>
              </a:rPr>
              <a:t>제 급여는 </a:t>
            </a:r>
            <a:r>
              <a:rPr lang="en-US" altLang="ko-KR" sz="1600" b="1" dirty="0" smtClean="0">
                <a:latin typeface="+mn-ea"/>
              </a:rPr>
              <a:t>", </a:t>
            </a:r>
            <a:r>
              <a:rPr lang="en-US" altLang="ko-KR" sz="1600" b="1" dirty="0" err="1" smtClean="0">
                <a:latin typeface="+mn-ea"/>
              </a:rPr>
              <a:t>self.salary</a:t>
            </a:r>
            <a:r>
              <a:rPr lang="en-US" altLang="ko-KR" sz="1600" b="1" dirty="0" smtClean="0">
                <a:latin typeface="+mn-ea"/>
              </a:rPr>
              <a:t>, "</a:t>
            </a:r>
            <a:r>
              <a:rPr lang="ko-KR" altLang="en-US" sz="1600" b="1" dirty="0" smtClean="0">
                <a:latin typeface="+mn-ea"/>
              </a:rPr>
              <a:t>원 </a:t>
            </a:r>
            <a:r>
              <a:rPr lang="ko-KR" altLang="en-US" sz="1600" b="1" dirty="0" err="1" smtClean="0">
                <a:latin typeface="+mn-ea"/>
              </a:rPr>
              <a:t>이구요</a:t>
            </a:r>
            <a:r>
              <a:rPr lang="en-US" altLang="ko-KR" sz="1600" b="1" dirty="0" smtClean="0">
                <a:latin typeface="+mn-ea"/>
              </a:rPr>
              <a:t>. </a:t>
            </a:r>
            <a:r>
              <a:rPr lang="ko-KR" altLang="en-US" sz="1600" b="1" dirty="0" smtClean="0">
                <a:latin typeface="+mn-ea"/>
              </a:rPr>
              <a:t>제 입사일은 </a:t>
            </a:r>
            <a:r>
              <a:rPr lang="en-US" altLang="ko-KR" sz="1600" b="1" dirty="0" smtClean="0">
                <a:latin typeface="+mn-ea"/>
              </a:rPr>
              <a:t>", </a:t>
            </a:r>
            <a:r>
              <a:rPr lang="en-US" altLang="ko-KR" sz="1600" b="1" dirty="0" err="1" smtClean="0">
                <a:latin typeface="+mn-ea"/>
              </a:rPr>
              <a:t>self.hire_date</a:t>
            </a:r>
            <a:r>
              <a:rPr lang="en-US" altLang="ko-KR" sz="1600" b="1" dirty="0" smtClean="0">
                <a:latin typeface="+mn-ea"/>
              </a:rPr>
              <a:t>, " </a:t>
            </a:r>
            <a:r>
              <a:rPr lang="ko-KR" altLang="en-US" sz="1600" b="1" dirty="0" smtClean="0">
                <a:latin typeface="+mn-ea"/>
              </a:rPr>
              <a:t>입니다</a:t>
            </a:r>
            <a:r>
              <a:rPr lang="en-US" altLang="ko-KR" sz="1600" b="1" dirty="0" smtClean="0">
                <a:latin typeface="+mn-ea"/>
              </a:rPr>
              <a:t>.")</a:t>
            </a:r>
          </a:p>
          <a:p>
            <a:endParaRPr lang="en-US" altLang="ko-KR" sz="1600" b="1" dirty="0" smtClean="0">
              <a:latin typeface="+mn-ea"/>
            </a:endParaRPr>
          </a:p>
          <a:p>
            <a:r>
              <a:rPr lang="en-US" altLang="ko-KR" sz="1600" b="1" dirty="0" err="1" smtClean="0">
                <a:latin typeface="+mn-ea"/>
              </a:rPr>
              <a:t>myPerson</a:t>
            </a:r>
            <a:r>
              <a:rPr lang="en-US" altLang="ko-KR" sz="1600" b="1" dirty="0" smtClean="0">
                <a:latin typeface="+mn-ea"/>
              </a:rPr>
              <a:t> = Person("Son", 45, "Male")</a:t>
            </a:r>
          </a:p>
          <a:p>
            <a:r>
              <a:rPr lang="en-US" altLang="ko-KR" sz="1600" b="1" dirty="0" err="1" smtClean="0">
                <a:latin typeface="+mn-ea"/>
              </a:rPr>
              <a:t>myEmployee</a:t>
            </a:r>
            <a:r>
              <a:rPr lang="en-US" altLang="ko-KR" sz="1600" b="1" dirty="0" smtClean="0">
                <a:latin typeface="+mn-ea"/>
              </a:rPr>
              <a:t> = Employee("Kim", 35, "Male", 500, "2000/05/08")</a:t>
            </a:r>
          </a:p>
          <a:p>
            <a:r>
              <a:rPr lang="en-US" altLang="ko-KR" sz="1600" b="1" dirty="0" err="1" smtClean="0">
                <a:latin typeface="+mn-ea"/>
              </a:rPr>
              <a:t>myPerson.about_me</a:t>
            </a:r>
            <a:r>
              <a:rPr lang="en-US" altLang="ko-KR" sz="1600" b="1" dirty="0" smtClean="0">
                <a:latin typeface="+mn-ea"/>
              </a:rPr>
              <a:t>()</a:t>
            </a:r>
          </a:p>
          <a:p>
            <a:r>
              <a:rPr lang="en-US" altLang="ko-KR" sz="1600" b="1" dirty="0" err="1" smtClean="0">
                <a:latin typeface="+mn-ea"/>
              </a:rPr>
              <a:t>myEmployee.about_me</a:t>
            </a:r>
            <a:r>
              <a:rPr lang="en-US" altLang="ko-KR" sz="1600" b="1" dirty="0" smtClean="0">
                <a:latin typeface="+mn-ea"/>
              </a:rPr>
              <a:t>()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50128" y="1026458"/>
            <a:ext cx="87618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  </a:t>
            </a:r>
            <a:r>
              <a:rPr lang="ko-KR" altLang="en-US" b="1" dirty="0" smtClean="0">
                <a:solidFill>
                  <a:srgbClr val="0000FF"/>
                </a:solidFill>
              </a:rPr>
              <a:t>상속받을 대상인 클래스의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메서드와</a:t>
            </a:r>
            <a:r>
              <a:rPr lang="ko-KR" altLang="en-US" b="1" dirty="0" smtClean="0">
                <a:solidFill>
                  <a:srgbClr val="0000FF"/>
                </a:solidFill>
              </a:rPr>
              <a:t> 이름은 같지만 기능은</a:t>
            </a:r>
            <a:r>
              <a:rPr lang="en-US" altLang="ko-KR" b="1" dirty="0" smtClean="0">
                <a:solidFill>
                  <a:srgbClr val="0000FF"/>
                </a:solidFill>
              </a:rPr>
              <a:t>   </a:t>
            </a:r>
            <a:r>
              <a:rPr lang="ko-KR" altLang="en-US" b="1" dirty="0" smtClean="0">
                <a:solidFill>
                  <a:srgbClr val="0000FF"/>
                </a:solidFill>
              </a:rPr>
              <a:t>다르게 해야 할 때</a:t>
            </a:r>
            <a:r>
              <a:rPr lang="en-US" altLang="ko-KR" b="1" dirty="0" smtClean="0">
                <a:solidFill>
                  <a:srgbClr val="0000FF"/>
                </a:solidFill>
              </a:rPr>
              <a:t> </a:t>
            </a:r>
            <a:r>
              <a:rPr lang="ko-KR" altLang="en-US" b="1" dirty="0" smtClean="0">
                <a:solidFill>
                  <a:srgbClr val="0000FF"/>
                </a:solidFill>
              </a:rPr>
              <a:t>사용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64024" y="1518711"/>
            <a:ext cx="8202304" cy="470898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ko-KR" sz="2000" b="1" dirty="0" smtClean="0"/>
              <a:t>class Person: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def __init__(self, name, phone=None):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	self.name = name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	</a:t>
            </a:r>
            <a:r>
              <a:rPr lang="en-US" altLang="ko-KR" sz="2000" b="1" dirty="0" err="1" smtClean="0"/>
              <a:t>self.phone</a:t>
            </a:r>
            <a:r>
              <a:rPr lang="en-US" altLang="ko-KR" sz="2000" b="1" dirty="0" smtClean="0"/>
              <a:t> = phone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def __</a:t>
            </a:r>
            <a:r>
              <a:rPr lang="en-US" altLang="ko-KR" sz="2000" b="1" dirty="0" err="1" smtClean="0"/>
              <a:t>str</a:t>
            </a:r>
            <a:r>
              <a:rPr lang="en-US" altLang="ko-KR" sz="2000" b="1" dirty="0" smtClean="0"/>
              <a:t>__(self):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	return '&lt;Person %s %s&gt;' % (self.name, </a:t>
            </a:r>
            <a:r>
              <a:rPr lang="en-US" altLang="ko-KR" sz="2000" b="1" dirty="0" err="1" smtClean="0"/>
              <a:t>self.phone</a:t>
            </a:r>
            <a:r>
              <a:rPr lang="en-US" altLang="ko-KR" sz="2000" b="1" dirty="0" smtClean="0"/>
              <a:t>)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class Employee(Person):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def __init__(self, name, phone, position, salary):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	</a:t>
            </a:r>
            <a:r>
              <a:rPr lang="en-US" altLang="ko-KR" sz="2000" b="1" dirty="0" err="1" smtClean="0"/>
              <a:t>Person.__init</a:t>
            </a:r>
            <a:r>
              <a:rPr lang="en-US" altLang="ko-KR" sz="2000" b="1" dirty="0" smtClean="0"/>
              <a:t>__(self, name, phone)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	</a:t>
            </a:r>
            <a:r>
              <a:rPr lang="en-US" altLang="ko-KR" sz="2000" b="1" dirty="0" err="1" smtClean="0"/>
              <a:t>self.position</a:t>
            </a:r>
            <a:r>
              <a:rPr lang="en-US" altLang="ko-KR" sz="2000" b="1" dirty="0" smtClean="0"/>
              <a:t> = position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	</a:t>
            </a:r>
            <a:r>
              <a:rPr lang="en-US" altLang="ko-KR" sz="2000" b="1" dirty="0" err="1" smtClean="0"/>
              <a:t>self.salary</a:t>
            </a:r>
            <a:r>
              <a:rPr lang="en-US" altLang="ko-KR" sz="2000" b="1" dirty="0" smtClean="0"/>
              <a:t> = salary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def __</a:t>
            </a:r>
            <a:r>
              <a:rPr lang="en-US" altLang="ko-KR" sz="2000" b="1" dirty="0" err="1" smtClean="0"/>
              <a:t>str</a:t>
            </a:r>
            <a:r>
              <a:rPr lang="en-US" altLang="ko-KR" sz="2000" b="1" dirty="0" smtClean="0"/>
              <a:t>__(self):    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#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method override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		return '&lt;Employee %s %s %s %s&gt;' % (self.name, </a:t>
            </a:r>
            <a:r>
              <a:rPr lang="en-US" altLang="ko-KR" sz="2000" b="1" dirty="0" err="1" smtClean="0"/>
              <a:t>self.phone</a:t>
            </a:r>
            <a:r>
              <a:rPr lang="en-US" altLang="ko-KR" sz="2000" b="1" dirty="0" smtClean="0"/>
              <a:t>,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                                                                                         </a:t>
            </a:r>
            <a:r>
              <a:rPr lang="en-US" altLang="ko-KR" sz="2000" b="1" dirty="0" err="1" smtClean="0"/>
              <a:t>self.position,self.salary</a:t>
            </a:r>
            <a:r>
              <a:rPr lang="en-US" altLang="ko-KR" sz="2000" b="1" dirty="0" smtClean="0"/>
              <a:t>)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p1 = Person('</a:t>
            </a:r>
            <a:r>
              <a:rPr lang="en-US" altLang="ko-KR" sz="2000" b="1" dirty="0" err="1" smtClean="0"/>
              <a:t>kim</a:t>
            </a:r>
            <a:r>
              <a:rPr lang="en-US" altLang="ko-KR" sz="2000" b="1" dirty="0" smtClean="0"/>
              <a:t>', 5284)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e1 = Employee('park', 5224, 'President', 500)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print (p1)</a:t>
            </a:r>
          </a:p>
          <a:p>
            <a:pPr>
              <a:lnSpc>
                <a:spcPts val="2000"/>
              </a:lnSpc>
            </a:pPr>
            <a:r>
              <a:rPr lang="en-US" altLang="ko-KR" sz="2000" b="1" dirty="0" smtClean="0"/>
              <a:t>print (e1)</a:t>
            </a:r>
            <a:endParaRPr lang="ko-KR" altLang="en-US" sz="2000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1657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메서드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오버라이드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(method override)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68490" y="990939"/>
            <a:ext cx="8202304" cy="563231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000" b="1" dirty="0" smtClean="0"/>
              <a:t>class Unit(object):</a:t>
            </a:r>
            <a:br>
              <a:rPr lang="en-US" sz="2000" b="1" dirty="0" smtClean="0"/>
            </a:br>
            <a:r>
              <a:rPr lang="en-US" sz="2000" b="1" dirty="0" smtClean="0"/>
              <a:t>    def __init__(self, rank, size, life):</a:t>
            </a:r>
            <a:br>
              <a:rPr lang="en-US" sz="2000" b="1" dirty="0" smtClean="0"/>
            </a:br>
            <a:r>
              <a:rPr lang="en-US" sz="2000" b="1" dirty="0" smtClean="0"/>
              <a:t>        self.name = self.__class__.__name__              # class name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b="1" dirty="0" err="1" smtClean="0"/>
              <a:t>self.rank</a:t>
            </a:r>
            <a:r>
              <a:rPr lang="en-US" sz="2000" b="1" dirty="0" smtClean="0"/>
              <a:t> = rank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b="1" dirty="0" err="1" smtClean="0"/>
              <a:t>self.size</a:t>
            </a:r>
            <a:r>
              <a:rPr lang="en-US" sz="2000" b="1" dirty="0" smtClean="0"/>
              <a:t> = size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b="1" dirty="0" err="1" smtClean="0"/>
              <a:t>self.life</a:t>
            </a:r>
            <a:r>
              <a:rPr lang="en-US" sz="2000" b="1" dirty="0" smtClean="0"/>
              <a:t> = life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    def </a:t>
            </a:r>
            <a:r>
              <a:rPr lang="en-US" sz="2000" b="1" dirty="0" err="1" smtClean="0"/>
              <a:t>show_status</a:t>
            </a:r>
            <a:r>
              <a:rPr lang="en-US" sz="2000" b="1" dirty="0" smtClean="0"/>
              <a:t>(self):</a:t>
            </a:r>
            <a:br>
              <a:rPr lang="en-US" sz="2000" b="1" dirty="0" smtClean="0"/>
            </a:br>
            <a:r>
              <a:rPr lang="en-US" sz="2000" b="1" dirty="0" smtClean="0"/>
              <a:t>        print('</a:t>
            </a:r>
            <a:r>
              <a:rPr lang="ko-KR" altLang="en-US" sz="2000" b="1" dirty="0" smtClean="0"/>
              <a:t>이름</a:t>
            </a:r>
            <a:r>
              <a:rPr lang="en-US" altLang="ko-KR" sz="2000" b="1" dirty="0" smtClean="0"/>
              <a:t>: {}'.</a:t>
            </a:r>
            <a:r>
              <a:rPr lang="en-US" sz="2000" b="1" dirty="0" smtClean="0"/>
              <a:t>format(self.name))</a:t>
            </a:r>
            <a:br>
              <a:rPr lang="en-US" sz="2000" b="1" dirty="0" smtClean="0"/>
            </a:br>
            <a:r>
              <a:rPr lang="en-US" sz="2000" b="1" dirty="0" smtClean="0"/>
              <a:t>        print('</a:t>
            </a:r>
            <a:r>
              <a:rPr lang="ko-KR" altLang="en-US" sz="2000" b="1" dirty="0" smtClean="0"/>
              <a:t>등급</a:t>
            </a:r>
            <a:r>
              <a:rPr lang="en-US" altLang="ko-KR" sz="2000" b="1" dirty="0" smtClean="0"/>
              <a:t>: {}'.</a:t>
            </a:r>
            <a:r>
              <a:rPr lang="en-US" sz="2000" b="1" dirty="0" smtClean="0"/>
              <a:t>format(</a:t>
            </a:r>
            <a:r>
              <a:rPr lang="en-US" sz="2000" b="1" dirty="0" err="1" smtClean="0"/>
              <a:t>self.rank</a:t>
            </a:r>
            <a:r>
              <a:rPr lang="en-US" sz="2000" b="1" dirty="0" smtClean="0"/>
              <a:t>))</a:t>
            </a:r>
            <a:br>
              <a:rPr lang="en-US" sz="2000" b="1" dirty="0" smtClean="0"/>
            </a:br>
            <a:r>
              <a:rPr lang="en-US" sz="2000" b="1" dirty="0" smtClean="0"/>
              <a:t>        print('</a:t>
            </a:r>
            <a:r>
              <a:rPr lang="ko-KR" altLang="en-US" sz="2000" b="1" dirty="0" smtClean="0"/>
              <a:t>사이즈</a:t>
            </a:r>
            <a:r>
              <a:rPr lang="en-US" altLang="ko-KR" sz="2000" b="1" dirty="0" smtClean="0"/>
              <a:t>: {}'.</a:t>
            </a:r>
            <a:r>
              <a:rPr lang="en-US" sz="2000" b="1" dirty="0" smtClean="0"/>
              <a:t>format(</a:t>
            </a:r>
            <a:r>
              <a:rPr lang="en-US" sz="2000" b="1" dirty="0" err="1" smtClean="0"/>
              <a:t>self.size</a:t>
            </a:r>
            <a:r>
              <a:rPr lang="en-US" sz="2000" b="1" dirty="0" smtClean="0"/>
              <a:t>))</a:t>
            </a:r>
            <a:br>
              <a:rPr lang="en-US" sz="2000" b="1" dirty="0" smtClean="0"/>
            </a:br>
            <a:r>
              <a:rPr lang="en-US" sz="2000" b="1" dirty="0" smtClean="0"/>
              <a:t>        print('</a:t>
            </a:r>
            <a:r>
              <a:rPr lang="ko-KR" altLang="en-US" sz="2000" b="1" dirty="0" smtClean="0"/>
              <a:t>라이프</a:t>
            </a:r>
            <a:r>
              <a:rPr lang="en-US" altLang="ko-KR" sz="2000" b="1" dirty="0" smtClean="0"/>
              <a:t>: {}'.</a:t>
            </a:r>
            <a:r>
              <a:rPr lang="en-US" sz="2000" b="1" dirty="0" smtClean="0"/>
              <a:t>format(</a:t>
            </a:r>
            <a:r>
              <a:rPr lang="en-US" sz="2000" b="1" dirty="0" err="1" smtClean="0"/>
              <a:t>self.life</a:t>
            </a:r>
            <a:r>
              <a:rPr lang="en-US" sz="2000" b="1" dirty="0" smtClean="0"/>
              <a:t>))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class man(Unit):</a:t>
            </a:r>
            <a:br>
              <a:rPr lang="en-US" sz="2000" b="1" dirty="0" smtClean="0"/>
            </a:br>
            <a:r>
              <a:rPr lang="en-US" sz="2000" b="1" dirty="0" smtClean="0"/>
              <a:t>    pass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man_1 = man('</a:t>
            </a:r>
            <a:r>
              <a:rPr lang="ko-KR" altLang="en-US" sz="2000" b="1" dirty="0" smtClean="0"/>
              <a:t>병사</a:t>
            </a:r>
            <a:r>
              <a:rPr lang="en-US" altLang="ko-KR" sz="2000" b="1" dirty="0" smtClean="0"/>
              <a:t>', '</a:t>
            </a:r>
            <a:r>
              <a:rPr lang="en-US" sz="2000" b="1" dirty="0" smtClean="0"/>
              <a:t>Small', 100)</a:t>
            </a:r>
            <a:br>
              <a:rPr lang="en-US" sz="2000" b="1" dirty="0" smtClean="0"/>
            </a:br>
            <a:r>
              <a:rPr lang="en-US" sz="2000" b="1" dirty="0" smtClean="0"/>
              <a:t>man_1.show_status()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6149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method override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연습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-1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68490" y="928909"/>
            <a:ext cx="8202304" cy="598497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 smtClean="0"/>
              <a:t>class </a:t>
            </a:r>
            <a:r>
              <a:rPr lang="en-US" dirty="0" smtClean="0"/>
              <a:t>Unit(object):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smtClean="0"/>
              <a:t>__init__(self, rank, size, life):</a:t>
            </a:r>
            <a:br>
              <a:rPr lang="en-US" dirty="0" smtClean="0"/>
            </a:br>
            <a:r>
              <a:rPr lang="en-US" dirty="0" smtClean="0"/>
              <a:t>        self.name = self.__class__.__name__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self.rank</a:t>
            </a:r>
            <a:r>
              <a:rPr lang="en-US" dirty="0" smtClean="0"/>
              <a:t> = rank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self.size</a:t>
            </a:r>
            <a:r>
              <a:rPr lang="en-US" dirty="0" smtClean="0"/>
              <a:t> = size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self.life</a:t>
            </a:r>
            <a:r>
              <a:rPr lang="en-US" dirty="0" smtClean="0"/>
              <a:t> = life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err="1" smtClean="0"/>
              <a:t>show_status</a:t>
            </a:r>
            <a:r>
              <a:rPr lang="en-US" dirty="0" smtClean="0"/>
              <a:t>(self):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이름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format(self.name))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등급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self.rank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사이즈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self.size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라이프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self.life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b="1" dirty="0" smtClean="0"/>
              <a:t>class </a:t>
            </a:r>
            <a:r>
              <a:rPr lang="en-US" dirty="0" smtClean="0"/>
              <a:t>man(Unit):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smtClean="0"/>
              <a:t>__init__(self, rank, size, life, </a:t>
            </a:r>
            <a:r>
              <a:rPr lang="en-US" dirty="0" err="1" smtClean="0"/>
              <a:t>attack_type</a:t>
            </a:r>
            <a:r>
              <a:rPr lang="en-US" dirty="0" smtClean="0"/>
              <a:t>):</a:t>
            </a:r>
            <a:br>
              <a:rPr lang="en-US" dirty="0" smtClean="0"/>
            </a:br>
            <a:r>
              <a:rPr lang="en-US" dirty="0" smtClean="0"/>
              <a:t>        self.name = self.__class__.__name__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self.rank</a:t>
            </a:r>
            <a:r>
              <a:rPr lang="en-US" dirty="0" smtClean="0"/>
              <a:t> = rank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self.size</a:t>
            </a:r>
            <a:r>
              <a:rPr lang="en-US" dirty="0" smtClean="0"/>
              <a:t> = size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self.life</a:t>
            </a:r>
            <a:r>
              <a:rPr lang="en-US" dirty="0" smtClean="0"/>
              <a:t> = life</a:t>
            </a:r>
            <a:br>
              <a:rPr lang="en-US" dirty="0" smtClean="0"/>
            </a:br>
            <a:r>
              <a:rPr lang="en-US" b="1" dirty="0" smtClean="0">
                <a:solidFill>
                  <a:srgbClr val="0000FF"/>
                </a:solidFill>
              </a:rPr>
              <a:t>        </a:t>
            </a:r>
            <a:r>
              <a:rPr lang="en-US" b="1" dirty="0" err="1" smtClean="0">
                <a:solidFill>
                  <a:srgbClr val="0000FF"/>
                </a:solidFill>
              </a:rPr>
              <a:t>self.attack_type</a:t>
            </a:r>
            <a:r>
              <a:rPr lang="en-US" b="1" dirty="0" smtClean="0">
                <a:solidFill>
                  <a:srgbClr val="0000FF"/>
                </a:solidFill>
              </a:rPr>
              <a:t> = </a:t>
            </a:r>
            <a:r>
              <a:rPr lang="en-US" b="1" dirty="0" err="1" smtClean="0">
                <a:solidFill>
                  <a:srgbClr val="0000FF"/>
                </a:solidFill>
              </a:rPr>
              <a:t>attack_type</a:t>
            </a:r>
            <a:r>
              <a:rPr lang="en-US" b="1" dirty="0" smtClean="0">
                <a:solidFill>
                  <a:srgbClr val="0000FF"/>
                </a:solidFill>
              </a:rPr>
              <a:t/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err="1" smtClean="0"/>
              <a:t>show_status</a:t>
            </a:r>
            <a:r>
              <a:rPr lang="en-US" dirty="0" smtClean="0"/>
              <a:t>(self):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이름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format(self.name))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등급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self.rank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사이즈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self.size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라이프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self.life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>
                <a:solidFill>
                  <a:srgbClr val="0000FF"/>
                </a:solidFill>
              </a:rPr>
              <a:t>print('</a:t>
            </a:r>
            <a:r>
              <a:rPr lang="ko-KR" altLang="en-US" b="1" dirty="0" smtClean="0">
                <a:solidFill>
                  <a:srgbClr val="0000FF"/>
                </a:solidFill>
              </a:rPr>
              <a:t>공격 타입</a:t>
            </a:r>
            <a:r>
              <a:rPr lang="en-US" altLang="ko-KR" b="1" dirty="0" smtClean="0">
                <a:solidFill>
                  <a:srgbClr val="0000FF"/>
                </a:solidFill>
              </a:rPr>
              <a:t>: {}'.</a:t>
            </a:r>
            <a:r>
              <a:rPr lang="en-US" b="1" dirty="0" smtClean="0">
                <a:solidFill>
                  <a:srgbClr val="0000FF"/>
                </a:solidFill>
              </a:rPr>
              <a:t>format(</a:t>
            </a:r>
            <a:r>
              <a:rPr lang="en-US" b="1" dirty="0" err="1" smtClean="0">
                <a:solidFill>
                  <a:srgbClr val="0000FF"/>
                </a:solidFill>
              </a:rPr>
              <a:t>self.attack_type</a:t>
            </a:r>
            <a:r>
              <a:rPr lang="en-US" b="1" dirty="0" smtClean="0">
                <a:solidFill>
                  <a:srgbClr val="0000FF"/>
                </a:solidFill>
              </a:rPr>
              <a:t>))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dirty="0" smtClean="0"/>
              <a:t>man_1 = man(</a:t>
            </a:r>
            <a:r>
              <a:rPr lang="en-US" b="1" dirty="0" smtClean="0"/>
              <a:t>'</a:t>
            </a:r>
            <a:r>
              <a:rPr lang="ko-KR" altLang="en-US" b="1" dirty="0" smtClean="0"/>
              <a:t>병사</a:t>
            </a:r>
            <a:r>
              <a:rPr lang="en-US" altLang="ko-KR" b="1" dirty="0" smtClean="0"/>
              <a:t>'</a:t>
            </a:r>
            <a:r>
              <a:rPr lang="en-US" altLang="ko-KR" dirty="0" smtClean="0"/>
              <a:t>, </a:t>
            </a:r>
            <a:r>
              <a:rPr lang="en-US" altLang="ko-KR" b="1" dirty="0" smtClean="0"/>
              <a:t>'</a:t>
            </a:r>
            <a:r>
              <a:rPr lang="en-US" b="1" dirty="0" smtClean="0"/>
              <a:t>Small'</a:t>
            </a:r>
            <a:r>
              <a:rPr lang="en-US" dirty="0" smtClean="0"/>
              <a:t>, 100, </a:t>
            </a:r>
            <a:r>
              <a:rPr lang="en-US" b="1" dirty="0" smtClean="0"/>
              <a:t>'</a:t>
            </a:r>
            <a:r>
              <a:rPr lang="ko-KR" altLang="en-US" b="1" dirty="0" smtClean="0"/>
              <a:t>근접 공격</a:t>
            </a:r>
            <a:r>
              <a:rPr lang="en-US" altLang="ko-KR" b="1" dirty="0" smtClean="0"/>
              <a:t>'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dirty="0" smtClean="0"/>
              <a:t>man_1.show_status()</a:t>
            </a:r>
            <a:endParaRPr lang="ko-KR" altLang="en-US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-55881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method override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연습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-1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5172501" y="3315115"/>
            <a:ext cx="327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FF"/>
                </a:solidFill>
              </a:rPr>
              <a:t>#  Unit class</a:t>
            </a:r>
            <a:r>
              <a:rPr lang="ko-KR" altLang="en-US" b="1" dirty="0" smtClean="0">
                <a:solidFill>
                  <a:srgbClr val="0000FF"/>
                </a:solidFill>
              </a:rPr>
              <a:t>에서 공격타입 추가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68490" y="984992"/>
            <a:ext cx="8202304" cy="554895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 smtClean="0"/>
              <a:t>class </a:t>
            </a:r>
            <a:r>
              <a:rPr lang="en-US" dirty="0" smtClean="0"/>
              <a:t>Unit(object):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smtClean="0"/>
              <a:t>__init__(self, rank, size, life):</a:t>
            </a:r>
            <a:br>
              <a:rPr lang="en-US" dirty="0" smtClean="0"/>
            </a:br>
            <a:r>
              <a:rPr lang="en-US" dirty="0" smtClean="0"/>
              <a:t>        self.name = self.__class__.__name__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self.rank</a:t>
            </a:r>
            <a:r>
              <a:rPr lang="en-US" dirty="0" smtClean="0"/>
              <a:t> = rank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self.size</a:t>
            </a:r>
            <a:r>
              <a:rPr lang="en-US" dirty="0" smtClean="0"/>
              <a:t> = size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self.life</a:t>
            </a:r>
            <a:r>
              <a:rPr lang="en-US" dirty="0" smtClean="0"/>
              <a:t> = life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err="1" smtClean="0"/>
              <a:t>show_status</a:t>
            </a:r>
            <a:r>
              <a:rPr lang="en-US" dirty="0" smtClean="0"/>
              <a:t>(self):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이름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format(self.name))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등급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self.rank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사이즈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self.size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라이프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self.life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class </a:t>
            </a:r>
            <a:r>
              <a:rPr lang="en-US" dirty="0" smtClean="0"/>
              <a:t>man(Unit):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smtClean="0"/>
              <a:t>__init__(self, rank, size, life, </a:t>
            </a:r>
            <a:r>
              <a:rPr lang="en-US" dirty="0" err="1" smtClean="0"/>
              <a:t>attack_type</a:t>
            </a:r>
            <a:r>
              <a:rPr lang="en-US" dirty="0" smtClean="0"/>
              <a:t>):</a:t>
            </a:r>
            <a:br>
              <a:rPr lang="en-US" dirty="0" smtClean="0"/>
            </a:br>
            <a:r>
              <a:rPr lang="en-US" b="1" dirty="0" smtClean="0">
                <a:solidFill>
                  <a:srgbClr val="0000FF"/>
                </a:solidFill>
              </a:rPr>
              <a:t>        super(man, self).__init__(rank, size, life)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dirty="0" smtClean="0"/>
              <a:t>        </a:t>
            </a:r>
            <a:r>
              <a:rPr lang="en-US" dirty="0" err="1" smtClean="0"/>
              <a:t>self.attack_type</a:t>
            </a:r>
            <a:r>
              <a:rPr lang="en-US" dirty="0" smtClean="0"/>
              <a:t> = </a:t>
            </a:r>
            <a:r>
              <a:rPr lang="en-US" dirty="0" err="1" smtClean="0"/>
              <a:t>attack_type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def </a:t>
            </a:r>
            <a:r>
              <a:rPr lang="en-US" dirty="0" err="1" smtClean="0"/>
              <a:t>show_status</a:t>
            </a:r>
            <a:r>
              <a:rPr lang="en-US" dirty="0" smtClean="0"/>
              <a:t>(self):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>
                <a:solidFill>
                  <a:srgbClr val="0000FF"/>
                </a:solidFill>
              </a:rPr>
              <a:t>super(man, self).</a:t>
            </a:r>
            <a:r>
              <a:rPr lang="en-US" b="1" dirty="0" err="1" smtClean="0">
                <a:solidFill>
                  <a:srgbClr val="0000FF"/>
                </a:solidFill>
              </a:rPr>
              <a:t>show_status</a:t>
            </a:r>
            <a:r>
              <a:rPr lang="en-US" b="1" dirty="0" smtClean="0">
                <a:solidFill>
                  <a:srgbClr val="0000FF"/>
                </a:solidFill>
              </a:rPr>
              <a:t>()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print(</a:t>
            </a:r>
            <a:r>
              <a:rPr lang="en-US" b="1" dirty="0" smtClean="0"/>
              <a:t>'</a:t>
            </a:r>
            <a:r>
              <a:rPr lang="ko-KR" altLang="en-US" b="1" dirty="0" smtClean="0"/>
              <a:t>공격 타입</a:t>
            </a:r>
            <a:r>
              <a:rPr lang="en-US" altLang="ko-KR" b="1" dirty="0" smtClean="0"/>
              <a:t>: {}'</a:t>
            </a:r>
            <a:r>
              <a:rPr lang="en-US" altLang="ko-KR" dirty="0" smtClean="0"/>
              <a:t>.</a:t>
            </a:r>
            <a:r>
              <a:rPr lang="en-US" dirty="0" smtClean="0"/>
              <a:t>format(</a:t>
            </a:r>
            <a:r>
              <a:rPr lang="en-US" dirty="0" err="1" smtClean="0"/>
              <a:t>self.attack_type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man_1 = man(</a:t>
            </a:r>
            <a:r>
              <a:rPr lang="en-US" b="1" dirty="0" smtClean="0"/>
              <a:t>'</a:t>
            </a:r>
            <a:r>
              <a:rPr lang="ko-KR" altLang="en-US" b="1" dirty="0" smtClean="0"/>
              <a:t>병사</a:t>
            </a:r>
            <a:r>
              <a:rPr lang="en-US" altLang="ko-KR" b="1" dirty="0" smtClean="0"/>
              <a:t>'</a:t>
            </a:r>
            <a:r>
              <a:rPr lang="en-US" altLang="ko-KR" dirty="0" smtClean="0"/>
              <a:t>, </a:t>
            </a:r>
            <a:r>
              <a:rPr lang="en-US" altLang="ko-KR" b="1" dirty="0" smtClean="0"/>
              <a:t>'</a:t>
            </a:r>
            <a:r>
              <a:rPr lang="en-US" b="1" dirty="0" smtClean="0"/>
              <a:t>Small'</a:t>
            </a:r>
            <a:r>
              <a:rPr lang="en-US" dirty="0" smtClean="0"/>
              <a:t>, 100, </a:t>
            </a:r>
            <a:r>
              <a:rPr lang="en-US" b="1" dirty="0" smtClean="0"/>
              <a:t>'</a:t>
            </a:r>
            <a:r>
              <a:rPr lang="ko-KR" altLang="en-US" b="1" dirty="0" smtClean="0"/>
              <a:t>근접 공격</a:t>
            </a:r>
            <a:r>
              <a:rPr lang="en-US" altLang="ko-KR" b="1" dirty="0" smtClean="0"/>
              <a:t>'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dirty="0" smtClean="0"/>
              <a:t>man_1.show_status()</a:t>
            </a:r>
            <a:endParaRPr lang="ko-KR" altLang="en-US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202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method override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연습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-1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81433" y="1515103"/>
            <a:ext cx="3796232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FF"/>
                </a:solidFill>
              </a:rPr>
              <a:t># super()</a:t>
            </a:r>
            <a:r>
              <a:rPr lang="ko-KR" altLang="en-US" b="1" dirty="0" smtClean="0">
                <a:solidFill>
                  <a:srgbClr val="0000FF"/>
                </a:solidFill>
              </a:rPr>
              <a:t>함수 </a:t>
            </a:r>
            <a:endParaRPr lang="en-US" altLang="ko-KR" b="1" dirty="0" smtClean="0">
              <a:solidFill>
                <a:srgbClr val="0000FF"/>
              </a:solidFill>
            </a:endParaRPr>
          </a:p>
          <a:p>
            <a:r>
              <a:rPr lang="en-US" altLang="ko-KR" b="1" dirty="0" smtClean="0">
                <a:solidFill>
                  <a:srgbClr val="0000FF"/>
                </a:solidFill>
              </a:rPr>
              <a:t># </a:t>
            </a:r>
            <a:r>
              <a:rPr lang="ko-KR" altLang="en-US" b="1" dirty="0" smtClean="0">
                <a:solidFill>
                  <a:srgbClr val="0000FF"/>
                </a:solidFill>
              </a:rPr>
              <a:t>부모 클래스에 정의된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메소드</a:t>
            </a:r>
            <a:r>
              <a:rPr lang="ko-KR" altLang="en-US" b="1" dirty="0" smtClean="0">
                <a:solidFill>
                  <a:srgbClr val="0000FF"/>
                </a:solidFill>
              </a:rPr>
              <a:t> 호출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이름공간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Naming Space, Scope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203200" y="1097281"/>
            <a:ext cx="7759700" cy="2754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이름이 존재하는 장소</a:t>
            </a:r>
            <a:endParaRPr lang="en-US" altLang="ko-KR" sz="2000" b="1" dirty="0"/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err="1" smtClean="0"/>
              <a:t>파이썬은</a:t>
            </a:r>
            <a:r>
              <a:rPr lang="ko-KR" altLang="en-US" sz="2000" b="1" dirty="0" smtClean="0"/>
              <a:t> 실행 시간에 각 이름들을 이름 공간에 넣어 관리 </a:t>
            </a:r>
            <a:endParaRPr lang="en-US" altLang="ko-KR" sz="2000" b="1" dirty="0" smtClean="0"/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이름 공간의 종류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지역</a:t>
            </a:r>
            <a:r>
              <a:rPr lang="en-US" altLang="ko-KR" sz="2000" b="1" dirty="0" smtClean="0"/>
              <a:t>(Local) : </a:t>
            </a:r>
            <a:r>
              <a:rPr lang="ko-KR" altLang="en-US" sz="2000" b="1" dirty="0" smtClean="0"/>
              <a:t>각 함수 내부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전역</a:t>
            </a:r>
            <a:r>
              <a:rPr lang="en-US" altLang="ko-KR" sz="2000" b="1" dirty="0" smtClean="0"/>
              <a:t>(Global) : </a:t>
            </a:r>
            <a:r>
              <a:rPr lang="ko-KR" altLang="en-US" sz="2000" b="1" dirty="0" smtClean="0"/>
              <a:t>모듈 내부</a:t>
            </a:r>
            <a:r>
              <a:rPr lang="en-US" altLang="ko-KR" sz="2000" b="1" dirty="0" smtClean="0"/>
              <a:t/>
            </a:r>
            <a:br>
              <a:rPr lang="en-US" altLang="ko-KR" sz="2000" b="1" dirty="0" smtClean="0"/>
            </a:b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내장</a:t>
            </a:r>
            <a:r>
              <a:rPr lang="en-US" altLang="ko-KR" sz="2000" b="1" dirty="0" smtClean="0"/>
              <a:t>(Built-in) : </a:t>
            </a:r>
            <a:r>
              <a:rPr lang="ko-KR" altLang="en-US" sz="2000" b="1" dirty="0" err="1" smtClean="0"/>
              <a:t>파이썬</a:t>
            </a:r>
            <a:r>
              <a:rPr lang="ko-KR" altLang="en-US" sz="2000" b="1" dirty="0" smtClean="0"/>
              <a:t> 언어 자체에서 정의한 영역</a:t>
            </a:r>
            <a:endParaRPr lang="en-US" altLang="ko-KR" sz="2000" b="1" dirty="0" smtClean="0"/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변수가 정의되는 위치에 의해 변수의 </a:t>
            </a:r>
            <a:r>
              <a:rPr lang="ko-KR" altLang="en-US" sz="2000" b="1" dirty="0" err="1" smtClean="0"/>
              <a:t>스코프가</a:t>
            </a:r>
            <a:r>
              <a:rPr lang="ko-KR" altLang="en-US" sz="2000" b="1" dirty="0" smtClean="0"/>
              <a:t> 정해짐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이름공간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Naming Space, Scope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92150" y="1910081"/>
            <a:ext cx="828675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a=10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 smtClean="0">
                <a:latin typeface="+mn-ea"/>
              </a:rPr>
              <a:t>b=30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f(d):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	b = a +</a:t>
            </a:r>
            <a:r>
              <a:rPr lang="en-US" altLang="ko-KR" sz="2400" b="1" dirty="0" smtClean="0">
                <a:latin typeface="+mn-ea"/>
              </a:rPr>
              <a:t>10               # b=</a:t>
            </a:r>
            <a:r>
              <a:rPr lang="ko-KR" altLang="en-US" sz="2400" b="1" dirty="0" smtClean="0">
                <a:latin typeface="+mn-ea"/>
              </a:rPr>
              <a:t>지역변수</a:t>
            </a:r>
            <a:r>
              <a:rPr lang="en-US" altLang="ko-KR" sz="2400" b="1" dirty="0" smtClean="0">
                <a:latin typeface="+mn-ea"/>
              </a:rPr>
              <a:t>, a=</a:t>
            </a:r>
            <a:r>
              <a:rPr lang="ko-KR" altLang="en-US" sz="2400" b="1" dirty="0" err="1" smtClean="0">
                <a:latin typeface="+mn-ea"/>
              </a:rPr>
              <a:t>전역변수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	c = b + d + a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	return c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print (f(b ))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>
                <a:solidFill>
                  <a:srgbClr val="0000FF"/>
                </a:solidFill>
                <a:latin typeface="+mn-ea"/>
              </a:rPr>
              <a:t>print (b)	</a:t>
            </a:r>
            <a:endParaRPr lang="ko-KR" altLang="en-US" sz="24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317500" y="123632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전역</a:t>
            </a:r>
            <a:r>
              <a:rPr lang="en-US" altLang="ko-KR" sz="2400" b="1" dirty="0" smtClean="0">
                <a:latin typeface="+mn-ea"/>
              </a:rPr>
              <a:t>/</a:t>
            </a:r>
            <a:r>
              <a:rPr lang="ko-KR" altLang="en-US" sz="2400" b="1" dirty="0" smtClean="0">
                <a:latin typeface="+mn-ea"/>
              </a:rPr>
              <a:t>지역 변수</a:t>
            </a:r>
            <a:endParaRPr lang="ko-KR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이름공간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Naming Space, Scope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92150" y="1910081"/>
            <a:ext cx="828675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a=10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 smtClean="0">
                <a:latin typeface="+mn-ea"/>
              </a:rPr>
              <a:t>b=30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 err="1">
                <a:latin typeface="+mn-ea"/>
              </a:rPr>
              <a:t>def</a:t>
            </a:r>
            <a:r>
              <a:rPr lang="en-US" altLang="ko-KR" sz="2400" b="1" dirty="0">
                <a:latin typeface="+mn-ea"/>
              </a:rPr>
              <a:t> f(d</a:t>
            </a:r>
            <a:r>
              <a:rPr lang="en-US" altLang="ko-KR" sz="2400" b="1" dirty="0" smtClean="0">
                <a:latin typeface="+mn-ea"/>
              </a:rPr>
              <a:t>):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	</a:t>
            </a:r>
            <a:r>
              <a:rPr lang="en-US" altLang="ko-KR" sz="2400" b="1" dirty="0" smtClean="0">
                <a:latin typeface="+mn-ea"/>
              </a:rPr>
              <a:t>global b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	b = a +</a:t>
            </a:r>
            <a:r>
              <a:rPr lang="en-US" altLang="ko-KR" sz="2400" b="1" dirty="0" smtClean="0">
                <a:latin typeface="+mn-ea"/>
              </a:rPr>
              <a:t>10               # b=</a:t>
            </a:r>
            <a:r>
              <a:rPr lang="ko-KR" altLang="en-US" sz="2400" b="1" dirty="0" err="1" smtClean="0">
                <a:latin typeface="+mn-ea"/>
              </a:rPr>
              <a:t>전역변수</a:t>
            </a:r>
            <a:r>
              <a:rPr lang="en-US" altLang="ko-KR" sz="2400" b="1" dirty="0" smtClean="0">
                <a:latin typeface="+mn-ea"/>
              </a:rPr>
              <a:t>, a=</a:t>
            </a:r>
            <a:r>
              <a:rPr lang="ko-KR" altLang="en-US" sz="2400" b="1" dirty="0" err="1" smtClean="0">
                <a:latin typeface="+mn-ea"/>
              </a:rPr>
              <a:t>전역변수</a:t>
            </a:r>
            <a:endParaRPr lang="en-US" altLang="ko-KR" sz="2400" b="1" dirty="0"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	c = b + d + a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	return c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sz="2400" b="1" dirty="0">
                <a:latin typeface="+mn-ea"/>
              </a:rPr>
              <a:t>print (f(b ))</a:t>
            </a:r>
          </a:p>
          <a:p>
            <a:pPr>
              <a:lnSpc>
                <a:spcPts val="3000"/>
              </a:lnSpc>
            </a:pPr>
            <a:r>
              <a:rPr lang="en-US" altLang="ko-KR" sz="2400" b="1" dirty="0">
                <a:solidFill>
                  <a:srgbClr val="0000FF"/>
                </a:solidFill>
                <a:latin typeface="+mn-ea"/>
              </a:rPr>
              <a:t>print (b)</a:t>
            </a:r>
            <a:r>
              <a:rPr lang="en-US" altLang="ko-KR" sz="2400" b="1" dirty="0">
                <a:latin typeface="+mn-ea"/>
              </a:rPr>
              <a:t>	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317500" y="123632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+mn-ea"/>
              </a:rPr>
              <a:t>전역</a:t>
            </a:r>
            <a:r>
              <a:rPr lang="en-US" altLang="ko-KR" sz="2400" b="1" dirty="0" smtClean="0">
                <a:latin typeface="+mn-ea"/>
              </a:rPr>
              <a:t>/</a:t>
            </a:r>
            <a:r>
              <a:rPr lang="ko-KR" altLang="en-US" sz="2400" b="1" dirty="0" smtClean="0">
                <a:latin typeface="+mn-ea"/>
              </a:rPr>
              <a:t>지역 변수</a:t>
            </a:r>
            <a:endParaRPr lang="ko-KR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TextBox 5"/>
          <p:cNvSpPr txBox="1"/>
          <p:nvPr/>
        </p:nvSpPr>
        <p:spPr>
          <a:xfrm>
            <a:off x="188794" y="1338428"/>
            <a:ext cx="8464177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b="1" dirty="0" smtClean="0"/>
              <a:t>  </a:t>
            </a:r>
            <a:r>
              <a:rPr lang="ko-KR" altLang="en-US" b="1" dirty="0" err="1" smtClean="0"/>
              <a:t>파이썬</a:t>
            </a:r>
            <a:r>
              <a:rPr lang="ko-KR" altLang="en-US" b="1" dirty="0" smtClean="0"/>
              <a:t> 프로그램 파일로 </a:t>
            </a:r>
            <a:r>
              <a:rPr lang="ko-KR" altLang="en-US" b="1" dirty="0" err="1" smtClean="0"/>
              <a:t>파이썬</a:t>
            </a:r>
            <a:r>
              <a:rPr lang="ko-KR" altLang="en-US" b="1" dirty="0" smtClean="0"/>
              <a:t> 데이터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함수 등을 정의하는 단위</a:t>
            </a:r>
            <a:endParaRPr lang="en-US" altLang="ko-KR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ko-KR" altLang="en-US" b="1" dirty="0" smtClean="0"/>
              <a:t>서로 연관된 작업을 하는 코드들을 묶어서 독립성과 재사용 가능하게 만드는 단위</a:t>
            </a:r>
            <a:endParaRPr lang="en-US" altLang="ko-KR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ko-KR" altLang="en-US" b="1" dirty="0" smtClean="0"/>
              <a:t>모듈을 사용하는 측에서는 모듈에 정의된 함수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변수 이름 사용</a:t>
            </a:r>
            <a:endParaRPr lang="en-US" altLang="ko-KR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ko-KR" altLang="en-US" b="1" dirty="0" smtClean="0"/>
              <a:t>프로그램 </a:t>
            </a:r>
            <a:r>
              <a:rPr lang="ko-KR" altLang="en-US" b="1" dirty="0" err="1" smtClean="0"/>
              <a:t>개발시</a:t>
            </a:r>
            <a:r>
              <a:rPr lang="ko-KR" altLang="en-US" b="1" dirty="0" smtClean="0"/>
              <a:t> 전체 코드들을 모듈 단위로 분리하여 작업의 효율성 높임</a:t>
            </a:r>
            <a:endParaRPr lang="en-US" altLang="ko-KR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ko-KR" altLang="en-US" b="1" dirty="0" smtClean="0"/>
              <a:t>동일 이름의 함수와 변수를 </a:t>
            </a:r>
            <a:r>
              <a:rPr lang="ko-KR" altLang="en-US" b="1" dirty="0" err="1" smtClean="0"/>
              <a:t>모듈마다</a:t>
            </a:r>
            <a:r>
              <a:rPr lang="ko-KR" altLang="en-US" b="1" dirty="0" smtClean="0"/>
              <a:t> 독립적으로 사용 가능</a:t>
            </a:r>
            <a:endParaRPr lang="ko-KR" altLang="en-US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함수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변수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클래스를 모아 놓은 파일</a:t>
            </a:r>
            <a:endParaRPr lang="ko-KR" altLang="en-US" sz="24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736980" y="1576483"/>
            <a:ext cx="3002507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/>
              <a:t># mod1.py</a:t>
            </a:r>
          </a:p>
          <a:p>
            <a:r>
              <a:rPr lang="en-US" altLang="ko-KR" b="1" dirty="0" smtClean="0"/>
              <a:t>def sum(a, b):</a:t>
            </a:r>
          </a:p>
          <a:p>
            <a:r>
              <a:rPr lang="en-US" altLang="ko-KR" b="1" dirty="0" smtClean="0"/>
              <a:t>	return </a:t>
            </a:r>
            <a:r>
              <a:rPr lang="en-US" altLang="ko-KR" b="1" dirty="0" err="1" smtClean="0"/>
              <a:t>a+b</a:t>
            </a:r>
            <a:endParaRPr lang="ko-KR" altLang="en-US" b="1" dirty="0"/>
          </a:p>
        </p:txBody>
      </p:sp>
      <p:sp>
        <p:nvSpPr>
          <p:cNvPr id="4" name="TextBox 5"/>
          <p:cNvSpPr txBox="1"/>
          <p:nvPr/>
        </p:nvSpPr>
        <p:spPr>
          <a:xfrm>
            <a:off x="341194" y="1132760"/>
            <a:ext cx="419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b="1" dirty="0" smtClean="0"/>
              <a:t> </a:t>
            </a:r>
            <a:r>
              <a:rPr lang="ko-KR" altLang="en-US" b="1" dirty="0" smtClean="0"/>
              <a:t>모듈 만들기  </a:t>
            </a:r>
            <a:r>
              <a:rPr lang="en-US" altLang="ko-KR" b="1" dirty="0" smtClean="0"/>
              <a:t>:   </a:t>
            </a:r>
            <a:r>
              <a:rPr lang="ko-KR" altLang="en-US" b="1" dirty="0" err="1" smtClean="0"/>
              <a:t>파이썬</a:t>
            </a:r>
            <a:r>
              <a:rPr lang="ko-KR" altLang="en-US" b="1" dirty="0" smtClean="0"/>
              <a:t> 파일을 만든다</a:t>
            </a:r>
            <a:r>
              <a:rPr lang="en-US" altLang="ko-KR" b="1" dirty="0" smtClean="0"/>
              <a:t>  </a:t>
            </a:r>
            <a:endParaRPr lang="ko-KR" altLang="en-US" b="1" dirty="0"/>
          </a:p>
        </p:txBody>
      </p:sp>
      <p:sp>
        <p:nvSpPr>
          <p:cNvPr id="5" name="TextBox 7"/>
          <p:cNvSpPr txBox="1"/>
          <p:nvPr/>
        </p:nvSpPr>
        <p:spPr>
          <a:xfrm>
            <a:off x="343466" y="2868328"/>
            <a:ext cx="668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b="1" dirty="0" smtClean="0"/>
              <a:t> </a:t>
            </a:r>
            <a:r>
              <a:rPr lang="ko-KR" altLang="en-US" b="1" dirty="0" smtClean="0"/>
              <a:t>모듈 사용하기 </a:t>
            </a:r>
            <a:r>
              <a:rPr lang="en-US" altLang="ko-KR" b="1" dirty="0" smtClean="0"/>
              <a:t>:  </a:t>
            </a:r>
            <a:r>
              <a:rPr lang="ko-KR" altLang="en-US" b="1" dirty="0" smtClean="0"/>
              <a:t>모듈을 호출하여 사용할 </a:t>
            </a:r>
            <a:r>
              <a:rPr lang="ko-KR" altLang="en-US" b="1" dirty="0" err="1" smtClean="0"/>
              <a:t>파이썬</a:t>
            </a:r>
            <a:r>
              <a:rPr lang="ko-KR" altLang="en-US" b="1" dirty="0" smtClean="0"/>
              <a:t> 파일을 만든다</a:t>
            </a:r>
            <a:r>
              <a:rPr lang="en-US" altLang="ko-KR" b="1" dirty="0" smtClean="0"/>
              <a:t> 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016758" y="339041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/>
              <a:t>import mod1         #import  </a:t>
            </a:r>
            <a:r>
              <a:rPr lang="ko-KR" altLang="en-US" b="1" dirty="0" smtClean="0"/>
              <a:t>모듈 이름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print(mod1.sum(5, 5))</a:t>
            </a:r>
            <a:endParaRPr lang="ko-KR" altLang="en-US" b="1" dirty="0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함수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변수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클래스를 모아 놓은 파일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532262" y="1079395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FF"/>
                </a:solidFill>
              </a:rPr>
              <a:t># mod1.py  ,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예외 처리</a:t>
            </a:r>
            <a:endParaRPr lang="en-US" altLang="ko-KR" b="1" dirty="0" smtClean="0">
              <a:solidFill>
                <a:srgbClr val="0000FF"/>
              </a:solidFill>
            </a:endParaRPr>
          </a:p>
          <a:p>
            <a:r>
              <a:rPr lang="en-US" altLang="ko-KR" b="1" dirty="0" smtClean="0"/>
              <a:t>def sum(a, b):</a:t>
            </a:r>
          </a:p>
          <a:p>
            <a:r>
              <a:rPr lang="en-US" altLang="ko-KR" b="1" dirty="0" smtClean="0"/>
              <a:t>	return </a:t>
            </a:r>
            <a:r>
              <a:rPr lang="en-US" altLang="ko-KR" b="1" dirty="0" err="1" smtClean="0"/>
              <a:t>a+b</a:t>
            </a:r>
            <a:endParaRPr lang="en-US" altLang="ko-KR" b="1" dirty="0" smtClean="0"/>
          </a:p>
          <a:p>
            <a:r>
              <a:rPr lang="en-US" altLang="ko-KR" b="1" dirty="0" smtClean="0"/>
              <a:t>	</a:t>
            </a:r>
          </a:p>
          <a:p>
            <a:r>
              <a:rPr lang="en-US" altLang="ko-KR" b="1" dirty="0" smtClean="0"/>
              <a:t>def safe_sum(a, b):</a:t>
            </a:r>
          </a:p>
          <a:p>
            <a:r>
              <a:rPr lang="en-US" altLang="ko-KR" b="1" dirty="0" smtClean="0"/>
              <a:t>	if type(a) != type(b):</a:t>
            </a:r>
          </a:p>
          <a:p>
            <a:r>
              <a:rPr lang="en-US" altLang="ko-KR" b="1" dirty="0" smtClean="0"/>
              <a:t>		print("</a:t>
            </a:r>
            <a:r>
              <a:rPr lang="ko-KR" altLang="en-US" b="1" dirty="0" err="1" smtClean="0"/>
              <a:t>더할수</a:t>
            </a:r>
            <a:r>
              <a:rPr lang="ko-KR" altLang="en-US" b="1" dirty="0" smtClean="0"/>
              <a:t> 없습니다</a:t>
            </a:r>
            <a:r>
              <a:rPr lang="en-US" altLang="ko-KR" b="1" dirty="0" smtClean="0"/>
              <a:t>")</a:t>
            </a:r>
          </a:p>
          <a:p>
            <a:r>
              <a:rPr lang="en-US" altLang="ko-KR" b="1" dirty="0" smtClean="0"/>
              <a:t>		return</a:t>
            </a:r>
          </a:p>
          <a:p>
            <a:r>
              <a:rPr lang="en-US" altLang="ko-KR" b="1" dirty="0" smtClean="0"/>
              <a:t>	else:</a:t>
            </a:r>
          </a:p>
          <a:p>
            <a:r>
              <a:rPr lang="en-US" altLang="ko-KR" b="1" dirty="0" smtClean="0"/>
              <a:t>		result = sum(</a:t>
            </a:r>
            <a:r>
              <a:rPr lang="en-US" altLang="ko-KR" b="1" dirty="0" err="1" smtClean="0"/>
              <a:t>a,b</a:t>
            </a:r>
            <a:r>
              <a:rPr lang="en-US" altLang="ko-KR" b="1" dirty="0" smtClean="0"/>
              <a:t>)</a:t>
            </a:r>
          </a:p>
          <a:p>
            <a:r>
              <a:rPr lang="en-US" altLang="ko-KR" b="1" dirty="0" smtClean="0"/>
              <a:t>	return result</a:t>
            </a:r>
          </a:p>
          <a:p>
            <a:r>
              <a:rPr lang="en-US" altLang="ko-KR" b="1" dirty="0" smtClean="0"/>
              <a:t>		</a:t>
            </a:r>
            <a:endParaRPr lang="ko-KR" altLang="en-US" b="1" dirty="0"/>
          </a:p>
        </p:txBody>
      </p:sp>
      <p:sp>
        <p:nvSpPr>
          <p:cNvPr id="4" name="직사각형 3"/>
          <p:cNvSpPr/>
          <p:nvPr/>
        </p:nvSpPr>
        <p:spPr>
          <a:xfrm>
            <a:off x="559558" y="464196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altLang="ko-KR" b="1" dirty="0" smtClean="0"/>
              <a:t>import mod1</a:t>
            </a:r>
          </a:p>
          <a:p>
            <a:endParaRPr lang="da-DK" altLang="ko-KR" b="1" dirty="0" smtClean="0"/>
          </a:p>
          <a:p>
            <a:r>
              <a:rPr lang="da-DK" altLang="ko-KR" b="1" dirty="0" smtClean="0"/>
              <a:t>print(mod1.sum(5, 5))</a:t>
            </a:r>
          </a:p>
          <a:p>
            <a:r>
              <a:rPr lang="da-DK" altLang="ko-KR" b="1" dirty="0" smtClean="0"/>
              <a:t>print(mod1.safe_sum(5, 'a'))</a:t>
            </a:r>
          </a:p>
          <a:p>
            <a:r>
              <a:rPr lang="da-DK" altLang="ko-KR" b="1" dirty="0" smtClean="0"/>
              <a:t>print(mod1.safe_sum(5, 5))</a:t>
            </a:r>
            <a:endParaRPr lang="ko-KR" altLang="en-US" b="1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395785" y="4490113"/>
            <a:ext cx="8338782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함수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변수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클래스를 모아 놓은 파일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532262" y="1079395"/>
            <a:ext cx="6332562" cy="34778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 </a:t>
            </a:r>
            <a:r>
              <a:rPr lang="ko-KR" altLang="en-US" sz="2000" b="1" dirty="0" smtClean="0"/>
              <a:t>모듈 이름을 쓰지 않고 함수를 쓰고 싶은 경우</a:t>
            </a:r>
            <a:endParaRPr lang="en-US" altLang="ko-KR" sz="2000" b="1" dirty="0" smtClean="0"/>
          </a:p>
          <a:p>
            <a:pPr>
              <a:buFont typeface="Arial" pitchFamily="34" charset="0"/>
              <a:buChar char="•"/>
            </a:pPr>
            <a:endParaRPr lang="en-US" altLang="ko-KR" sz="2000" b="1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import</a:t>
            </a:r>
            <a:r>
              <a:rPr lang="ko-KR" altLang="en-US" sz="2000" b="1" dirty="0" smtClean="0"/>
              <a:t>를 다른 방법으로 하면 된다</a:t>
            </a:r>
            <a:r>
              <a:rPr lang="en-US" altLang="ko-KR" sz="2000" b="1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2000" b="1" dirty="0" smtClean="0"/>
          </a:p>
          <a:p>
            <a:r>
              <a:rPr lang="en-US" altLang="ko-KR" sz="2000" b="1" dirty="0" smtClean="0"/>
              <a:t>        from </a:t>
            </a:r>
            <a:r>
              <a:rPr lang="ko-KR" altLang="en-US" sz="2000" b="1" dirty="0" smtClean="0"/>
              <a:t>모듈이름 </a:t>
            </a:r>
            <a:r>
              <a:rPr lang="en-US" altLang="ko-KR" sz="2000" b="1" dirty="0" smtClean="0"/>
              <a:t>import </a:t>
            </a:r>
            <a:r>
              <a:rPr lang="ko-KR" altLang="en-US" sz="2000" b="1" dirty="0" smtClean="0"/>
              <a:t>모듈함수</a:t>
            </a:r>
            <a:endParaRPr lang="en-US" altLang="ko-KR" sz="2000" b="1" dirty="0" smtClean="0"/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        ex)   from mod1 import sum</a:t>
            </a:r>
          </a:p>
          <a:p>
            <a:endParaRPr lang="en-US" altLang="ko-KR" sz="2000" b="1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모듈의 모든 함수를 사용하고 싶은 경우</a:t>
            </a:r>
            <a:endParaRPr lang="en-US" altLang="ko-KR" sz="2000" b="1" dirty="0" smtClean="0"/>
          </a:p>
          <a:p>
            <a:pPr>
              <a:buFont typeface="Arial" pitchFamily="34" charset="0"/>
              <a:buChar char="•"/>
            </a:pPr>
            <a:endParaRPr lang="en-US" altLang="ko-KR" sz="2000" b="1" dirty="0" smtClean="0"/>
          </a:p>
          <a:p>
            <a:r>
              <a:rPr lang="en-US" altLang="ko-KR" sz="2000" b="1" dirty="0" smtClean="0"/>
              <a:t>     from mod1 import *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함수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변수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클래스를 모아 놓은 파일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18362" y="1038451"/>
            <a:ext cx="8584443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 module</a:t>
            </a:r>
            <a:r>
              <a:rPr lang="ko-KR" altLang="en-US" sz="2000" b="1" dirty="0" smtClean="0"/>
              <a:t>은 </a:t>
            </a:r>
            <a:r>
              <a:rPr lang="en-US" altLang="ko-KR" sz="2000" b="1" dirty="0" smtClean="0"/>
              <a:t>module</a:t>
            </a:r>
            <a:r>
              <a:rPr lang="ko-KR" altLang="en-US" sz="2000" b="1" dirty="0" smtClean="0"/>
              <a:t>의 이름을 나타내는 내장변수 </a:t>
            </a:r>
            <a:r>
              <a:rPr lang="en-US" altLang="ko-KR" sz="2000" b="1" dirty="0" smtClean="0"/>
              <a:t>__name__</a:t>
            </a:r>
            <a:r>
              <a:rPr lang="ko-KR" altLang="en-US" sz="2000" b="1" dirty="0" smtClean="0"/>
              <a:t>을 갖는다</a:t>
            </a:r>
            <a:endParaRPr lang="en-US" altLang="ko-KR" sz="2000" b="1" dirty="0" smtClean="0"/>
          </a:p>
          <a:p>
            <a:pPr>
              <a:buFont typeface="Arial" pitchFamily="34" charset="0"/>
              <a:buChar char="•"/>
            </a:pPr>
            <a:endParaRPr lang="en-US" altLang="ko-KR" sz="2000" b="1" dirty="0" smtClean="0"/>
          </a:p>
          <a:p>
            <a:r>
              <a:rPr lang="en-US" altLang="ko-KR" sz="2000" b="1" dirty="0" smtClean="0"/>
              <a:t>  import math</a:t>
            </a:r>
          </a:p>
          <a:p>
            <a:r>
              <a:rPr lang="en-US" altLang="ko-KR" sz="2000" b="1" dirty="0" smtClean="0"/>
              <a:t>  print (</a:t>
            </a:r>
            <a:r>
              <a:rPr lang="en-US" altLang="ko-KR" sz="2000" b="1" dirty="0" err="1" smtClean="0"/>
              <a:t>math.__name</a:t>
            </a:r>
            <a:r>
              <a:rPr lang="en-US" altLang="ko-KR" sz="2000" b="1" dirty="0" smtClean="0"/>
              <a:t>__)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  print (__name__)              # </a:t>
            </a:r>
            <a:r>
              <a:rPr lang="ko-KR" altLang="en-US" sz="2000" b="1" dirty="0" smtClean="0"/>
              <a:t>최상위 모듈의 </a:t>
            </a:r>
            <a:r>
              <a:rPr lang="en-US" altLang="ko-KR" sz="2000" b="1" dirty="0" smtClean="0"/>
              <a:t>__name__ </a:t>
            </a:r>
            <a:r>
              <a:rPr lang="ko-KR" altLang="en-US" sz="2000" b="1" dirty="0" smtClean="0"/>
              <a:t>변수는</a:t>
            </a:r>
            <a:endParaRPr lang="en-US" altLang="ko-KR" sz="2000" b="1" dirty="0" smtClean="0"/>
          </a:p>
          <a:p>
            <a:r>
              <a:rPr lang="en-US" altLang="ko-KR" sz="2000" b="1" dirty="0" smtClean="0"/>
              <a:t>                                                # __main__  </a:t>
            </a:r>
            <a:r>
              <a:rPr lang="ko-KR" altLang="en-US" sz="2000" b="1" dirty="0" smtClean="0"/>
              <a:t>형식의 이름을 가진다</a:t>
            </a:r>
            <a:r>
              <a:rPr lang="en-US" altLang="ko-KR" sz="2000" b="1" dirty="0" smtClean="0"/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__name__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변수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18362" y="1038451"/>
            <a:ext cx="8366079" cy="47089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# mod1.py </a:t>
            </a:r>
          </a:p>
          <a:p>
            <a:r>
              <a:rPr lang="en-US" altLang="ko-KR" sz="2000" b="1" dirty="0" smtClean="0"/>
              <a:t>def sum(a, b): </a:t>
            </a:r>
          </a:p>
          <a:p>
            <a:r>
              <a:rPr lang="en-US" altLang="ko-KR" sz="2000" b="1" dirty="0" smtClean="0"/>
              <a:t>    return </a:t>
            </a:r>
            <a:r>
              <a:rPr lang="en-US" altLang="ko-KR" sz="2000" b="1" dirty="0" err="1" smtClean="0"/>
              <a:t>a+b</a:t>
            </a:r>
            <a:endParaRPr lang="en-US" altLang="ko-KR" sz="2000" b="1" dirty="0" smtClean="0"/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def </a:t>
            </a:r>
            <a:r>
              <a:rPr lang="en-US" altLang="ko-KR" sz="2000" b="1" dirty="0" err="1" smtClean="0"/>
              <a:t>safe_sum</a:t>
            </a:r>
            <a:r>
              <a:rPr lang="en-US" altLang="ko-KR" sz="2000" b="1" dirty="0" smtClean="0"/>
              <a:t>(a, b): </a:t>
            </a:r>
          </a:p>
          <a:p>
            <a:r>
              <a:rPr lang="en-US" altLang="ko-KR" sz="2000" b="1" dirty="0" smtClean="0"/>
              <a:t>    if type(a) != type(b): </a:t>
            </a:r>
          </a:p>
          <a:p>
            <a:r>
              <a:rPr lang="en-US" altLang="ko-KR" sz="2000" b="1" dirty="0" smtClean="0"/>
              <a:t>        print("</a:t>
            </a:r>
            <a:r>
              <a:rPr lang="ko-KR" altLang="en-US" sz="2000" b="1" dirty="0" err="1" smtClean="0"/>
              <a:t>더할수</a:t>
            </a:r>
            <a:r>
              <a:rPr lang="ko-KR" altLang="en-US" sz="2000" b="1" dirty="0" smtClean="0"/>
              <a:t> 있는 것이 아닙니다</a:t>
            </a:r>
            <a:r>
              <a:rPr lang="en-US" altLang="ko-KR" sz="2000" b="1" dirty="0" smtClean="0"/>
              <a:t>.")</a:t>
            </a:r>
          </a:p>
          <a:p>
            <a:r>
              <a:rPr lang="en-US" altLang="ko-KR" sz="2000" b="1" dirty="0" smtClean="0"/>
              <a:t>        return </a:t>
            </a:r>
          </a:p>
          <a:p>
            <a:r>
              <a:rPr lang="en-US" altLang="ko-KR" sz="2000" b="1" dirty="0" smtClean="0"/>
              <a:t>    else: </a:t>
            </a:r>
          </a:p>
          <a:p>
            <a:r>
              <a:rPr lang="en-US" altLang="ko-KR" sz="2000" b="1" dirty="0" smtClean="0"/>
              <a:t>        result = sum(a, b) </a:t>
            </a:r>
          </a:p>
          <a:p>
            <a:r>
              <a:rPr lang="en-US" altLang="ko-KR" sz="2000" b="1" dirty="0" smtClean="0"/>
              <a:t>    return result 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if __name__ == "__main__":                 #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최상위 모듈에서만 실행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r>
              <a:rPr lang="en-US" altLang="ko-KR" sz="2000" b="1" dirty="0" smtClean="0"/>
              <a:t>	print(safe_sum('a', 1))            </a:t>
            </a:r>
          </a:p>
          <a:p>
            <a:r>
              <a:rPr lang="en-US" altLang="ko-KR" sz="2000" b="1" dirty="0" smtClean="0"/>
              <a:t>	print(</a:t>
            </a:r>
            <a:r>
              <a:rPr lang="en-US" altLang="ko-KR" sz="2000" b="1" dirty="0" err="1" smtClean="0"/>
              <a:t>safe_sum</a:t>
            </a:r>
            <a:r>
              <a:rPr lang="en-US" altLang="ko-KR" sz="2000" b="1" dirty="0" smtClean="0"/>
              <a:t>(1, 4))</a:t>
            </a:r>
          </a:p>
          <a:p>
            <a:r>
              <a:rPr lang="en-US" altLang="ko-KR" sz="2000" b="1" dirty="0" smtClean="0"/>
              <a:t>	print(sum(10, 10.4))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957248" y="1181500"/>
            <a:ext cx="2640841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rgbClr val="0000FF"/>
                </a:solidFill>
              </a:rPr>
              <a:t># test.py</a:t>
            </a:r>
          </a:p>
          <a:p>
            <a:r>
              <a:rPr lang="en-US" altLang="ko-KR" sz="2800" b="1" dirty="0" smtClean="0">
                <a:solidFill>
                  <a:srgbClr val="0000FF"/>
                </a:solidFill>
              </a:rPr>
              <a:t>import mod1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if __name__==“__main__” :  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18363" y="1041285"/>
            <a:ext cx="6332562" cy="47089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# mod1.py </a:t>
            </a:r>
          </a:p>
          <a:p>
            <a:r>
              <a:rPr lang="en-US" altLang="ko-KR" sz="2000" b="1" dirty="0" smtClean="0"/>
              <a:t>def sum(a, b): </a:t>
            </a:r>
          </a:p>
          <a:p>
            <a:r>
              <a:rPr lang="en-US" altLang="ko-KR" sz="2000" b="1" dirty="0" smtClean="0"/>
              <a:t>    return </a:t>
            </a:r>
            <a:r>
              <a:rPr lang="en-US" altLang="ko-KR" sz="2000" b="1" dirty="0" err="1" smtClean="0"/>
              <a:t>a+b</a:t>
            </a:r>
            <a:endParaRPr lang="en-US" altLang="ko-KR" sz="2000" b="1" dirty="0" smtClean="0"/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def </a:t>
            </a:r>
            <a:r>
              <a:rPr lang="en-US" altLang="ko-KR" sz="2000" b="1" dirty="0" err="1" smtClean="0"/>
              <a:t>safe_sum</a:t>
            </a:r>
            <a:r>
              <a:rPr lang="en-US" altLang="ko-KR" sz="2000" b="1" dirty="0" smtClean="0"/>
              <a:t>(a, b): </a:t>
            </a:r>
          </a:p>
          <a:p>
            <a:r>
              <a:rPr lang="en-US" altLang="ko-KR" sz="2000" b="1" dirty="0" smtClean="0"/>
              <a:t>    if type(a) != type(b): </a:t>
            </a:r>
          </a:p>
          <a:p>
            <a:r>
              <a:rPr lang="en-US" altLang="ko-KR" sz="2000" b="1" dirty="0" smtClean="0"/>
              <a:t>        print("</a:t>
            </a:r>
            <a:r>
              <a:rPr lang="ko-KR" altLang="en-US" sz="2000" b="1" dirty="0" err="1" smtClean="0"/>
              <a:t>더할수</a:t>
            </a:r>
            <a:r>
              <a:rPr lang="ko-KR" altLang="en-US" sz="2000" b="1" dirty="0" smtClean="0"/>
              <a:t> 있는 것이 아닙니다</a:t>
            </a:r>
            <a:r>
              <a:rPr lang="en-US" altLang="ko-KR" sz="2000" b="1" dirty="0" smtClean="0"/>
              <a:t>.")</a:t>
            </a:r>
          </a:p>
          <a:p>
            <a:r>
              <a:rPr lang="en-US" altLang="ko-KR" sz="2000" b="1" dirty="0" smtClean="0"/>
              <a:t>        return </a:t>
            </a:r>
          </a:p>
          <a:p>
            <a:r>
              <a:rPr lang="en-US" altLang="ko-KR" sz="2000" b="1" dirty="0" smtClean="0"/>
              <a:t>    else: </a:t>
            </a:r>
          </a:p>
          <a:p>
            <a:r>
              <a:rPr lang="en-US" altLang="ko-KR" sz="2000" b="1" dirty="0" smtClean="0"/>
              <a:t>        result = sum(a, b) </a:t>
            </a:r>
          </a:p>
          <a:p>
            <a:r>
              <a:rPr lang="en-US" altLang="ko-KR" sz="2000" b="1" dirty="0" smtClean="0"/>
              <a:t>    return result 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print(</a:t>
            </a:r>
            <a:r>
              <a:rPr lang="en-US" altLang="ko-KR" sz="2000" b="1" dirty="0" err="1" smtClean="0"/>
              <a:t>safe_sum</a:t>
            </a:r>
            <a:r>
              <a:rPr lang="en-US" altLang="ko-KR" sz="2000" b="1" dirty="0" smtClean="0"/>
              <a:t>('a', 1))</a:t>
            </a:r>
          </a:p>
          <a:p>
            <a:r>
              <a:rPr lang="en-US" altLang="ko-KR" sz="2000" b="1" dirty="0" smtClean="0"/>
              <a:t>print(</a:t>
            </a:r>
            <a:r>
              <a:rPr lang="en-US" altLang="ko-KR" sz="2000" b="1" dirty="0" err="1" smtClean="0"/>
              <a:t>safe_sum</a:t>
            </a:r>
            <a:r>
              <a:rPr lang="en-US" altLang="ko-KR" sz="2000" b="1" dirty="0" smtClean="0"/>
              <a:t>(1, 4))</a:t>
            </a:r>
          </a:p>
          <a:p>
            <a:r>
              <a:rPr lang="en-US" altLang="ko-KR" sz="2000" b="1" dirty="0" smtClean="0"/>
              <a:t>print(sum(10, 10.4))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274859" y="1293517"/>
            <a:ext cx="2654489" cy="954107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 smtClean="0">
                <a:solidFill>
                  <a:srgbClr val="0000FF"/>
                </a:solidFill>
              </a:rPr>
              <a:t>#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사용자 파일 작성</a:t>
            </a:r>
            <a:endParaRPr lang="en-US" altLang="ko-KR" sz="1600" b="1" dirty="0" smtClean="0">
              <a:solidFill>
                <a:srgbClr val="0000FF"/>
              </a:solidFill>
            </a:endParaRP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# test.py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import mod1     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2834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if __name__==“__main__” :  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18363" y="1038451"/>
            <a:ext cx="6332562" cy="47089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# mod2.py </a:t>
            </a:r>
          </a:p>
          <a:p>
            <a:r>
              <a:rPr lang="en-US" altLang="ko-KR" sz="2000" b="1" dirty="0" smtClean="0"/>
              <a:t>PI = 3.141592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class Math: </a:t>
            </a:r>
          </a:p>
          <a:p>
            <a:r>
              <a:rPr lang="en-US" altLang="ko-KR" sz="2000" b="1" dirty="0" smtClean="0"/>
              <a:t>    def </a:t>
            </a:r>
            <a:r>
              <a:rPr lang="en-US" altLang="ko-KR" sz="2000" b="1" dirty="0" err="1" smtClean="0"/>
              <a:t>solv</a:t>
            </a:r>
            <a:r>
              <a:rPr lang="en-US" altLang="ko-KR" sz="2000" b="1" dirty="0" smtClean="0"/>
              <a:t>(self, r): </a:t>
            </a:r>
          </a:p>
          <a:p>
            <a:r>
              <a:rPr lang="en-US" altLang="ko-KR" sz="2000" b="1" dirty="0" smtClean="0"/>
              <a:t>        return PI * (r ** 2) 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def sum(a, b): </a:t>
            </a:r>
          </a:p>
          <a:p>
            <a:r>
              <a:rPr lang="en-US" altLang="ko-KR" sz="2000" b="1" dirty="0" smtClean="0"/>
              <a:t>    return </a:t>
            </a:r>
            <a:r>
              <a:rPr lang="en-US" altLang="ko-KR" sz="2000" b="1" dirty="0" err="1" smtClean="0"/>
              <a:t>a+b</a:t>
            </a:r>
            <a:r>
              <a:rPr lang="en-US" altLang="ko-KR" sz="2000" b="1" dirty="0" smtClean="0"/>
              <a:t> 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if __name__ == "__main__": </a:t>
            </a:r>
          </a:p>
          <a:p>
            <a:r>
              <a:rPr lang="en-US" altLang="ko-KR" sz="2000" b="1" dirty="0" smtClean="0"/>
              <a:t>    print(PI)</a:t>
            </a:r>
          </a:p>
          <a:p>
            <a:r>
              <a:rPr lang="en-US" altLang="ko-KR" sz="2000" b="1" dirty="0" smtClean="0"/>
              <a:t>    a = Math() </a:t>
            </a:r>
          </a:p>
          <a:p>
            <a:r>
              <a:rPr lang="en-US" altLang="ko-KR" sz="2000" b="1" dirty="0" smtClean="0"/>
              <a:t>    print(</a:t>
            </a:r>
            <a:r>
              <a:rPr lang="en-US" altLang="ko-KR" sz="2000" b="1" dirty="0" err="1" smtClean="0"/>
              <a:t>a.solv</a:t>
            </a:r>
            <a:r>
              <a:rPr lang="en-US" altLang="ko-KR" sz="2000" b="1" dirty="0" smtClean="0"/>
              <a:t>(2)) </a:t>
            </a:r>
          </a:p>
          <a:p>
            <a:r>
              <a:rPr lang="en-US" altLang="ko-KR" sz="2000" b="1" dirty="0" smtClean="0"/>
              <a:t>    print(sum(PI , 4.4))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892722" y="1356900"/>
            <a:ext cx="2531660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FF"/>
                </a:solidFill>
              </a:rPr>
              <a:t># test.py</a:t>
            </a:r>
          </a:p>
          <a:p>
            <a:r>
              <a:rPr lang="en-US" altLang="ko-KR" sz="2400" b="1" dirty="0" smtClean="0">
                <a:solidFill>
                  <a:srgbClr val="0000FF"/>
                </a:solidFill>
              </a:rPr>
              <a:t>import mod2</a:t>
            </a:r>
          </a:p>
          <a:p>
            <a:r>
              <a:rPr lang="en-US" altLang="ko-KR" sz="2400" b="1" dirty="0" smtClean="0">
                <a:solidFill>
                  <a:srgbClr val="0000FF"/>
                </a:solidFill>
              </a:rPr>
              <a:t>print(mod2.PI)</a:t>
            </a:r>
          </a:p>
          <a:p>
            <a:r>
              <a:rPr lang="en-US" altLang="ko-KR" sz="2400" b="1" dirty="0" smtClean="0">
                <a:solidFill>
                  <a:srgbClr val="0000FF"/>
                </a:solidFill>
              </a:rPr>
              <a:t>a=mod2.Math()</a:t>
            </a:r>
          </a:p>
          <a:p>
            <a:r>
              <a:rPr lang="en-US" altLang="ko-KR" sz="2400" b="1" dirty="0" smtClean="0">
                <a:solidFill>
                  <a:srgbClr val="0000FF"/>
                </a:solidFill>
              </a:rPr>
              <a:t>print(</a:t>
            </a:r>
            <a:r>
              <a:rPr lang="en-US" altLang="ko-KR" sz="2400" b="1" dirty="0" err="1" smtClean="0">
                <a:solidFill>
                  <a:srgbClr val="0000FF"/>
                </a:solidFill>
              </a:rPr>
              <a:t>a.solv</a:t>
            </a:r>
            <a:r>
              <a:rPr lang="en-US" altLang="ko-KR" sz="2400" b="1" dirty="0" smtClean="0">
                <a:solidFill>
                  <a:srgbClr val="0000FF"/>
                </a:solidFill>
              </a:rPr>
              <a:t>(2))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모듈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클래스나 변수 등을 포함한 모듈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218363" y="1038451"/>
            <a:ext cx="6332562" cy="52629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FF"/>
                </a:solidFill>
              </a:rPr>
              <a:t>game/</a:t>
            </a:r>
            <a:r>
              <a:rPr lang="en-US" altLang="ko-KR" sz="2400" b="1" dirty="0" smtClean="0"/>
              <a:t> </a:t>
            </a:r>
          </a:p>
          <a:p>
            <a:r>
              <a:rPr lang="en-US" altLang="ko-KR" sz="2400" b="1" dirty="0" smtClean="0"/>
              <a:t>	__</a:t>
            </a:r>
            <a:r>
              <a:rPr lang="en-US" altLang="ko-KR" sz="2400" b="1" dirty="0" err="1" smtClean="0"/>
              <a:t>init__.py</a:t>
            </a:r>
            <a:r>
              <a:rPr lang="en-US" altLang="ko-KR" sz="2400" b="1" dirty="0" smtClean="0"/>
              <a:t> </a:t>
            </a:r>
          </a:p>
          <a:p>
            <a:r>
              <a:rPr lang="en-US" altLang="ko-KR" sz="2400" b="1" dirty="0" smtClean="0"/>
              <a:t>	</a:t>
            </a:r>
            <a:r>
              <a:rPr lang="en-US" altLang="ko-KR" sz="2400" b="1" dirty="0" smtClean="0">
                <a:solidFill>
                  <a:srgbClr val="0000FF"/>
                </a:solidFill>
              </a:rPr>
              <a:t>sound/</a:t>
            </a:r>
          </a:p>
          <a:p>
            <a:r>
              <a:rPr lang="en-US" altLang="ko-KR" sz="2400" b="1" dirty="0" smtClean="0"/>
              <a:t>		 __</a:t>
            </a:r>
            <a:r>
              <a:rPr lang="en-US" altLang="ko-KR" sz="2400" b="1" dirty="0" err="1" smtClean="0"/>
              <a:t>init__.py</a:t>
            </a:r>
            <a:r>
              <a:rPr lang="en-US" altLang="ko-KR" sz="2400" b="1" dirty="0" smtClean="0"/>
              <a:t> </a:t>
            </a:r>
          </a:p>
          <a:p>
            <a:r>
              <a:rPr lang="en-US" altLang="ko-KR" sz="2400" b="1" dirty="0" smtClean="0"/>
              <a:t>		echo.py </a:t>
            </a:r>
          </a:p>
          <a:p>
            <a:r>
              <a:rPr lang="en-US" altLang="ko-KR" sz="2400" b="1" dirty="0" smtClean="0"/>
              <a:t>		wav.py </a:t>
            </a:r>
          </a:p>
          <a:p>
            <a:r>
              <a:rPr lang="en-US" altLang="ko-KR" sz="2400" b="1" dirty="0" smtClean="0"/>
              <a:t>	</a:t>
            </a:r>
            <a:r>
              <a:rPr lang="en-US" altLang="ko-KR" sz="2400" b="1" dirty="0" smtClean="0">
                <a:solidFill>
                  <a:srgbClr val="0000FF"/>
                </a:solidFill>
              </a:rPr>
              <a:t>graphic/</a:t>
            </a:r>
          </a:p>
          <a:p>
            <a:r>
              <a:rPr lang="en-US" altLang="ko-KR" sz="2400" b="1" dirty="0" smtClean="0"/>
              <a:t>		 __</a:t>
            </a:r>
            <a:r>
              <a:rPr lang="en-US" altLang="ko-KR" sz="2400" b="1" dirty="0" err="1" smtClean="0"/>
              <a:t>init__.py</a:t>
            </a:r>
            <a:r>
              <a:rPr lang="en-US" altLang="ko-KR" sz="2400" b="1" dirty="0" smtClean="0"/>
              <a:t> </a:t>
            </a:r>
          </a:p>
          <a:p>
            <a:r>
              <a:rPr lang="en-US" altLang="ko-KR" sz="2400" b="1" dirty="0" smtClean="0"/>
              <a:t>		screen.py </a:t>
            </a:r>
          </a:p>
          <a:p>
            <a:r>
              <a:rPr lang="en-US" altLang="ko-KR" sz="2400" b="1" dirty="0" smtClean="0"/>
              <a:t>		render.py </a:t>
            </a:r>
          </a:p>
          <a:p>
            <a:r>
              <a:rPr lang="en-US" altLang="ko-KR" sz="2400" b="1" dirty="0" smtClean="0"/>
              <a:t>	</a:t>
            </a:r>
            <a:r>
              <a:rPr lang="en-US" altLang="ko-KR" sz="2400" b="1" dirty="0" smtClean="0">
                <a:solidFill>
                  <a:srgbClr val="0000FF"/>
                </a:solidFill>
              </a:rPr>
              <a:t>play/ </a:t>
            </a:r>
          </a:p>
          <a:p>
            <a:r>
              <a:rPr lang="en-US" altLang="ko-KR" sz="2400" b="1" dirty="0" smtClean="0"/>
              <a:t>		__</a:t>
            </a:r>
            <a:r>
              <a:rPr lang="en-US" altLang="ko-KR" sz="2400" b="1" dirty="0" err="1" smtClean="0"/>
              <a:t>init__.py</a:t>
            </a:r>
            <a:r>
              <a:rPr lang="en-US" altLang="ko-KR" sz="2400" b="1" dirty="0" smtClean="0"/>
              <a:t> </a:t>
            </a:r>
          </a:p>
          <a:p>
            <a:r>
              <a:rPr lang="en-US" altLang="ko-KR" sz="2400" b="1" dirty="0" smtClean="0"/>
              <a:t>		run.py </a:t>
            </a:r>
          </a:p>
          <a:p>
            <a:r>
              <a:rPr lang="en-US" altLang="ko-KR" sz="2400" b="1" dirty="0" smtClean="0"/>
              <a:t>		test.py </a:t>
            </a:r>
          </a:p>
        </p:txBody>
      </p:sp>
      <p:sp>
        <p:nvSpPr>
          <p:cNvPr id="4" name="TextBox 5"/>
          <p:cNvSpPr txBox="1"/>
          <p:nvPr/>
        </p:nvSpPr>
        <p:spPr>
          <a:xfrm>
            <a:off x="4872250" y="1078173"/>
            <a:ext cx="3886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b="1" dirty="0" smtClean="0"/>
              <a:t> </a:t>
            </a:r>
            <a:r>
              <a:rPr lang="ko-KR" altLang="en-US" b="1" dirty="0" smtClean="0"/>
              <a:t>패키지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모듈을 모아 놓은 단위</a:t>
            </a:r>
            <a:r>
              <a:rPr lang="en-US" altLang="ko-KR" b="1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ko-KR" altLang="en-US" b="1" dirty="0" smtClean="0"/>
              <a:t>공동작업이나 유지보수 면에서 편리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패키지 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파이썬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모듈을 계층적으로 관리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7545" y="1469287"/>
            <a:ext cx="8273091" cy="2268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en-US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Consolas" pitchFamily="49" charset="0"/>
              </a:rPr>
              <a:t> </a:t>
            </a:r>
            <a:r>
              <a:rPr kumimoji="1" lang="ko-KR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Consolas" pitchFamily="49" charset="0"/>
              </a:rPr>
              <a:t>해당 </a:t>
            </a:r>
            <a:r>
              <a:rPr kumimoji="1" lang="ko-KR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Consolas" pitchFamily="49" charset="0"/>
              </a:rPr>
              <a:t>디렉토리가</a:t>
            </a:r>
            <a:r>
              <a:rPr kumimoji="1" lang="ko-KR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Consolas" pitchFamily="49" charset="0"/>
              </a:rPr>
              <a:t> 패키지의 일부임을 알려주는 역할</a:t>
            </a:r>
            <a:endParaRPr kumimoji="1" lang="en-US" altLang="ko-KR" sz="20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  <a:cs typeface="Consolas" pitchFamily="49" charset="0"/>
            </a:endParaRPr>
          </a:p>
          <a:p>
            <a:pPr marL="0" marR="0" lvl="0" indent="0" algn="l" defTabSz="914400" rtl="0" eaLnBrk="1" fontAlgn="base" latinLnBrk="1" hangingPunct="1"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 game, sound, graphic </a:t>
            </a:r>
            <a:r>
              <a:rPr kumimoji="1" lang="ko-KR" altLang="en-US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등 패키지에 포함된 </a:t>
            </a:r>
            <a:r>
              <a:rPr kumimoji="1" lang="ko-KR" altLang="en-US" sz="2000" b="1" dirty="0" err="1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디렉토리에</a:t>
            </a:r>
            <a:r>
              <a:rPr kumimoji="1" lang="ko-KR" altLang="en-US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 </a:t>
            </a:r>
            <a: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__</a:t>
            </a:r>
            <a:r>
              <a:rPr kumimoji="1" lang="en-US" altLang="ko-KR" sz="2000" b="1" dirty="0" err="1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init__.py</a:t>
            </a:r>
            <a: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 </a:t>
            </a:r>
            <a:r>
              <a:rPr kumimoji="1" lang="ko-KR" altLang="en-US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가 </a:t>
            </a:r>
            <a: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/>
            </a:r>
            <a:b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</a:br>
            <a: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  </a:t>
            </a:r>
            <a:r>
              <a:rPr kumimoji="1" lang="ko-KR" altLang="en-US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없다면 패키지로 인식되지 않는다</a:t>
            </a:r>
            <a: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en-US" altLang="ko-KR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Consolas" pitchFamily="49" charset="0"/>
              </a:rPr>
              <a:t> </a:t>
            </a:r>
            <a:r>
              <a:rPr kumimoji="1" lang="en-US" altLang="ko-KR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python3.3 </a:t>
            </a:r>
            <a:r>
              <a:rPr kumimoji="1" lang="ko-KR" altLang="en-US" sz="2000" b="1" dirty="0" smtClean="0">
                <a:solidFill>
                  <a:srgbClr val="000000"/>
                </a:solidFill>
                <a:latin typeface="+mn-ea"/>
                <a:cs typeface="Consolas" pitchFamily="49" charset="0"/>
              </a:rPr>
              <a:t>버전부터는 인식됨</a:t>
            </a:r>
            <a:endParaRPr kumimoji="1" lang="ko-KR" altLang="ko-KR" sz="4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패키지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__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init__.py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용도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8488" y="899127"/>
            <a:ext cx="4948847" cy="2180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smtClean="0"/>
              <a:t>&gt;&gt;&gt; from </a:t>
            </a:r>
            <a:r>
              <a:rPr lang="en-US" altLang="ko-KR" sz="2400" b="1" dirty="0" err="1" smtClean="0"/>
              <a:t>game.sound</a:t>
            </a:r>
            <a:r>
              <a:rPr lang="en-US" altLang="ko-KR" sz="2400" b="1" dirty="0" smtClean="0"/>
              <a:t> import * </a:t>
            </a:r>
          </a:p>
          <a:p>
            <a:pPr lvl="0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smtClean="0"/>
              <a:t>&gt;&gt;&gt; </a:t>
            </a:r>
            <a:r>
              <a:rPr lang="en-US" altLang="ko-KR" sz="2400" b="1" dirty="0" err="1" smtClean="0"/>
              <a:t>echo.echo_test</a:t>
            </a:r>
            <a:r>
              <a:rPr lang="en-US" altLang="ko-KR" sz="2400" b="1" dirty="0" smtClean="0"/>
              <a:t>() </a:t>
            </a:r>
          </a:p>
          <a:p>
            <a:pPr lvl="0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 smtClean="0"/>
              <a:t>Traceback</a:t>
            </a:r>
            <a:r>
              <a:rPr lang="en-US" altLang="ko-KR" sz="2400" b="1" dirty="0" smtClean="0"/>
              <a:t> (most recent call last): </a:t>
            </a:r>
          </a:p>
          <a:p>
            <a:pPr lvl="0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smtClean="0"/>
              <a:t>     File "&lt;</a:t>
            </a:r>
            <a:r>
              <a:rPr lang="en-US" altLang="ko-KR" sz="2400" b="1" dirty="0" err="1" smtClean="0"/>
              <a:t>stdin</a:t>
            </a:r>
            <a:r>
              <a:rPr lang="en-US" altLang="ko-KR" sz="2400" b="1" dirty="0" smtClean="0"/>
              <a:t>&gt;", line 1, in &lt;module&gt; </a:t>
            </a:r>
          </a:p>
          <a:p>
            <a:pPr lvl="0" fontAlgn="base">
              <a:lnSpc>
                <a:spcPts val="3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err="1" smtClean="0">
                <a:solidFill>
                  <a:srgbClr val="C00000"/>
                </a:solidFill>
              </a:rPr>
              <a:t>NameError</a:t>
            </a:r>
            <a:r>
              <a:rPr lang="en-US" altLang="ko-KR" sz="2400" b="1" dirty="0" smtClean="0">
                <a:solidFill>
                  <a:srgbClr val="C00000"/>
                </a:solidFill>
              </a:rPr>
              <a:t>: name 'echo' is not defined</a:t>
            </a:r>
            <a:endParaRPr kumimoji="1" lang="ko-KR" altLang="ko-KR" sz="5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354842" y="3125339"/>
            <a:ext cx="8417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특정 </a:t>
            </a:r>
            <a:r>
              <a:rPr lang="ko-KR" altLang="en-US" sz="2000" b="1" dirty="0" err="1" smtClean="0"/>
              <a:t>디렉토리</a:t>
            </a:r>
            <a:r>
              <a:rPr lang="ko-KR" altLang="en-US" sz="2000" b="1" dirty="0" smtClean="0"/>
              <a:t> 모듈을 </a:t>
            </a:r>
            <a:r>
              <a:rPr lang="en-US" altLang="ko-KR" sz="2000" b="1" dirty="0" smtClean="0"/>
              <a:t>*</a:t>
            </a:r>
            <a:r>
              <a:rPr lang="ko-KR" altLang="en-US" sz="2000" b="1" dirty="0" smtClean="0"/>
              <a:t>을 이용하여 </a:t>
            </a:r>
            <a:r>
              <a:rPr lang="en-US" altLang="ko-KR" sz="2000" b="1" dirty="0" smtClean="0"/>
              <a:t>import</a:t>
            </a:r>
            <a:r>
              <a:rPr lang="ko-KR" altLang="en-US" sz="2000" b="1" dirty="0" smtClean="0"/>
              <a:t>할 때 </a:t>
            </a:r>
            <a:endParaRPr lang="en-US" altLang="ko-KR" sz="2000" b="1" dirty="0" smtClean="0"/>
          </a:p>
          <a:p>
            <a:r>
              <a:rPr lang="en-US" altLang="ko-KR" sz="2000" b="1" dirty="0" smtClean="0"/>
              <a:t>  </a:t>
            </a:r>
            <a:r>
              <a:rPr lang="ko-KR" altLang="en-US" sz="2000" b="1" dirty="0" smtClean="0"/>
              <a:t>해당 </a:t>
            </a:r>
            <a:r>
              <a:rPr lang="ko-KR" altLang="en-US" sz="2000" b="1" dirty="0" err="1" smtClean="0"/>
              <a:t>디렉토리의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__</a:t>
            </a:r>
            <a:r>
              <a:rPr lang="en-US" altLang="ko-KR" sz="2000" b="1" dirty="0" err="1" smtClean="0"/>
              <a:t>init__.py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파일에  </a:t>
            </a:r>
            <a:r>
              <a:rPr lang="en-US" altLang="ko-KR" sz="2000" b="1" dirty="0" smtClean="0"/>
              <a:t>__all__ </a:t>
            </a:r>
            <a:r>
              <a:rPr lang="ko-KR" altLang="en-US" sz="2000" b="1" dirty="0" smtClean="0"/>
              <a:t>이라는 변수를 설정하여야 함</a:t>
            </a:r>
            <a:endParaRPr lang="ko-KR" altLang="en-US" sz="2000" b="1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45910" y="3980897"/>
            <a:ext cx="597278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Menlo"/>
                <a:cs typeface="Consolas" pitchFamily="49" charset="0"/>
              </a:rPr>
              <a:t># C:/Python/game/sound/__init__.py </a:t>
            </a:r>
            <a:endParaRPr kumimoji="1" lang="en-US" altLang="ko-KR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ea typeface="Menlo"/>
              <a:cs typeface="Consolas" pitchFamily="49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Menlo"/>
                <a:cs typeface="Consolas" pitchFamily="49" charset="0"/>
              </a:rPr>
              <a:t>__all__ = ['echo'] </a:t>
            </a:r>
            <a:endParaRPr kumimoji="1" lang="ko-KR" altLang="ko-KR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98143" y="4907336"/>
            <a:ext cx="5588758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2400" b="1" dirty="0" smtClean="0">
                <a:solidFill>
                  <a:srgbClr val="0000FF"/>
                </a:solidFill>
                <a:latin typeface="Consolas" pitchFamily="49" charset="0"/>
                <a:ea typeface="Menlo"/>
                <a:cs typeface="Consolas" pitchFamily="49" charset="0"/>
              </a:rPr>
              <a:t>&gt;&gt;&gt; from game.sound import * </a:t>
            </a:r>
            <a:endParaRPr kumimoji="1" lang="en-US" altLang="ko-KR" sz="2400" b="1" dirty="0" smtClean="0">
              <a:solidFill>
                <a:srgbClr val="0000FF"/>
              </a:solidFill>
              <a:latin typeface="Consolas" pitchFamily="49" charset="0"/>
              <a:ea typeface="Menlo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2400" b="1" dirty="0" smtClean="0">
                <a:solidFill>
                  <a:srgbClr val="0000FF"/>
                </a:solidFill>
                <a:latin typeface="Consolas" pitchFamily="49" charset="0"/>
                <a:ea typeface="Menlo"/>
                <a:cs typeface="Consolas" pitchFamily="49" charset="0"/>
              </a:rPr>
              <a:t>&gt;&gt;&gt; echo.echo_test() </a:t>
            </a:r>
            <a:endParaRPr kumimoji="1" lang="en-US" altLang="ko-KR" sz="2400" b="1" dirty="0" smtClean="0">
              <a:solidFill>
                <a:srgbClr val="0000FF"/>
              </a:solidFill>
              <a:latin typeface="Consolas" pitchFamily="49" charset="0"/>
              <a:ea typeface="Menlo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2400" b="1" dirty="0" smtClean="0">
                <a:solidFill>
                  <a:srgbClr val="0000FF"/>
                </a:solidFill>
                <a:latin typeface="Consolas" pitchFamily="49" charset="0"/>
                <a:ea typeface="Menlo"/>
                <a:cs typeface="Consolas" pitchFamily="49" charset="0"/>
              </a:rPr>
              <a:t>echo </a:t>
            </a:r>
            <a:endParaRPr kumimoji="1" lang="ko-KR" altLang="ko-KR" sz="5400" b="1" dirty="0" smtClean="0">
              <a:solidFill>
                <a:srgbClr val="0000FF"/>
              </a:solidFill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패키지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__all__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변수의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용도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23" name="직사각형 22"/>
          <p:cNvSpPr/>
          <p:nvPr/>
        </p:nvSpPr>
        <p:spPr>
          <a:xfrm>
            <a:off x="689212" y="1120844"/>
            <a:ext cx="7322023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try:</a:t>
            </a:r>
          </a:p>
          <a:p>
            <a:r>
              <a:rPr lang="en-US" altLang="ko-KR" sz="2400" b="1" dirty="0" smtClean="0"/>
              <a:t>      ……</a:t>
            </a:r>
          </a:p>
          <a:p>
            <a:r>
              <a:rPr lang="en-US" altLang="ko-KR" sz="2400" b="1" dirty="0" smtClean="0"/>
              <a:t>except[</a:t>
            </a:r>
            <a:r>
              <a:rPr lang="ko-KR" altLang="en-US" sz="2400" b="1" dirty="0" smtClean="0"/>
              <a:t>발생오류</a:t>
            </a:r>
            <a:r>
              <a:rPr lang="en-US" altLang="ko-KR" sz="2400" b="1" dirty="0" smtClean="0"/>
              <a:t>[as </a:t>
            </a:r>
            <a:r>
              <a:rPr lang="ko-KR" altLang="en-US" sz="2400" b="1" dirty="0" smtClean="0"/>
              <a:t>오류 메시지 변수</a:t>
            </a:r>
            <a:r>
              <a:rPr lang="en-US" altLang="ko-KR" sz="2400" b="1" dirty="0" smtClean="0"/>
              <a:t>]]:</a:t>
            </a:r>
          </a:p>
          <a:p>
            <a:r>
              <a:rPr lang="en-US" altLang="ko-KR" sz="2400" b="1" dirty="0" smtClean="0"/>
              <a:t>      ……</a:t>
            </a:r>
            <a:endParaRPr lang="ko-KR" altLang="en-US" sz="2400" b="1" dirty="0"/>
          </a:p>
        </p:txBody>
      </p:sp>
      <p:sp>
        <p:nvSpPr>
          <p:cNvPr id="24" name="TextBox 9"/>
          <p:cNvSpPr txBox="1"/>
          <p:nvPr/>
        </p:nvSpPr>
        <p:spPr>
          <a:xfrm>
            <a:off x="491319" y="2784143"/>
            <a:ext cx="7952626" cy="8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</a:rPr>
              <a:t> try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블록 수행 중 오류가 발생하면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except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블록 수행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</a:rPr>
              <a:t> try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블록에서 오류가 발생하지 않는다면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except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블록은 수행되지 않음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오류 예외 처리 기법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try, except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566382" y="1571217"/>
            <a:ext cx="7322023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try:</a:t>
            </a:r>
          </a:p>
          <a:p>
            <a:r>
              <a:rPr lang="en-US" altLang="ko-KR" sz="2400" b="1" dirty="0" smtClean="0"/>
              <a:t>      ……</a:t>
            </a:r>
          </a:p>
          <a:p>
            <a:r>
              <a:rPr lang="en-US" altLang="ko-KR" sz="2400" b="1" dirty="0" smtClean="0"/>
              <a:t>except:</a:t>
            </a:r>
          </a:p>
          <a:p>
            <a:r>
              <a:rPr lang="en-US" altLang="ko-KR" sz="2400" b="1" dirty="0" smtClean="0"/>
              <a:t>      ……</a:t>
            </a:r>
            <a:endParaRPr lang="ko-KR" altLang="en-US" sz="2400" b="1" dirty="0"/>
          </a:p>
        </p:txBody>
      </p:sp>
      <p:sp>
        <p:nvSpPr>
          <p:cNvPr id="4" name="TextBox 9"/>
          <p:cNvSpPr txBox="1"/>
          <p:nvPr/>
        </p:nvSpPr>
        <p:spPr>
          <a:xfrm>
            <a:off x="382137" y="1078170"/>
            <a:ext cx="2270493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</a:rPr>
              <a:t> try, except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만 사용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98644" y="3298421"/>
            <a:ext cx="7362968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while True:</a:t>
            </a:r>
          </a:p>
          <a:p>
            <a:r>
              <a:rPr lang="en-US" altLang="ko-KR" sz="2400" b="1" dirty="0" smtClean="0"/>
              <a:t>	try:</a:t>
            </a:r>
          </a:p>
          <a:p>
            <a:r>
              <a:rPr lang="en-US" altLang="ko-KR" sz="2400" b="1" dirty="0" smtClean="0"/>
              <a:t>		number=</a:t>
            </a:r>
            <a:r>
              <a:rPr lang="en-US" altLang="ko-KR" sz="2400" b="1" dirty="0" err="1" smtClean="0"/>
              <a:t>int</a:t>
            </a:r>
            <a:r>
              <a:rPr lang="en-US" altLang="ko-KR" sz="2400" b="1" dirty="0" smtClean="0"/>
              <a:t>(input("Enter Integer : "))</a:t>
            </a:r>
          </a:p>
          <a:p>
            <a:r>
              <a:rPr lang="en-US" altLang="ko-KR" sz="2400" b="1" dirty="0" smtClean="0"/>
              <a:t>		print(number)</a:t>
            </a:r>
          </a:p>
          <a:p>
            <a:r>
              <a:rPr lang="en-US" altLang="ko-KR" sz="2400" b="1" dirty="0" smtClean="0"/>
              <a:t>	except:</a:t>
            </a:r>
          </a:p>
          <a:p>
            <a:r>
              <a:rPr lang="en-US" altLang="ko-KR" sz="2400" b="1" dirty="0" smtClean="0"/>
              <a:t>		print("except")</a:t>
            </a:r>
          </a:p>
          <a:p>
            <a:r>
              <a:rPr lang="en-US" altLang="ko-KR" sz="2400" b="1" dirty="0" smtClean="0"/>
              <a:t>		break</a:t>
            </a:r>
            <a:endParaRPr lang="ko-KR" altLang="en-US" sz="2400" b="1" dirty="0"/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오류 예외 처리 기법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try, except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648269" y="2431026"/>
            <a:ext cx="7322023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try:</a:t>
            </a:r>
          </a:p>
          <a:p>
            <a:r>
              <a:rPr lang="en-US" altLang="ko-KR" sz="2400" b="1" dirty="0" smtClean="0"/>
              <a:t>      ……</a:t>
            </a:r>
          </a:p>
          <a:p>
            <a:r>
              <a:rPr lang="en-US" altLang="ko-KR" sz="2400" b="1" dirty="0" smtClean="0"/>
              <a:t>except </a:t>
            </a:r>
            <a:r>
              <a:rPr lang="ko-KR" altLang="en-US" sz="2400" b="1" dirty="0" smtClean="0"/>
              <a:t>발생 오류</a:t>
            </a:r>
            <a:r>
              <a:rPr lang="en-US" altLang="ko-KR" sz="2400" b="1" dirty="0" smtClean="0"/>
              <a:t>:</a:t>
            </a:r>
          </a:p>
          <a:p>
            <a:r>
              <a:rPr lang="en-US" altLang="ko-KR" sz="2400" b="1" dirty="0" smtClean="0"/>
              <a:t>      ……</a:t>
            </a:r>
            <a:endParaRPr lang="ko-KR" altLang="en-US" sz="2400" b="1" dirty="0"/>
          </a:p>
        </p:txBody>
      </p:sp>
      <p:sp>
        <p:nvSpPr>
          <p:cNvPr id="4" name="TextBox 9"/>
          <p:cNvSpPr txBox="1"/>
          <p:nvPr/>
        </p:nvSpPr>
        <p:spPr>
          <a:xfrm>
            <a:off x="382137" y="1078170"/>
            <a:ext cx="750904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발생 오류만 포함한 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except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문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오류 발생시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except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문에 미리 정해 놓은 오류 이름과 일치할 때만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/>
            </a:r>
            <a:br>
              <a:rPr lang="en-US" altLang="ko-KR" sz="2000" b="1" dirty="0" smtClean="0">
                <a:solidFill>
                  <a:srgbClr val="0000FF"/>
                </a:solidFill>
              </a:rPr>
            </a:br>
            <a:r>
              <a:rPr lang="en-US" altLang="ko-KR" sz="2000" b="1" dirty="0" smtClean="0">
                <a:solidFill>
                  <a:srgbClr val="0000FF"/>
                </a:solidFill>
              </a:rPr>
              <a:t>   except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블록을 수행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964675" y="2237433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import   time</a:t>
            </a:r>
          </a:p>
          <a:p>
            <a:r>
              <a:rPr lang="en-US" altLang="ko-KR" sz="2000" b="1" dirty="0" err="1" smtClean="0"/>
              <a:t>i</a:t>
            </a:r>
            <a:r>
              <a:rPr lang="en-US" altLang="ko-KR" sz="2000" b="1" dirty="0" smtClean="0"/>
              <a:t>=0</a:t>
            </a:r>
          </a:p>
          <a:p>
            <a:r>
              <a:rPr lang="en-US" altLang="ko-KR" sz="2000" b="1" dirty="0" smtClean="0"/>
              <a:t>while True:	</a:t>
            </a:r>
          </a:p>
          <a:p>
            <a:r>
              <a:rPr lang="en-US" altLang="ko-KR" sz="2000" b="1" dirty="0" smtClean="0"/>
              <a:t>           try:</a:t>
            </a:r>
          </a:p>
          <a:p>
            <a:r>
              <a:rPr lang="en-US" altLang="ko-KR" sz="2000" b="1" dirty="0" smtClean="0"/>
              <a:t>	     </a:t>
            </a:r>
            <a:r>
              <a:rPr lang="en-US" altLang="ko-KR" sz="2000" b="1" dirty="0" err="1" smtClean="0"/>
              <a:t>i</a:t>
            </a:r>
            <a:r>
              <a:rPr lang="en-US" altLang="ko-KR" sz="2000" b="1" dirty="0" smtClean="0"/>
              <a:t>=i+1		</a:t>
            </a:r>
          </a:p>
          <a:p>
            <a:r>
              <a:rPr lang="en-US" altLang="ko-KR" sz="2000" b="1" dirty="0" smtClean="0"/>
              <a:t>	     print(</a:t>
            </a:r>
            <a:r>
              <a:rPr lang="en-US" altLang="ko-KR" sz="2000" b="1" dirty="0" err="1" smtClean="0"/>
              <a:t>i</a:t>
            </a:r>
            <a:r>
              <a:rPr lang="en-US" altLang="ko-KR" sz="2000" b="1" dirty="0" smtClean="0"/>
              <a:t>)</a:t>
            </a:r>
          </a:p>
          <a:p>
            <a:r>
              <a:rPr lang="en-US" altLang="ko-KR" sz="2000" b="1" dirty="0" smtClean="0"/>
              <a:t>	     </a:t>
            </a:r>
            <a:r>
              <a:rPr lang="en-US" altLang="ko-KR" sz="2000" b="1" dirty="0" err="1" smtClean="0"/>
              <a:t>time.sleep</a:t>
            </a:r>
            <a:r>
              <a:rPr lang="en-US" altLang="ko-KR" sz="2000" b="1" dirty="0" smtClean="0"/>
              <a:t>(1)</a:t>
            </a:r>
          </a:p>
          <a:p>
            <a:r>
              <a:rPr lang="en-US" altLang="ko-KR" sz="2000" b="1" dirty="0" smtClean="0"/>
              <a:t>	     if </a:t>
            </a:r>
            <a:r>
              <a:rPr lang="en-US" altLang="ko-KR" sz="2000" b="1" dirty="0" err="1" smtClean="0"/>
              <a:t>i</a:t>
            </a:r>
            <a:r>
              <a:rPr lang="en-US" altLang="ko-KR" sz="2000" b="1" dirty="0" smtClean="0"/>
              <a:t>&gt;999:</a:t>
            </a:r>
          </a:p>
          <a:p>
            <a:r>
              <a:rPr lang="en-US" altLang="ko-KR" sz="2000" b="1" dirty="0" smtClean="0"/>
              <a:t>	             </a:t>
            </a:r>
            <a:r>
              <a:rPr lang="en-US" altLang="ko-KR" sz="2000" b="1" dirty="0" err="1" smtClean="0"/>
              <a:t>i</a:t>
            </a:r>
            <a:r>
              <a:rPr lang="en-US" altLang="ko-KR" sz="2000" b="1" dirty="0" smtClean="0"/>
              <a:t>=0</a:t>
            </a:r>
          </a:p>
          <a:p>
            <a:r>
              <a:rPr lang="en-US" altLang="ko-KR" sz="2000" b="1" dirty="0" smtClean="0"/>
              <a:t>            except  </a:t>
            </a:r>
            <a:r>
              <a:rPr lang="en-US" altLang="ko-KR" sz="2000" b="1" dirty="0" err="1" smtClean="0"/>
              <a:t>KeyboardInterrupt</a:t>
            </a:r>
            <a:r>
              <a:rPr lang="en-US" altLang="ko-KR" sz="2000" b="1" dirty="0" smtClean="0"/>
              <a:t>:</a:t>
            </a:r>
          </a:p>
          <a:p>
            <a:r>
              <a:rPr lang="en-US" altLang="ko-KR" sz="2000" b="1" dirty="0" smtClean="0"/>
              <a:t>	     print("except")</a:t>
            </a:r>
          </a:p>
          <a:p>
            <a:r>
              <a:rPr lang="en-US" altLang="ko-KR" sz="2000" b="1" dirty="0" smtClean="0"/>
              <a:t>	     break</a:t>
            </a:r>
            <a:endParaRPr lang="ko-KR" altLang="en-US" sz="2000" b="1" dirty="0"/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오류 예외 처리 기법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try, except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498143" y="1557565"/>
            <a:ext cx="7322023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try:</a:t>
            </a:r>
          </a:p>
          <a:p>
            <a:r>
              <a:rPr lang="en-US" altLang="ko-KR" sz="2000" b="1" dirty="0" smtClean="0"/>
              <a:t>      ……</a:t>
            </a:r>
          </a:p>
          <a:p>
            <a:r>
              <a:rPr lang="en-US" altLang="ko-KR" sz="2000" b="1" dirty="0" smtClean="0"/>
              <a:t>except </a:t>
            </a:r>
            <a:r>
              <a:rPr lang="ko-KR" altLang="en-US" sz="2000" b="1" dirty="0" smtClean="0"/>
              <a:t>발생 오류 </a:t>
            </a:r>
            <a:r>
              <a:rPr lang="en-US" altLang="ko-KR" sz="2000" b="1" dirty="0" smtClean="0"/>
              <a:t>as </a:t>
            </a:r>
            <a:r>
              <a:rPr lang="ko-KR" altLang="en-US" sz="2000" b="1" dirty="0" smtClean="0"/>
              <a:t>오류 메시지 변수</a:t>
            </a:r>
            <a:r>
              <a:rPr lang="en-US" altLang="ko-KR" sz="2000" b="1" dirty="0" smtClean="0"/>
              <a:t>:</a:t>
            </a:r>
          </a:p>
          <a:p>
            <a:r>
              <a:rPr lang="en-US" altLang="ko-KR" sz="2000" b="1" dirty="0" smtClean="0"/>
              <a:t>      ……</a:t>
            </a:r>
            <a:endParaRPr lang="ko-KR" altLang="en-US" sz="2000" b="1" dirty="0"/>
          </a:p>
        </p:txBody>
      </p:sp>
      <p:sp>
        <p:nvSpPr>
          <p:cNvPr id="4" name="TextBox 9"/>
          <p:cNvSpPr txBox="1"/>
          <p:nvPr/>
        </p:nvSpPr>
        <p:spPr>
          <a:xfrm>
            <a:off x="382137" y="1078170"/>
            <a:ext cx="6111225" cy="465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</a:rPr>
              <a:t> 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발생 오류와 오류 메시지 변수까지 포함한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except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문</a:t>
            </a:r>
            <a:endParaRPr lang="en-US" altLang="ko-KR" sz="2000" b="1" dirty="0" smtClean="0">
              <a:solidFill>
                <a:srgbClr val="0000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61917" y="2980977"/>
            <a:ext cx="1139587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smtClean="0"/>
              <a:t>x=0</a:t>
            </a:r>
          </a:p>
          <a:p>
            <a:r>
              <a:rPr lang="en-US" altLang="ko-KR" sz="2400" dirty="0" smtClean="0"/>
              <a:t>y=0</a:t>
            </a:r>
          </a:p>
          <a:p>
            <a:r>
              <a:rPr lang="en-US" altLang="ko-KR" sz="2400" dirty="0" smtClean="0"/>
              <a:t>z=x/y</a:t>
            </a:r>
            <a:endParaRPr lang="ko-KR" altLang="en-US" sz="2400" dirty="0"/>
          </a:p>
        </p:txBody>
      </p:sp>
      <p:sp>
        <p:nvSpPr>
          <p:cNvPr id="6" name="직사각형 5"/>
          <p:cNvSpPr/>
          <p:nvPr/>
        </p:nvSpPr>
        <p:spPr>
          <a:xfrm>
            <a:off x="2900149" y="2692352"/>
            <a:ext cx="5479576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 smtClean="0"/>
              <a:t>Traceback</a:t>
            </a:r>
            <a:r>
              <a:rPr lang="en-US" altLang="ko-KR" sz="2400" dirty="0" smtClean="0"/>
              <a:t> (most recent call last):</a:t>
            </a:r>
            <a:endParaRPr lang="ko-KR" altLang="en-US" sz="2400" dirty="0" smtClean="0"/>
          </a:p>
          <a:p>
            <a:r>
              <a:rPr lang="ko-KR" altLang="en-US" sz="2400" dirty="0" smtClean="0"/>
              <a:t>  </a:t>
            </a:r>
            <a:r>
              <a:rPr lang="en-US" altLang="ko-KR" sz="2400" dirty="0" smtClean="0"/>
              <a:t>File "D:\game\test.py", line 3, in &lt;module&gt;</a:t>
            </a:r>
            <a:endParaRPr lang="ko-KR" altLang="en-US" sz="2400" dirty="0" smtClean="0"/>
          </a:p>
          <a:p>
            <a:r>
              <a:rPr lang="ko-KR" altLang="en-US" sz="2400" dirty="0" smtClean="0"/>
              <a:t>    </a:t>
            </a:r>
            <a:r>
              <a:rPr lang="en-US" altLang="ko-KR" sz="2400" dirty="0" smtClean="0"/>
              <a:t>z=x/y</a:t>
            </a:r>
            <a:endParaRPr lang="ko-KR" altLang="en-US" sz="2400" dirty="0" smtClean="0"/>
          </a:p>
          <a:p>
            <a:r>
              <a:rPr lang="en-US" altLang="ko-KR" sz="2400" dirty="0" err="1" smtClean="0"/>
              <a:t>ZeroDivisionError</a:t>
            </a:r>
            <a:r>
              <a:rPr lang="en-US" altLang="ko-KR" sz="2400" dirty="0" smtClean="0"/>
              <a:t>: division by zero</a:t>
            </a:r>
            <a:endParaRPr lang="ko-KR" altLang="en-US" sz="2400" dirty="0"/>
          </a:p>
        </p:txBody>
      </p:sp>
      <p:sp>
        <p:nvSpPr>
          <p:cNvPr id="7" name="오른쪽 화살표 6"/>
          <p:cNvSpPr/>
          <p:nvPr/>
        </p:nvSpPr>
        <p:spPr>
          <a:xfrm>
            <a:off x="1978926" y="3207219"/>
            <a:ext cx="232012" cy="6550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34370" y="476248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>
                <a:solidFill>
                  <a:srgbClr val="0000FF"/>
                </a:solidFill>
              </a:rPr>
              <a:t>x=0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y=0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try: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          z=x/y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except </a:t>
            </a:r>
            <a:r>
              <a:rPr lang="en-US" altLang="ko-KR" sz="2000" b="1" dirty="0" err="1" smtClean="0">
                <a:solidFill>
                  <a:srgbClr val="0000FF"/>
                </a:solidFill>
              </a:rPr>
              <a:t>ZeroDivisionError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 as e:</a:t>
            </a:r>
          </a:p>
          <a:p>
            <a:r>
              <a:rPr lang="en-US" altLang="ko-KR" sz="2000" b="1" dirty="0" smtClean="0">
                <a:solidFill>
                  <a:srgbClr val="0000FF"/>
                </a:solidFill>
              </a:rPr>
              <a:t>          print(e)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오류 예외 처리 기법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try, except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TextBox 9"/>
          <p:cNvSpPr txBox="1"/>
          <p:nvPr/>
        </p:nvSpPr>
        <p:spPr>
          <a:xfrm>
            <a:off x="382137" y="1078170"/>
            <a:ext cx="500810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</a:rPr>
              <a:t>  else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절은 예외가 발생하지 않은 경우 실행</a:t>
            </a:r>
            <a:endParaRPr lang="en-US" altLang="ko-KR" sz="2000" b="1" dirty="0" smtClean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61916" y="1840132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try:</a:t>
            </a:r>
          </a:p>
          <a:p>
            <a:r>
              <a:rPr lang="en-US" altLang="ko-KR" sz="2400" b="1" dirty="0" smtClean="0"/>
              <a:t>    f = open(‘</a:t>
            </a:r>
            <a:r>
              <a:rPr lang="ko-KR" altLang="en-US" sz="2400" b="1" dirty="0" smtClean="0"/>
              <a:t>문서</a:t>
            </a:r>
            <a:r>
              <a:rPr lang="en-US" altLang="ko-KR" sz="2400" b="1" dirty="0" smtClean="0"/>
              <a:t>.txt', 'r')</a:t>
            </a:r>
          </a:p>
          <a:p>
            <a:r>
              <a:rPr lang="en-US" altLang="ko-KR" sz="2400" b="1" dirty="0" smtClean="0"/>
              <a:t>except </a:t>
            </a:r>
            <a:r>
              <a:rPr lang="en-US" altLang="ko-KR" sz="2400" b="1" dirty="0" err="1" smtClean="0"/>
              <a:t>FileNotFoundError</a:t>
            </a:r>
            <a:r>
              <a:rPr lang="en-US" altLang="ko-KR" sz="2400" b="1" dirty="0" smtClean="0"/>
              <a:t> as e:</a:t>
            </a:r>
          </a:p>
          <a:p>
            <a:r>
              <a:rPr lang="en-US" altLang="ko-KR" sz="2400" b="1" dirty="0" smtClean="0"/>
              <a:t>    print((e))</a:t>
            </a:r>
          </a:p>
          <a:p>
            <a:r>
              <a:rPr lang="en-US" altLang="ko-KR" sz="2400" b="1" dirty="0" smtClean="0"/>
              <a:t>else:</a:t>
            </a:r>
          </a:p>
          <a:p>
            <a:r>
              <a:rPr lang="en-US" altLang="ko-KR" sz="2400" b="1" dirty="0" smtClean="0"/>
              <a:t>    data = </a:t>
            </a:r>
            <a:r>
              <a:rPr lang="en-US" altLang="ko-KR" sz="2400" b="1" dirty="0" err="1" smtClean="0"/>
              <a:t>f.read</a:t>
            </a:r>
            <a:r>
              <a:rPr lang="en-US" altLang="ko-KR" sz="2400" b="1" dirty="0" smtClean="0"/>
              <a:t>()</a:t>
            </a:r>
          </a:p>
          <a:p>
            <a:r>
              <a:rPr lang="en-US" altLang="ko-KR" sz="2400" b="1" dirty="0" smtClean="0"/>
              <a:t>    </a:t>
            </a:r>
            <a:r>
              <a:rPr lang="en-US" altLang="ko-KR" sz="2400" b="1" dirty="0" err="1" smtClean="0"/>
              <a:t>f.close</a:t>
            </a:r>
            <a:r>
              <a:rPr lang="en-US" altLang="ko-KR" sz="2400" b="1" dirty="0" smtClean="0"/>
              <a:t>()</a:t>
            </a:r>
            <a:endParaRPr lang="ko-KR" altLang="en-US" sz="2400" b="1" dirty="0"/>
          </a:p>
        </p:txBody>
      </p:sp>
      <p:sp>
        <p:nvSpPr>
          <p:cNvPr id="5" name="직사각형 4"/>
          <p:cNvSpPr/>
          <p:nvPr/>
        </p:nvSpPr>
        <p:spPr>
          <a:xfrm>
            <a:off x="616900" y="4690996"/>
            <a:ext cx="473988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>
                <a:solidFill>
                  <a:srgbClr val="0000FF"/>
                </a:solidFill>
              </a:rPr>
              <a:t>[</a:t>
            </a:r>
            <a:r>
              <a:rPr lang="en-US" altLang="ko-KR" sz="2000" b="1" dirty="0" err="1" smtClean="0">
                <a:solidFill>
                  <a:srgbClr val="0000FF"/>
                </a:solidFill>
              </a:rPr>
              <a:t>Errno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 2] No such file or directory: 'test.txt'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오류 예외 처리 기법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try, except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문</a:t>
            </a:r>
            <a:endParaRPr lang="ko-KR" altLang="en-US" sz="2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668740" y="1304331"/>
            <a:ext cx="7779224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https://docs.python.org/3/library/exceptions.html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오류 예외 처리 기법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Built-in Exceptions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스레드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(Thread)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8615" y="1173708"/>
            <a:ext cx="8106770" cy="3003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err="1" smtClean="0"/>
              <a:t>스레드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프로세스 안에서 실행되는 단위</a:t>
            </a:r>
            <a:endParaRPr lang="en-US" altLang="ko-KR" sz="2000" b="1" dirty="0" smtClean="0"/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Single thread, Multi thread</a:t>
            </a:r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하나의 프로세스 안에서 실행되는 </a:t>
            </a:r>
            <a:r>
              <a:rPr lang="ko-KR" altLang="en-US" sz="2000" b="1" dirty="0" err="1" smtClean="0"/>
              <a:t>스레드는</a:t>
            </a:r>
            <a:r>
              <a:rPr lang="ko-KR" altLang="en-US" sz="2000" b="1" dirty="0" smtClean="0"/>
              <a:t> 독립적 </a:t>
            </a:r>
            <a:r>
              <a:rPr lang="ko-KR" altLang="en-US" sz="2000" b="1" dirty="0" err="1" smtClean="0"/>
              <a:t>스택</a:t>
            </a:r>
            <a:r>
              <a:rPr lang="ko-KR" altLang="en-US" sz="2000" b="1" dirty="0" smtClean="0"/>
              <a:t> 가짐</a:t>
            </a:r>
            <a:endParaRPr lang="en-US" altLang="ko-KR" sz="2000" b="1" dirty="0" smtClean="0"/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코드와 데이터는 공유</a:t>
            </a:r>
            <a:endParaRPr lang="en-US" altLang="ko-KR" sz="2000" b="1" dirty="0" smtClean="0"/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err="1" smtClean="0"/>
              <a:t>스레드</a:t>
            </a:r>
            <a:r>
              <a:rPr lang="ko-KR" altLang="en-US" sz="2000" b="1" dirty="0" smtClean="0"/>
              <a:t> 실행은 독립적</a:t>
            </a:r>
            <a:endParaRPr lang="en-US" altLang="ko-KR" sz="2000" b="1" dirty="0" smtClean="0"/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err="1" smtClean="0"/>
              <a:t>파이썬은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GIL(Global Interpreter Lock) </a:t>
            </a:r>
            <a:r>
              <a:rPr lang="ko-KR" altLang="en-US" sz="2000" b="1" dirty="0" smtClean="0"/>
              <a:t>사용으로 </a:t>
            </a:r>
            <a:r>
              <a:rPr lang="ko-KR" altLang="en-US" sz="2000" b="1" dirty="0" err="1" smtClean="0"/>
              <a:t>스레드</a:t>
            </a:r>
            <a:r>
              <a:rPr lang="ko-KR" altLang="en-US" sz="2000" b="1" dirty="0" smtClean="0"/>
              <a:t> 하나만 사용</a:t>
            </a:r>
            <a:endParaRPr lang="en-US" altLang="ko-KR" sz="2000" b="1" dirty="0" smtClean="0"/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여러 개 코어 활용을 위해 </a:t>
            </a:r>
            <a:r>
              <a:rPr lang="en-US" altLang="ko-KR" sz="2000" b="1" dirty="0" smtClean="0"/>
              <a:t>multiprocessing </a:t>
            </a:r>
            <a:r>
              <a:rPr lang="ko-KR" altLang="en-US" sz="2000" b="1" dirty="0" smtClean="0"/>
              <a:t>모듈 제공</a:t>
            </a:r>
            <a:endParaRPr lang="en-US" altLang="ko-KR" sz="2000" b="1" dirty="0" smtClean="0"/>
          </a:p>
          <a:p>
            <a:r>
              <a:rPr lang="en-US" altLang="ko-KR" sz="2000" b="1" dirty="0" smtClean="0"/>
              <a:t>   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스레드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(Thread) Class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25" y="1396996"/>
            <a:ext cx="8187638" cy="398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스레드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(Thread)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3080" y="1064526"/>
            <a:ext cx="8106770" cy="5273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</a:pPr>
            <a:r>
              <a:rPr lang="en-US" sz="2000" b="1" dirty="0" smtClean="0"/>
              <a:t>import  threading, time</a:t>
            </a:r>
            <a:br>
              <a:rPr lang="en-US" sz="2000" b="1" dirty="0" smtClean="0"/>
            </a:br>
            <a:r>
              <a:rPr lang="en-US" sz="2000" b="1" dirty="0" smtClean="0"/>
              <a:t>def </a:t>
            </a:r>
            <a:r>
              <a:rPr lang="en-US" sz="2000" b="1" dirty="0" err="1" smtClean="0"/>
              <a:t>myThread</a:t>
            </a:r>
            <a:r>
              <a:rPr lang="en-US" sz="2000" b="1" dirty="0" smtClean="0"/>
              <a:t>(id):</a:t>
            </a:r>
            <a:br>
              <a:rPr lang="en-US" sz="2000" b="1" dirty="0" smtClean="0"/>
            </a:br>
            <a:r>
              <a:rPr lang="en-US" sz="2000" b="1" dirty="0" smtClean="0"/>
              <a:t>    for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in range(10):</a:t>
            </a:r>
            <a:br>
              <a:rPr lang="en-US" sz="2000" b="1" dirty="0" smtClean="0"/>
            </a:br>
            <a:r>
              <a:rPr lang="en-US" sz="2000" b="1" dirty="0" smtClean="0"/>
              <a:t>        print ('id={} --&gt; {}'.format(id,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))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b="1" dirty="0" err="1" smtClean="0"/>
              <a:t>time.sleep</a:t>
            </a:r>
            <a:r>
              <a:rPr lang="en-US" sz="2000" b="1" dirty="0" smtClean="0"/>
              <a:t>(0)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threads=[]              	</a:t>
            </a:r>
            <a:r>
              <a:rPr lang="en-US" b="1" dirty="0" smtClean="0">
                <a:solidFill>
                  <a:srgbClr val="0000FF"/>
                </a:solidFill>
              </a:rPr>
              <a:t>#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스레드</a:t>
            </a:r>
            <a:r>
              <a:rPr lang="ko-KR" altLang="en-US" b="1" dirty="0" smtClean="0">
                <a:solidFill>
                  <a:srgbClr val="0000FF"/>
                </a:solidFill>
              </a:rPr>
              <a:t> 객체를 모아두는 </a:t>
            </a:r>
            <a:r>
              <a:rPr lang="en-US" b="1" dirty="0" smtClean="0">
                <a:solidFill>
                  <a:srgbClr val="0000FF"/>
                </a:solidFill>
              </a:rPr>
              <a:t>List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sz="2000" b="1" dirty="0" smtClean="0"/>
              <a:t>for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in range(2):    	 </a:t>
            </a:r>
            <a:r>
              <a:rPr lang="en-US" b="1" dirty="0" smtClean="0">
                <a:solidFill>
                  <a:srgbClr val="0000FF"/>
                </a:solidFill>
              </a:rPr>
              <a:t>#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스레드</a:t>
            </a:r>
            <a:r>
              <a:rPr lang="ko-KR" altLang="en-US" b="1" dirty="0" smtClean="0">
                <a:solidFill>
                  <a:srgbClr val="0000FF"/>
                </a:solidFill>
              </a:rPr>
              <a:t> </a:t>
            </a:r>
            <a:r>
              <a:rPr lang="en-US" altLang="ko-KR" b="1" dirty="0" smtClean="0">
                <a:solidFill>
                  <a:srgbClr val="0000FF"/>
                </a:solidFill>
              </a:rPr>
              <a:t>2</a:t>
            </a:r>
            <a:r>
              <a:rPr lang="ko-KR" altLang="en-US" b="1" dirty="0" smtClean="0">
                <a:solidFill>
                  <a:srgbClr val="0000FF"/>
                </a:solidFill>
              </a:rPr>
              <a:t>개 생성</a:t>
            </a:r>
            <a:r>
              <a:rPr lang="ko-KR" altLang="en-US" sz="2000" b="1" i="1" dirty="0" smtClean="0"/>
              <a:t/>
            </a:r>
            <a:br>
              <a:rPr lang="ko-KR" altLang="en-US" sz="2000" b="1" i="1" dirty="0" smtClean="0"/>
            </a:br>
            <a:r>
              <a:rPr lang="ko-KR" altLang="en-US" sz="2000" b="1" i="1" dirty="0" smtClean="0"/>
              <a:t>    </a:t>
            </a:r>
            <a:r>
              <a:rPr lang="en-US" sz="2000" b="1" dirty="0" err="1" smtClean="0"/>
              <a:t>th</a:t>
            </a:r>
            <a:r>
              <a:rPr lang="en-US" sz="2000" b="1" dirty="0" smtClean="0"/>
              <a:t> = </a:t>
            </a:r>
            <a:r>
              <a:rPr lang="en-US" sz="2000" b="1" dirty="0" err="1" smtClean="0"/>
              <a:t>threading.Thread</a:t>
            </a:r>
            <a:r>
              <a:rPr lang="en-US" sz="2000" b="1" dirty="0" smtClean="0"/>
              <a:t>(target=</a:t>
            </a:r>
            <a:r>
              <a:rPr lang="en-US" sz="2000" b="1" dirty="0" err="1" smtClean="0"/>
              <a:t>myThread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args</a:t>
            </a:r>
            <a:r>
              <a:rPr lang="en-US" sz="2000" b="1" dirty="0" smtClean="0"/>
              <a:t>=(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, ))</a:t>
            </a:r>
            <a:br>
              <a:rPr lang="en-US" sz="2000" b="1" dirty="0" smtClean="0"/>
            </a:br>
            <a:r>
              <a:rPr lang="en-US" sz="2000" b="1" dirty="0" smtClean="0"/>
              <a:t>    </a:t>
            </a:r>
            <a:r>
              <a:rPr lang="en-US" sz="2000" b="1" dirty="0" err="1" smtClean="0"/>
              <a:t>th.start</a:t>
            </a:r>
            <a:r>
              <a:rPr lang="en-US" sz="2000" b="1" dirty="0" smtClean="0"/>
              <a:t>() 		</a:t>
            </a:r>
            <a:r>
              <a:rPr lang="en-US" b="1" dirty="0" smtClean="0">
                <a:solidFill>
                  <a:srgbClr val="0000FF"/>
                </a:solidFill>
              </a:rPr>
              <a:t>#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스레드</a:t>
            </a:r>
            <a:r>
              <a:rPr lang="ko-KR" altLang="en-US" b="1" dirty="0" smtClean="0">
                <a:solidFill>
                  <a:srgbClr val="0000FF"/>
                </a:solidFill>
              </a:rPr>
              <a:t>  실행</a:t>
            </a:r>
            <a:r>
              <a:rPr lang="en-US" altLang="ko-KR" b="1" dirty="0" smtClean="0">
                <a:solidFill>
                  <a:srgbClr val="0000FF"/>
                </a:solidFill>
              </a:rPr>
              <a:t>, </a:t>
            </a:r>
            <a:r>
              <a:rPr lang="en-US" altLang="ko-KR" b="1" dirty="0" err="1" smtClean="0">
                <a:solidFill>
                  <a:srgbClr val="0000FF"/>
                </a:solidFill>
              </a:rPr>
              <a:t>myThread</a:t>
            </a:r>
            <a:r>
              <a:rPr lang="en-US" altLang="ko-KR" b="1" dirty="0" smtClean="0">
                <a:solidFill>
                  <a:srgbClr val="0000FF"/>
                </a:solidFill>
              </a:rPr>
              <a:t> </a:t>
            </a:r>
            <a:r>
              <a:rPr lang="ko-KR" altLang="en-US" b="1" dirty="0" smtClean="0">
                <a:solidFill>
                  <a:srgbClr val="0000FF"/>
                </a:solidFill>
              </a:rPr>
              <a:t>함수 실행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2000" b="1" dirty="0" smtClean="0"/>
              <a:t>    </a:t>
            </a:r>
            <a:r>
              <a:rPr lang="en-US" sz="2000" b="1" dirty="0" err="1" smtClean="0"/>
              <a:t>threads.append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th</a:t>
            </a:r>
            <a:r>
              <a:rPr lang="en-US" sz="2000" b="1" dirty="0" smtClean="0"/>
              <a:t>)       </a:t>
            </a:r>
            <a:r>
              <a:rPr lang="en-US" b="1" dirty="0" smtClean="0">
                <a:solidFill>
                  <a:srgbClr val="0000FF"/>
                </a:solidFill>
              </a:rPr>
              <a:t> #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스레드</a:t>
            </a:r>
            <a:r>
              <a:rPr lang="ko-KR" altLang="en-US" b="1" dirty="0" smtClean="0">
                <a:solidFill>
                  <a:srgbClr val="0000FF"/>
                </a:solidFill>
              </a:rPr>
              <a:t> 객체 리스트에 저장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for </a:t>
            </a:r>
            <a:r>
              <a:rPr lang="en-US" sz="2000" b="1" dirty="0" err="1" smtClean="0"/>
              <a:t>th</a:t>
            </a:r>
            <a:r>
              <a:rPr lang="en-US" sz="2000" b="1" dirty="0" smtClean="0"/>
              <a:t> in threads:</a:t>
            </a:r>
            <a:br>
              <a:rPr lang="en-US" sz="2000" b="1" dirty="0" smtClean="0"/>
            </a:br>
            <a:r>
              <a:rPr lang="en-US" sz="2000" b="1" dirty="0" smtClean="0"/>
              <a:t>    th.join()                   	</a:t>
            </a:r>
            <a:r>
              <a:rPr lang="en-US" b="1" dirty="0" smtClean="0">
                <a:solidFill>
                  <a:srgbClr val="0000FF"/>
                </a:solidFill>
              </a:rPr>
              <a:t>#</a:t>
            </a:r>
            <a:r>
              <a:rPr lang="ko-KR" altLang="en-US" b="1" dirty="0" smtClean="0">
                <a:solidFill>
                  <a:srgbClr val="0000FF"/>
                </a:solidFill>
              </a:rPr>
              <a:t>각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스레드가</a:t>
            </a:r>
            <a:r>
              <a:rPr lang="ko-KR" altLang="en-US" b="1" dirty="0" smtClean="0">
                <a:solidFill>
                  <a:srgbClr val="0000FF"/>
                </a:solidFill>
              </a:rPr>
              <a:t> 종료될 때까지 대기</a:t>
            </a:r>
            <a:br>
              <a:rPr lang="ko-KR" altLang="en-US" b="1" dirty="0" smtClean="0">
                <a:solidFill>
                  <a:srgbClr val="0000FF"/>
                </a:solidFill>
              </a:rPr>
            </a:br>
            <a:r>
              <a:rPr lang="en-US" sz="2000" b="1" dirty="0" smtClean="0"/>
              <a:t>print ('Exiting')</a:t>
            </a:r>
            <a:r>
              <a:rPr lang="en-US" altLang="ko-KR" sz="2000" b="1" dirty="0" smtClean="0"/>
              <a:t>   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스레드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(Thread)       #thread_1.py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3080" y="1064526"/>
            <a:ext cx="8106770" cy="4157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</a:pPr>
            <a:r>
              <a:rPr lang="en-US" sz="2000" b="1" dirty="0" smtClean="0"/>
              <a:t>import threading</a:t>
            </a:r>
          </a:p>
          <a:p>
            <a:pPr>
              <a:lnSpc>
                <a:spcPts val="2900"/>
              </a:lnSpc>
            </a:pPr>
            <a:r>
              <a:rPr lang="en-US" sz="2000" b="1" dirty="0" smtClean="0"/>
              <a:t>import </a:t>
            </a:r>
            <a:r>
              <a:rPr lang="en-US" sz="2000" b="1" dirty="0" err="1" smtClean="0"/>
              <a:t>datetime</a:t>
            </a:r>
            <a:endParaRPr lang="en-US" sz="2000" b="1" dirty="0" smtClean="0"/>
          </a:p>
          <a:p>
            <a:pPr>
              <a:lnSpc>
                <a:spcPts val="2900"/>
              </a:lnSpc>
            </a:pPr>
            <a:endParaRPr lang="en-US" sz="2000" b="1" dirty="0" smtClean="0"/>
          </a:p>
          <a:p>
            <a:pPr>
              <a:lnSpc>
                <a:spcPts val="2900"/>
              </a:lnSpc>
            </a:pPr>
            <a:r>
              <a:rPr lang="en-US" sz="2000" b="1" dirty="0" smtClean="0"/>
              <a:t>class </a:t>
            </a:r>
            <a:r>
              <a:rPr lang="en-US" sz="2000" b="1" dirty="0" err="1" smtClean="0"/>
              <a:t>ThreadClass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threading.Thread</a:t>
            </a:r>
            <a:r>
              <a:rPr lang="en-US" sz="2000" b="1" dirty="0" smtClean="0"/>
              <a:t>):</a:t>
            </a:r>
          </a:p>
          <a:p>
            <a:pPr>
              <a:lnSpc>
                <a:spcPts val="2900"/>
              </a:lnSpc>
            </a:pPr>
            <a:r>
              <a:rPr lang="en-US" sz="2000" b="1" dirty="0" smtClean="0"/>
              <a:t>     def run(self):       </a:t>
            </a:r>
            <a:r>
              <a:rPr lang="en-US" sz="2000" dirty="0" smtClean="0">
                <a:solidFill>
                  <a:srgbClr val="0000FF"/>
                </a:solidFill>
              </a:rPr>
              <a:t># thread</a:t>
            </a:r>
            <a:r>
              <a:rPr lang="ko-KR" altLang="en-US" sz="2000" dirty="0" smtClean="0">
                <a:solidFill>
                  <a:srgbClr val="0000FF"/>
                </a:solidFill>
              </a:rPr>
              <a:t>의 </a:t>
            </a:r>
            <a:r>
              <a:rPr lang="en-US" altLang="ko-KR" sz="2000" dirty="0" smtClean="0">
                <a:solidFill>
                  <a:srgbClr val="0000FF"/>
                </a:solidFill>
              </a:rPr>
              <a:t>run()</a:t>
            </a:r>
            <a:r>
              <a:rPr lang="en-US" sz="2000" dirty="0" smtClean="0">
                <a:solidFill>
                  <a:srgbClr val="0000FF"/>
                </a:solidFill>
              </a:rPr>
              <a:t> method </a:t>
            </a:r>
            <a:r>
              <a:rPr lang="ko-KR" altLang="en-US" sz="2000" dirty="0" smtClean="0">
                <a:solidFill>
                  <a:srgbClr val="0000FF"/>
                </a:solidFill>
              </a:rPr>
              <a:t>재정의</a:t>
            </a:r>
            <a:endParaRPr lang="en-US" sz="2000" dirty="0" smtClean="0">
              <a:solidFill>
                <a:srgbClr val="0000FF"/>
              </a:solidFill>
            </a:endParaRPr>
          </a:p>
          <a:p>
            <a:pPr>
              <a:lnSpc>
                <a:spcPts val="2900"/>
              </a:lnSpc>
            </a:pPr>
            <a:r>
              <a:rPr lang="en-US" sz="2000" b="1" dirty="0" smtClean="0"/>
              <a:t>	now=</a:t>
            </a:r>
            <a:r>
              <a:rPr lang="en-US" sz="2000" b="1" dirty="0" err="1" smtClean="0"/>
              <a:t>datetime.datetime.now</a:t>
            </a:r>
            <a:r>
              <a:rPr lang="en-US" sz="2000" b="1" dirty="0" smtClean="0"/>
              <a:t>()</a:t>
            </a:r>
          </a:p>
          <a:p>
            <a:pPr>
              <a:lnSpc>
                <a:spcPts val="2900"/>
              </a:lnSpc>
            </a:pPr>
            <a:r>
              <a:rPr lang="en-US" sz="2000" b="1" dirty="0" smtClean="0"/>
              <a:t>	print ("%s says Hello at time : %s" %(</a:t>
            </a:r>
            <a:r>
              <a:rPr lang="en-US" sz="2000" b="1" dirty="0" err="1" smtClean="0"/>
              <a:t>self.getName</a:t>
            </a:r>
            <a:r>
              <a:rPr lang="en-US" sz="2000" b="1" dirty="0" smtClean="0"/>
              <a:t>(), now))</a:t>
            </a:r>
          </a:p>
          <a:p>
            <a:pPr>
              <a:lnSpc>
                <a:spcPts val="2900"/>
              </a:lnSpc>
            </a:pPr>
            <a:endParaRPr lang="en-US" sz="2000" b="1" dirty="0" smtClean="0"/>
          </a:p>
          <a:p>
            <a:pPr>
              <a:lnSpc>
                <a:spcPts val="2900"/>
              </a:lnSpc>
            </a:pPr>
            <a:r>
              <a:rPr lang="en-US" sz="2000" b="1" dirty="0" smtClean="0"/>
              <a:t>for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in range(2):</a:t>
            </a:r>
          </a:p>
          <a:p>
            <a:pPr>
              <a:lnSpc>
                <a:spcPts val="2900"/>
              </a:lnSpc>
            </a:pPr>
            <a:r>
              <a:rPr lang="en-US" sz="2000" b="1" dirty="0" smtClean="0"/>
              <a:t>	t=</a:t>
            </a:r>
            <a:r>
              <a:rPr lang="en-US" sz="2000" b="1" dirty="0" err="1" smtClean="0"/>
              <a:t>ThreadClass</a:t>
            </a:r>
            <a:r>
              <a:rPr lang="en-US" sz="2000" b="1" dirty="0" smtClean="0"/>
              <a:t>()</a:t>
            </a:r>
          </a:p>
          <a:p>
            <a:pPr>
              <a:lnSpc>
                <a:spcPts val="2900"/>
              </a:lnSpc>
            </a:pPr>
            <a:r>
              <a:rPr lang="en-US" sz="2000" b="1" dirty="0" smtClean="0"/>
              <a:t>	</a:t>
            </a:r>
            <a:r>
              <a:rPr lang="en-US" sz="2000" b="1" dirty="0" err="1" smtClean="0"/>
              <a:t>t.start</a:t>
            </a:r>
            <a:r>
              <a:rPr lang="en-US" sz="2000" b="1" dirty="0" smtClean="0"/>
              <a:t>()      </a:t>
            </a:r>
            <a:r>
              <a:rPr lang="en-US" sz="2000" dirty="0" smtClean="0">
                <a:solidFill>
                  <a:srgbClr val="0000FF"/>
                </a:solidFill>
              </a:rPr>
              <a:t># run() </a:t>
            </a:r>
            <a:r>
              <a:rPr lang="ko-KR" altLang="en-US" sz="2000" dirty="0" smtClean="0">
                <a:solidFill>
                  <a:srgbClr val="0000FF"/>
                </a:solidFill>
              </a:rPr>
              <a:t>함수를 자동 호출</a:t>
            </a:r>
            <a:endParaRPr lang="en-US" sz="2000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생성방식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함수를 전달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#thread_2.py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3080" y="1064526"/>
            <a:ext cx="8106770" cy="542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import threading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from time import sleep, </a:t>
            </a:r>
            <a:r>
              <a:rPr lang="en-US" sz="1600" b="1" dirty="0" err="1" smtClean="0">
                <a:latin typeface="+mn-ea"/>
              </a:rPr>
              <a:t>ctime</a:t>
            </a:r>
            <a:endParaRPr lang="en-US" sz="1600" b="1" dirty="0" smtClean="0">
              <a:latin typeface="+mn-ea"/>
            </a:endParaRPr>
          </a:p>
          <a:p>
            <a:pPr>
              <a:lnSpc>
                <a:spcPts val="1600"/>
              </a:lnSpc>
            </a:pPr>
            <a:endParaRPr lang="en-US" sz="1600" b="1" dirty="0" smtClean="0"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loops = [5,2]</a:t>
            </a:r>
          </a:p>
          <a:p>
            <a:pPr>
              <a:lnSpc>
                <a:spcPts val="1600"/>
              </a:lnSpc>
            </a:pPr>
            <a:endParaRPr lang="en-US" sz="1600" b="1" dirty="0" smtClean="0"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def loop(</a:t>
            </a:r>
            <a:r>
              <a:rPr lang="en-US" sz="1600" b="1" dirty="0" err="1" smtClean="0">
                <a:latin typeface="+mn-ea"/>
              </a:rPr>
              <a:t>nloop,nsec</a:t>
            </a:r>
            <a:r>
              <a:rPr lang="en-US" sz="1600" b="1" dirty="0" smtClean="0">
                <a:latin typeface="+mn-ea"/>
              </a:rPr>
              <a:t>):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print  ('start loop[%d] : %s' %(</a:t>
            </a:r>
            <a:r>
              <a:rPr lang="en-US" sz="1600" b="1" dirty="0" err="1" smtClean="0">
                <a:latin typeface="+mn-ea"/>
              </a:rPr>
              <a:t>nloop</a:t>
            </a:r>
            <a:r>
              <a:rPr lang="en-US" sz="1600" b="1" dirty="0" smtClean="0">
                <a:latin typeface="+mn-ea"/>
              </a:rPr>
              <a:t>, </a:t>
            </a:r>
            <a:r>
              <a:rPr lang="en-US" sz="1600" b="1" dirty="0" err="1" smtClean="0">
                <a:latin typeface="+mn-ea"/>
              </a:rPr>
              <a:t>ctime</a:t>
            </a:r>
            <a:r>
              <a:rPr lang="en-US" sz="1600" b="1" dirty="0" smtClean="0">
                <a:latin typeface="+mn-ea"/>
              </a:rPr>
              <a:t>()))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sleep(</a:t>
            </a:r>
            <a:r>
              <a:rPr lang="en-US" sz="1600" b="1" dirty="0" err="1" smtClean="0">
                <a:latin typeface="+mn-ea"/>
              </a:rPr>
              <a:t>nsec</a:t>
            </a:r>
            <a:r>
              <a:rPr lang="en-US" sz="1600" b="1" dirty="0" smtClean="0">
                <a:latin typeface="+mn-ea"/>
              </a:rPr>
              <a:t>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print ('stop loop[%d]  : %s' %(</a:t>
            </a:r>
            <a:r>
              <a:rPr lang="en-US" sz="1600" b="1" dirty="0" err="1" smtClean="0">
                <a:latin typeface="+mn-ea"/>
              </a:rPr>
              <a:t>nloop</a:t>
            </a:r>
            <a:r>
              <a:rPr lang="en-US" sz="1600" b="1" dirty="0" smtClean="0">
                <a:latin typeface="+mn-ea"/>
              </a:rPr>
              <a:t>, </a:t>
            </a:r>
            <a:r>
              <a:rPr lang="en-US" sz="1600" b="1" dirty="0" err="1" smtClean="0">
                <a:latin typeface="+mn-ea"/>
              </a:rPr>
              <a:t>ctime</a:t>
            </a:r>
            <a:r>
              <a:rPr lang="en-US" sz="1600" b="1" dirty="0" smtClean="0">
                <a:latin typeface="+mn-ea"/>
              </a:rPr>
              <a:t>()))</a:t>
            </a:r>
          </a:p>
          <a:p>
            <a:pPr>
              <a:lnSpc>
                <a:spcPts val="1600"/>
              </a:lnSpc>
            </a:pPr>
            <a:endParaRPr lang="en-US" sz="1600" b="1" dirty="0" smtClean="0"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def test() 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print  ('starting at: %s'  %</a:t>
            </a:r>
            <a:r>
              <a:rPr lang="en-US" sz="1600" b="1" dirty="0" err="1" smtClean="0">
                <a:latin typeface="+mn-ea"/>
              </a:rPr>
              <a:t>ctime</a:t>
            </a:r>
            <a:r>
              <a:rPr lang="en-US" sz="1600" b="1" dirty="0" smtClean="0">
                <a:latin typeface="+mn-ea"/>
              </a:rPr>
              <a:t>())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threads = []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</a:t>
            </a:r>
            <a:r>
              <a:rPr lang="en-US" sz="1600" b="1" dirty="0" err="1" smtClean="0">
                <a:latin typeface="+mn-ea"/>
              </a:rPr>
              <a:t>nloops</a:t>
            </a:r>
            <a:r>
              <a:rPr lang="en-US" sz="1600" b="1" dirty="0" smtClean="0">
                <a:latin typeface="+mn-ea"/>
              </a:rPr>
              <a:t> = range(</a:t>
            </a:r>
            <a:r>
              <a:rPr lang="en-US" sz="1600" b="1" dirty="0" err="1" smtClean="0">
                <a:latin typeface="+mn-ea"/>
              </a:rPr>
              <a:t>len</a:t>
            </a:r>
            <a:r>
              <a:rPr lang="en-US" sz="1600" b="1" dirty="0" smtClean="0">
                <a:latin typeface="+mn-ea"/>
              </a:rPr>
              <a:t>(loops))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print ('thread </a:t>
            </a:r>
            <a:r>
              <a:rPr lang="en-US" sz="1600" b="1" dirty="0" err="1" smtClean="0">
                <a:latin typeface="+mn-ea"/>
              </a:rPr>
              <a:t>len</a:t>
            </a:r>
            <a:r>
              <a:rPr lang="en-US" sz="1600" b="1" dirty="0" smtClean="0">
                <a:latin typeface="+mn-ea"/>
              </a:rPr>
              <a:t>= %d:' %</a:t>
            </a:r>
            <a:r>
              <a:rPr lang="en-US" sz="1600" b="1" dirty="0" err="1" smtClean="0">
                <a:latin typeface="+mn-ea"/>
              </a:rPr>
              <a:t>len</a:t>
            </a:r>
            <a:r>
              <a:rPr lang="en-US" sz="1600" b="1" dirty="0" smtClean="0">
                <a:latin typeface="+mn-ea"/>
              </a:rPr>
              <a:t>(loops))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for </a:t>
            </a:r>
            <a:r>
              <a:rPr lang="en-US" sz="1600" b="1" dirty="0" err="1" smtClean="0">
                <a:latin typeface="+mn-ea"/>
              </a:rPr>
              <a:t>i</a:t>
            </a:r>
            <a:r>
              <a:rPr lang="en-US" sz="1600" b="1" dirty="0" smtClean="0">
                <a:latin typeface="+mn-ea"/>
              </a:rPr>
              <a:t> in </a:t>
            </a:r>
            <a:r>
              <a:rPr lang="en-US" sz="1600" b="1" dirty="0" err="1" smtClean="0">
                <a:latin typeface="+mn-ea"/>
              </a:rPr>
              <a:t>nloops</a:t>
            </a:r>
            <a:r>
              <a:rPr lang="en-US" sz="1600" b="1" dirty="0" smtClean="0">
                <a:latin typeface="+mn-ea"/>
              </a:rPr>
              <a:t>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</a:t>
            </a:r>
            <a:r>
              <a:rPr lang="en-US" sz="1600" b="1" dirty="0" smtClean="0">
                <a:solidFill>
                  <a:srgbClr val="0000FF"/>
                </a:solidFill>
                <a:latin typeface="+mn-ea"/>
              </a:rPr>
              <a:t> t = </a:t>
            </a:r>
            <a:r>
              <a:rPr lang="en-US" sz="1600" b="1" dirty="0" err="1" smtClean="0">
                <a:solidFill>
                  <a:srgbClr val="0000FF"/>
                </a:solidFill>
                <a:latin typeface="+mn-ea"/>
              </a:rPr>
              <a:t>threading.Thread</a:t>
            </a:r>
            <a:r>
              <a:rPr lang="en-US" sz="1600" b="1" dirty="0" smtClean="0">
                <a:solidFill>
                  <a:srgbClr val="0000FF"/>
                </a:solidFill>
                <a:latin typeface="+mn-ea"/>
              </a:rPr>
              <a:t>(target=</a:t>
            </a:r>
            <a:r>
              <a:rPr lang="en-US" sz="1600" b="1" dirty="0" err="1" smtClean="0">
                <a:solidFill>
                  <a:srgbClr val="0000FF"/>
                </a:solidFill>
                <a:latin typeface="+mn-ea"/>
              </a:rPr>
              <a:t>loop,args</a:t>
            </a:r>
            <a:r>
              <a:rPr lang="en-US" sz="1600" b="1" dirty="0" smtClean="0">
                <a:solidFill>
                  <a:srgbClr val="0000FF"/>
                </a:solidFill>
                <a:latin typeface="+mn-ea"/>
              </a:rPr>
              <a:t>=(</a:t>
            </a:r>
            <a:r>
              <a:rPr lang="en-US" sz="1600" b="1" dirty="0" err="1" smtClean="0">
                <a:solidFill>
                  <a:srgbClr val="0000FF"/>
                </a:solidFill>
                <a:latin typeface="+mn-ea"/>
              </a:rPr>
              <a:t>i</a:t>
            </a:r>
            <a:r>
              <a:rPr lang="en-US" sz="1600" b="1" dirty="0" smtClean="0">
                <a:solidFill>
                  <a:srgbClr val="0000FF"/>
                </a:solidFill>
                <a:latin typeface="+mn-ea"/>
              </a:rPr>
              <a:t>, loops[</a:t>
            </a:r>
            <a:r>
              <a:rPr lang="en-US" sz="1600" b="1" dirty="0" err="1" smtClean="0">
                <a:solidFill>
                  <a:srgbClr val="0000FF"/>
                </a:solidFill>
                <a:latin typeface="+mn-ea"/>
              </a:rPr>
              <a:t>i</a:t>
            </a:r>
            <a:r>
              <a:rPr lang="en-US" sz="1600" b="1" dirty="0" smtClean="0">
                <a:solidFill>
                  <a:srgbClr val="0000FF"/>
                </a:solidFill>
                <a:latin typeface="+mn-ea"/>
              </a:rPr>
              <a:t>]))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threads.append</a:t>
            </a:r>
            <a:r>
              <a:rPr lang="en-US" sz="1600" b="1" dirty="0" smtClean="0">
                <a:latin typeface="+mn-ea"/>
              </a:rPr>
              <a:t>(t)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for </a:t>
            </a:r>
            <a:r>
              <a:rPr lang="en-US" sz="1600" b="1" dirty="0" err="1" smtClean="0">
                <a:latin typeface="+mn-ea"/>
              </a:rPr>
              <a:t>i</a:t>
            </a:r>
            <a:r>
              <a:rPr lang="en-US" sz="1600" b="1" dirty="0" smtClean="0">
                <a:latin typeface="+mn-ea"/>
              </a:rPr>
              <a:t> in </a:t>
            </a:r>
            <a:r>
              <a:rPr lang="en-US" sz="1600" b="1" dirty="0" err="1" smtClean="0">
                <a:latin typeface="+mn-ea"/>
              </a:rPr>
              <a:t>nloops</a:t>
            </a:r>
            <a:r>
              <a:rPr lang="en-US" sz="1600" b="1" dirty="0" smtClean="0">
                <a:latin typeface="+mn-ea"/>
              </a:rPr>
              <a:t>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threads[</a:t>
            </a:r>
            <a:r>
              <a:rPr lang="en-US" sz="1600" b="1" dirty="0" err="1" smtClean="0">
                <a:latin typeface="+mn-ea"/>
              </a:rPr>
              <a:t>i</a:t>
            </a:r>
            <a:r>
              <a:rPr lang="en-US" sz="1600" b="1" dirty="0" smtClean="0">
                <a:latin typeface="+mn-ea"/>
              </a:rPr>
              <a:t>].start()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for </a:t>
            </a:r>
            <a:r>
              <a:rPr lang="en-US" sz="1600" b="1" dirty="0" err="1" smtClean="0">
                <a:latin typeface="+mn-ea"/>
              </a:rPr>
              <a:t>i</a:t>
            </a:r>
            <a:r>
              <a:rPr lang="en-US" sz="1600" b="1" dirty="0" smtClean="0">
                <a:latin typeface="+mn-ea"/>
              </a:rPr>
              <a:t> in </a:t>
            </a:r>
            <a:r>
              <a:rPr lang="en-US" sz="1600" b="1" dirty="0" err="1" smtClean="0">
                <a:latin typeface="+mn-ea"/>
              </a:rPr>
              <a:t>nloops</a:t>
            </a:r>
            <a:r>
              <a:rPr lang="en-US" sz="1600" b="1" dirty="0" smtClean="0">
                <a:latin typeface="+mn-ea"/>
              </a:rPr>
              <a:t>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threads[</a:t>
            </a:r>
            <a:r>
              <a:rPr lang="en-US" sz="1600" b="1" dirty="0" err="1" smtClean="0">
                <a:latin typeface="+mn-ea"/>
              </a:rPr>
              <a:t>i</a:t>
            </a:r>
            <a:r>
              <a:rPr lang="en-US" sz="1600" b="1" dirty="0" smtClean="0">
                <a:latin typeface="+mn-ea"/>
              </a:rPr>
              <a:t>].join()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print  ('all Done at: '), </a:t>
            </a:r>
            <a:r>
              <a:rPr lang="en-US" sz="1600" b="1" dirty="0" err="1" smtClean="0">
                <a:latin typeface="+mn-ea"/>
              </a:rPr>
              <a:t>ctime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endParaRPr lang="en-US" sz="1600" b="1" dirty="0" smtClean="0"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if  __name__ == '__main__' : 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test()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374107" y="5101949"/>
            <a:ext cx="4572000" cy="1600438"/>
          </a:xfrm>
          <a:prstGeom prst="rect">
            <a:avLst/>
          </a:prstGeom>
          <a:ln>
            <a:solidFill>
              <a:srgbClr val="000099"/>
            </a:solidFill>
          </a:ln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starting at: Fri Nov 24 00:10:06 2017</a:t>
            </a:r>
            <a:endParaRPr lang="ko-KR" altLang="en-US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thread </a:t>
            </a:r>
            <a:r>
              <a:rPr lang="en-US" altLang="ko-KR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len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= 2:</a:t>
            </a:r>
            <a:endParaRPr lang="ko-KR" altLang="en-US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start loop[0] : Fri Nov 24 00:10:06 2017</a:t>
            </a:r>
            <a:endParaRPr lang="ko-KR" altLang="en-US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start loop[1] : Fri Nov 24 00:10:06 2017</a:t>
            </a:r>
            <a:endParaRPr lang="ko-KR" altLang="en-US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nl-NL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stop loop[1]  : Fri Nov 24 00:10:08 2017</a:t>
            </a:r>
            <a:endParaRPr lang="ko-KR" altLang="en-US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nl-NL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stop loop[0]  : Fri Nov 24 00:10:11 2017</a:t>
            </a:r>
            <a:endParaRPr lang="ko-KR" altLang="en-US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all Done at:</a:t>
            </a:r>
            <a:endParaRPr lang="ko-KR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생성방식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상속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#thread_3.py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3080" y="1064526"/>
            <a:ext cx="810677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import threading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from time import sleep, </a:t>
            </a:r>
            <a:r>
              <a:rPr lang="en-US" sz="1400" b="1" dirty="0" err="1" smtClean="0">
                <a:latin typeface="+mn-ea"/>
              </a:rPr>
              <a:t>ctime</a:t>
            </a:r>
            <a:endParaRPr lang="en-US" sz="14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loops = [5,2]</a:t>
            </a:r>
          </a:p>
          <a:p>
            <a:pPr>
              <a:lnSpc>
                <a:spcPts val="1400"/>
              </a:lnSpc>
            </a:pPr>
            <a:endParaRPr lang="en-US" sz="14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class </a:t>
            </a:r>
            <a:r>
              <a:rPr lang="en-US" sz="1400" b="1" dirty="0" err="1" smtClean="0">
                <a:solidFill>
                  <a:srgbClr val="0000FF"/>
                </a:solidFill>
                <a:latin typeface="+mn-ea"/>
              </a:rPr>
              <a:t>MyThread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(</a:t>
            </a:r>
            <a:r>
              <a:rPr lang="en-US" sz="1400" b="1" dirty="0" err="1" smtClean="0">
                <a:solidFill>
                  <a:srgbClr val="0000FF"/>
                </a:solidFill>
                <a:latin typeface="+mn-ea"/>
              </a:rPr>
              <a:t>threading.Thread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):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def __init__(</a:t>
            </a:r>
            <a:r>
              <a:rPr lang="en-US" sz="1400" b="1" dirty="0" err="1" smtClean="0">
                <a:latin typeface="+mn-ea"/>
              </a:rPr>
              <a:t>self,func,args,name</a:t>
            </a:r>
            <a:r>
              <a:rPr lang="en-US" sz="1400" b="1" dirty="0" smtClean="0">
                <a:latin typeface="+mn-ea"/>
              </a:rPr>
              <a:t>=''):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threading.Thread.__init</a:t>
            </a:r>
            <a:r>
              <a:rPr lang="en-US" sz="1400" b="1" dirty="0" smtClean="0">
                <a:latin typeface="+mn-ea"/>
              </a:rPr>
              <a:t>__(</a:t>
            </a:r>
            <a:r>
              <a:rPr lang="en-US" sz="1400" b="1" dirty="0" err="1" smtClean="0">
                <a:latin typeface="+mn-ea"/>
              </a:rPr>
              <a:t>self,name</a:t>
            </a:r>
            <a:r>
              <a:rPr lang="en-US" sz="1400" b="1" dirty="0" smtClean="0">
                <a:latin typeface="+mn-ea"/>
              </a:rPr>
              <a:t>=name)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self.func</a:t>
            </a:r>
            <a:r>
              <a:rPr lang="en-US" sz="1400" b="1" dirty="0" smtClean="0">
                <a:latin typeface="+mn-ea"/>
              </a:rPr>
              <a:t> = </a:t>
            </a:r>
            <a:r>
              <a:rPr lang="en-US" sz="1400" b="1" dirty="0" err="1" smtClean="0">
                <a:latin typeface="+mn-ea"/>
              </a:rPr>
              <a:t>func</a:t>
            </a:r>
            <a:endParaRPr lang="en-US" sz="14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self.args</a:t>
            </a:r>
            <a:r>
              <a:rPr lang="en-US" sz="1400" b="1" dirty="0" smtClean="0">
                <a:latin typeface="+mn-ea"/>
              </a:rPr>
              <a:t> = </a:t>
            </a:r>
            <a:r>
              <a:rPr lang="en-US" sz="1400" b="1" dirty="0" err="1" smtClean="0">
                <a:latin typeface="+mn-ea"/>
              </a:rPr>
              <a:t>args</a:t>
            </a:r>
            <a:endParaRPr lang="en-US" sz="14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    def run (self):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self.func</a:t>
            </a:r>
            <a:r>
              <a:rPr lang="en-US" sz="1400" b="1" dirty="0" smtClean="0">
                <a:latin typeface="+mn-ea"/>
              </a:rPr>
              <a:t>(*</a:t>
            </a:r>
            <a:r>
              <a:rPr lang="en-US" sz="1400" b="1" dirty="0" err="1" smtClean="0">
                <a:latin typeface="+mn-ea"/>
              </a:rPr>
              <a:t>self.args</a:t>
            </a:r>
            <a:r>
              <a:rPr lang="en-US" sz="1400" b="1" dirty="0" smtClean="0">
                <a:latin typeface="+mn-ea"/>
              </a:rPr>
              <a:t>)</a:t>
            </a:r>
            <a:endParaRPr lang="en-US" altLang="ko-KR" sz="14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def loop(</a:t>
            </a:r>
            <a:r>
              <a:rPr lang="en-US" sz="1400" b="1" dirty="0" err="1" smtClean="0">
                <a:latin typeface="+mn-ea"/>
              </a:rPr>
              <a:t>nloop,nsec</a:t>
            </a:r>
            <a:r>
              <a:rPr lang="en-US" sz="1400" b="1" dirty="0" smtClean="0">
                <a:latin typeface="+mn-ea"/>
              </a:rPr>
              <a:t>):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print ('start loop[%d] = %s' %(</a:t>
            </a:r>
            <a:r>
              <a:rPr lang="en-US" sz="1400" b="1" dirty="0" err="1" smtClean="0">
                <a:latin typeface="+mn-ea"/>
              </a:rPr>
              <a:t>nloop</a:t>
            </a:r>
            <a:r>
              <a:rPr lang="en-US" sz="1400" b="1" dirty="0" smtClean="0">
                <a:latin typeface="+mn-ea"/>
              </a:rPr>
              <a:t>, </a:t>
            </a:r>
            <a:r>
              <a:rPr lang="en-US" sz="1400" b="1" dirty="0" err="1" smtClean="0">
                <a:latin typeface="+mn-ea"/>
              </a:rPr>
              <a:t>ctime</a:t>
            </a:r>
            <a:r>
              <a:rPr lang="en-US" sz="1400" b="1" dirty="0" smtClean="0">
                <a:latin typeface="+mn-ea"/>
              </a:rPr>
              <a:t>()))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sleep(</a:t>
            </a:r>
            <a:r>
              <a:rPr lang="en-US" sz="1400" b="1" dirty="0" err="1" smtClean="0">
                <a:latin typeface="+mn-ea"/>
              </a:rPr>
              <a:t>nsec</a:t>
            </a:r>
            <a:r>
              <a:rPr lang="en-US" sz="1400" b="1" dirty="0" smtClean="0">
                <a:latin typeface="+mn-ea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print ('stop loop[%d] = %s' %(</a:t>
            </a:r>
            <a:r>
              <a:rPr lang="en-US" sz="1400" b="1" dirty="0" err="1" smtClean="0">
                <a:latin typeface="+mn-ea"/>
              </a:rPr>
              <a:t>nloop</a:t>
            </a:r>
            <a:r>
              <a:rPr lang="en-US" sz="1400" b="1" dirty="0" smtClean="0">
                <a:latin typeface="+mn-ea"/>
              </a:rPr>
              <a:t>, </a:t>
            </a:r>
            <a:r>
              <a:rPr lang="en-US" sz="1400" b="1" dirty="0" err="1" smtClean="0">
                <a:latin typeface="+mn-ea"/>
              </a:rPr>
              <a:t>ctime</a:t>
            </a:r>
            <a:r>
              <a:rPr lang="en-US" sz="1400" b="1" dirty="0" smtClean="0">
                <a:latin typeface="+mn-ea"/>
              </a:rPr>
              <a:t>()))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def test() 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print  ('starting at: %s'  %</a:t>
            </a:r>
            <a:r>
              <a:rPr lang="en-US" sz="1400" b="1" dirty="0" err="1" smtClean="0">
                <a:latin typeface="+mn-ea"/>
              </a:rPr>
              <a:t>ctime</a:t>
            </a:r>
            <a:r>
              <a:rPr lang="en-US" sz="1400" b="1" dirty="0" smtClean="0">
                <a:latin typeface="+mn-ea"/>
              </a:rPr>
              <a:t>())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threads = []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</a:t>
            </a:r>
            <a:r>
              <a:rPr lang="en-US" sz="1400" b="1" dirty="0" err="1" smtClean="0">
                <a:latin typeface="+mn-ea"/>
              </a:rPr>
              <a:t>nloops</a:t>
            </a:r>
            <a:r>
              <a:rPr lang="en-US" sz="1400" b="1" dirty="0" smtClean="0">
                <a:latin typeface="+mn-ea"/>
              </a:rPr>
              <a:t> = range(</a:t>
            </a:r>
            <a:r>
              <a:rPr lang="en-US" sz="1400" b="1" dirty="0" err="1" smtClean="0">
                <a:latin typeface="+mn-ea"/>
              </a:rPr>
              <a:t>len</a:t>
            </a:r>
            <a:r>
              <a:rPr lang="en-US" sz="1400" b="1" dirty="0" smtClean="0">
                <a:latin typeface="+mn-ea"/>
              </a:rPr>
              <a:t>(loops))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for </a:t>
            </a:r>
            <a:r>
              <a:rPr lang="en-US" sz="1400" b="1" dirty="0" err="1" smtClean="0">
                <a:latin typeface="+mn-ea"/>
              </a:rPr>
              <a:t>i</a:t>
            </a:r>
            <a:r>
              <a:rPr lang="en-US" sz="1400" b="1" dirty="0" smtClean="0">
                <a:latin typeface="+mn-ea"/>
              </a:rPr>
              <a:t> in </a:t>
            </a:r>
            <a:r>
              <a:rPr lang="en-US" sz="1400" b="1" dirty="0" err="1" smtClean="0">
                <a:latin typeface="+mn-ea"/>
              </a:rPr>
              <a:t>nloops</a:t>
            </a:r>
            <a:r>
              <a:rPr lang="en-US" sz="1400" b="1" dirty="0" smtClean="0">
                <a:latin typeface="+mn-ea"/>
              </a:rPr>
              <a:t>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 t = </a:t>
            </a:r>
            <a:r>
              <a:rPr lang="en-US" sz="1400" b="1" dirty="0" err="1" smtClean="0">
                <a:latin typeface="+mn-ea"/>
              </a:rPr>
              <a:t>MyThread</a:t>
            </a:r>
            <a:r>
              <a:rPr lang="en-US" sz="1400" b="1" dirty="0" smtClean="0">
                <a:latin typeface="+mn-ea"/>
              </a:rPr>
              <a:t>(loop, (</a:t>
            </a:r>
            <a:r>
              <a:rPr lang="en-US" sz="1400" b="1" dirty="0" err="1" smtClean="0">
                <a:latin typeface="+mn-ea"/>
              </a:rPr>
              <a:t>i,loops</a:t>
            </a:r>
            <a:r>
              <a:rPr lang="en-US" sz="1400" b="1" dirty="0" smtClean="0">
                <a:latin typeface="+mn-ea"/>
              </a:rPr>
              <a:t>[</a:t>
            </a:r>
            <a:r>
              <a:rPr lang="en-US" sz="1400" b="1" dirty="0" err="1" smtClean="0">
                <a:latin typeface="+mn-ea"/>
              </a:rPr>
              <a:t>i</a:t>
            </a:r>
            <a:r>
              <a:rPr lang="en-US" sz="1400" b="1" dirty="0" smtClean="0">
                <a:latin typeface="+mn-ea"/>
              </a:rPr>
              <a:t>]),</a:t>
            </a:r>
            <a:r>
              <a:rPr lang="en-US" sz="1400" b="1" dirty="0" err="1" smtClean="0">
                <a:latin typeface="+mn-ea"/>
              </a:rPr>
              <a:t>loop.__name</a:t>
            </a:r>
            <a:r>
              <a:rPr lang="en-US" sz="1400" b="1" dirty="0" smtClean="0">
                <a:latin typeface="+mn-ea"/>
              </a:rPr>
              <a:t>__)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threads.append</a:t>
            </a:r>
            <a:r>
              <a:rPr lang="en-US" sz="1400" b="1" dirty="0" smtClean="0">
                <a:latin typeface="+mn-ea"/>
              </a:rPr>
              <a:t>(t)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for </a:t>
            </a:r>
            <a:r>
              <a:rPr lang="en-US" sz="1400" b="1" dirty="0" err="1" smtClean="0">
                <a:latin typeface="+mn-ea"/>
              </a:rPr>
              <a:t>i</a:t>
            </a:r>
            <a:r>
              <a:rPr lang="en-US" sz="1400" b="1" dirty="0" smtClean="0">
                <a:latin typeface="+mn-ea"/>
              </a:rPr>
              <a:t> in </a:t>
            </a:r>
            <a:r>
              <a:rPr lang="en-US" sz="1400" b="1" dirty="0" err="1" smtClean="0">
                <a:latin typeface="+mn-ea"/>
              </a:rPr>
              <a:t>nloops</a:t>
            </a:r>
            <a:r>
              <a:rPr lang="en-US" sz="1400" b="1" dirty="0" smtClean="0">
                <a:latin typeface="+mn-ea"/>
              </a:rPr>
              <a:t>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 threads[</a:t>
            </a:r>
            <a:r>
              <a:rPr lang="en-US" sz="1400" b="1" dirty="0" err="1" smtClean="0">
                <a:solidFill>
                  <a:srgbClr val="0000FF"/>
                </a:solidFill>
                <a:latin typeface="+mn-ea"/>
              </a:rPr>
              <a:t>i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].start()       # start()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실행하면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thread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의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run()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실행</a:t>
            </a:r>
            <a:endParaRPr lang="en-US" sz="14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for </a:t>
            </a:r>
            <a:r>
              <a:rPr lang="en-US" sz="1400" b="1" dirty="0" err="1" smtClean="0">
                <a:latin typeface="+mn-ea"/>
              </a:rPr>
              <a:t>i</a:t>
            </a:r>
            <a:r>
              <a:rPr lang="en-US" sz="1400" b="1" dirty="0" smtClean="0">
                <a:latin typeface="+mn-ea"/>
              </a:rPr>
              <a:t> in </a:t>
            </a:r>
            <a:r>
              <a:rPr lang="en-US" sz="1400" b="1" dirty="0" err="1" smtClean="0">
                <a:latin typeface="+mn-ea"/>
              </a:rPr>
              <a:t>nloops</a:t>
            </a:r>
            <a:r>
              <a:rPr lang="en-US" sz="1400" b="1" dirty="0" smtClean="0">
                <a:latin typeface="+mn-ea"/>
              </a:rPr>
              <a:t>: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    threads[</a:t>
            </a:r>
            <a:r>
              <a:rPr lang="en-US" sz="1400" b="1" dirty="0" err="1" smtClean="0">
                <a:latin typeface="+mn-ea"/>
              </a:rPr>
              <a:t>i</a:t>
            </a:r>
            <a:r>
              <a:rPr lang="en-US" sz="1400" b="1" dirty="0" smtClean="0">
                <a:latin typeface="+mn-ea"/>
              </a:rPr>
              <a:t>].join()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 print ('all Done at: %s'  %</a:t>
            </a:r>
            <a:r>
              <a:rPr lang="en-US" sz="1400" b="1" dirty="0" err="1" smtClean="0">
                <a:latin typeface="+mn-ea"/>
              </a:rPr>
              <a:t>ctime</a:t>
            </a:r>
            <a:r>
              <a:rPr lang="en-US" sz="1400" b="1" dirty="0" smtClean="0">
                <a:latin typeface="+mn-ea"/>
              </a:rPr>
              <a:t>())</a:t>
            </a:r>
          </a:p>
          <a:p>
            <a:pPr>
              <a:lnSpc>
                <a:spcPts val="1400"/>
              </a:lnSpc>
            </a:pPr>
            <a:endParaRPr lang="en-US" sz="14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if  __name__ == '__main__' : </a:t>
            </a:r>
          </a:p>
          <a:p>
            <a:pPr>
              <a:lnSpc>
                <a:spcPts val="1400"/>
              </a:lnSpc>
            </a:pPr>
            <a:r>
              <a:rPr lang="en-US" sz="1400" b="1" dirty="0" smtClean="0">
                <a:latin typeface="+mn-ea"/>
              </a:rPr>
              <a:t>   test()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50627" y="1716292"/>
            <a:ext cx="7888406" cy="2585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 smtClean="0"/>
          </a:p>
          <a:p>
            <a:pPr lvl="1"/>
            <a:endParaRPr lang="ko-KR" altLang="en-US" dirty="0" smtClean="0"/>
          </a:p>
          <a:p>
            <a:r>
              <a:rPr lang="ko-KR" altLang="en-US" dirty="0" smtClean="0"/>
              <a:t> 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: Queue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6604" y="1064526"/>
            <a:ext cx="77246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n-ea"/>
              </a:rPr>
              <a:t>  </a:t>
            </a:r>
            <a:r>
              <a:rPr lang="ko-KR" altLang="en-US" b="1" dirty="0" smtClean="0">
                <a:latin typeface="+mn-ea"/>
              </a:rPr>
              <a:t>자료 구조 </a:t>
            </a:r>
            <a:r>
              <a:rPr lang="en-US" altLang="ko-KR" b="1" dirty="0" smtClean="0">
                <a:latin typeface="+mn-ea"/>
              </a:rPr>
              <a:t>: Stack, Queue</a:t>
            </a:r>
          </a:p>
          <a:p>
            <a:pPr>
              <a:lnSpc>
                <a:spcPts val="2400"/>
              </a:lnSpc>
              <a:buFont typeface="Arial" pitchFamily="34" charset="0"/>
              <a:buChar char="•"/>
            </a:pP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함수 </a:t>
            </a:r>
            <a:r>
              <a:rPr lang="ko-KR" altLang="en-US" b="1" dirty="0" err="1" smtClean="0">
                <a:latin typeface="+mn-ea"/>
              </a:rPr>
              <a:t>파라이터</a:t>
            </a:r>
            <a:r>
              <a:rPr lang="ko-KR" altLang="en-US" b="1" dirty="0" smtClean="0">
                <a:latin typeface="+mn-ea"/>
              </a:rPr>
              <a:t> 전달</a:t>
            </a:r>
            <a:r>
              <a:rPr lang="en-US" altLang="ko-KR" b="1" dirty="0" smtClean="0">
                <a:latin typeface="+mn-ea"/>
              </a:rPr>
              <a:t>, </a:t>
            </a:r>
            <a:r>
              <a:rPr lang="ko-KR" altLang="en-US" b="1" dirty="0" smtClean="0">
                <a:latin typeface="+mn-ea"/>
              </a:rPr>
              <a:t>메시지 큐 용도로 사용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ts val="2400"/>
              </a:lnSpc>
              <a:buFont typeface="Arial" pitchFamily="34" charset="0"/>
              <a:buChar char="•"/>
            </a:pPr>
            <a:endParaRPr lang="en-US" altLang="ko-KR" b="1" dirty="0" smtClean="0">
              <a:latin typeface="+mn-ea"/>
            </a:endParaRPr>
          </a:p>
          <a:p>
            <a:pPr>
              <a:lnSpc>
                <a:spcPts val="2400"/>
              </a:lnSpc>
              <a:buFont typeface="Arial" pitchFamily="34" charset="0"/>
              <a:buChar char="•"/>
            </a:pPr>
            <a:r>
              <a:rPr lang="en-US" altLang="ko-KR" b="1" dirty="0" smtClean="0">
                <a:latin typeface="+mn-ea"/>
              </a:rPr>
              <a:t> Queue </a:t>
            </a:r>
            <a:r>
              <a:rPr lang="ko-KR" altLang="en-US" b="1" dirty="0" smtClean="0">
                <a:latin typeface="+mn-ea"/>
              </a:rPr>
              <a:t>모듈의 </a:t>
            </a:r>
            <a:r>
              <a:rPr lang="en-US" altLang="ko-KR" b="1" dirty="0" smtClean="0">
                <a:latin typeface="+mn-ea"/>
              </a:rPr>
              <a:t>Class</a:t>
            </a:r>
            <a:r>
              <a:rPr lang="ko-KR" altLang="en-US" b="1" dirty="0" smtClean="0"/>
              <a:t/>
            </a:r>
            <a:br>
              <a:rPr lang="ko-KR" altLang="en-US" b="1" dirty="0" smtClean="0"/>
            </a:br>
            <a:endParaRPr lang="en-US" b="1" dirty="0" smtClean="0">
              <a:latin typeface="+mn-ea"/>
            </a:endParaRPr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54" y="2570705"/>
            <a:ext cx="8193734" cy="24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: Queue Class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가 가지는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Method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286604" y="1064526"/>
            <a:ext cx="7724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buFont typeface="Arial" pitchFamily="34" charset="0"/>
              <a:buChar char="•"/>
            </a:pPr>
            <a:r>
              <a:rPr lang="en-US" b="1" dirty="0" smtClean="0">
                <a:latin typeface="+mn-ea"/>
              </a:rPr>
              <a:t>  </a:t>
            </a:r>
            <a:r>
              <a:rPr lang="ko-KR" altLang="en-US" b="1" dirty="0" smtClean="0">
                <a:latin typeface="+mn-ea"/>
              </a:rPr>
              <a:t>모든 </a:t>
            </a:r>
            <a:r>
              <a:rPr lang="en-US" altLang="ko-KR" b="1" dirty="0" smtClean="0">
                <a:latin typeface="+mn-ea"/>
              </a:rPr>
              <a:t>Class</a:t>
            </a:r>
            <a:r>
              <a:rPr lang="ko-KR" altLang="en-US" b="1" dirty="0" smtClean="0">
                <a:latin typeface="+mn-ea"/>
              </a:rPr>
              <a:t>는 동일한 </a:t>
            </a:r>
            <a:r>
              <a:rPr lang="en-US" altLang="ko-KR" b="1" dirty="0" smtClean="0">
                <a:latin typeface="+mn-ea"/>
              </a:rPr>
              <a:t>method </a:t>
            </a:r>
            <a:r>
              <a:rPr lang="ko-KR" altLang="en-US" b="1" dirty="0" smtClean="0">
                <a:latin typeface="+mn-ea"/>
              </a:rPr>
              <a:t>를 가짐</a:t>
            </a:r>
            <a:r>
              <a:rPr lang="ko-KR" altLang="en-US" b="1" dirty="0" smtClean="0"/>
              <a:t/>
            </a:r>
            <a:br>
              <a:rPr lang="ko-KR" altLang="en-US" b="1" dirty="0" smtClean="0"/>
            </a:br>
            <a:endParaRPr lang="en-US" b="1" dirty="0" smtClean="0">
              <a:latin typeface="+mn-ea"/>
            </a:endParaRPr>
          </a:p>
        </p:txBody>
      </p:sp>
      <p:pic>
        <p:nvPicPr>
          <p:cNvPr id="8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20" y="1642657"/>
            <a:ext cx="8486368" cy="42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: Queue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사용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2011" y="1064526"/>
            <a:ext cx="863903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smtClean="0">
                <a:latin typeface="+mn-ea"/>
              </a:rPr>
              <a:t>from queue import *</a:t>
            </a:r>
          </a:p>
          <a:p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>
                <a:solidFill>
                  <a:srgbClr val="0000FF"/>
                </a:solidFill>
              </a:rPr>
              <a:t># Queue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생성</a:t>
            </a:r>
            <a:r>
              <a:rPr lang="ko-KR" altLang="en-US" sz="1600" b="1" dirty="0" smtClean="0"/>
              <a:t> </a:t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 = Queue()                         # </a:t>
            </a:r>
            <a:r>
              <a:rPr lang="ko-KR" altLang="en-US" sz="1600" b="1" dirty="0" smtClean="0"/>
              <a:t>큐의 크기가 무한대 </a:t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q2 =Queue(10)                    # </a:t>
            </a:r>
            <a:r>
              <a:rPr lang="ko-KR" altLang="en-US" sz="1600" b="1" dirty="0" smtClean="0"/>
              <a:t>큐의 크기가 </a:t>
            </a:r>
            <a:r>
              <a:rPr lang="en-US" altLang="ko-KR" sz="1600" b="1" dirty="0" smtClean="0"/>
              <a:t>10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>
                <a:solidFill>
                  <a:srgbClr val="0000FF"/>
                </a:solidFill>
              </a:rPr>
              <a:t># Queue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에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자료 넣기 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q1.put(‘apple')                                     # </a:t>
            </a:r>
            <a:r>
              <a:rPr lang="ko-KR" altLang="en-US" sz="1600" b="1" dirty="0" smtClean="0"/>
              <a:t>큐에 데이터를 넣고</a:t>
            </a:r>
            <a:r>
              <a:rPr lang="en-US" altLang="ko-KR" sz="1600" b="1" dirty="0" smtClean="0"/>
              <a:t>, </a:t>
            </a:r>
            <a:r>
              <a:rPr lang="ko-KR" altLang="en-US" sz="1600" b="1" dirty="0" smtClean="0"/>
              <a:t>차 있으면 대기한다</a:t>
            </a:r>
            <a:r>
              <a:rPr lang="en-US" altLang="ko-KR" sz="1600" b="1" dirty="0" smtClean="0"/>
              <a:t>. 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q1.put_nowait(‘apple')                        # </a:t>
            </a:r>
            <a:r>
              <a:rPr lang="ko-KR" altLang="en-US" sz="1600" b="1" dirty="0" smtClean="0"/>
              <a:t>큐에 데이터가 차 있으면</a:t>
            </a:r>
            <a:r>
              <a:rPr lang="en-US" altLang="ko-KR" sz="1600" b="1" dirty="0" smtClean="0"/>
              <a:t>, </a:t>
            </a:r>
            <a:r>
              <a:rPr lang="en-US" altLang="ko-KR" sz="1600" b="1" dirty="0" err="1" smtClean="0"/>
              <a:t>Queue.Full</a:t>
            </a:r>
            <a:r>
              <a:rPr lang="en-US" altLang="ko-KR" sz="1600" b="1" dirty="0" smtClean="0"/>
              <a:t> </a:t>
            </a:r>
            <a:r>
              <a:rPr lang="ko-KR" altLang="en-US" sz="1600" b="1" dirty="0" smtClean="0"/>
              <a:t>반환</a:t>
            </a:r>
            <a:br>
              <a:rPr lang="ko-KR" altLang="en-US" sz="1600" b="1" dirty="0" smtClean="0"/>
            </a:b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>
                <a:solidFill>
                  <a:srgbClr val="0000FF"/>
                </a:solidFill>
              </a:rPr>
              <a:t># Queue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에서 자료 꺼내기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q1.get()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q1.get_nowait() 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>
                <a:solidFill>
                  <a:srgbClr val="0000FF"/>
                </a:solidFill>
              </a:rPr>
              <a:t># Queue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상태를 알려주는 </a:t>
            </a:r>
            <a:r>
              <a:rPr lang="ko-KR" altLang="en-US" sz="1600" b="1" dirty="0" err="1" smtClean="0">
                <a:solidFill>
                  <a:srgbClr val="0000FF"/>
                </a:solidFill>
              </a:rPr>
              <a:t>메소드</a:t>
            </a:r>
            <a:r>
              <a:rPr lang="ko-KR" altLang="en-US" sz="1600" b="1" dirty="0" smtClean="0"/>
              <a:t> </a:t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q1.qsize()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q1.empty()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/>
              <a:t>q1.full()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r>
              <a:rPr lang="en-US" altLang="ko-KR" sz="1600" b="1" dirty="0" smtClean="0">
                <a:solidFill>
                  <a:srgbClr val="0000FF"/>
                </a:solidFill>
              </a:rPr>
              <a:t># Queue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를 초기화 하는 방법 </a:t>
            </a:r>
          </a:p>
          <a:p>
            <a:r>
              <a:rPr lang="ko-KR" altLang="en-US" sz="1600" b="1" dirty="0" smtClean="0"/>
              <a:t> </a:t>
            </a:r>
            <a:r>
              <a:rPr lang="en-US" altLang="ko-KR" sz="1600" b="1" dirty="0" err="1" smtClean="0"/>
              <a:t>que.__init</a:t>
            </a:r>
            <a:r>
              <a:rPr lang="en-US" altLang="ko-KR" sz="1600" b="1" dirty="0" smtClean="0"/>
              <a:t>__()</a:t>
            </a:r>
            <a:r>
              <a:rPr lang="ko-KR" altLang="en-US" sz="1600" b="1" dirty="0" smtClean="0"/>
              <a:t/>
            </a:r>
            <a:br>
              <a:rPr lang="ko-KR" altLang="en-US" sz="1600" b="1" dirty="0" smtClean="0"/>
            </a:br>
            <a:endParaRPr lang="en-US" sz="16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: Queue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사용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2011" y="1064526"/>
            <a:ext cx="863903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smtClean="0">
                <a:latin typeface="+mn-ea"/>
              </a:rPr>
              <a:t>from </a:t>
            </a:r>
            <a:r>
              <a:rPr lang="en-US" sz="1600" b="1" dirty="0" smtClean="0">
                <a:latin typeface="+mn-ea"/>
              </a:rPr>
              <a:t>queue import *</a:t>
            </a:r>
          </a:p>
          <a:p>
            <a:endParaRPr lang="en-US" sz="1600" b="1" dirty="0" smtClean="0">
              <a:latin typeface="+mn-ea"/>
            </a:endParaRPr>
          </a:p>
          <a:p>
            <a:r>
              <a:rPr lang="en-US" sz="1600" b="1" dirty="0" smtClean="0">
                <a:latin typeface="+mn-ea"/>
              </a:rPr>
              <a:t>q1=Queue(4)</a:t>
            </a:r>
          </a:p>
          <a:p>
            <a:endParaRPr lang="en-US" sz="1600" b="1" dirty="0" smtClean="0">
              <a:latin typeface="+mn-ea"/>
            </a:endParaRPr>
          </a:p>
          <a:p>
            <a:r>
              <a:rPr lang="en-US" sz="1600" b="1" dirty="0" smtClean="0">
                <a:latin typeface="+mn-ea"/>
              </a:rPr>
              <a:t>q1.put('apple')</a:t>
            </a:r>
          </a:p>
          <a:p>
            <a:r>
              <a:rPr lang="en-US" sz="1600" b="1" dirty="0" smtClean="0">
                <a:latin typeface="+mn-ea"/>
              </a:rPr>
              <a:t>q1.put('</a:t>
            </a:r>
            <a:r>
              <a:rPr lang="en-US" sz="1600" b="1" dirty="0" err="1" smtClean="0">
                <a:latin typeface="+mn-ea"/>
              </a:rPr>
              <a:t>bae</a:t>
            </a:r>
            <a:r>
              <a:rPr lang="en-US" sz="1600" b="1" dirty="0" smtClean="0">
                <a:latin typeface="+mn-ea"/>
              </a:rPr>
              <a:t>')</a:t>
            </a:r>
          </a:p>
          <a:p>
            <a:r>
              <a:rPr lang="en-US" sz="1600" b="1" dirty="0" smtClean="0">
                <a:latin typeface="+mn-ea"/>
              </a:rPr>
              <a:t>q1.put('</a:t>
            </a:r>
            <a:r>
              <a:rPr lang="en-US" sz="1600" b="1" dirty="0" err="1" smtClean="0">
                <a:latin typeface="+mn-ea"/>
              </a:rPr>
              <a:t>subak</a:t>
            </a:r>
            <a:r>
              <a:rPr lang="en-US" sz="1600" b="1" dirty="0" smtClean="0">
                <a:latin typeface="+mn-ea"/>
              </a:rPr>
              <a:t>')</a:t>
            </a:r>
          </a:p>
          <a:p>
            <a:r>
              <a:rPr lang="en-US" sz="1600" b="1" dirty="0" smtClean="0">
                <a:latin typeface="+mn-ea"/>
              </a:rPr>
              <a:t>q1.put('</a:t>
            </a:r>
            <a:r>
              <a:rPr lang="en-US" sz="1600" b="1" dirty="0" err="1" smtClean="0">
                <a:latin typeface="+mn-ea"/>
              </a:rPr>
              <a:t>dduk</a:t>
            </a:r>
            <a:r>
              <a:rPr lang="en-US" sz="1600" b="1" dirty="0" smtClean="0">
                <a:latin typeface="+mn-ea"/>
              </a:rPr>
              <a:t>')</a:t>
            </a:r>
          </a:p>
          <a:p>
            <a:endParaRPr lang="en-US" sz="1600" b="1" dirty="0" smtClean="0">
              <a:latin typeface="+mn-ea"/>
            </a:endParaRPr>
          </a:p>
          <a:p>
            <a:r>
              <a:rPr lang="en-US" sz="1600" b="1" dirty="0" smtClean="0">
                <a:latin typeface="+mn-ea"/>
              </a:rPr>
              <a:t>print ('q size= %d' %q1.qsize())</a:t>
            </a:r>
          </a:p>
          <a:p>
            <a:endParaRPr lang="en-US" sz="1600" b="1" dirty="0" smtClean="0">
              <a:latin typeface="+mn-ea"/>
            </a:endParaRPr>
          </a:p>
          <a:p>
            <a:r>
              <a:rPr lang="en-US" sz="1600" b="1" dirty="0" smtClean="0">
                <a:latin typeface="+mn-ea"/>
              </a:rPr>
              <a:t>data1=q1.get()</a:t>
            </a:r>
          </a:p>
          <a:p>
            <a:r>
              <a:rPr lang="en-US" sz="1600" b="1" dirty="0" smtClean="0">
                <a:latin typeface="+mn-ea"/>
              </a:rPr>
              <a:t>print (data1)</a:t>
            </a:r>
          </a:p>
          <a:p>
            <a:r>
              <a:rPr lang="en-US" sz="1600" b="1" dirty="0" smtClean="0">
                <a:latin typeface="+mn-ea"/>
              </a:rPr>
              <a:t>data1=q1.get()</a:t>
            </a:r>
          </a:p>
          <a:p>
            <a:r>
              <a:rPr lang="en-US" sz="1600" b="1" dirty="0" smtClean="0">
                <a:latin typeface="+mn-ea"/>
              </a:rPr>
              <a:t>print (data1)</a:t>
            </a:r>
          </a:p>
          <a:p>
            <a:r>
              <a:rPr lang="en-US" sz="1600" b="1" dirty="0" smtClean="0">
                <a:latin typeface="+mn-ea"/>
              </a:rPr>
              <a:t>data1=q1.get()</a:t>
            </a:r>
          </a:p>
          <a:p>
            <a:r>
              <a:rPr lang="en-US" sz="1600" b="1" dirty="0" smtClean="0">
                <a:latin typeface="+mn-ea"/>
              </a:rPr>
              <a:t>print (data1)</a:t>
            </a:r>
          </a:p>
          <a:p>
            <a:r>
              <a:rPr lang="en-US" sz="1600" b="1" dirty="0" smtClean="0">
                <a:latin typeface="+mn-ea"/>
              </a:rPr>
              <a:t>data1=q1.get()</a:t>
            </a:r>
          </a:p>
          <a:p>
            <a:r>
              <a:rPr lang="en-US" sz="1600" b="1" dirty="0" smtClean="0">
                <a:latin typeface="+mn-ea"/>
              </a:rPr>
              <a:t>print (data1)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: Queue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사용   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#thread_5.py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2011" y="1064526"/>
            <a:ext cx="863903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from queue import *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import threading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from </a:t>
            </a:r>
            <a:r>
              <a:rPr lang="en-US" sz="1400" b="1" dirty="0" err="1" smtClean="0">
                <a:latin typeface="+mn-ea"/>
              </a:rPr>
              <a:t>urllib.request</a:t>
            </a:r>
            <a:r>
              <a:rPr lang="en-US" sz="1400" b="1" dirty="0" smtClean="0">
                <a:latin typeface="+mn-ea"/>
              </a:rPr>
              <a:t> import </a:t>
            </a:r>
            <a:r>
              <a:rPr lang="en-US" sz="1400" b="1" dirty="0" err="1" smtClean="0">
                <a:latin typeface="+mn-ea"/>
              </a:rPr>
              <a:t>urlopen</a:t>
            </a:r>
            <a:endParaRPr lang="en-US" sz="1400" b="1" dirty="0" smtClean="0">
              <a:latin typeface="+mn-ea"/>
            </a:endParaRP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import time</a:t>
            </a:r>
          </a:p>
          <a:p>
            <a:pPr>
              <a:lnSpc>
                <a:spcPts val="1500"/>
              </a:lnSpc>
            </a:pPr>
            <a:endParaRPr lang="en-US" sz="1400" b="1" dirty="0" smtClean="0">
              <a:latin typeface="+mn-ea"/>
            </a:endParaRP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hosts = ["http://naver.com", "http://google.com", "http://daum.net", </a:t>
            </a:r>
            <a:r>
              <a:rPr lang="en-US" sz="1400" b="1" dirty="0" smtClean="0">
                <a:latin typeface="+mn-ea"/>
                <a:hlinkClick r:id="rId2"/>
              </a:rPr>
              <a:t>http://python.org</a:t>
            </a:r>
            <a:r>
              <a:rPr lang="en-US" sz="1400" b="1" dirty="0" smtClean="0">
                <a:latin typeface="+mn-ea"/>
              </a:rPr>
              <a:t>]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queue = Queue(</a:t>
            </a:r>
            <a:r>
              <a:rPr lang="en-US" sz="1400" b="1" dirty="0" err="1" smtClean="0">
                <a:latin typeface="+mn-ea"/>
              </a:rPr>
              <a:t>maxsize</a:t>
            </a:r>
            <a:r>
              <a:rPr lang="en-US" sz="1400" b="1" dirty="0" smtClean="0">
                <a:latin typeface="+mn-ea"/>
              </a:rPr>
              <a:t>=0)            # </a:t>
            </a:r>
            <a:r>
              <a:rPr lang="ko-KR" altLang="en-US" sz="1400" b="1" dirty="0" smtClean="0">
                <a:latin typeface="+mn-ea"/>
              </a:rPr>
              <a:t>큐 </a:t>
            </a:r>
            <a:r>
              <a:rPr lang="ko-KR" altLang="en-US" sz="1400" b="1" dirty="0" err="1" smtClean="0">
                <a:latin typeface="+mn-ea"/>
              </a:rPr>
              <a:t>인스턴스</a:t>
            </a:r>
            <a:r>
              <a:rPr lang="ko-KR" altLang="en-US" sz="1400" b="1" dirty="0" smtClean="0">
                <a:latin typeface="+mn-ea"/>
              </a:rPr>
              <a:t> 생성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class </a:t>
            </a:r>
            <a:r>
              <a:rPr lang="en-US" sz="1400" b="1" dirty="0" err="1" smtClean="0">
                <a:latin typeface="+mn-ea"/>
              </a:rPr>
              <a:t>ThreadUrl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threading.Thread</a:t>
            </a:r>
            <a:r>
              <a:rPr lang="en-US" sz="1400" b="1" dirty="0" smtClean="0">
                <a:latin typeface="+mn-ea"/>
              </a:rPr>
              <a:t>):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def __init__(self, queue):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threading.Thread.__init</a:t>
            </a:r>
            <a:r>
              <a:rPr lang="en-US" sz="1400" b="1" dirty="0" smtClean="0">
                <a:latin typeface="+mn-ea"/>
              </a:rPr>
              <a:t>__(self)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self.queue</a:t>
            </a:r>
            <a:r>
              <a:rPr lang="en-US" sz="1400" b="1" dirty="0" smtClean="0">
                <a:latin typeface="+mn-ea"/>
              </a:rPr>
              <a:t> = queue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def run(self):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while True: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    host = </a:t>
            </a:r>
            <a:r>
              <a:rPr lang="en-US" sz="1400" b="1" dirty="0" err="1" smtClean="0">
                <a:latin typeface="+mn-ea"/>
              </a:rPr>
              <a:t>self.queue.get</a:t>
            </a:r>
            <a:r>
              <a:rPr lang="en-US" sz="1400" b="1" dirty="0" smtClean="0">
                <a:latin typeface="+mn-ea"/>
              </a:rPr>
              <a:t>()   #</a:t>
            </a:r>
            <a:r>
              <a:rPr lang="ko-KR" altLang="en-US" sz="1400" b="1" dirty="0" smtClean="0">
                <a:latin typeface="+mn-ea"/>
              </a:rPr>
              <a:t>큐에서 호스트를 가져옴</a:t>
            </a:r>
          </a:p>
          <a:p>
            <a:pPr>
              <a:lnSpc>
                <a:spcPts val="1500"/>
              </a:lnSpc>
            </a:pPr>
            <a:r>
              <a:rPr lang="ko-KR" altLang="en-US" sz="1400" b="1" dirty="0" smtClean="0">
                <a:latin typeface="+mn-ea"/>
              </a:rPr>
              <a:t>            </a:t>
            </a:r>
            <a:r>
              <a:rPr lang="en-US" sz="1400" b="1" dirty="0" err="1" smtClean="0">
                <a:latin typeface="+mn-ea"/>
              </a:rPr>
              <a:t>url</a:t>
            </a:r>
            <a:r>
              <a:rPr lang="en-US" sz="1400" b="1" dirty="0" smtClean="0">
                <a:latin typeface="+mn-ea"/>
              </a:rPr>
              <a:t> = </a:t>
            </a:r>
            <a:r>
              <a:rPr lang="en-US" sz="1400" b="1" dirty="0" err="1" smtClean="0">
                <a:latin typeface="+mn-ea"/>
              </a:rPr>
              <a:t>urlopen</a:t>
            </a:r>
            <a:r>
              <a:rPr lang="en-US" sz="1400" b="1" dirty="0" smtClean="0">
                <a:latin typeface="+mn-ea"/>
              </a:rPr>
              <a:t>(host)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    print (</a:t>
            </a:r>
            <a:r>
              <a:rPr lang="en-US" sz="1400" b="1" dirty="0" err="1" smtClean="0">
                <a:latin typeface="+mn-ea"/>
              </a:rPr>
              <a:t>url.read</a:t>
            </a:r>
            <a:r>
              <a:rPr lang="en-US" sz="1400" b="1" dirty="0" smtClean="0">
                <a:latin typeface="+mn-ea"/>
              </a:rPr>
              <a:t>(1024))    # 1024</a:t>
            </a:r>
            <a:r>
              <a:rPr lang="ko-KR" altLang="en-US" sz="1400" b="1" dirty="0" smtClean="0">
                <a:latin typeface="+mn-ea"/>
              </a:rPr>
              <a:t>바이트 출력</a:t>
            </a:r>
          </a:p>
          <a:p>
            <a:pPr>
              <a:lnSpc>
                <a:spcPts val="1500"/>
              </a:lnSpc>
            </a:pPr>
            <a:r>
              <a:rPr lang="ko-KR" altLang="en-US" sz="1400" b="1" dirty="0" smtClean="0">
                <a:latin typeface="+mn-ea"/>
              </a:rPr>
              <a:t>            </a:t>
            </a:r>
            <a:r>
              <a:rPr lang="en-US" sz="1400" b="1" dirty="0" err="1" smtClean="0">
                <a:latin typeface="+mn-ea"/>
              </a:rPr>
              <a:t>self.queue.task_done</a:t>
            </a:r>
            <a:r>
              <a:rPr lang="en-US" sz="1400" b="1" dirty="0" smtClean="0">
                <a:latin typeface="+mn-ea"/>
              </a:rPr>
              <a:t>()    # </a:t>
            </a:r>
            <a:r>
              <a:rPr lang="ko-KR" altLang="en-US" sz="1400" b="1" dirty="0" smtClean="0">
                <a:latin typeface="+mn-ea"/>
              </a:rPr>
              <a:t>작업완료 시그널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start = </a:t>
            </a:r>
            <a:r>
              <a:rPr lang="en-US" sz="1400" b="1" dirty="0" err="1" smtClean="0">
                <a:latin typeface="+mn-ea"/>
              </a:rPr>
              <a:t>time.time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def main():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for </a:t>
            </a:r>
            <a:r>
              <a:rPr lang="en-US" sz="1400" b="1" dirty="0" err="1" smtClean="0">
                <a:latin typeface="+mn-ea"/>
              </a:rPr>
              <a:t>i</a:t>
            </a:r>
            <a:r>
              <a:rPr lang="en-US" sz="1400" b="1" dirty="0" smtClean="0">
                <a:latin typeface="+mn-ea"/>
              </a:rPr>
              <a:t> in range(3):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t = </a:t>
            </a:r>
            <a:r>
              <a:rPr lang="en-US" sz="1400" b="1" dirty="0" err="1" smtClean="0">
                <a:latin typeface="+mn-ea"/>
              </a:rPr>
              <a:t>ThreadUrl</a:t>
            </a:r>
            <a:r>
              <a:rPr lang="en-US" sz="1400" b="1" dirty="0" smtClean="0">
                <a:latin typeface="+mn-ea"/>
              </a:rPr>
              <a:t>(queue)    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t.setDaemon</a:t>
            </a:r>
            <a:r>
              <a:rPr lang="en-US" sz="1400" b="1" dirty="0" smtClean="0">
                <a:latin typeface="+mn-ea"/>
              </a:rPr>
              <a:t>(True)           # </a:t>
            </a:r>
            <a:r>
              <a:rPr lang="ko-KR" altLang="en-US" sz="1400" b="1" dirty="0" smtClean="0">
                <a:latin typeface="+mn-ea"/>
              </a:rPr>
              <a:t>데몬 </a:t>
            </a:r>
            <a:r>
              <a:rPr lang="ko-KR" altLang="en-US" sz="1400" b="1" dirty="0" err="1" smtClean="0">
                <a:latin typeface="+mn-ea"/>
              </a:rPr>
              <a:t>스레드가</a:t>
            </a:r>
            <a:r>
              <a:rPr lang="ko-KR" altLang="en-US" sz="1400" b="1" dirty="0" smtClean="0">
                <a:latin typeface="+mn-ea"/>
              </a:rPr>
              <a:t> 살아 있는 경우만 종료</a:t>
            </a:r>
          </a:p>
          <a:p>
            <a:pPr>
              <a:lnSpc>
                <a:spcPts val="1500"/>
              </a:lnSpc>
            </a:pPr>
            <a:r>
              <a:rPr lang="ko-KR" alt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t.start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for host in hosts: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queue.put</a:t>
            </a:r>
            <a:r>
              <a:rPr lang="en-US" sz="1400" b="1" dirty="0" smtClean="0">
                <a:latin typeface="+mn-ea"/>
              </a:rPr>
              <a:t>(host)            # </a:t>
            </a:r>
            <a:r>
              <a:rPr lang="ko-KR" altLang="en-US" sz="1400" b="1" dirty="0" smtClean="0">
                <a:latin typeface="+mn-ea"/>
              </a:rPr>
              <a:t>큐에 자료 </a:t>
            </a:r>
            <a:r>
              <a:rPr lang="ko-KR" altLang="en-US" sz="1400" b="1" dirty="0" err="1" smtClean="0">
                <a:latin typeface="+mn-ea"/>
              </a:rPr>
              <a:t>밀어넣음</a:t>
            </a:r>
            <a:endParaRPr lang="ko-KR" altLang="en-US" sz="1400" b="1" dirty="0" smtClean="0">
              <a:latin typeface="+mn-ea"/>
            </a:endParaRPr>
          </a:p>
          <a:p>
            <a:pPr>
              <a:lnSpc>
                <a:spcPts val="1500"/>
              </a:lnSpc>
            </a:pPr>
            <a:r>
              <a:rPr lang="ko-KR" altLang="en-US" sz="1400" b="1" dirty="0" smtClean="0">
                <a:latin typeface="+mn-ea"/>
              </a:rPr>
              <a:t>    </a:t>
            </a:r>
            <a:r>
              <a:rPr lang="en-US" sz="1400" b="1" dirty="0" err="1" smtClean="0">
                <a:latin typeface="+mn-ea"/>
              </a:rPr>
              <a:t>queue.join</a:t>
            </a:r>
            <a:r>
              <a:rPr lang="en-US" sz="1400" b="1" dirty="0" smtClean="0">
                <a:latin typeface="+mn-ea"/>
              </a:rPr>
              <a:t>()                     # </a:t>
            </a:r>
            <a:r>
              <a:rPr lang="ko-KR" altLang="en-US" sz="1400" b="1" dirty="0" smtClean="0">
                <a:latin typeface="+mn-ea"/>
              </a:rPr>
              <a:t>큐 완료 대기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main()</a:t>
            </a:r>
          </a:p>
          <a:p>
            <a:pPr>
              <a:lnSpc>
                <a:spcPts val="1500"/>
              </a:lnSpc>
            </a:pPr>
            <a:r>
              <a:rPr lang="en-US" sz="1400" b="1" dirty="0" smtClean="0">
                <a:latin typeface="+mn-ea"/>
              </a:rPr>
              <a:t>print  ("Elapsed Time: %s" % (</a:t>
            </a:r>
            <a:r>
              <a:rPr lang="en-US" sz="1400" b="1" dirty="0" err="1" smtClean="0">
                <a:latin typeface="+mn-ea"/>
              </a:rPr>
              <a:t>time.time</a:t>
            </a:r>
            <a:r>
              <a:rPr lang="en-US" sz="1400" b="1" dirty="0" smtClean="0">
                <a:latin typeface="+mn-ea"/>
              </a:rPr>
              <a:t>() - start))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다중 큐   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#thread_6.py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2011" y="1064526"/>
            <a:ext cx="863903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from queue import *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import threading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from </a:t>
            </a:r>
            <a:r>
              <a:rPr lang="en-US" sz="1600" b="1" dirty="0" err="1" smtClean="0">
                <a:latin typeface="+mn-ea"/>
              </a:rPr>
              <a:t>urllib.request</a:t>
            </a:r>
            <a:r>
              <a:rPr lang="en-US" sz="1600" b="1" dirty="0" smtClean="0">
                <a:latin typeface="+mn-ea"/>
              </a:rPr>
              <a:t> import </a:t>
            </a:r>
            <a:r>
              <a:rPr lang="en-US" sz="1600" b="1" dirty="0" err="1" smtClean="0">
                <a:latin typeface="+mn-ea"/>
              </a:rPr>
              <a:t>urlopen</a:t>
            </a:r>
            <a:endParaRPr lang="en-US" sz="1600" b="1" dirty="0" smtClean="0"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import time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from bs4  import </a:t>
            </a:r>
            <a:r>
              <a:rPr lang="en-US" sz="1600" b="1" dirty="0" err="1" smtClean="0">
                <a:latin typeface="+mn-ea"/>
              </a:rPr>
              <a:t>BeautifulSoup</a:t>
            </a:r>
            <a:endParaRPr lang="en-US" sz="1600" b="1" dirty="0" smtClean="0">
              <a:latin typeface="+mn-ea"/>
            </a:endParaRPr>
          </a:p>
          <a:p>
            <a:pPr>
              <a:lnSpc>
                <a:spcPts val="1800"/>
              </a:lnSpc>
            </a:pPr>
            <a:endParaRPr lang="en-US" sz="1600" b="1" dirty="0" smtClean="0"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hosts = ["http://naver.com", "http://google.com", "http://daum.net", "http://python.org"]</a:t>
            </a:r>
          </a:p>
          <a:p>
            <a:pPr>
              <a:lnSpc>
                <a:spcPts val="1800"/>
              </a:lnSpc>
            </a:pPr>
            <a:endParaRPr lang="en-US" sz="1600" b="1" dirty="0" smtClean="0"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queue = Queue(</a:t>
            </a:r>
            <a:r>
              <a:rPr lang="en-US" sz="1600" b="1" dirty="0" err="1" smtClean="0">
                <a:latin typeface="+mn-ea"/>
              </a:rPr>
              <a:t>maxsize</a:t>
            </a:r>
            <a:r>
              <a:rPr lang="en-US" sz="1600" b="1" dirty="0" smtClean="0">
                <a:latin typeface="+mn-ea"/>
              </a:rPr>
              <a:t>=0)            # </a:t>
            </a:r>
            <a:r>
              <a:rPr lang="ko-KR" altLang="en-US" sz="1600" b="1" dirty="0" smtClean="0">
                <a:latin typeface="+mn-ea"/>
              </a:rPr>
              <a:t>큐 </a:t>
            </a:r>
            <a:r>
              <a:rPr lang="ko-KR" altLang="en-US" sz="1600" b="1" dirty="0" err="1" smtClean="0">
                <a:latin typeface="+mn-ea"/>
              </a:rPr>
              <a:t>인스턴스</a:t>
            </a:r>
            <a:r>
              <a:rPr lang="ko-KR" altLang="en-US" sz="1600" b="1" dirty="0" smtClean="0">
                <a:latin typeface="+mn-ea"/>
              </a:rPr>
              <a:t> 생성</a:t>
            </a:r>
          </a:p>
          <a:p>
            <a:pPr>
              <a:lnSpc>
                <a:spcPts val="1800"/>
              </a:lnSpc>
            </a:pPr>
            <a:r>
              <a:rPr lang="en-US" sz="1600" b="1" dirty="0" err="1" smtClean="0">
                <a:latin typeface="+mn-ea"/>
              </a:rPr>
              <a:t>out_queue</a:t>
            </a:r>
            <a:r>
              <a:rPr lang="en-US" sz="1600" b="1" dirty="0" smtClean="0">
                <a:latin typeface="+mn-ea"/>
              </a:rPr>
              <a:t>=Queue(</a:t>
            </a:r>
            <a:r>
              <a:rPr lang="en-US" sz="1600" b="1" dirty="0" err="1" smtClean="0">
                <a:latin typeface="+mn-ea"/>
              </a:rPr>
              <a:t>maxsize</a:t>
            </a:r>
            <a:r>
              <a:rPr lang="en-US" sz="1600" b="1" dirty="0" smtClean="0">
                <a:latin typeface="+mn-ea"/>
              </a:rPr>
              <a:t>=0)      # </a:t>
            </a:r>
            <a:r>
              <a:rPr lang="ko-KR" altLang="en-US" sz="1600" b="1" dirty="0" err="1" smtClean="0">
                <a:latin typeface="+mn-ea"/>
              </a:rPr>
              <a:t>대기열</a:t>
            </a:r>
            <a:r>
              <a:rPr lang="ko-KR" altLang="en-US" sz="1600" b="1" dirty="0" smtClean="0">
                <a:latin typeface="+mn-ea"/>
              </a:rPr>
              <a:t> 최대 크기</a:t>
            </a:r>
            <a:r>
              <a:rPr lang="en-US" altLang="ko-KR" sz="1600" b="1" dirty="0" smtClean="0">
                <a:latin typeface="+mn-ea"/>
              </a:rPr>
              <a:t>, 0</a:t>
            </a:r>
            <a:r>
              <a:rPr lang="ko-KR" altLang="en-US" sz="1600" b="1" dirty="0" smtClean="0">
                <a:latin typeface="+mn-ea"/>
              </a:rPr>
              <a:t>보다 크거나 작으면 무한</a:t>
            </a:r>
            <a:endParaRPr lang="en-US" sz="1600" b="1" dirty="0" smtClean="0"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class </a:t>
            </a:r>
            <a:r>
              <a:rPr lang="en-US" sz="1600" b="1" dirty="0" err="1" smtClean="0">
                <a:latin typeface="+mn-ea"/>
              </a:rPr>
              <a:t>ThreadUrl</a:t>
            </a:r>
            <a:r>
              <a:rPr lang="en-US" sz="1600" b="1" dirty="0" smtClean="0">
                <a:latin typeface="+mn-ea"/>
              </a:rPr>
              <a:t>(</a:t>
            </a:r>
            <a:r>
              <a:rPr lang="en-US" sz="1600" b="1" dirty="0" err="1" smtClean="0">
                <a:latin typeface="+mn-ea"/>
              </a:rPr>
              <a:t>threading.Thread</a:t>
            </a:r>
            <a:r>
              <a:rPr lang="en-US" sz="1600" b="1" dirty="0" smtClean="0">
                <a:latin typeface="+mn-ea"/>
              </a:rPr>
              <a:t>):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def __init__(self, queue, </a:t>
            </a:r>
            <a:r>
              <a:rPr lang="en-US" sz="1600" b="1" dirty="0" err="1" smtClean="0">
                <a:latin typeface="+mn-ea"/>
              </a:rPr>
              <a:t>out_queue</a:t>
            </a:r>
            <a:r>
              <a:rPr lang="en-US" sz="1600" b="1" dirty="0" smtClean="0">
                <a:latin typeface="+mn-ea"/>
              </a:rPr>
              <a:t>):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threading.Thread.__init</a:t>
            </a:r>
            <a:r>
              <a:rPr lang="en-US" sz="1600" b="1" dirty="0" smtClean="0">
                <a:latin typeface="+mn-ea"/>
              </a:rPr>
              <a:t>__(self)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self.queue</a:t>
            </a:r>
            <a:r>
              <a:rPr lang="en-US" sz="1600" b="1" dirty="0" smtClean="0">
                <a:latin typeface="+mn-ea"/>
              </a:rPr>
              <a:t> = queue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self.out_queue</a:t>
            </a:r>
            <a:r>
              <a:rPr lang="en-US" sz="1600" b="1" dirty="0" smtClean="0">
                <a:latin typeface="+mn-ea"/>
              </a:rPr>
              <a:t> = </a:t>
            </a:r>
            <a:r>
              <a:rPr lang="en-US" sz="1600" b="1" dirty="0" err="1" smtClean="0">
                <a:latin typeface="+mn-ea"/>
              </a:rPr>
              <a:t>out_queue</a:t>
            </a:r>
            <a:endParaRPr lang="en-US" sz="1600" b="1" dirty="0" smtClean="0"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def run(self):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while True: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    host = </a:t>
            </a:r>
            <a:r>
              <a:rPr lang="en-US" sz="1600" b="1" dirty="0" err="1" smtClean="0">
                <a:latin typeface="+mn-ea"/>
              </a:rPr>
              <a:t>self.queue.get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    </a:t>
            </a:r>
            <a:r>
              <a:rPr lang="en-US" sz="1600" b="1" dirty="0" err="1" smtClean="0">
                <a:latin typeface="+mn-ea"/>
              </a:rPr>
              <a:t>url</a:t>
            </a:r>
            <a:r>
              <a:rPr lang="en-US" sz="1600" b="1" dirty="0" smtClean="0">
                <a:latin typeface="+mn-ea"/>
              </a:rPr>
              <a:t> = </a:t>
            </a:r>
            <a:r>
              <a:rPr lang="en-US" sz="1600" b="1" dirty="0" err="1" smtClean="0">
                <a:latin typeface="+mn-ea"/>
              </a:rPr>
              <a:t>urlopen</a:t>
            </a:r>
            <a:r>
              <a:rPr lang="en-US" sz="1600" b="1" dirty="0" smtClean="0">
                <a:latin typeface="+mn-ea"/>
              </a:rPr>
              <a:t>(host)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    chunk = </a:t>
            </a:r>
            <a:r>
              <a:rPr lang="en-US" sz="1600" b="1" dirty="0" err="1" smtClean="0">
                <a:latin typeface="+mn-ea"/>
              </a:rPr>
              <a:t>url.read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    </a:t>
            </a:r>
            <a:r>
              <a:rPr lang="en-US" sz="1600" b="1" dirty="0" err="1" smtClean="0">
                <a:latin typeface="+mn-ea"/>
              </a:rPr>
              <a:t>self.out_queue.put</a:t>
            </a:r>
            <a:r>
              <a:rPr lang="en-US" sz="1600" b="1" dirty="0" smtClean="0">
                <a:latin typeface="+mn-ea"/>
              </a:rPr>
              <a:t>(chunk)</a:t>
            </a:r>
          </a:p>
          <a:p>
            <a:pPr>
              <a:lnSpc>
                <a:spcPts val="1800"/>
              </a:lnSpc>
            </a:pPr>
            <a:r>
              <a:rPr lang="en-US" sz="1600" b="1" dirty="0" smtClean="0">
                <a:latin typeface="+mn-ea"/>
              </a:rPr>
              <a:t>            </a:t>
            </a:r>
            <a:r>
              <a:rPr lang="en-US" sz="1600" b="1" dirty="0" err="1" smtClean="0">
                <a:latin typeface="+mn-ea"/>
              </a:rPr>
              <a:t>self.queue.task_done</a:t>
            </a:r>
            <a:r>
              <a:rPr lang="en-US" sz="1600" b="1" dirty="0" smtClean="0">
                <a:latin typeface="+mn-ea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Thread 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다중 큐   </a:t>
            </a:r>
            <a:r>
              <a:rPr lang="en-US" altLang="ko-KR" sz="2000" b="1" dirty="0" smtClean="0">
                <a:solidFill>
                  <a:schemeClr val="tx1"/>
                </a:solidFill>
                <a:latin typeface="+mn-ea"/>
              </a:rPr>
              <a:t>#thread_6.py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2011" y="1064526"/>
            <a:ext cx="86390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class </a:t>
            </a:r>
            <a:r>
              <a:rPr lang="en-US" sz="1600" b="1" dirty="0" err="1" smtClean="0">
                <a:latin typeface="+mn-ea"/>
              </a:rPr>
              <a:t>DatamineThread</a:t>
            </a:r>
            <a:r>
              <a:rPr lang="en-US" sz="1600" b="1" dirty="0" smtClean="0">
                <a:latin typeface="+mn-ea"/>
              </a:rPr>
              <a:t>(</a:t>
            </a:r>
            <a:r>
              <a:rPr lang="en-US" sz="1600" b="1" dirty="0" err="1" smtClean="0">
                <a:latin typeface="+mn-ea"/>
              </a:rPr>
              <a:t>threading.Thread</a:t>
            </a:r>
            <a:r>
              <a:rPr lang="en-US" sz="1600" b="1" dirty="0" smtClean="0">
                <a:latin typeface="+mn-ea"/>
              </a:rPr>
              <a:t>):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def __init__(self, </a:t>
            </a:r>
            <a:r>
              <a:rPr lang="en-US" sz="1600" b="1" dirty="0" err="1" smtClean="0">
                <a:latin typeface="+mn-ea"/>
              </a:rPr>
              <a:t>out_queue</a:t>
            </a:r>
            <a:r>
              <a:rPr lang="en-US" sz="1600" b="1" dirty="0" smtClean="0">
                <a:latin typeface="+mn-ea"/>
              </a:rPr>
              <a:t>):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threading.Thread.__init</a:t>
            </a:r>
            <a:r>
              <a:rPr lang="en-US" sz="1600" b="1" dirty="0" smtClean="0">
                <a:latin typeface="+mn-ea"/>
              </a:rPr>
              <a:t>__(self)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self.out_queue</a:t>
            </a:r>
            <a:r>
              <a:rPr lang="en-US" sz="1600" b="1" dirty="0" smtClean="0">
                <a:latin typeface="+mn-ea"/>
              </a:rPr>
              <a:t> = </a:t>
            </a:r>
            <a:r>
              <a:rPr lang="en-US" sz="1600" b="1" dirty="0" err="1" smtClean="0">
                <a:latin typeface="+mn-ea"/>
              </a:rPr>
              <a:t>out_queue</a:t>
            </a:r>
            <a:endParaRPr lang="en-US" sz="1600" b="1" dirty="0" smtClean="0"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def run(self):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while True: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    chunk = </a:t>
            </a:r>
            <a:r>
              <a:rPr lang="en-US" sz="1600" b="1" dirty="0" err="1" smtClean="0">
                <a:latin typeface="+mn-ea"/>
              </a:rPr>
              <a:t>self.out_queue.get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    soup = </a:t>
            </a:r>
            <a:r>
              <a:rPr lang="en-US" sz="1600" b="1" dirty="0" err="1" smtClean="0">
                <a:latin typeface="+mn-ea"/>
              </a:rPr>
              <a:t>BeautifulSoup</a:t>
            </a:r>
            <a:r>
              <a:rPr lang="en-US" sz="1600" b="1" dirty="0" smtClean="0">
                <a:latin typeface="+mn-ea"/>
              </a:rPr>
              <a:t>(chunk)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    print (</a:t>
            </a:r>
            <a:r>
              <a:rPr lang="en-US" sz="1600" b="1" dirty="0" err="1" smtClean="0">
                <a:latin typeface="+mn-ea"/>
              </a:rPr>
              <a:t>soup.findAll</a:t>
            </a:r>
            <a:r>
              <a:rPr lang="en-US" sz="1600" b="1" dirty="0" smtClean="0">
                <a:latin typeface="+mn-ea"/>
              </a:rPr>
              <a:t>(['title']))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    </a:t>
            </a:r>
            <a:r>
              <a:rPr lang="en-US" sz="1600" b="1" dirty="0" err="1" smtClean="0">
                <a:latin typeface="+mn-ea"/>
              </a:rPr>
              <a:t>self.out_queue.task_done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start = </a:t>
            </a:r>
            <a:r>
              <a:rPr lang="en-US" sz="1600" b="1" dirty="0" err="1" smtClean="0">
                <a:latin typeface="+mn-ea"/>
              </a:rPr>
              <a:t>time.time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def main():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for </a:t>
            </a:r>
            <a:r>
              <a:rPr lang="en-US" sz="1600" b="1" dirty="0" err="1" smtClean="0">
                <a:latin typeface="+mn-ea"/>
              </a:rPr>
              <a:t>i</a:t>
            </a:r>
            <a:r>
              <a:rPr lang="en-US" sz="1600" b="1" dirty="0" smtClean="0">
                <a:latin typeface="+mn-ea"/>
              </a:rPr>
              <a:t> in range(4):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t = </a:t>
            </a:r>
            <a:r>
              <a:rPr lang="en-US" sz="1600" b="1" dirty="0" err="1" smtClean="0">
                <a:latin typeface="+mn-ea"/>
              </a:rPr>
              <a:t>ThreadUrl</a:t>
            </a:r>
            <a:r>
              <a:rPr lang="en-US" sz="1600" b="1" dirty="0" smtClean="0">
                <a:latin typeface="+mn-ea"/>
              </a:rPr>
              <a:t>(queue, </a:t>
            </a:r>
            <a:r>
              <a:rPr lang="en-US" sz="1600" b="1" dirty="0" err="1" smtClean="0">
                <a:latin typeface="+mn-ea"/>
              </a:rPr>
              <a:t>out_queue</a:t>
            </a:r>
            <a:r>
              <a:rPr lang="en-US" sz="1600" b="1" dirty="0" smtClean="0">
                <a:latin typeface="+mn-ea"/>
              </a:rPr>
              <a:t>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t.setDaemon</a:t>
            </a:r>
            <a:r>
              <a:rPr lang="en-US" sz="1600" b="1" dirty="0" smtClean="0">
                <a:latin typeface="+mn-ea"/>
              </a:rPr>
              <a:t>(True)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t.start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for host in hosts: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queue.put</a:t>
            </a:r>
            <a:r>
              <a:rPr lang="en-US" sz="1600" b="1" dirty="0" smtClean="0">
                <a:latin typeface="+mn-ea"/>
              </a:rPr>
              <a:t>(host)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for </a:t>
            </a:r>
            <a:r>
              <a:rPr lang="en-US" sz="1600" b="1" dirty="0" err="1" smtClean="0">
                <a:latin typeface="+mn-ea"/>
              </a:rPr>
              <a:t>i</a:t>
            </a:r>
            <a:r>
              <a:rPr lang="en-US" sz="1600" b="1" dirty="0" smtClean="0">
                <a:latin typeface="+mn-ea"/>
              </a:rPr>
              <a:t> in range(4):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dt</a:t>
            </a:r>
            <a:r>
              <a:rPr lang="en-US" sz="1600" b="1" dirty="0" smtClean="0">
                <a:latin typeface="+mn-ea"/>
              </a:rPr>
              <a:t> = </a:t>
            </a:r>
            <a:r>
              <a:rPr lang="en-US" sz="1600" b="1" dirty="0" err="1" smtClean="0">
                <a:latin typeface="+mn-ea"/>
              </a:rPr>
              <a:t>DatamineThread</a:t>
            </a:r>
            <a:r>
              <a:rPr lang="en-US" sz="1600" b="1" dirty="0" smtClean="0">
                <a:latin typeface="+mn-ea"/>
              </a:rPr>
              <a:t>(</a:t>
            </a:r>
            <a:r>
              <a:rPr lang="en-US" sz="1600" b="1" dirty="0" err="1" smtClean="0">
                <a:latin typeface="+mn-ea"/>
              </a:rPr>
              <a:t>out_queue</a:t>
            </a:r>
            <a:r>
              <a:rPr lang="en-US" sz="1600" b="1" dirty="0" smtClean="0">
                <a:latin typeface="+mn-ea"/>
              </a:rPr>
              <a:t>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dt.setDaemon</a:t>
            </a:r>
            <a:r>
              <a:rPr lang="en-US" sz="1600" b="1" dirty="0" smtClean="0">
                <a:latin typeface="+mn-ea"/>
              </a:rPr>
              <a:t>(True)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    </a:t>
            </a:r>
            <a:r>
              <a:rPr lang="en-US" sz="1600" b="1" dirty="0" err="1" smtClean="0">
                <a:latin typeface="+mn-ea"/>
              </a:rPr>
              <a:t>dt.start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</a:t>
            </a:r>
            <a:r>
              <a:rPr lang="en-US" sz="1600" b="1" dirty="0" err="1" smtClean="0">
                <a:latin typeface="+mn-ea"/>
              </a:rPr>
              <a:t>queue.join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    </a:t>
            </a:r>
            <a:r>
              <a:rPr lang="en-US" sz="1600" b="1" dirty="0" err="1" smtClean="0">
                <a:latin typeface="+mn-ea"/>
              </a:rPr>
              <a:t>out_queue.join</a:t>
            </a:r>
            <a:r>
              <a:rPr lang="en-US" sz="1600" b="1" dirty="0" smtClean="0">
                <a:latin typeface="+mn-ea"/>
              </a:rPr>
              <a:t>()</a:t>
            </a:r>
          </a:p>
          <a:p>
            <a:pPr>
              <a:lnSpc>
                <a:spcPts val="1600"/>
              </a:lnSpc>
            </a:pPr>
            <a:endParaRPr lang="en-US" sz="1600" b="1" dirty="0" smtClean="0"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main()</a:t>
            </a:r>
          </a:p>
          <a:p>
            <a:pPr>
              <a:lnSpc>
                <a:spcPts val="1600"/>
              </a:lnSpc>
            </a:pPr>
            <a:r>
              <a:rPr lang="en-US" sz="1600" b="1" dirty="0" smtClean="0">
                <a:latin typeface="+mn-ea"/>
              </a:rPr>
              <a:t>print  ("Elapsed Time: %s" % (</a:t>
            </a:r>
            <a:r>
              <a:rPr lang="en-US" sz="1600" b="1" dirty="0" err="1" smtClean="0">
                <a:latin typeface="+mn-ea"/>
              </a:rPr>
              <a:t>time.time</a:t>
            </a:r>
            <a:r>
              <a:rPr lang="en-US" sz="1600" b="1" dirty="0" smtClean="0">
                <a:latin typeface="+mn-ea"/>
              </a:rPr>
              <a:t>() - start))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Serial Port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2955" y="1078170"/>
            <a:ext cx="8543499" cy="446019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sz="2000" dirty="0" err="1" smtClean="0">
                <a:solidFill>
                  <a:srgbClr val="0000FF"/>
                </a:solidFill>
                <a:latin typeface="+mn-ea"/>
              </a:rPr>
              <a:t>pySerial</a:t>
            </a:r>
            <a:r>
              <a:rPr lang="en-US" sz="2000" dirty="0" smtClean="0">
                <a:solidFill>
                  <a:srgbClr val="0000FF"/>
                </a:solidFill>
                <a:latin typeface="+mn-ea"/>
              </a:rPr>
              <a:t> : python serial extension     </a:t>
            </a:r>
            <a:r>
              <a:rPr lang="en-US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  Python serial </a:t>
            </a:r>
            <a:r>
              <a:rPr lang="ko-KR" altLang="en-US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통신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library </a:t>
            </a:r>
            <a:r>
              <a:rPr lang="ko-KR" altLang="en-US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지원</a:t>
            </a:r>
            <a:endParaRPr lang="en-US" altLang="ko-KR" sz="2000" dirty="0" smtClean="0">
              <a:solidFill>
                <a:srgbClr val="0000FF"/>
              </a:solidFill>
              <a:latin typeface="+mn-ea"/>
              <a:sym typeface="Wingdings" pitchFamily="2" charset="2"/>
            </a:endParaRPr>
          </a:p>
          <a:p>
            <a:pPr>
              <a:lnSpc>
                <a:spcPts val="2900"/>
              </a:lnSpc>
            </a:pPr>
            <a:endParaRPr lang="en-US" sz="2000" dirty="0" smtClean="0">
              <a:solidFill>
                <a:srgbClr val="0000FF"/>
              </a:solidFill>
              <a:latin typeface="+mn-ea"/>
              <a:sym typeface="Wingdings" pitchFamily="2" charset="2"/>
            </a:endParaRPr>
          </a:p>
          <a:p>
            <a:pPr>
              <a:lnSpc>
                <a:spcPts val="2900"/>
              </a:lnSpc>
            </a:pPr>
            <a:r>
              <a:rPr lang="en-US" dirty="0" smtClean="0">
                <a:latin typeface="+mn-ea"/>
                <a:sym typeface="Wingdings" pitchFamily="2" charset="2"/>
              </a:rPr>
              <a:t>     </a:t>
            </a:r>
            <a:r>
              <a:rPr lang="en-US" dirty="0" smtClean="0">
                <a:latin typeface="+mn-ea"/>
                <a:sym typeface="Wingdings" pitchFamily="2" charset="2"/>
                <a:hlinkClick r:id="rId2"/>
              </a:rPr>
              <a:t>https://pypi.python.org/pypi/pyserial</a:t>
            </a:r>
            <a:endParaRPr lang="en-US" dirty="0" smtClean="0">
              <a:latin typeface="+mn-ea"/>
              <a:sym typeface="Wingdings" pitchFamily="2" charset="2"/>
            </a:endParaRPr>
          </a:p>
          <a:p>
            <a:pPr>
              <a:lnSpc>
                <a:spcPts val="2900"/>
              </a:lnSpc>
            </a:pPr>
            <a:r>
              <a:rPr lang="en-US" dirty="0" smtClean="0">
                <a:latin typeface="+mn-ea"/>
                <a:sym typeface="Wingdings" pitchFamily="2" charset="2"/>
              </a:rPr>
              <a:t>     </a:t>
            </a:r>
            <a:r>
              <a:rPr lang="en-US" dirty="0" smtClean="0">
                <a:hlinkClick r:id="rId3"/>
              </a:rPr>
              <a:t>pyserial-3.4.tar.gz</a:t>
            </a:r>
            <a:r>
              <a:rPr lang="en-US" dirty="0" smtClean="0"/>
              <a:t> (</a:t>
            </a:r>
            <a:r>
              <a:rPr lang="en-US" dirty="0" smtClean="0">
                <a:hlinkClick r:id="rId4" tooltip="MD5 Digest"/>
              </a:rPr>
              <a:t>md5</a:t>
            </a:r>
            <a:r>
              <a:rPr lang="en-US" sz="2400" b="1" dirty="0" smtClean="0"/>
              <a:t>)                           //python  setup.py  install</a:t>
            </a:r>
            <a:endParaRPr lang="en-US" b="1" dirty="0" smtClean="0">
              <a:latin typeface="+mn-ea"/>
              <a:sym typeface="Wingdings" pitchFamily="2" charset="2"/>
            </a:endParaRPr>
          </a:p>
          <a:p>
            <a:pPr>
              <a:lnSpc>
                <a:spcPts val="2900"/>
              </a:lnSpc>
            </a:pPr>
            <a:endParaRPr lang="en-US" sz="2000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FF"/>
                </a:solidFill>
                <a:latin typeface="+mn-ea"/>
              </a:rPr>
              <a:t>pywin32: python win32 extension  </a:t>
            </a:r>
            <a:r>
              <a:rPr lang="en-US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 Window</a:t>
            </a:r>
            <a:r>
              <a:rPr lang="ko-KR" altLang="en-US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에서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python </a:t>
            </a:r>
            <a:r>
              <a:rPr lang="ko-KR" altLang="en-US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동작 </a:t>
            </a:r>
            <a:r>
              <a:rPr lang="en-US" altLang="ko-KR" sz="2000" dirty="0" smtClean="0">
                <a:solidFill>
                  <a:srgbClr val="0000FF"/>
                </a:solidFill>
                <a:latin typeface="+mn-ea"/>
                <a:sym typeface="Wingdings" pitchFamily="2" charset="2"/>
              </a:rPr>
              <a:t>library </a:t>
            </a:r>
          </a:p>
          <a:p>
            <a:pPr>
              <a:lnSpc>
                <a:spcPts val="2900"/>
              </a:lnSpc>
              <a:buFont typeface="Arial" pitchFamily="34" charset="0"/>
              <a:buChar char="•"/>
            </a:pPr>
            <a:endParaRPr lang="en-US" sz="2000" dirty="0" smtClean="0">
              <a:solidFill>
                <a:srgbClr val="0000FF"/>
              </a:solidFill>
              <a:latin typeface="+mn-ea"/>
              <a:sym typeface="Wingdings" pitchFamily="2" charset="2"/>
            </a:endParaRPr>
          </a:p>
          <a:p>
            <a:pPr>
              <a:lnSpc>
                <a:spcPts val="2900"/>
              </a:lnSpc>
            </a:pPr>
            <a:r>
              <a:rPr lang="en-US" dirty="0" smtClean="0">
                <a:latin typeface="+mn-ea"/>
                <a:sym typeface="Wingdings" pitchFamily="2" charset="2"/>
              </a:rPr>
              <a:t>     </a:t>
            </a:r>
            <a:r>
              <a:rPr lang="en-US" dirty="0" smtClean="0">
                <a:latin typeface="+mn-ea"/>
                <a:sym typeface="Wingdings" pitchFamily="2" charset="2"/>
                <a:hlinkClick r:id="rId5"/>
              </a:rPr>
              <a:t>https://sourceforge.net/projects/pywin32/files/?source=navbar</a:t>
            </a:r>
            <a:endParaRPr lang="en-US" dirty="0" smtClean="0">
              <a:latin typeface="+mn-ea"/>
              <a:sym typeface="Wingdings" pitchFamily="2" charset="2"/>
            </a:endParaRPr>
          </a:p>
          <a:p>
            <a:pPr>
              <a:lnSpc>
                <a:spcPts val="2900"/>
              </a:lnSpc>
            </a:pPr>
            <a:r>
              <a:rPr lang="en-US" dirty="0" smtClean="0">
                <a:latin typeface="+mn-ea"/>
                <a:sym typeface="Wingdings" pitchFamily="2" charset="2"/>
              </a:rPr>
              <a:t>     Build 221</a:t>
            </a:r>
          </a:p>
          <a:p>
            <a:pPr>
              <a:lnSpc>
                <a:spcPts val="2900"/>
              </a:lnSpc>
            </a:pPr>
            <a:r>
              <a:rPr lang="en-US" dirty="0" smtClean="0">
                <a:latin typeface="+mn-ea"/>
                <a:sym typeface="Wingdings" pitchFamily="2" charset="2"/>
              </a:rPr>
              <a:t>     pywin32-221.win32-py3.6.exe  </a:t>
            </a:r>
            <a:r>
              <a:rPr lang="en-US" sz="1400" dirty="0" smtClean="0">
                <a:latin typeface="+mn-ea"/>
                <a:sym typeface="Wingdings" pitchFamily="2" charset="2"/>
              </a:rPr>
              <a:t>   # </a:t>
            </a:r>
            <a:r>
              <a:rPr lang="ko-KR" altLang="en-US" sz="1400" dirty="0" smtClean="0">
                <a:latin typeface="+mn-ea"/>
                <a:sym typeface="Wingdings" pitchFamily="2" charset="2"/>
              </a:rPr>
              <a:t>압축파일을 </a:t>
            </a:r>
            <a:r>
              <a:rPr lang="en-US" altLang="ko-KR" sz="1400" dirty="0" smtClean="0">
                <a:latin typeface="+mn-ea"/>
                <a:sym typeface="Wingdings" pitchFamily="2" charset="2"/>
              </a:rPr>
              <a:t>Python36-32 </a:t>
            </a:r>
            <a:r>
              <a:rPr lang="ko-KR" altLang="en-US" sz="1400" dirty="0" smtClean="0">
                <a:latin typeface="+mn-ea"/>
                <a:sym typeface="Wingdings" pitchFamily="2" charset="2"/>
              </a:rPr>
              <a:t>폴더에 푼다</a:t>
            </a:r>
            <a:endParaRPr lang="en-US" dirty="0" smtClean="0">
              <a:latin typeface="+mn-ea"/>
              <a:sym typeface="Wingdings" pitchFamily="2" charset="2"/>
            </a:endParaRPr>
          </a:p>
          <a:p>
            <a:pPr>
              <a:lnSpc>
                <a:spcPts val="2900"/>
              </a:lnSpc>
            </a:pPr>
            <a:r>
              <a:rPr lang="en-US" dirty="0" smtClean="0">
                <a:latin typeface="+mn-ea"/>
                <a:sym typeface="Wingdings" pitchFamily="2" charset="2"/>
              </a:rPr>
              <a:t>    </a:t>
            </a:r>
            <a:r>
              <a:rPr lang="en-US" dirty="0" smtClean="0"/>
              <a:t>C:Python36-32\</a:t>
            </a:r>
            <a:r>
              <a:rPr lang="en-US" altLang="ko-KR" dirty="0" smtClean="0"/>
              <a:t> </a:t>
            </a:r>
            <a:r>
              <a:rPr lang="en-US" dirty="0" smtClean="0"/>
              <a:t>python setup.py install</a:t>
            </a:r>
            <a:endParaRPr lang="en-US" dirty="0" smtClean="0">
              <a:latin typeface="+mn-ea"/>
            </a:endParaRP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Serial Port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1195" y="1173706"/>
            <a:ext cx="8434315" cy="501675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import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serial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ser = serial.Serial(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port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'COM4'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baudrate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115200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parity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=serial.PARITY_NONE,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stopbits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=serial.STOPBITS_ONE,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bytesize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=serial.EIGHTBITS,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timeout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/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print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(ser.portstr)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/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while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: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rxdata=ser.readline().decode(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'utf-8</a:t>
            </a:r>
            <a:r>
              <a:rPr kumimoji="1" lang="ko-KR" altLang="ko-KR" sz="1400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</a:t>
            </a:r>
            <a:r>
              <a:rPr kumimoji="1" lang="ko-KR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#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  <a:cs typeface="굴림" pitchFamily="50" charset="-127"/>
              </a:rPr>
              <a:t>utf-8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  <a:cs typeface="굴림" pitchFamily="50" charset="-127"/>
              </a:rPr>
              <a:t>하지 않으면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  <a:cs typeface="굴림" pitchFamily="50" charset="-127"/>
              </a:rPr>
              <a:t>2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  <a:cs typeface="굴림" pitchFamily="50" charset="-127"/>
              </a:rPr>
              <a:t>진수로 출력됨</a:t>
            </a:r>
            <a:r>
              <a:rPr kumimoji="1" lang="ko-KR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/>
            </a:r>
            <a:br>
              <a:rPr kumimoji="1" lang="ko-KR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if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rxdata:</a:t>
            </a: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                  </a:t>
            </a:r>
            <a:r>
              <a:rPr kumimoji="1" lang="en-US" altLang="ko-KR" sz="160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#</a:t>
            </a:r>
            <a:r>
              <a:rPr kumimoji="1" lang="en-US" altLang="ko-KR" sz="1600" i="0" u="none" strike="noStrike" cap="none" normalizeH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altLang="en-US" sz="1600" i="0" u="none" strike="noStrike" cap="none" normalizeH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만약 데이터가 수신되었다면</a:t>
            </a:r>
            <a:r>
              <a:rPr kumimoji="1" lang="en-US" altLang="ko-KR" sz="1600" i="0" u="none" strike="noStrike" cap="none" normalizeH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,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/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print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(rxdata,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end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 '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</a:t>
            </a:r>
            <a:r>
              <a:rPr kumimoji="1" lang="en-US" altLang="ko-KR" sz="160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 # </a:t>
            </a:r>
            <a:r>
              <a:rPr kumimoji="1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수신 데이터 출력</a:t>
            </a:r>
            <a:endParaRPr kumimoji="1" lang="en-US" altLang="ko-KR" sz="160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+mn-ea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       print </a:t>
            </a:r>
            <a:r>
              <a:rPr kumimoji="1" lang="en-US" altLang="ko-KR" sz="1600" b="1" dirty="0" smtClean="0">
                <a:latin typeface="+mn-ea"/>
                <a:cs typeface="굴림" pitchFamily="50" charset="-127"/>
              </a:rPr>
              <a:t>(</a:t>
            </a:r>
            <a:r>
              <a:rPr kumimoji="1" lang="en-US" altLang="ko-KR" sz="1600" b="1" dirty="0" err="1" smtClean="0">
                <a:latin typeface="+mn-ea"/>
                <a:cs typeface="굴림" pitchFamily="50" charset="-127"/>
              </a:rPr>
              <a:t>len</a:t>
            </a:r>
            <a:r>
              <a:rPr kumimoji="1" lang="en-US" altLang="ko-KR" sz="1600" b="1" dirty="0" smtClean="0">
                <a:latin typeface="+mn-ea"/>
                <a:cs typeface="굴림" pitchFamily="50" charset="-127"/>
              </a:rPr>
              <a:t>(</a:t>
            </a:r>
            <a:r>
              <a:rPr kumimoji="1" lang="en-US" altLang="ko-KR" sz="1600" b="1" dirty="0" err="1" smtClean="0">
                <a:latin typeface="+mn-ea"/>
                <a:cs typeface="굴림" pitchFamily="50" charset="-127"/>
              </a:rPr>
              <a:t>rxdata</a:t>
            </a:r>
            <a:r>
              <a:rPr kumimoji="1" lang="en-US" altLang="ko-KR" sz="1600" b="1" dirty="0" smtClean="0">
                <a:latin typeface="+mn-ea"/>
                <a:cs typeface="굴림" pitchFamily="50" charset="-127"/>
              </a:rPr>
              <a:t>))                </a:t>
            </a:r>
            <a:r>
              <a:rPr kumimoji="1" lang="en-US" altLang="ko-KR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# </a:t>
            </a:r>
            <a:r>
              <a:rPr kumimoji="1" lang="ko-KR" altLang="en-US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수신 문자 수 출력</a:t>
            </a:r>
            <a:r>
              <a:rPr kumimoji="1" lang="en-US" altLang="ko-KR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공백</a:t>
            </a:r>
            <a:r>
              <a:rPr kumimoji="1" lang="en-US" altLang="ko-KR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+\r=+2</a:t>
            </a:r>
            <a:r>
              <a:rPr kumimoji="1" lang="ko-KR" altLang="en-US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바이트 추가</a:t>
            </a:r>
            <a:endParaRPr kumimoji="1" lang="en-US" altLang="ko-KR" sz="160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+mn-ea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       print </a:t>
            </a:r>
            <a:r>
              <a:rPr kumimoji="1" lang="en-US" altLang="ko-KR" sz="1600" b="1" dirty="0" smtClean="0">
                <a:latin typeface="+mn-ea"/>
                <a:cs typeface="굴림" pitchFamily="50" charset="-127"/>
              </a:rPr>
              <a:t>(</a:t>
            </a:r>
            <a:r>
              <a:rPr kumimoji="1" lang="en-US" altLang="ko-KR" sz="1600" b="1" dirty="0" err="1" smtClean="0">
                <a:latin typeface="+mn-ea"/>
                <a:cs typeface="굴림" pitchFamily="50" charset="-127"/>
              </a:rPr>
              <a:t>rxdata</a:t>
            </a:r>
            <a:r>
              <a:rPr kumimoji="1" lang="en-US" altLang="ko-KR" sz="1600" b="1" dirty="0" smtClean="0">
                <a:latin typeface="+mn-ea"/>
                <a:cs typeface="굴림" pitchFamily="50" charset="-127"/>
              </a:rPr>
              <a:t>[0])                  </a:t>
            </a:r>
            <a:r>
              <a:rPr kumimoji="1" lang="en-US" altLang="ko-KR" sz="1600" b="1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# 1</a:t>
            </a:r>
            <a:r>
              <a:rPr kumimoji="1" lang="ko-KR" altLang="en-US" sz="1600" b="1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번째 수신 문자</a:t>
            </a:r>
            <a:r>
              <a:rPr kumimoji="1" lang="en-US" altLang="ko-KR" sz="1600" b="1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en-US" altLang="ko-KR" sz="1600" b="1" dirty="0" err="1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parcing</a:t>
            </a:r>
            <a:endParaRPr kumimoji="1" lang="en-US" altLang="ko-KR" sz="16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+mn-ea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dirty="0" smtClean="0">
                <a:latin typeface="+mn-ea"/>
                <a:cs typeface="굴림" pitchFamily="50" charset="-127"/>
              </a:rPr>
              <a:t>      </a:t>
            </a:r>
            <a:r>
              <a:rPr kumimoji="1" lang="en-US" altLang="ko-KR" b="1" dirty="0" err="1" smtClean="0">
                <a:latin typeface="+mn-ea"/>
                <a:cs typeface="굴림" pitchFamily="50" charset="-127"/>
              </a:rPr>
              <a:t>ser.writelines</a:t>
            </a:r>
            <a:r>
              <a:rPr kumimoji="1" lang="en-US" altLang="ko-KR" b="1" dirty="0" smtClean="0">
                <a:latin typeface="+mn-ea"/>
                <a:cs typeface="굴림" pitchFamily="50" charset="-127"/>
              </a:rPr>
              <a:t>(“</a:t>
            </a:r>
            <a:r>
              <a:rPr kumimoji="1" lang="en-US" altLang="ko-KR" b="1" dirty="0" err="1" smtClean="0">
                <a:latin typeface="+mn-ea"/>
                <a:cs typeface="굴림" pitchFamily="50" charset="-127"/>
              </a:rPr>
              <a:t>Receved</a:t>
            </a:r>
            <a:r>
              <a:rPr kumimoji="1" lang="en-US" altLang="ko-KR" b="1" dirty="0" smtClean="0">
                <a:latin typeface="+mn-ea"/>
                <a:cs typeface="굴림" pitchFamily="50" charset="-127"/>
              </a:rPr>
              <a:t> </a:t>
            </a:r>
            <a:r>
              <a:rPr kumimoji="1" lang="en-US" altLang="ko-KR" b="1" dirty="0" err="1" smtClean="0">
                <a:latin typeface="+mn-ea"/>
                <a:cs typeface="굴림" pitchFamily="50" charset="-127"/>
              </a:rPr>
              <a:t>data”.encode</a:t>
            </a:r>
            <a:r>
              <a:rPr kumimoji="1" lang="en-US" altLang="ko-KR" b="1" dirty="0" smtClean="0">
                <a:latin typeface="+mn-ea"/>
                <a:cs typeface="굴림" pitchFamily="50" charset="-127"/>
              </a:rPr>
              <a:t>())   </a:t>
            </a:r>
            <a:r>
              <a:rPr kumimoji="1" lang="en-US" altLang="ko-KR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 # </a:t>
            </a:r>
            <a:r>
              <a:rPr kumimoji="1" lang="ko-KR" altLang="en-US" sz="1600" dirty="0" smtClean="0">
                <a:solidFill>
                  <a:srgbClr val="0000FF"/>
                </a:solidFill>
                <a:latin typeface="+mn-ea"/>
                <a:cs typeface="굴림" pitchFamily="50" charset="-127"/>
              </a:rPr>
              <a:t>데이터 송신</a:t>
            </a:r>
            <a:endParaRPr kumimoji="1" lang="ko-KR" altLang="ko-KR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183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Serial Port : </a:t>
            </a:r>
            <a:r>
              <a:rPr lang="ko-KR" altLang="en-US" sz="2800" b="1" smtClean="0">
                <a:solidFill>
                  <a:schemeClr val="tx1"/>
                </a:solidFill>
                <a:latin typeface="+mn-ea"/>
              </a:rPr>
              <a:t>유효한 </a:t>
            </a: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Com port </a:t>
            </a:r>
            <a:r>
              <a:rPr lang="ko-KR" altLang="en-US" sz="2800" b="1" smtClean="0">
                <a:solidFill>
                  <a:schemeClr val="tx1"/>
                </a:solidFill>
                <a:latin typeface="+mn-ea"/>
              </a:rPr>
              <a:t>찾기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3212" y="2027491"/>
            <a:ext cx="888274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rgbClr val="0000FF"/>
                </a:solidFill>
              </a:rPr>
              <a:t>def serial_ports(self):  </a:t>
            </a:r>
          </a:p>
          <a:p>
            <a:pPr indent="357188"/>
            <a:r>
              <a:rPr lang="ko-KR" altLang="en-US" sz="1400" smtClean="0"/>
              <a:t>if </a:t>
            </a:r>
            <a:r>
              <a:rPr lang="ko-KR" altLang="en-US" sz="1400"/>
              <a:t>sys.platform.startswith('win'):   </a:t>
            </a:r>
          </a:p>
          <a:p>
            <a:r>
              <a:rPr lang="ko-KR" altLang="en-US" sz="1400"/>
              <a:t>	ports = ['COM%s' % (i + 1) for i in range(256)]   </a:t>
            </a:r>
          </a:p>
          <a:p>
            <a:pPr indent="357188"/>
            <a:r>
              <a:rPr lang="ko-KR" altLang="en-US" sz="1400" smtClean="0"/>
              <a:t>elif </a:t>
            </a:r>
            <a:r>
              <a:rPr lang="ko-KR" altLang="en-US" sz="1400"/>
              <a:t>sys.platform.startswith('linux') or sys.platform.startswith('cygwin'):   </a:t>
            </a:r>
          </a:p>
          <a:p>
            <a:r>
              <a:rPr lang="en-US" altLang="ko-KR" sz="1400" smtClean="0"/>
              <a:t>	</a:t>
            </a:r>
            <a:r>
              <a:rPr lang="ko-KR" altLang="en-US" sz="1400" smtClean="0"/>
              <a:t> </a:t>
            </a:r>
            <a:r>
              <a:rPr lang="ko-KR" altLang="en-US" sz="1400"/>
              <a:t># this excludes your current terminal "/dev/tty"   </a:t>
            </a:r>
          </a:p>
          <a:p>
            <a:r>
              <a:rPr lang="ko-KR" altLang="en-US" sz="1400"/>
              <a:t>	</a:t>
            </a:r>
            <a:r>
              <a:rPr lang="ko-KR" altLang="en-US" sz="1400" smtClean="0"/>
              <a:t>ports </a:t>
            </a:r>
            <a:r>
              <a:rPr lang="ko-KR" altLang="en-US" sz="1400"/>
              <a:t>= glob.glob('/dev/tty[A-Za-z]*')   </a:t>
            </a:r>
          </a:p>
          <a:p>
            <a:pPr marL="357188"/>
            <a:r>
              <a:rPr lang="ko-KR" altLang="en-US" sz="1400" smtClean="0"/>
              <a:t>elif </a:t>
            </a:r>
            <a:r>
              <a:rPr lang="ko-KR" altLang="en-US" sz="1400"/>
              <a:t>sys.platform.startswith('darwin'):   </a:t>
            </a:r>
          </a:p>
          <a:p>
            <a:r>
              <a:rPr lang="ko-KR" altLang="en-US" sz="1400"/>
              <a:t>	ports = glob.glob('/dev/tty.*')   </a:t>
            </a:r>
          </a:p>
          <a:p>
            <a:pPr indent="357188"/>
            <a:r>
              <a:rPr lang="ko-KR" altLang="en-US" sz="1400" smtClean="0"/>
              <a:t>else</a:t>
            </a:r>
            <a:r>
              <a:rPr lang="ko-KR" altLang="en-US" sz="1400"/>
              <a:t>:   </a:t>
            </a:r>
          </a:p>
          <a:p>
            <a:r>
              <a:rPr lang="ko-KR" altLang="en-US" sz="1400"/>
              <a:t>	raise EnvironmentError('Unsupported platform')   </a:t>
            </a:r>
          </a:p>
          <a:p>
            <a:pPr indent="357188"/>
            <a:r>
              <a:rPr lang="ko-KR" altLang="en-US" sz="1400" smtClean="0"/>
              <a:t>result </a:t>
            </a:r>
            <a:r>
              <a:rPr lang="ko-KR" altLang="en-US" sz="1400"/>
              <a:t>= []   </a:t>
            </a:r>
          </a:p>
          <a:p>
            <a:r>
              <a:rPr lang="ko-KR" altLang="en-US" sz="1400"/>
              <a:t>	for port in ports:   </a:t>
            </a:r>
          </a:p>
          <a:p>
            <a:pPr indent="1166813"/>
            <a:r>
              <a:rPr lang="ko-KR" altLang="en-US" sz="1400" smtClean="0"/>
              <a:t>try</a:t>
            </a:r>
            <a:r>
              <a:rPr lang="ko-KR" altLang="en-US" sz="1400"/>
              <a:t>:   </a:t>
            </a:r>
          </a:p>
          <a:p>
            <a:pPr indent="1524000"/>
            <a:r>
              <a:rPr lang="ko-KR" altLang="en-US" sz="1400"/>
              <a:t>	</a:t>
            </a:r>
            <a:r>
              <a:rPr lang="ko-KR" altLang="en-US" sz="1400" smtClean="0"/>
              <a:t>s </a:t>
            </a:r>
            <a:r>
              <a:rPr lang="ko-KR" altLang="en-US" sz="1400"/>
              <a:t>= serial.Serial(port)   </a:t>
            </a:r>
          </a:p>
          <a:p>
            <a:r>
              <a:rPr lang="ko-KR" altLang="en-US" sz="1400"/>
              <a:t>		</a:t>
            </a:r>
            <a:r>
              <a:rPr lang="ko-KR" altLang="en-US" sz="1400" smtClean="0"/>
              <a:t>s.close</a:t>
            </a:r>
            <a:r>
              <a:rPr lang="ko-KR" altLang="en-US" sz="1400"/>
              <a:t>()   </a:t>
            </a:r>
          </a:p>
          <a:p>
            <a:r>
              <a:rPr lang="ko-KR" altLang="en-US" sz="1400"/>
              <a:t>		</a:t>
            </a:r>
            <a:r>
              <a:rPr lang="ko-KR" altLang="en-US" sz="1400" smtClean="0"/>
              <a:t>result.append(port</a:t>
            </a:r>
            <a:r>
              <a:rPr lang="ko-KR" altLang="en-US" sz="1400"/>
              <a:t>)   </a:t>
            </a:r>
          </a:p>
          <a:p>
            <a:pPr indent="1166813"/>
            <a:r>
              <a:rPr lang="ko-KR" altLang="en-US" sz="1400" smtClean="0"/>
              <a:t>except </a:t>
            </a:r>
            <a:r>
              <a:rPr lang="ko-KR" altLang="en-US" sz="1400"/>
              <a:t>(OSError, serial.SerialException):  </a:t>
            </a:r>
          </a:p>
          <a:p>
            <a:r>
              <a:rPr lang="ko-KR" altLang="en-US" sz="1400"/>
              <a:t>		print ('OSError') </a:t>
            </a:r>
          </a:p>
          <a:p>
            <a:r>
              <a:rPr lang="ko-KR" altLang="en-US" sz="1400"/>
              <a:t>		pass   </a:t>
            </a:r>
          </a:p>
          <a:p>
            <a:r>
              <a:rPr lang="ko-KR" altLang="en-US" sz="1400"/>
              <a:t>	</a:t>
            </a:r>
            <a:r>
              <a:rPr lang="ko-KR" altLang="en-US" sz="1400" smtClean="0"/>
              <a:t>return </a:t>
            </a:r>
            <a:r>
              <a:rPr lang="ko-KR" altLang="en-US" sz="1400"/>
              <a:t>result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33587" y="1215237"/>
            <a:ext cx="2504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print (self.serial_ports())</a:t>
            </a:r>
          </a:p>
        </p:txBody>
      </p:sp>
    </p:spTree>
    <p:extLst>
      <p:ext uri="{BB962C8B-B14F-4D97-AF65-F5344CB8AC3E}">
        <p14:creationId xmlns:p14="http://schemas.microsoft.com/office/powerpoint/2010/main" val="371483864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plot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7929" y="1083944"/>
            <a:ext cx="7643866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/>
              <a:t>download</a:t>
            </a:r>
            <a:r>
              <a:rPr lang="en-US" altLang="ko-KR" b="1" u="sng" dirty="0" smtClean="0"/>
              <a:t>: </a:t>
            </a:r>
            <a:r>
              <a:rPr lang="en-US" altLang="ko-KR" b="1" dirty="0" smtClean="0"/>
              <a:t>numpy‑1.13.3+mkl‑cp36‑cp36m‑win32.whl</a:t>
            </a:r>
          </a:p>
          <a:p>
            <a:endParaRPr lang="en-US" altLang="ko-KR" b="1" dirty="0"/>
          </a:p>
          <a:p>
            <a:r>
              <a:rPr lang="en-US" altLang="ko-KR" b="1" dirty="0" smtClean="0">
                <a:solidFill>
                  <a:srgbClr val="0000FF"/>
                </a:solidFill>
              </a:rPr>
              <a:t>https://www.lfd.uci.edu/~gohlke/pythonlibs/#numpy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pic>
        <p:nvPicPr>
          <p:cNvPr id="4" name="그림 3" descr="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8474" y="2817845"/>
            <a:ext cx="8205136" cy="141296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09432" y="2456603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 </a:t>
            </a:r>
            <a:r>
              <a:rPr lang="ko-KR" altLang="en-US" b="1" dirty="0" smtClean="0">
                <a:solidFill>
                  <a:srgbClr val="0000FF"/>
                </a:solidFill>
              </a:rPr>
              <a:t>다운받은 파일 설치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78073" y="4361433"/>
            <a:ext cx="4857784" cy="64633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from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numpy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*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print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(random.rand(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10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3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))</a:t>
            </a:r>
            <a:endParaRPr kumimoji="1" lang="ko-KR" altLang="ko-KR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plot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13338" y="1045022"/>
            <a:ext cx="6333122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buFont typeface="Arial" pitchFamily="34" charset="0"/>
              <a:buChar char="•"/>
            </a:pPr>
            <a:r>
              <a:rPr lang="en-US" altLang="ko-KR" b="1" dirty="0" smtClean="0">
                <a:latin typeface="+mn-ea"/>
              </a:rPr>
              <a:t>pylab </a:t>
            </a:r>
            <a:r>
              <a:rPr lang="ko-KR" altLang="en-US" b="1" dirty="0" smtClean="0">
                <a:latin typeface="+mn-ea"/>
              </a:rPr>
              <a:t>설치</a:t>
            </a:r>
            <a:endParaRPr lang="en-US" altLang="ko-KR" b="1" dirty="0" smtClean="0">
              <a:latin typeface="+mn-ea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ko-KR" altLang="en-US" b="1" dirty="0" smtClean="0">
                <a:latin typeface="+mn-ea"/>
              </a:rPr>
              <a:t>명령프롬프트 </a:t>
            </a:r>
            <a:r>
              <a:rPr lang="en-US" altLang="ko-KR" b="1" dirty="0" smtClean="0">
                <a:latin typeface="+mn-ea"/>
              </a:rPr>
              <a:t>: 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pip install matplotlib</a:t>
            </a:r>
            <a:endParaRPr lang="en-US" altLang="ko-KR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4" name="그림 3" descr="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3875" y="1819772"/>
            <a:ext cx="62674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plot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01758" y="1409192"/>
            <a:ext cx="4000496" cy="20621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en-US" altLang="ko-KR" sz="1600" b="1" dirty="0" err="1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numpy</a:t>
            </a: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 as </a:t>
            </a:r>
            <a:r>
              <a:rPr kumimoji="1" lang="en-US" altLang="ko-KR" sz="1600" b="1" dirty="0" err="1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numpy</a:t>
            </a:r>
            <a:endParaRPr kumimoji="1" lang="en-US" altLang="ko-KR" sz="1600" b="1" dirty="0" smtClean="0">
              <a:solidFill>
                <a:srgbClr val="000080"/>
              </a:solidFill>
              <a:latin typeface="굴림체" pitchFamily="49" charset="-127"/>
              <a:ea typeface="굴림체" pitchFamily="49" charset="-127"/>
              <a:cs typeface="굴림" pitchFamily="50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en-US" altLang="ko-KR" sz="1600" b="1" dirty="0" err="1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pylab</a:t>
            </a: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 as </a:t>
            </a:r>
            <a:r>
              <a:rPr kumimoji="1" lang="en-US" altLang="ko-KR" sz="1600" b="1" dirty="0" err="1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pylab</a:t>
            </a:r>
            <a:endParaRPr kumimoji="1" lang="en-US" altLang="ko-KR" sz="1600" b="1" dirty="0" smtClean="0">
              <a:solidFill>
                <a:srgbClr val="000080"/>
              </a:solidFill>
              <a:latin typeface="굴림체" pitchFamily="49" charset="-127"/>
              <a:ea typeface="굴림체" pitchFamily="49" charset="-127"/>
              <a:cs typeface="굴림" pitchFamily="50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dirty="0" smtClean="0">
              <a:solidFill>
                <a:srgbClr val="000080"/>
              </a:solidFill>
              <a:latin typeface="굴림체" pitchFamily="49" charset="-127"/>
              <a:ea typeface="굴림체" pitchFamily="49" charset="-127"/>
              <a:cs typeface="굴림" pitchFamily="50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x=[1,2,3,4,5]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y=[1,5,10,15,20]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dirty="0" smtClean="0">
              <a:solidFill>
                <a:srgbClr val="000080"/>
              </a:solidFill>
              <a:latin typeface="굴림체" pitchFamily="49" charset="-127"/>
              <a:ea typeface="굴림체" pitchFamily="49" charset="-127"/>
              <a:cs typeface="굴림" pitchFamily="50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err="1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pylab.plot</a:t>
            </a: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(x, y)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err="1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pylab.show</a:t>
            </a:r>
            <a:r>
              <a:rPr kumimoji="1" lang="en-US" altLang="ko-KR" sz="16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()</a:t>
            </a:r>
            <a:endParaRPr kumimoji="1" lang="ko-KR" altLang="ko-KR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4" name="그림 3" descr="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21795" y="1099010"/>
            <a:ext cx="3648247" cy="304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plot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6362" y="1157743"/>
            <a:ext cx="3143240" cy="397031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numpy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as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np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pylab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as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pl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x=[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3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4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y=[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5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10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15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20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pl.plot(x, y, 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'ro'</a:t>
            </a: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)</a:t>
            </a:r>
            <a:b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pl.show()</a:t>
            </a:r>
            <a:endParaRPr kumimoji="1" lang="en-US" altLang="ko-KR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itchFamily="49" charset="-127"/>
              <a:ea typeface="굴림체" pitchFamily="49" charset="-127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b="1" dirty="0">
              <a:solidFill>
                <a:srgbClr val="000000"/>
              </a:solidFill>
              <a:latin typeface="굴림체" pitchFamily="49" charset="-127"/>
              <a:ea typeface="굴림체" pitchFamily="49" charset="-127"/>
              <a:cs typeface="굴림" pitchFamily="50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# </a:t>
            </a:r>
            <a:r>
              <a:rPr lang="en-US" altLang="ko-KR" b="1" dirty="0" err="1" smtClean="0"/>
              <a:t>pl.plot</a:t>
            </a:r>
            <a:r>
              <a:rPr lang="en-US" altLang="ko-KR" b="1" dirty="0" smtClean="0"/>
              <a:t>(x, y,  </a:t>
            </a:r>
            <a:r>
              <a:rPr lang="en-US" altLang="ko-KR" b="1" dirty="0"/>
              <a:t>'r-</a:t>
            </a:r>
            <a:r>
              <a:rPr lang="en-US" altLang="ko-KR" b="1" dirty="0" smtClean="0"/>
              <a:t>-')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#</a:t>
            </a: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lang="en-US" altLang="ko-KR" b="1" dirty="0" err="1" smtClean="0">
                <a:latin typeface="+mn-ea"/>
              </a:rPr>
              <a:t>pl.plot</a:t>
            </a:r>
            <a:r>
              <a:rPr lang="en-US" altLang="ko-KR" b="1" dirty="0" smtClean="0">
                <a:latin typeface="+mn-ea"/>
              </a:rPr>
              <a:t>(x, y,  </a:t>
            </a:r>
            <a:r>
              <a:rPr lang="en-US" altLang="ko-KR" b="1" dirty="0">
                <a:latin typeface="+mn-ea"/>
              </a:rPr>
              <a:t>'r</a:t>
            </a:r>
            <a:r>
              <a:rPr lang="en-US" altLang="ko-KR" b="1" dirty="0" smtClean="0">
                <a:latin typeface="+mn-ea"/>
              </a:rPr>
              <a:t>*')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 smtClean="0">
                <a:latin typeface="+mn-ea"/>
              </a:rPr>
              <a:t># </a:t>
            </a:r>
            <a:r>
              <a:rPr lang="en-US" altLang="ko-KR" b="1" dirty="0" err="1" smtClean="0"/>
              <a:t>pl.title</a:t>
            </a:r>
            <a:r>
              <a:rPr lang="en-US" altLang="ko-KR" b="1" dirty="0" smtClean="0"/>
              <a:t>(</a:t>
            </a:r>
            <a:r>
              <a:rPr lang="en-US" altLang="ko-KR" b="1" dirty="0"/>
              <a:t>'XY Chart'</a:t>
            </a:r>
            <a:r>
              <a:rPr lang="en-US" altLang="ko-KR" b="1" dirty="0" smtClean="0"/>
              <a:t>)</a:t>
            </a:r>
            <a:endParaRPr lang="en-US" altLang="ko-KR" b="1" dirty="0" smtClean="0">
              <a:latin typeface="+mn-ea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 smtClean="0"/>
              <a:t># </a:t>
            </a:r>
            <a:r>
              <a:rPr lang="en-US" altLang="ko-KR" b="1" dirty="0" err="1" smtClean="0"/>
              <a:t>pl.xlabel</a:t>
            </a:r>
            <a:r>
              <a:rPr lang="en-US" altLang="ko-KR" b="1" dirty="0" smtClean="0"/>
              <a:t>(</a:t>
            </a:r>
            <a:r>
              <a:rPr lang="en-US" altLang="ko-KR" b="1" dirty="0"/>
              <a:t>'X Value'</a:t>
            </a:r>
            <a:r>
              <a:rPr lang="en-US" altLang="ko-KR" b="1" dirty="0" smtClean="0"/>
              <a:t>)</a:t>
            </a:r>
            <a:br>
              <a:rPr lang="en-US" altLang="ko-KR" b="1" dirty="0" smtClean="0"/>
            </a:br>
            <a:r>
              <a:rPr lang="en-US" altLang="ko-KR" b="1" dirty="0" smtClean="0"/>
              <a:t># </a:t>
            </a:r>
            <a:r>
              <a:rPr lang="en-US" altLang="ko-KR" b="1" dirty="0" err="1" smtClean="0"/>
              <a:t>pl.ylabel</a:t>
            </a:r>
            <a:r>
              <a:rPr lang="en-US" altLang="ko-KR" b="1" dirty="0" smtClean="0"/>
              <a:t>(</a:t>
            </a:r>
            <a:r>
              <a:rPr lang="en-US" altLang="ko-KR" b="1" dirty="0"/>
              <a:t>'Y Value'</a:t>
            </a:r>
            <a:r>
              <a:rPr lang="en-US" altLang="ko-KR" b="1" dirty="0" smtClean="0"/>
              <a:t>)</a:t>
            </a:r>
            <a:endParaRPr kumimoji="1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pic>
        <p:nvPicPr>
          <p:cNvPr id="4" name="그림 3" descr="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59901" y="1407386"/>
            <a:ext cx="3092350" cy="2591408"/>
          </a:xfrm>
          <a:prstGeom prst="rect">
            <a:avLst/>
          </a:prstGeom>
        </p:spPr>
      </p:pic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54" y="1383352"/>
            <a:ext cx="2054530" cy="28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plot : 2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Graph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그리기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07557" y="1013178"/>
            <a:ext cx="3143240" cy="452431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/>
              <a:t>import </a:t>
            </a:r>
            <a:r>
              <a:rPr lang="en-US" altLang="ko-KR" sz="1600" b="1" dirty="0" err="1" smtClean="0"/>
              <a:t>numpy</a:t>
            </a:r>
            <a:r>
              <a:rPr lang="en-US" altLang="ko-KR" sz="1600" b="1" dirty="0" smtClean="0"/>
              <a:t> </a:t>
            </a:r>
            <a:r>
              <a:rPr lang="en-US" altLang="ko-KR" sz="1600" b="1" dirty="0"/>
              <a:t>as </a:t>
            </a:r>
            <a:r>
              <a:rPr lang="en-US" altLang="ko-KR" sz="1600" b="1" dirty="0" err="1" smtClean="0"/>
              <a:t>np</a:t>
            </a:r>
            <a:r>
              <a:rPr lang="en-US" altLang="ko-KR" sz="1600" b="1" dirty="0" smtClean="0"/>
              <a:t/>
            </a:r>
            <a:br>
              <a:rPr lang="en-US" altLang="ko-KR" sz="1600" b="1" dirty="0" smtClean="0"/>
            </a:br>
            <a:r>
              <a:rPr lang="en-US" altLang="ko-KR" sz="1600" b="1" dirty="0"/>
              <a:t>import </a:t>
            </a:r>
            <a:r>
              <a:rPr lang="en-US" altLang="ko-KR" sz="1600" b="1" dirty="0" err="1" smtClean="0"/>
              <a:t>pylab</a:t>
            </a:r>
            <a:r>
              <a:rPr lang="en-US" altLang="ko-KR" sz="1600" b="1" dirty="0" smtClean="0"/>
              <a:t> </a:t>
            </a:r>
            <a:r>
              <a:rPr lang="en-US" altLang="ko-KR" sz="1600" b="1" dirty="0"/>
              <a:t>as </a:t>
            </a:r>
            <a:r>
              <a:rPr lang="en-US" altLang="ko-KR" sz="1600" b="1" dirty="0" smtClean="0"/>
              <a:t>pl</a:t>
            </a:r>
            <a:br>
              <a:rPr lang="en-US" altLang="ko-KR" sz="1600" b="1" dirty="0" smtClean="0"/>
            </a:br>
            <a:r>
              <a:rPr lang="en-US" altLang="ko-KR" sz="1600" b="1" dirty="0" smtClean="0"/>
              <a:t/>
            </a:r>
            <a:br>
              <a:rPr lang="en-US" altLang="ko-KR" sz="1600" b="1" dirty="0" smtClean="0"/>
            </a:br>
            <a:r>
              <a:rPr lang="en-US" altLang="ko-KR" sz="1600" b="1" dirty="0" smtClean="0"/>
              <a:t>x1 = [</a:t>
            </a:r>
            <a:r>
              <a:rPr lang="en-US" altLang="ko-KR" sz="1600" b="1" dirty="0"/>
              <a:t>1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2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3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4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5</a:t>
            </a:r>
            <a:r>
              <a:rPr lang="en-US" altLang="ko-KR" sz="1600" b="1" dirty="0" smtClean="0"/>
              <a:t>]</a:t>
            </a:r>
            <a:br>
              <a:rPr lang="en-US" altLang="ko-KR" sz="1600" b="1" dirty="0" smtClean="0"/>
            </a:br>
            <a:r>
              <a:rPr lang="en-US" altLang="ko-KR" sz="1600" b="1" dirty="0" smtClean="0"/>
              <a:t>y1 = [</a:t>
            </a:r>
            <a:r>
              <a:rPr lang="en-US" altLang="ko-KR" sz="1600" b="1" dirty="0"/>
              <a:t>1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4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9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16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25</a:t>
            </a:r>
            <a:r>
              <a:rPr lang="en-US" altLang="ko-KR" sz="1600" b="1" dirty="0" smtClean="0"/>
              <a:t>]</a:t>
            </a:r>
            <a:br>
              <a:rPr lang="en-US" altLang="ko-KR" sz="1600" b="1" dirty="0" smtClean="0"/>
            </a:br>
            <a:r>
              <a:rPr lang="en-US" altLang="ko-KR" sz="1600" b="1" dirty="0" smtClean="0"/>
              <a:t>x2 = [</a:t>
            </a:r>
            <a:r>
              <a:rPr lang="en-US" altLang="ko-KR" sz="1600" b="1" dirty="0"/>
              <a:t>1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2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4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6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8</a:t>
            </a:r>
            <a:r>
              <a:rPr lang="en-US" altLang="ko-KR" sz="1600" b="1" dirty="0" smtClean="0"/>
              <a:t>]</a:t>
            </a:r>
            <a:br>
              <a:rPr lang="en-US" altLang="ko-KR" sz="1600" b="1" dirty="0" smtClean="0"/>
            </a:br>
            <a:r>
              <a:rPr lang="en-US" altLang="ko-KR" sz="1600" b="1" dirty="0" smtClean="0"/>
              <a:t>y2 = [</a:t>
            </a:r>
            <a:r>
              <a:rPr lang="en-US" altLang="ko-KR" sz="1600" b="1" dirty="0"/>
              <a:t>2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4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8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12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16</a:t>
            </a:r>
            <a:r>
              <a:rPr lang="en-US" altLang="ko-KR" sz="1600" b="1" dirty="0" smtClean="0"/>
              <a:t>]</a:t>
            </a:r>
            <a:br>
              <a:rPr lang="en-US" altLang="ko-KR" sz="1600" b="1" dirty="0" smtClean="0"/>
            </a:br>
            <a:r>
              <a:rPr lang="en-US" altLang="ko-KR" sz="1600" b="1" dirty="0" smtClean="0"/>
              <a:t/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pl.plot</a:t>
            </a:r>
            <a:r>
              <a:rPr lang="en-US" altLang="ko-KR" sz="1600" b="1" dirty="0" smtClean="0"/>
              <a:t>(x1, y1, </a:t>
            </a:r>
            <a:r>
              <a:rPr lang="en-US" altLang="ko-KR" sz="1600" b="1" dirty="0"/>
              <a:t>'r'</a:t>
            </a:r>
            <a:r>
              <a:rPr lang="en-US" altLang="ko-KR" sz="1600" b="1" dirty="0" smtClean="0"/>
              <a:t>)</a:t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pl.plot</a:t>
            </a:r>
            <a:r>
              <a:rPr lang="en-US" altLang="ko-KR" sz="1600" b="1" dirty="0" smtClean="0"/>
              <a:t>(x2, y2, </a:t>
            </a:r>
            <a:r>
              <a:rPr lang="en-US" altLang="ko-KR" sz="1600" b="1" dirty="0"/>
              <a:t>'g'</a:t>
            </a:r>
            <a:r>
              <a:rPr lang="en-US" altLang="ko-KR" sz="1600" b="1" dirty="0" smtClean="0"/>
              <a:t>)</a:t>
            </a:r>
            <a:br>
              <a:rPr lang="en-US" altLang="ko-KR" sz="1600" b="1" dirty="0" smtClean="0"/>
            </a:br>
            <a:r>
              <a:rPr lang="en-US" altLang="ko-KR" sz="1600" b="1" dirty="0" smtClean="0"/>
              <a:t/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pl.title</a:t>
            </a:r>
            <a:r>
              <a:rPr lang="en-US" altLang="ko-KR" sz="1600" b="1" dirty="0" smtClean="0"/>
              <a:t>(</a:t>
            </a:r>
            <a:r>
              <a:rPr lang="en-US" altLang="ko-KR" sz="1600" b="1" dirty="0"/>
              <a:t>'Plot of y vs. x'</a:t>
            </a:r>
            <a:r>
              <a:rPr lang="en-US" altLang="ko-KR" sz="1600" b="1" dirty="0" smtClean="0"/>
              <a:t>)</a:t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pl.xlabel</a:t>
            </a:r>
            <a:r>
              <a:rPr lang="en-US" altLang="ko-KR" sz="1600" b="1" dirty="0" smtClean="0"/>
              <a:t>(</a:t>
            </a:r>
            <a:r>
              <a:rPr lang="en-US" altLang="ko-KR" sz="1600" b="1" dirty="0"/>
              <a:t>'x axis'</a:t>
            </a:r>
            <a:r>
              <a:rPr lang="en-US" altLang="ko-KR" sz="1600" b="1" dirty="0" smtClean="0"/>
              <a:t>)</a:t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pl.ylabel</a:t>
            </a:r>
            <a:r>
              <a:rPr lang="en-US" altLang="ko-KR" sz="1600" b="1" dirty="0" smtClean="0"/>
              <a:t>(</a:t>
            </a:r>
            <a:r>
              <a:rPr lang="en-US" altLang="ko-KR" sz="1600" b="1" dirty="0"/>
              <a:t>'y axis'</a:t>
            </a:r>
            <a:r>
              <a:rPr lang="en-US" altLang="ko-KR" sz="1600" b="1" dirty="0" smtClean="0"/>
              <a:t>)</a:t>
            </a:r>
            <a:br>
              <a:rPr lang="en-US" altLang="ko-KR" sz="1600" b="1" dirty="0" smtClean="0"/>
            </a:br>
            <a:r>
              <a:rPr lang="en-US" altLang="ko-KR" sz="1600" b="1" dirty="0" smtClean="0"/>
              <a:t/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pl.xlim</a:t>
            </a:r>
            <a:r>
              <a:rPr lang="en-US" altLang="ko-KR" sz="1600" b="1" dirty="0" smtClean="0"/>
              <a:t>(</a:t>
            </a:r>
            <a:r>
              <a:rPr lang="en-US" altLang="ko-KR" sz="1600" b="1" dirty="0"/>
              <a:t>0.0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9.0</a:t>
            </a:r>
            <a:r>
              <a:rPr lang="en-US" altLang="ko-KR" sz="1600" b="1" dirty="0" smtClean="0"/>
              <a:t>)</a:t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pl.ylim</a:t>
            </a:r>
            <a:r>
              <a:rPr lang="en-US" altLang="ko-KR" sz="1600" b="1" dirty="0" smtClean="0"/>
              <a:t>(</a:t>
            </a:r>
            <a:r>
              <a:rPr lang="en-US" altLang="ko-KR" sz="1600" b="1" dirty="0"/>
              <a:t>0.0</a:t>
            </a:r>
            <a:r>
              <a:rPr lang="en-US" altLang="ko-KR" sz="1600" b="1" dirty="0" smtClean="0"/>
              <a:t>, </a:t>
            </a:r>
            <a:r>
              <a:rPr lang="en-US" altLang="ko-KR" sz="1600" b="1" dirty="0"/>
              <a:t>30.</a:t>
            </a:r>
            <a:r>
              <a:rPr lang="en-US" altLang="ko-KR" sz="1600" b="1" dirty="0" smtClean="0"/>
              <a:t>)</a:t>
            </a:r>
            <a:br>
              <a:rPr lang="en-US" altLang="ko-KR" sz="1600" b="1" dirty="0" smtClean="0"/>
            </a:br>
            <a:r>
              <a:rPr lang="en-US" altLang="ko-KR" sz="1600" b="1" dirty="0" err="1" smtClean="0"/>
              <a:t>pl.show</a:t>
            </a:r>
            <a:r>
              <a:rPr lang="en-US" altLang="ko-KR" sz="1600" b="1" dirty="0" smtClean="0"/>
              <a:t>()</a:t>
            </a:r>
            <a:endParaRPr kumimoji="1" lang="ko-KR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pic>
        <p:nvPicPr>
          <p:cNvPr id="4" name="그림 3" descr="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28143" y="1282888"/>
            <a:ext cx="3844061" cy="320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plot : legend(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범례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20954" y="1040474"/>
            <a:ext cx="5201924" cy="50783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/>
              <a:t>import </a:t>
            </a:r>
            <a:r>
              <a:rPr lang="en-US" b="1" dirty="0" err="1" smtClean="0"/>
              <a:t>numpy</a:t>
            </a:r>
            <a:r>
              <a:rPr lang="en-US" b="1" dirty="0" smtClean="0"/>
              <a:t> as </a:t>
            </a:r>
            <a:r>
              <a:rPr lang="en-US" b="1" dirty="0" err="1" smtClean="0"/>
              <a:t>np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import pylab as pl</a:t>
            </a:r>
            <a:br>
              <a:rPr lang="en-US" b="1" dirty="0" smtClean="0"/>
            </a:br>
            <a:r>
              <a:rPr lang="en-US" b="1" i="1" dirty="0" smtClean="0"/>
              <a:t># Make x, y arrays for each graph</a:t>
            </a:r>
            <a:br>
              <a:rPr lang="en-US" b="1" i="1" dirty="0" smtClean="0"/>
            </a:br>
            <a:r>
              <a:rPr lang="en-US" b="1" dirty="0" smtClean="0"/>
              <a:t>x1 = [1, 2, 3, 4, 5]</a:t>
            </a:r>
            <a:br>
              <a:rPr lang="en-US" b="1" dirty="0" smtClean="0"/>
            </a:br>
            <a:r>
              <a:rPr lang="en-US" b="1" dirty="0" smtClean="0"/>
              <a:t>y1 = [1, 4, 9, 16, 25]</a:t>
            </a:r>
            <a:br>
              <a:rPr lang="en-US" b="1" dirty="0" smtClean="0"/>
            </a:br>
            <a:r>
              <a:rPr lang="en-US" b="1" dirty="0" smtClean="0"/>
              <a:t>x2 = [1, 2, 4, 6, 8]</a:t>
            </a:r>
            <a:br>
              <a:rPr lang="en-US" b="1" dirty="0" smtClean="0"/>
            </a:br>
            <a:r>
              <a:rPr lang="en-US" b="1" dirty="0" smtClean="0"/>
              <a:t>y2 = [2, 4, 8, 12, 16]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plot1 = </a:t>
            </a:r>
            <a:r>
              <a:rPr lang="en-US" b="1" dirty="0" err="1" smtClean="0"/>
              <a:t>pl.plot</a:t>
            </a:r>
            <a:r>
              <a:rPr lang="en-US" b="1" dirty="0" smtClean="0"/>
              <a:t>(x1, y1, 'r', label="red line")</a:t>
            </a:r>
            <a:br>
              <a:rPr lang="en-US" b="1" dirty="0" smtClean="0"/>
            </a:br>
            <a:r>
              <a:rPr lang="en-US" b="1" dirty="0" smtClean="0"/>
              <a:t>plot2 = </a:t>
            </a:r>
            <a:r>
              <a:rPr lang="en-US" b="1" dirty="0" err="1" smtClean="0"/>
              <a:t>pl.plot</a:t>
            </a:r>
            <a:r>
              <a:rPr lang="en-US" b="1" dirty="0" smtClean="0"/>
              <a:t>(x2, y2, 'go', label="green dot")</a:t>
            </a:r>
            <a:br>
              <a:rPr lang="en-US" b="1" dirty="0" smtClean="0"/>
            </a:br>
            <a:r>
              <a:rPr lang="en-US" b="1" i="1" dirty="0" smtClean="0"/>
              <a:t># give plot a title</a:t>
            </a:r>
            <a:br>
              <a:rPr lang="en-US" b="1" i="1" dirty="0" smtClean="0"/>
            </a:br>
            <a:r>
              <a:rPr lang="en-US" b="1" dirty="0" err="1" smtClean="0"/>
              <a:t>pl.title</a:t>
            </a:r>
            <a:r>
              <a:rPr lang="en-US" b="1" dirty="0" smtClean="0"/>
              <a:t>('Plot of y vs. x')</a:t>
            </a:r>
            <a:br>
              <a:rPr lang="en-US" b="1" dirty="0" smtClean="0"/>
            </a:br>
            <a:r>
              <a:rPr lang="en-US" b="1" dirty="0" err="1" smtClean="0"/>
              <a:t>pl.xlabel</a:t>
            </a:r>
            <a:r>
              <a:rPr lang="en-US" b="1" dirty="0" smtClean="0"/>
              <a:t>('x axis')</a:t>
            </a:r>
            <a:br>
              <a:rPr lang="en-US" b="1" dirty="0" smtClean="0"/>
            </a:br>
            <a:r>
              <a:rPr lang="en-US" b="1" dirty="0" err="1" smtClean="0"/>
              <a:t>pl.ylabel</a:t>
            </a:r>
            <a:r>
              <a:rPr lang="en-US" b="1" dirty="0" smtClean="0"/>
              <a:t>('y axis')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legend=</a:t>
            </a:r>
            <a:r>
              <a:rPr lang="en-US" b="1" dirty="0" err="1" smtClean="0"/>
              <a:t>pl.legend</a:t>
            </a:r>
            <a:r>
              <a:rPr lang="en-US" b="1" dirty="0" smtClean="0"/>
              <a:t>(loc='upper center', shadow=True)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err="1" smtClean="0"/>
              <a:t>pl.show</a:t>
            </a:r>
            <a:r>
              <a:rPr lang="en-US" b="1" dirty="0" smtClean="0"/>
              <a:t>()</a:t>
            </a:r>
            <a:endParaRPr kumimoji="1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603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3200" b="1" dirty="0" smtClean="0">
                <a:solidFill>
                  <a:schemeClr val="tx1"/>
                </a:solidFill>
                <a:latin typeface="+mn-ea"/>
              </a:rPr>
              <a:t>  Exam : </a:t>
            </a:r>
            <a:r>
              <a:rPr lang="ko-KR" altLang="en-US" sz="3200" b="1" dirty="0" smtClean="0">
                <a:solidFill>
                  <a:schemeClr val="tx1"/>
                </a:solidFill>
                <a:latin typeface="+mn-ea"/>
              </a:rPr>
              <a:t>실시간 온도 그래프</a:t>
            </a:r>
            <a:endParaRPr lang="ko-KR" altLang="en-US" sz="3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그림 3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24" y="1411716"/>
            <a:ext cx="4953426" cy="414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9162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Exam 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실시간 온도 그래프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07889" y="764475"/>
            <a:ext cx="7419561" cy="60939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/>
              <a:t>import threading</a:t>
            </a:r>
          </a:p>
          <a:p>
            <a:r>
              <a:rPr lang="en-US" altLang="ko-KR" sz="1000" dirty="0" smtClean="0"/>
              <a:t>import serial</a:t>
            </a:r>
          </a:p>
          <a:p>
            <a:r>
              <a:rPr lang="en-US" altLang="ko-KR" sz="1000" dirty="0" smtClean="0"/>
              <a:t>import </a:t>
            </a:r>
            <a:r>
              <a:rPr lang="en-US" altLang="ko-KR" sz="1000" dirty="0" err="1" smtClean="0"/>
              <a:t>numpy</a:t>
            </a:r>
            <a:r>
              <a:rPr lang="en-US" altLang="ko-KR" sz="1000" dirty="0" smtClean="0"/>
              <a:t> as </a:t>
            </a:r>
            <a:r>
              <a:rPr lang="en-US" altLang="ko-KR" sz="1000" dirty="0" err="1" smtClean="0"/>
              <a:t>np</a:t>
            </a:r>
            <a:r>
              <a:rPr lang="en-US" altLang="ko-KR" sz="1000" dirty="0" smtClean="0"/>
              <a:t>              #import </a:t>
            </a:r>
            <a:r>
              <a:rPr lang="en-US" altLang="ko-KR" sz="1000" dirty="0" err="1" smtClean="0"/>
              <a:t>numpy</a:t>
            </a:r>
            <a:endParaRPr lang="en-US" altLang="ko-KR" sz="1000" dirty="0" smtClean="0"/>
          </a:p>
          <a:p>
            <a:r>
              <a:rPr lang="en-US" altLang="ko-KR" sz="1000" dirty="0" smtClean="0"/>
              <a:t>import </a:t>
            </a:r>
            <a:r>
              <a:rPr lang="en-US" altLang="ko-KR" sz="1000" dirty="0" err="1" smtClean="0"/>
              <a:t>matplotlib.pyplot</a:t>
            </a:r>
            <a:r>
              <a:rPr lang="en-US" altLang="ko-KR" sz="1000" dirty="0" smtClean="0"/>
              <a:t> as </a:t>
            </a:r>
            <a:r>
              <a:rPr lang="en-US" altLang="ko-KR" sz="1000" dirty="0" err="1" smtClean="0"/>
              <a:t>plt</a:t>
            </a:r>
            <a:r>
              <a:rPr lang="en-US" altLang="ko-KR" sz="1000" dirty="0" smtClean="0"/>
              <a:t> #import </a:t>
            </a:r>
            <a:r>
              <a:rPr lang="en-US" altLang="ko-KR" sz="1000" dirty="0" err="1" smtClean="0"/>
              <a:t>matplotlib</a:t>
            </a:r>
            <a:r>
              <a:rPr lang="en-US" altLang="ko-KR" sz="1000" dirty="0" smtClean="0"/>
              <a:t> library</a:t>
            </a:r>
          </a:p>
          <a:p>
            <a:r>
              <a:rPr lang="en-US" altLang="ko-KR" sz="1000" dirty="0" smtClean="0"/>
              <a:t>from </a:t>
            </a:r>
            <a:r>
              <a:rPr lang="en-US" altLang="ko-KR" sz="1000" dirty="0" err="1" smtClean="0"/>
              <a:t>drawnow</a:t>
            </a:r>
            <a:r>
              <a:rPr lang="en-US" altLang="ko-KR" sz="1000" dirty="0" smtClean="0"/>
              <a:t> import *</a:t>
            </a:r>
          </a:p>
          <a:p>
            <a:endParaRPr lang="en-US" altLang="ko-KR" sz="1000" dirty="0" smtClean="0"/>
          </a:p>
          <a:p>
            <a:r>
              <a:rPr lang="en-US" altLang="ko-KR" sz="1000" dirty="0" err="1" smtClean="0"/>
              <a:t>temperatureF</a:t>
            </a:r>
            <a:r>
              <a:rPr lang="en-US" altLang="ko-KR" sz="1000" dirty="0" smtClean="0"/>
              <a:t>= []</a:t>
            </a:r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ser = </a:t>
            </a:r>
            <a:r>
              <a:rPr lang="en-US" altLang="ko-KR" sz="1000" dirty="0" err="1" smtClean="0"/>
              <a:t>serial.Serial</a:t>
            </a:r>
            <a:r>
              <a:rPr lang="en-US" altLang="ko-KR" sz="1000" dirty="0" smtClean="0"/>
              <a:t>(</a:t>
            </a:r>
          </a:p>
          <a:p>
            <a:r>
              <a:rPr lang="en-US" altLang="ko-KR" sz="1000" dirty="0" smtClean="0"/>
              <a:t>   port='COM3',</a:t>
            </a:r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baudrate</a:t>
            </a:r>
            <a:r>
              <a:rPr lang="en-US" altLang="ko-KR" sz="1000" dirty="0" smtClean="0"/>
              <a:t>=115200,</a:t>
            </a:r>
          </a:p>
          <a:p>
            <a:r>
              <a:rPr lang="en-US" altLang="ko-KR" sz="1000" dirty="0" smtClean="0"/>
              <a:t>   parity=</a:t>
            </a:r>
            <a:r>
              <a:rPr lang="en-US" altLang="ko-KR" sz="1000" dirty="0" err="1" smtClean="0"/>
              <a:t>serial.PARITY_NONE</a:t>
            </a:r>
            <a:r>
              <a:rPr lang="en-US" altLang="ko-KR" sz="1000" dirty="0" smtClean="0"/>
              <a:t>,</a:t>
            </a:r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stopbits</a:t>
            </a:r>
            <a:r>
              <a:rPr lang="en-US" altLang="ko-KR" sz="1000" dirty="0" smtClean="0"/>
              <a:t>=</a:t>
            </a:r>
            <a:r>
              <a:rPr lang="en-US" altLang="ko-KR" sz="1000" dirty="0" err="1" smtClean="0"/>
              <a:t>serial.STOPBITS_ONE</a:t>
            </a:r>
            <a:r>
              <a:rPr lang="en-US" altLang="ko-KR" sz="1000" dirty="0" smtClean="0"/>
              <a:t>,</a:t>
            </a:r>
          </a:p>
          <a:p>
            <a:r>
              <a:rPr lang="en-US" altLang="ko-KR" sz="1000" dirty="0" smtClean="0"/>
              <a:t>   </a:t>
            </a:r>
            <a:r>
              <a:rPr lang="en-US" altLang="ko-KR" sz="1000" dirty="0" err="1" smtClean="0"/>
              <a:t>bytesize</a:t>
            </a:r>
            <a:r>
              <a:rPr lang="en-US" altLang="ko-KR" sz="1000" dirty="0" smtClean="0"/>
              <a:t>=</a:t>
            </a:r>
            <a:r>
              <a:rPr lang="en-US" altLang="ko-KR" sz="1000" dirty="0" err="1" smtClean="0"/>
              <a:t>serial.EIGHTBITS</a:t>
            </a:r>
            <a:r>
              <a:rPr lang="en-US" altLang="ko-KR" sz="1000" dirty="0" smtClean="0"/>
              <a:t>,</a:t>
            </a:r>
          </a:p>
          <a:p>
            <a:r>
              <a:rPr lang="en-US" altLang="ko-KR" sz="1000" dirty="0" smtClean="0"/>
              <a:t>   timeout=1)</a:t>
            </a:r>
          </a:p>
          <a:p>
            <a:r>
              <a:rPr lang="en-US" altLang="ko-KR" sz="1000" dirty="0" smtClean="0"/>
              <a:t>def </a:t>
            </a:r>
            <a:r>
              <a:rPr lang="en-US" altLang="ko-KR" sz="1000" dirty="0" err="1" smtClean="0"/>
              <a:t>makeFig</a:t>
            </a:r>
            <a:r>
              <a:rPr lang="en-US" altLang="ko-KR" sz="1000" dirty="0" smtClean="0"/>
              <a:t>():             #Create a function that makes our desired plot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plt.ylim</a:t>
            </a:r>
            <a:r>
              <a:rPr lang="en-US" altLang="ko-KR" sz="1000" dirty="0" smtClean="0"/>
              <a:t>(10,50)                                        #Set y min and max values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plt.title</a:t>
            </a:r>
            <a:r>
              <a:rPr lang="en-US" altLang="ko-KR" sz="1000" dirty="0" smtClean="0"/>
              <a:t>('&lt; Classroom Temperature &gt;')             #Plot the title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plt.grid</a:t>
            </a:r>
            <a:r>
              <a:rPr lang="en-US" altLang="ko-KR" sz="1000" dirty="0" smtClean="0"/>
              <a:t>(True)                                         #Turn the grid on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plt.ylabel</a:t>
            </a:r>
            <a:r>
              <a:rPr lang="en-US" altLang="ko-KR" sz="1000" dirty="0" smtClean="0"/>
              <a:t>('Temp C')                                   #Set </a:t>
            </a:r>
            <a:r>
              <a:rPr lang="en-US" altLang="ko-KR" sz="1000" dirty="0" err="1" smtClean="0"/>
              <a:t>ylabels</a:t>
            </a:r>
            <a:endParaRPr lang="en-US" altLang="ko-KR" sz="1000" dirty="0" smtClean="0"/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plt.plot</a:t>
            </a:r>
            <a:r>
              <a:rPr lang="en-US" altLang="ko-KR" sz="1000" dirty="0" smtClean="0"/>
              <a:t>(</a:t>
            </a:r>
            <a:r>
              <a:rPr lang="en-US" altLang="ko-KR" sz="1000" dirty="0" err="1" smtClean="0"/>
              <a:t>temperatureF</a:t>
            </a:r>
            <a:r>
              <a:rPr lang="en-US" altLang="ko-KR" sz="1000" dirty="0" smtClean="0"/>
              <a:t>, '</a:t>
            </a:r>
            <a:r>
              <a:rPr lang="en-US" altLang="ko-KR" sz="1000" dirty="0" err="1" smtClean="0"/>
              <a:t>ro</a:t>
            </a:r>
            <a:r>
              <a:rPr lang="en-US" altLang="ko-KR" sz="1000" dirty="0" smtClean="0"/>
              <a:t>-', label='Degrees C')       #plot the temperature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plt.legend</a:t>
            </a:r>
            <a:r>
              <a:rPr lang="en-US" altLang="ko-KR" sz="1000" dirty="0" smtClean="0"/>
              <a:t>(loc='upper left')                           #plot the legend</a:t>
            </a:r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def </a:t>
            </a:r>
            <a:r>
              <a:rPr lang="en-US" altLang="ko-KR" sz="1000" dirty="0" err="1" smtClean="0"/>
              <a:t>display_status</a:t>
            </a:r>
            <a:r>
              <a:rPr lang="en-US" altLang="ko-KR" sz="1000" dirty="0" smtClean="0"/>
              <a:t>(ser):</a:t>
            </a:r>
          </a:p>
          <a:p>
            <a:r>
              <a:rPr lang="en-US" altLang="ko-KR" sz="1000" dirty="0" smtClean="0"/>
              <a:t>    </a:t>
            </a:r>
            <a:r>
              <a:rPr lang="en-US" altLang="ko-KR" sz="1000" dirty="0" err="1" smtClean="0"/>
              <a:t>cnt</a:t>
            </a:r>
            <a:r>
              <a:rPr lang="en-US" altLang="ko-KR" sz="1000" dirty="0" smtClean="0"/>
              <a:t>=0</a:t>
            </a:r>
          </a:p>
          <a:p>
            <a:r>
              <a:rPr lang="en-US" altLang="ko-KR" sz="1000" dirty="0" smtClean="0"/>
              <a:t>    while True:</a:t>
            </a:r>
          </a:p>
          <a:p>
            <a:r>
              <a:rPr lang="en-US" altLang="ko-KR" sz="1000" dirty="0" smtClean="0"/>
              <a:t>        </a:t>
            </a:r>
            <a:r>
              <a:rPr lang="en-US" altLang="ko-KR" sz="1000" dirty="0" err="1" smtClean="0"/>
              <a:t>rxdata</a:t>
            </a:r>
            <a:r>
              <a:rPr lang="en-US" altLang="ko-KR" sz="1000" dirty="0" smtClean="0"/>
              <a:t> = </a:t>
            </a:r>
            <a:r>
              <a:rPr lang="en-US" altLang="ko-KR" sz="1000" dirty="0" err="1" smtClean="0"/>
              <a:t>ser.readline</a:t>
            </a:r>
            <a:r>
              <a:rPr lang="en-US" altLang="ko-KR" sz="1000" dirty="0" smtClean="0"/>
              <a:t>().decode('utf-8')			</a:t>
            </a:r>
          </a:p>
          <a:p>
            <a:r>
              <a:rPr lang="en-US" altLang="ko-KR" sz="1000" dirty="0" smtClean="0"/>
              <a:t>        if </a:t>
            </a:r>
            <a:r>
              <a:rPr lang="en-US" altLang="ko-KR" sz="1000" dirty="0" err="1" smtClean="0"/>
              <a:t>rxdata</a:t>
            </a:r>
            <a:r>
              <a:rPr lang="en-US" altLang="ko-KR" sz="1000" dirty="0" smtClean="0"/>
              <a:t> :</a:t>
            </a:r>
          </a:p>
          <a:p>
            <a:r>
              <a:rPr lang="en-US" altLang="ko-KR" sz="1000" dirty="0" smtClean="0"/>
              <a:t>            print (</a:t>
            </a:r>
            <a:r>
              <a:rPr lang="en-US" altLang="ko-KR" sz="1000" dirty="0" err="1" smtClean="0"/>
              <a:t>rxdata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000" dirty="0" smtClean="0"/>
              <a:t>            </a:t>
            </a:r>
            <a:r>
              <a:rPr lang="en-US" altLang="ko-KR" sz="1000" dirty="0" err="1" smtClean="0"/>
              <a:t>rxdata</a:t>
            </a:r>
            <a:r>
              <a:rPr lang="en-US" altLang="ko-KR" sz="1000" dirty="0" smtClean="0"/>
              <a:t>=</a:t>
            </a:r>
            <a:r>
              <a:rPr lang="en-US" altLang="ko-KR" sz="1000" dirty="0" err="1" smtClean="0"/>
              <a:t>int</a:t>
            </a:r>
            <a:r>
              <a:rPr lang="en-US" altLang="ko-KR" sz="1000" dirty="0" smtClean="0"/>
              <a:t>(</a:t>
            </a:r>
            <a:r>
              <a:rPr lang="en-US" altLang="ko-KR" sz="1000" dirty="0" err="1" smtClean="0"/>
              <a:t>rxdata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000" dirty="0" smtClean="0"/>
              <a:t>            </a:t>
            </a:r>
            <a:r>
              <a:rPr lang="en-US" altLang="ko-KR" sz="1000" dirty="0" err="1" smtClean="0"/>
              <a:t>temperatureF.append</a:t>
            </a:r>
            <a:r>
              <a:rPr lang="en-US" altLang="ko-KR" sz="1000" dirty="0" smtClean="0"/>
              <a:t>(</a:t>
            </a:r>
            <a:r>
              <a:rPr lang="en-US" altLang="ko-KR" sz="1000" dirty="0" err="1" smtClean="0"/>
              <a:t>rxdata</a:t>
            </a:r>
            <a:r>
              <a:rPr lang="en-US" altLang="ko-KR" sz="1000" dirty="0" smtClean="0"/>
              <a:t>)      #Build our </a:t>
            </a:r>
            <a:r>
              <a:rPr lang="en-US" altLang="ko-KR" sz="1000" dirty="0" err="1" smtClean="0"/>
              <a:t>temperatureF</a:t>
            </a:r>
            <a:r>
              <a:rPr lang="en-US" altLang="ko-KR" sz="1000" dirty="0" smtClean="0"/>
              <a:t> array by appending temp readings</a:t>
            </a:r>
          </a:p>
          <a:p>
            <a:r>
              <a:rPr lang="en-US" altLang="ko-KR" sz="1000" dirty="0" smtClean="0"/>
              <a:t>            </a:t>
            </a:r>
            <a:r>
              <a:rPr lang="en-US" altLang="ko-KR" sz="1000" dirty="0" err="1" smtClean="0"/>
              <a:t>drawnow</a:t>
            </a:r>
            <a:r>
              <a:rPr lang="en-US" altLang="ko-KR" sz="1000" dirty="0" smtClean="0"/>
              <a:t>(</a:t>
            </a:r>
            <a:r>
              <a:rPr lang="en-US" altLang="ko-KR" sz="1000" dirty="0" err="1" smtClean="0"/>
              <a:t>makeFig</a:t>
            </a:r>
            <a:r>
              <a:rPr lang="en-US" altLang="ko-KR" sz="1000" dirty="0" smtClean="0"/>
              <a:t>)                       #Call </a:t>
            </a:r>
            <a:r>
              <a:rPr lang="en-US" altLang="ko-KR" sz="1000" dirty="0" err="1" smtClean="0"/>
              <a:t>drawnow</a:t>
            </a:r>
            <a:r>
              <a:rPr lang="en-US" altLang="ko-KR" sz="1000" dirty="0" smtClean="0"/>
              <a:t> to update our live graph</a:t>
            </a:r>
          </a:p>
          <a:p>
            <a:r>
              <a:rPr lang="en-US" altLang="ko-KR" sz="1000" dirty="0" smtClean="0"/>
              <a:t>            </a:t>
            </a:r>
            <a:r>
              <a:rPr lang="en-US" altLang="ko-KR" sz="1000" dirty="0" err="1" smtClean="0"/>
              <a:t>plt.pause</a:t>
            </a:r>
            <a:r>
              <a:rPr lang="en-US" altLang="ko-KR" sz="1000" dirty="0" smtClean="0"/>
              <a:t>(.000001)                     #Pause Briefly. Important to keep </a:t>
            </a:r>
            <a:r>
              <a:rPr lang="en-US" altLang="ko-KR" sz="1000" dirty="0" err="1" smtClean="0"/>
              <a:t>drawnow</a:t>
            </a:r>
            <a:r>
              <a:rPr lang="en-US" altLang="ko-KR" sz="1000" dirty="0" smtClean="0"/>
              <a:t> from crashing</a:t>
            </a:r>
          </a:p>
          <a:p>
            <a:r>
              <a:rPr lang="en-US" altLang="ko-KR" sz="1000" dirty="0" smtClean="0"/>
              <a:t>            </a:t>
            </a:r>
            <a:r>
              <a:rPr lang="en-US" altLang="ko-KR" sz="1000" dirty="0" err="1" smtClean="0"/>
              <a:t>cnt</a:t>
            </a:r>
            <a:r>
              <a:rPr lang="en-US" altLang="ko-KR" sz="1000" dirty="0" smtClean="0"/>
              <a:t>=cnt+1</a:t>
            </a:r>
          </a:p>
          <a:p>
            <a:r>
              <a:rPr lang="en-US" altLang="ko-KR" sz="1000" dirty="0" smtClean="0"/>
              <a:t>            if(</a:t>
            </a:r>
            <a:r>
              <a:rPr lang="en-US" altLang="ko-KR" sz="1000" dirty="0" err="1" smtClean="0"/>
              <a:t>cnt</a:t>
            </a:r>
            <a:r>
              <a:rPr lang="en-US" altLang="ko-KR" sz="1000" dirty="0" smtClean="0"/>
              <a:t>&gt;50):                            #If you have 50 or more points, delete the first one from the array</a:t>
            </a:r>
          </a:p>
          <a:p>
            <a:r>
              <a:rPr lang="en-US" altLang="ko-KR" sz="1000" dirty="0" smtClean="0"/>
              <a:t>                temperatureF.pop(0) </a:t>
            </a:r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thread = </a:t>
            </a:r>
            <a:r>
              <a:rPr lang="en-US" altLang="ko-KR" sz="1000" dirty="0" err="1" smtClean="0"/>
              <a:t>threading.Thread</a:t>
            </a:r>
            <a:r>
              <a:rPr lang="en-US" altLang="ko-KR" sz="1000" dirty="0" smtClean="0"/>
              <a:t>(target=</a:t>
            </a:r>
            <a:r>
              <a:rPr lang="en-US" altLang="ko-KR" sz="1000" dirty="0" err="1" smtClean="0"/>
              <a:t>display_status</a:t>
            </a:r>
            <a:r>
              <a:rPr lang="en-US" altLang="ko-KR" sz="1000" dirty="0" smtClean="0"/>
              <a:t>, </a:t>
            </a:r>
            <a:r>
              <a:rPr lang="en-US" altLang="ko-KR" sz="1000" dirty="0" err="1" smtClean="0"/>
              <a:t>args</a:t>
            </a:r>
            <a:r>
              <a:rPr lang="en-US" altLang="ko-KR" sz="1000" dirty="0" smtClean="0"/>
              <a:t>=(ser,))</a:t>
            </a:r>
          </a:p>
          <a:p>
            <a:r>
              <a:rPr lang="en-US" altLang="ko-KR" sz="1000" dirty="0" err="1" smtClean="0"/>
              <a:t>thread.start</a:t>
            </a:r>
            <a:r>
              <a:rPr lang="en-US" altLang="ko-KR" sz="1000" dirty="0" smtClean="0"/>
              <a:t>()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  Quiz : </a:t>
            </a:r>
            <a:r>
              <a:rPr lang="ko-KR" altLang="en-US" sz="2400" b="1" dirty="0" smtClean="0">
                <a:solidFill>
                  <a:schemeClr val="tx1"/>
                </a:solidFill>
                <a:latin typeface="+mn-ea"/>
              </a:rPr>
              <a:t>실시간 온도 그래프</a:t>
            </a:r>
          </a:p>
        </p:txBody>
      </p:sp>
      <p:sp>
        <p:nvSpPr>
          <p:cNvPr id="3" name="AutoShape 2" descr="LM35 arduino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4" name="AutoShape 4" descr="LM35 arduino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" name="AutoShape 6" descr="LM35 arduino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6710" y="1643152"/>
            <a:ext cx="5505360" cy="4577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9"/>
          <p:cNvSpPr txBox="1"/>
          <p:nvPr/>
        </p:nvSpPr>
        <p:spPr>
          <a:xfrm>
            <a:off x="577969" y="1095556"/>
            <a:ext cx="393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 </a:t>
            </a:r>
            <a:r>
              <a:rPr lang="ko-KR" altLang="en-US" b="1" dirty="0" smtClean="0">
                <a:solidFill>
                  <a:srgbClr val="0000FF"/>
                </a:solidFill>
              </a:rPr>
              <a:t>온도와 습도를 그래프로 표시하시오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3787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plot :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histplot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20954" y="1044261"/>
            <a:ext cx="6689530" cy="406265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/>
              <a:t>import </a:t>
            </a:r>
            <a:r>
              <a:rPr lang="en-US" sz="2400" dirty="0" err="1" smtClean="0"/>
              <a:t>numpy</a:t>
            </a:r>
            <a:r>
              <a:rPr lang="en-US" sz="2400" dirty="0" smtClean="0"/>
              <a:t> as </a:t>
            </a:r>
            <a:r>
              <a:rPr lang="en-US" sz="2400" dirty="0" err="1" smtClean="0"/>
              <a:t>np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import pylab as pl</a:t>
            </a:r>
            <a:br>
              <a:rPr lang="en-US" sz="2400" dirty="0" smtClean="0"/>
            </a:br>
            <a:r>
              <a:rPr lang="en-US" dirty="0" smtClean="0"/>
              <a:t># make an array of random numbers with a </a:t>
            </a:r>
            <a:r>
              <a:rPr lang="en-US" dirty="0" err="1" smtClean="0"/>
              <a:t>gaussian</a:t>
            </a:r>
            <a:r>
              <a:rPr lang="en-US" dirty="0" smtClean="0"/>
              <a:t> distribution with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dirty="0" smtClean="0"/>
              <a:t># mean = 5.0</a:t>
            </a:r>
            <a:br>
              <a:rPr lang="en-US" dirty="0" smtClean="0"/>
            </a:br>
            <a:r>
              <a:rPr lang="en-US" dirty="0" smtClean="0"/>
              <a:t># </a:t>
            </a:r>
            <a:r>
              <a:rPr lang="en-US" dirty="0" err="1" smtClean="0"/>
              <a:t>rms</a:t>
            </a:r>
            <a:r>
              <a:rPr lang="en-US" dirty="0" smtClean="0"/>
              <a:t> = 3.0</a:t>
            </a:r>
            <a:br>
              <a:rPr lang="en-US" dirty="0" smtClean="0"/>
            </a:br>
            <a:r>
              <a:rPr lang="en-US" dirty="0" smtClean="0"/>
              <a:t># number of points = 1000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data = </a:t>
            </a:r>
            <a:r>
              <a:rPr lang="en-US" sz="2400" dirty="0" err="1" smtClean="0"/>
              <a:t>np.random.normal</a:t>
            </a:r>
            <a:r>
              <a:rPr lang="en-US" sz="2400" dirty="0" smtClean="0"/>
              <a:t>(5.0, 3.0, 1000)</a:t>
            </a:r>
            <a:br>
              <a:rPr lang="en-US" sz="2400" dirty="0" smtClean="0"/>
            </a:br>
            <a:r>
              <a:rPr lang="en-US" dirty="0" smtClean="0"/>
              <a:t># make a histogram of the data array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pl.hist</a:t>
            </a:r>
            <a:r>
              <a:rPr lang="en-US" sz="2400" dirty="0" smtClean="0"/>
              <a:t>(data)</a:t>
            </a:r>
            <a:br>
              <a:rPr lang="en-US" sz="2400" dirty="0" smtClean="0"/>
            </a:br>
            <a:r>
              <a:rPr lang="en-US" dirty="0" smtClean="0"/>
              <a:t># make plot labels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pl.xlabel</a:t>
            </a:r>
            <a:r>
              <a:rPr lang="en-US" sz="2400" dirty="0" smtClean="0"/>
              <a:t>('data')</a:t>
            </a:r>
            <a:br>
              <a:rPr lang="en-US" sz="2400" dirty="0" smtClean="0"/>
            </a:br>
            <a:r>
              <a:rPr lang="en-US" sz="2400" dirty="0" err="1" smtClean="0"/>
              <a:t>pl.show</a:t>
            </a:r>
            <a:r>
              <a:rPr lang="en-US" sz="2400" dirty="0" smtClean="0"/>
              <a:t>()</a:t>
            </a:r>
            <a:endParaRPr kumimoji="1" lang="ko-KR" altLang="ko-KR" sz="24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pic>
        <p:nvPicPr>
          <p:cNvPr id="4" name="그림 3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35032" y="4193650"/>
            <a:ext cx="3081171" cy="258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3786"/>
            <a:ext cx="9144000" cy="7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Python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실행 파일 만들기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" y="1106424"/>
            <a:ext cx="577151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dirty="0" smtClean="0">
                <a:solidFill>
                  <a:srgbClr val="0000FF"/>
                </a:solidFill>
              </a:rPr>
              <a:t> </a:t>
            </a:r>
            <a:r>
              <a:rPr lang="en-US" altLang="ko-KR" dirty="0" err="1" smtClean="0">
                <a:solidFill>
                  <a:srgbClr val="0000FF"/>
                </a:solidFill>
              </a:rPr>
              <a:t>cx_freeze</a:t>
            </a:r>
            <a:r>
              <a:rPr lang="en-US" altLang="ko-KR" dirty="0" smtClean="0">
                <a:solidFill>
                  <a:srgbClr val="0000FF"/>
                </a:solidFill>
              </a:rPr>
              <a:t> </a:t>
            </a:r>
            <a:r>
              <a:rPr lang="ko-KR" altLang="en-US" dirty="0" smtClean="0">
                <a:solidFill>
                  <a:srgbClr val="0000FF"/>
                </a:solidFill>
              </a:rPr>
              <a:t>설치 </a:t>
            </a:r>
            <a:r>
              <a:rPr lang="en-US" altLang="ko-KR" dirty="0" smtClean="0">
                <a:solidFill>
                  <a:srgbClr val="0000FF"/>
                </a:solidFill>
              </a:rPr>
              <a:t>:  </a:t>
            </a:r>
            <a:r>
              <a:rPr lang="en-US" altLang="ko-KR" dirty="0" smtClean="0"/>
              <a:t>pip install </a:t>
            </a:r>
            <a:r>
              <a:rPr lang="en-US" altLang="ko-KR" dirty="0" err="1" smtClean="0"/>
              <a:t>cx_freeze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en-US" altLang="ko-KR" dirty="0" smtClean="0">
                <a:solidFill>
                  <a:srgbClr val="0000FF"/>
                </a:solidFill>
              </a:rPr>
              <a:t> </a:t>
            </a:r>
            <a:r>
              <a:rPr lang="ko-KR" altLang="en-US" dirty="0" smtClean="0">
                <a:solidFill>
                  <a:srgbClr val="0000FF"/>
                </a:solidFill>
              </a:rPr>
              <a:t>설치 파일 만들기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</a:t>
            </a:r>
            <a:r>
              <a:rPr lang="en-US" dirty="0" smtClean="0"/>
              <a:t>import sys </a:t>
            </a:r>
          </a:p>
          <a:p>
            <a:r>
              <a:rPr lang="en-US" dirty="0" smtClean="0"/>
              <a:t>  from </a:t>
            </a:r>
            <a:r>
              <a:rPr lang="en-US" dirty="0" err="1" smtClean="0"/>
              <a:t>cx_Freeze</a:t>
            </a:r>
            <a:r>
              <a:rPr lang="en-US" dirty="0" smtClean="0"/>
              <a:t> import setup, Executable </a:t>
            </a:r>
            <a:br>
              <a:rPr lang="en-US" dirty="0" smtClean="0"/>
            </a:br>
            <a:r>
              <a:rPr lang="en-US" dirty="0" smtClean="0"/>
              <a:t>  setup( name=“Set demo", </a:t>
            </a:r>
            <a:br>
              <a:rPr lang="en-US" dirty="0" smtClean="0"/>
            </a:br>
            <a:r>
              <a:rPr lang="en-US" dirty="0" smtClean="0"/>
              <a:t>               version="1.0", </a:t>
            </a:r>
            <a:br>
              <a:rPr lang="en-US" dirty="0" smtClean="0"/>
            </a:br>
            <a:r>
              <a:rPr lang="en-US" dirty="0" smtClean="0"/>
              <a:t>               description = "</a:t>
            </a:r>
            <a:r>
              <a:rPr lang="ko-KR" altLang="en-US" dirty="0" smtClean="0"/>
              <a:t>테스트 파일</a:t>
            </a:r>
            <a:r>
              <a:rPr lang="en-US" altLang="ko-KR" dirty="0" smtClean="0"/>
              <a:t>", </a:t>
            </a:r>
            <a:br>
              <a:rPr lang="en-US" altLang="ko-KR" dirty="0" smtClean="0"/>
            </a:br>
            <a:r>
              <a:rPr lang="en-US" altLang="ko-KR" dirty="0" smtClean="0"/>
              <a:t>               </a:t>
            </a:r>
            <a:r>
              <a:rPr lang="en-US" dirty="0" smtClean="0"/>
              <a:t>author = “me", </a:t>
            </a:r>
            <a:br>
              <a:rPr lang="en-US" dirty="0" smtClean="0"/>
            </a:br>
            <a:r>
              <a:rPr lang="en-US" dirty="0" smtClean="0"/>
              <a:t>               executables = [Executable(“test.py")])</a:t>
            </a:r>
          </a:p>
          <a:p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en-US" altLang="ko-KR" dirty="0" smtClean="0">
                <a:solidFill>
                  <a:srgbClr val="0000FF"/>
                </a:solidFill>
              </a:rPr>
              <a:t> python setup.py install</a:t>
            </a:r>
          </a:p>
          <a:p>
            <a:pPr>
              <a:buFont typeface="Arial" pitchFamily="34" charset="0"/>
              <a:buChar char="•"/>
            </a:pPr>
            <a:endParaRPr lang="en-US" altLang="ko-KR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dirty="0" smtClean="0">
                <a:solidFill>
                  <a:srgbClr val="0000FF"/>
                </a:solidFill>
              </a:rPr>
              <a:t> </a:t>
            </a:r>
            <a:r>
              <a:rPr lang="ko-KR" altLang="en-US" dirty="0" smtClean="0">
                <a:solidFill>
                  <a:srgbClr val="0000FF"/>
                </a:solidFill>
              </a:rPr>
              <a:t> </a:t>
            </a:r>
            <a:r>
              <a:rPr lang="en-US" altLang="ko-KR" dirty="0" err="1" smtClean="0">
                <a:solidFill>
                  <a:srgbClr val="0000FF"/>
                </a:solidFill>
              </a:rPr>
              <a:t>cmd</a:t>
            </a:r>
            <a:r>
              <a:rPr lang="en-US" altLang="ko-KR" dirty="0" smtClean="0">
                <a:solidFill>
                  <a:srgbClr val="0000FF"/>
                </a:solidFill>
              </a:rPr>
              <a:t> </a:t>
            </a:r>
            <a:r>
              <a:rPr lang="ko-KR" altLang="en-US" dirty="0" smtClean="0">
                <a:solidFill>
                  <a:srgbClr val="0000FF"/>
                </a:solidFill>
              </a:rPr>
              <a:t>창 나오지 않게 하려면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br>
              <a:rPr lang="en-US" altLang="ko-KR" dirty="0" smtClean="0">
                <a:solidFill>
                  <a:srgbClr val="0000FF"/>
                </a:solidFill>
              </a:rPr>
            </a:b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     </a:t>
            </a:r>
            <a:r>
              <a:rPr lang="en-US" dirty="0" smtClean="0"/>
              <a:t>executables = [Executable(“test.py“, base=“Win32GUI”)])</a:t>
            </a:r>
          </a:p>
          <a:p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822588"/>
            <a:ext cx="9144000" cy="1760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6600" b="1" dirty="0" smtClean="0">
                <a:solidFill>
                  <a:schemeClr val="tx1"/>
                </a:solidFill>
                <a:latin typeface="+mn-ea"/>
              </a:rPr>
              <a:t>Tkinter</a:t>
            </a:r>
            <a:endParaRPr lang="en-US" altLang="ko-KR" sz="6600" b="1" dirty="0">
              <a:solidFill>
                <a:srgbClr val="0000FF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27655" y="3713580"/>
            <a:ext cx="815876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latin typeface="+mn-ea"/>
              </a:rPr>
              <a:t>http://infohost.nmt.edu/tcc/help/pubs/tkinter/web/index.html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Tkinter GUI Programming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순서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타원 2"/>
          <p:cNvSpPr/>
          <p:nvPr/>
        </p:nvSpPr>
        <p:spPr>
          <a:xfrm>
            <a:off x="776182" y="1382234"/>
            <a:ext cx="361507" cy="340242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180214" y="1371601"/>
            <a:ext cx="5386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Main window(</a:t>
            </a:r>
            <a:r>
              <a:rPr lang="en-US" altLang="ko-KR" dirty="0" err="1" smtClean="0"/>
              <a:t>Tk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</a:t>
            </a:r>
            <a:r>
              <a:rPr lang="en-US" altLang="ko-KR" dirty="0" smtClean="0"/>
              <a:t>) </a:t>
            </a:r>
            <a:r>
              <a:rPr lang="ko-KR" altLang="en-US" dirty="0" smtClean="0"/>
              <a:t>생성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Tk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객체의 </a:t>
            </a:r>
            <a:r>
              <a:rPr lang="en-US" altLang="ko-KR" dirty="0" smtClean="0"/>
              <a:t>instance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5" name="타원 4"/>
          <p:cNvSpPr/>
          <p:nvPr/>
        </p:nvSpPr>
        <p:spPr>
          <a:xfrm>
            <a:off x="779720" y="1938688"/>
            <a:ext cx="361507" cy="340242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1183752" y="1928055"/>
            <a:ext cx="5538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Widget </a:t>
            </a:r>
            <a:r>
              <a:rPr lang="ko-KR" altLang="en-US" dirty="0" smtClean="0"/>
              <a:t>생성 </a:t>
            </a:r>
            <a:r>
              <a:rPr lang="en-US" altLang="ko-KR" dirty="0" smtClean="0"/>
              <a:t>-  </a:t>
            </a:r>
            <a:r>
              <a:rPr lang="en-US" altLang="ko-KR" dirty="0" err="1" smtClean="0"/>
              <a:t>lable</a:t>
            </a:r>
            <a:r>
              <a:rPr lang="en-US" altLang="ko-KR" dirty="0" smtClean="0"/>
              <a:t>, button, check box, slide, text box </a:t>
            </a:r>
            <a:r>
              <a:rPr lang="ko-KR" altLang="en-US" dirty="0" smtClean="0"/>
              <a:t>등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793891" y="2452610"/>
            <a:ext cx="361507" cy="340242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TextBox 10"/>
          <p:cNvSpPr txBox="1"/>
          <p:nvPr/>
        </p:nvSpPr>
        <p:spPr>
          <a:xfrm>
            <a:off x="1197923" y="2441977"/>
            <a:ext cx="244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Widget Window</a:t>
            </a:r>
            <a:r>
              <a:rPr lang="ko-KR" altLang="en-US" dirty="0" smtClean="0"/>
              <a:t>에 배치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804529" y="2931079"/>
            <a:ext cx="361507" cy="340242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4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12"/>
          <p:cNvSpPr txBox="1"/>
          <p:nvPr/>
        </p:nvSpPr>
        <p:spPr>
          <a:xfrm>
            <a:off x="1208561" y="2920446"/>
            <a:ext cx="371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Main loop </a:t>
            </a:r>
            <a:r>
              <a:rPr lang="ko-KR" altLang="en-US" dirty="0" smtClean="0"/>
              <a:t>실행 </a:t>
            </a:r>
            <a:r>
              <a:rPr lang="en-US" altLang="ko-KR" dirty="0" smtClean="0"/>
              <a:t>– event</a:t>
            </a:r>
            <a:r>
              <a:rPr lang="ko-KR" altLang="en-US" dirty="0" smtClean="0"/>
              <a:t> 발생 및 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8" y="1124045"/>
            <a:ext cx="8632684" cy="530398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Tkinter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위젯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52728" y="1044755"/>
            <a:ext cx="8691271" cy="3413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from  </a:t>
            </a:r>
            <a:r>
              <a:rPr lang="en-US" altLang="ko-KR" sz="2000" b="1" dirty="0" err="1" smtClean="0">
                <a:solidFill>
                  <a:srgbClr val="0000FF"/>
                </a:solidFill>
                <a:latin typeface="+mn-ea"/>
              </a:rPr>
              <a:t>tkinter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 import *</a:t>
            </a:r>
          </a:p>
          <a:p>
            <a:pPr>
              <a:lnSpc>
                <a:spcPts val="3700"/>
              </a:lnSpc>
            </a:pPr>
            <a:r>
              <a:rPr lang="en-US" altLang="ko-KR" sz="2000" b="1" dirty="0" smtClean="0">
                <a:latin typeface="+mn-ea"/>
              </a:rPr>
              <a:t>win =</a:t>
            </a:r>
            <a:r>
              <a:rPr lang="en-US" altLang="ko-KR" sz="2000" b="1" dirty="0" err="1" smtClean="0">
                <a:latin typeface="+mn-ea"/>
              </a:rPr>
              <a:t>Tk</a:t>
            </a:r>
            <a:r>
              <a:rPr lang="en-US" altLang="ko-KR" sz="2000" b="1" dirty="0" smtClean="0">
                <a:latin typeface="+mn-ea"/>
              </a:rPr>
              <a:t> ()</a:t>
            </a:r>
          </a:p>
          <a:p>
            <a:pPr>
              <a:lnSpc>
                <a:spcPts val="3700"/>
              </a:lnSpc>
            </a:pPr>
            <a:r>
              <a:rPr lang="en-US" altLang="ko-KR" sz="2000" b="1" dirty="0" err="1" smtClean="0">
                <a:latin typeface="+mn-ea"/>
              </a:rPr>
              <a:t>win.title</a:t>
            </a:r>
            <a:r>
              <a:rPr lang="en-US" altLang="ko-KR" sz="2000" b="1" dirty="0" smtClean="0">
                <a:latin typeface="+mn-ea"/>
              </a:rPr>
              <a:t>(“Python Test GUI”)</a:t>
            </a:r>
          </a:p>
          <a:p>
            <a:pPr>
              <a:lnSpc>
                <a:spcPts val="3700"/>
              </a:lnSpc>
            </a:pPr>
            <a:r>
              <a:rPr lang="en-US" altLang="ko-KR" sz="2000" b="1" dirty="0" err="1" smtClean="0">
                <a:latin typeface="+mn-ea"/>
              </a:rPr>
              <a:t>win.geometry</a:t>
            </a:r>
            <a:r>
              <a:rPr lang="en-US" altLang="ko-KR" sz="2000" b="1" dirty="0" smtClean="0">
                <a:latin typeface="+mn-ea"/>
              </a:rPr>
              <a:t>(‘500x200+0+0’)   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 # 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화면크기 가로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세로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+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가로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+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세로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위치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_)</a:t>
            </a:r>
            <a:endParaRPr lang="en-US" altLang="ko-KR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3700"/>
              </a:lnSpc>
            </a:pPr>
            <a:r>
              <a:rPr lang="en-US" altLang="ko-KR" sz="2000" b="1" dirty="0" smtClean="0">
                <a:latin typeface="+mn-ea"/>
              </a:rPr>
              <a:t>label=Label(win, text=‘My First Tkinter’)</a:t>
            </a:r>
          </a:p>
          <a:p>
            <a:pPr>
              <a:lnSpc>
                <a:spcPts val="3700"/>
              </a:lnSpc>
            </a:pPr>
            <a:r>
              <a:rPr lang="en-US" altLang="ko-KR" sz="2000" b="1" dirty="0" err="1" smtClean="0">
                <a:latin typeface="+mn-ea"/>
              </a:rPr>
              <a:t>label.pack</a:t>
            </a:r>
            <a:r>
              <a:rPr lang="en-US" altLang="ko-KR" sz="2000" b="1" dirty="0" smtClean="0">
                <a:latin typeface="+mn-ea"/>
              </a:rPr>
              <a:t>()</a:t>
            </a:r>
          </a:p>
          <a:p>
            <a:pPr>
              <a:lnSpc>
                <a:spcPts val="3700"/>
              </a:lnSpc>
            </a:pPr>
            <a:r>
              <a:rPr lang="en-US" altLang="ko-KR" sz="2000" b="1" dirty="0" err="1" smtClean="0">
                <a:latin typeface="+mn-ea"/>
              </a:rPr>
              <a:t>win.mainloop</a:t>
            </a:r>
            <a:r>
              <a:rPr lang="en-US" altLang="ko-KR" sz="2000" b="1" dirty="0" smtClean="0">
                <a:latin typeface="+mn-ea"/>
              </a:rPr>
              <a:t>()   #</a:t>
            </a:r>
            <a:r>
              <a:rPr lang="ko-KR" altLang="en-US" sz="2000" b="1" dirty="0" smtClean="0">
                <a:latin typeface="+mn-ea"/>
              </a:rPr>
              <a:t>이벤트 메시지 루프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윈도우 만들기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widget option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4" y="1219579"/>
            <a:ext cx="8297375" cy="348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Label widget option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2955" y="1091820"/>
            <a:ext cx="8843749" cy="343760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from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tkinter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import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*</a:t>
            </a:r>
            <a:b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window = Tk()</a:t>
            </a:r>
            <a:b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Label(window,</a:t>
            </a: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text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"Times Font </a:t>
            </a:r>
            <a:r>
              <a:rPr kumimoji="1" 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폰트와 빨강색을 사용합니다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."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</a:t>
            </a:r>
            <a:b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fg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"red"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</a:t>
            </a: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font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"Times 32 bold italic"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).pack()</a:t>
            </a:r>
            <a:b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Label(window,</a:t>
            </a: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text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"Helvetica </a:t>
            </a:r>
            <a:r>
              <a:rPr kumimoji="1" 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폰트와 녹색을 사용합니다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."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</a:t>
            </a:r>
            <a:b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fg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"blue"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</a:t>
            </a: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bg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"yellow“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</a:t>
            </a: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font 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 </a:t>
            </a:r>
            <a:r>
              <a:rPr kumimoji="1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"Helvetica 32 bold italic"</a:t>
            </a: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).pack()</a:t>
            </a:r>
            <a:b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window.mainloop()</a:t>
            </a:r>
            <a:endParaRPr kumimoji="1" lang="ko-KR" altLang="ko-K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윈도우 만들기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전체 화면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(raspberry pi)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32011" y="1007105"/>
            <a:ext cx="8911989" cy="1754326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+mn-ea"/>
              </a:rPr>
              <a:t>from </a:t>
            </a:r>
            <a:r>
              <a:rPr lang="en-US" altLang="ko-KR" b="1" dirty="0" err="1">
                <a:latin typeface="+mn-ea"/>
              </a:rPr>
              <a:t>tkinter</a:t>
            </a:r>
            <a:r>
              <a:rPr lang="en-US" altLang="ko-KR" b="1" dirty="0">
                <a:latin typeface="+mn-ea"/>
              </a:rPr>
              <a:t> import *</a:t>
            </a:r>
          </a:p>
          <a:p>
            <a:r>
              <a:rPr lang="en-US" altLang="ko-KR" b="1" dirty="0">
                <a:latin typeface="+mn-ea"/>
              </a:rPr>
              <a:t>root = </a:t>
            </a:r>
            <a:r>
              <a:rPr lang="en-US" altLang="ko-KR" b="1" dirty="0" err="1">
                <a:latin typeface="+mn-ea"/>
              </a:rPr>
              <a:t>Tk</a:t>
            </a:r>
            <a:r>
              <a:rPr lang="en-US" altLang="ko-KR" b="1" dirty="0">
                <a:latin typeface="+mn-ea"/>
              </a:rPr>
              <a:t>()                               </a:t>
            </a:r>
          </a:p>
          <a:p>
            <a:r>
              <a:rPr lang="en-US" altLang="ko-KR" b="1" dirty="0" err="1">
                <a:latin typeface="+mn-ea"/>
              </a:rPr>
              <a:t>root.geometry</a:t>
            </a:r>
            <a:r>
              <a:rPr lang="en-US" altLang="ko-KR" b="1" dirty="0">
                <a:latin typeface="+mn-ea"/>
              </a:rPr>
              <a:t>("</a:t>
            </a:r>
            <a:r>
              <a:rPr lang="en-US" altLang="ko-KR" b="1" dirty="0" smtClean="0">
                <a:latin typeface="+mn-ea"/>
              </a:rPr>
              <a:t>800x480</a:t>
            </a:r>
            <a:r>
              <a:rPr lang="en-US" altLang="ko-KR" b="1" dirty="0">
                <a:latin typeface="+mn-ea"/>
              </a:rPr>
              <a:t>")             </a:t>
            </a:r>
            <a:endParaRPr lang="en-US" altLang="ko-KR" b="1" dirty="0" smtClean="0">
              <a:latin typeface="+mn-ea"/>
            </a:endParaRPr>
          </a:p>
          <a:p>
            <a:r>
              <a:rPr lang="en-US" altLang="ko-KR" b="1" dirty="0" err="1" smtClean="0">
                <a:latin typeface="+mn-ea"/>
              </a:rPr>
              <a:t>root.attributes</a:t>
            </a:r>
            <a:r>
              <a:rPr lang="en-US" altLang="ko-KR" b="1" dirty="0" smtClean="0">
                <a:latin typeface="+mn-ea"/>
              </a:rPr>
              <a:t>(‘-</a:t>
            </a:r>
            <a:r>
              <a:rPr lang="en-US" altLang="ko-KR" b="1" dirty="0" err="1" smtClean="0">
                <a:latin typeface="+mn-ea"/>
              </a:rPr>
              <a:t>fullscreen</a:t>
            </a:r>
            <a:r>
              <a:rPr lang="en-US" altLang="ko-KR" b="1" dirty="0" smtClean="0">
                <a:latin typeface="+mn-ea"/>
              </a:rPr>
              <a:t>’, True) </a:t>
            </a:r>
            <a:endParaRPr lang="en-US" altLang="ko-KR" b="1" dirty="0">
              <a:latin typeface="+mn-ea"/>
            </a:endParaRPr>
          </a:p>
          <a:p>
            <a:r>
              <a:rPr lang="en-US" altLang="ko-KR" b="1" dirty="0">
                <a:latin typeface="+mn-ea"/>
              </a:rPr>
              <a:t>                                                                      </a:t>
            </a:r>
          </a:p>
          <a:p>
            <a:r>
              <a:rPr lang="en-US" altLang="ko-KR" b="1" dirty="0" err="1">
                <a:latin typeface="+mn-ea"/>
              </a:rPr>
              <a:t>root.mainloop</a:t>
            </a:r>
            <a:r>
              <a:rPr lang="en-US" altLang="ko-KR" b="1" dirty="0">
                <a:latin typeface="+mn-ea"/>
              </a:rPr>
              <a:t>() 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0"/>
          <p:cNvSpPr txBox="1"/>
          <p:nvPr/>
        </p:nvSpPr>
        <p:spPr>
          <a:xfrm>
            <a:off x="409432" y="1214651"/>
            <a:ext cx="5280163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00"/>
              </a:lnSpc>
            </a:pPr>
            <a:r>
              <a:rPr lang="en-US" sz="3200" b="1" dirty="0" smtClean="0"/>
              <a:t>from  </a:t>
            </a:r>
            <a:r>
              <a:rPr lang="en-US" sz="3200" b="1" dirty="0" err="1" smtClean="0"/>
              <a:t>tkinter</a:t>
            </a:r>
            <a:r>
              <a:rPr lang="en-US" sz="3200" b="1" dirty="0" smtClean="0"/>
              <a:t> import *</a:t>
            </a:r>
            <a:br>
              <a:rPr lang="en-US" sz="3200" b="1" dirty="0" smtClean="0"/>
            </a:br>
            <a:r>
              <a:rPr lang="en-US" sz="3200" b="1" dirty="0" smtClean="0"/>
              <a:t>win =</a:t>
            </a:r>
            <a:r>
              <a:rPr lang="en-US" sz="3200" b="1" dirty="0" err="1" smtClean="0"/>
              <a:t>Tk</a:t>
            </a:r>
            <a:r>
              <a:rPr lang="en-US" sz="3200" b="1" dirty="0" smtClean="0"/>
              <a:t> ()</a:t>
            </a:r>
            <a:br>
              <a:rPr lang="en-US" sz="3200" b="1" dirty="0" smtClean="0"/>
            </a:br>
            <a:r>
              <a:rPr lang="en-US" sz="3200" b="1" dirty="0" err="1" smtClean="0"/>
              <a:t>win.title</a:t>
            </a:r>
            <a:r>
              <a:rPr lang="en-US" sz="3200" b="1" dirty="0" smtClean="0"/>
              <a:t>('Raspberry Pi UI')</a:t>
            </a:r>
            <a:br>
              <a:rPr lang="en-US" sz="3200" b="1" dirty="0" smtClean="0"/>
            </a:br>
            <a:r>
              <a:rPr lang="en-US" sz="3200" b="1" dirty="0" err="1" smtClean="0"/>
              <a:t>win.geometry</a:t>
            </a:r>
            <a:r>
              <a:rPr lang="en-US" sz="3200" b="1" dirty="0" smtClean="0"/>
              <a:t>('400x100+0+0')</a:t>
            </a:r>
            <a:br>
              <a:rPr lang="en-US" sz="3200" b="1" dirty="0" smtClean="0"/>
            </a:br>
            <a:r>
              <a:rPr lang="en-US" sz="3200" b="1" dirty="0" err="1" smtClean="0"/>
              <a:t>win.resizable</a:t>
            </a:r>
            <a:r>
              <a:rPr lang="en-US" sz="3200" b="1" dirty="0" smtClean="0"/>
              <a:t>(0, 0)</a:t>
            </a:r>
            <a:br>
              <a:rPr lang="en-US" sz="3200" b="1" dirty="0" smtClean="0"/>
            </a:br>
            <a:r>
              <a:rPr lang="en-US" sz="3200" b="1" dirty="0" err="1" smtClean="0"/>
              <a:t>win.mainloop</a:t>
            </a:r>
            <a:r>
              <a:rPr lang="en-US" sz="3200" b="1" dirty="0" smtClean="0"/>
              <a:t>()</a:t>
            </a:r>
            <a:endParaRPr lang="ko-KR" altLang="en-US" sz="3200" b="1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윈도우 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size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고정</a:t>
            </a:r>
            <a:endParaRPr lang="en-US" altLang="ko-KR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39336" y="1264903"/>
            <a:ext cx="7758753" cy="31085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from </a:t>
            </a:r>
            <a:r>
              <a:rPr lang="en-US" altLang="ko-KR" sz="2800" b="1" dirty="0" err="1" smtClean="0"/>
              <a:t>tkinter</a:t>
            </a:r>
            <a:r>
              <a:rPr lang="en-US" altLang="ko-KR" sz="2800" b="1" dirty="0" smtClean="0"/>
              <a:t> import *</a:t>
            </a:r>
          </a:p>
          <a:p>
            <a:r>
              <a:rPr lang="en-US" altLang="ko-KR" sz="2800" b="1" dirty="0" smtClean="0"/>
              <a:t>win=</a:t>
            </a:r>
            <a:r>
              <a:rPr lang="en-US" altLang="ko-KR" sz="2800" b="1" dirty="0" err="1" smtClean="0"/>
              <a:t>Tk</a:t>
            </a:r>
            <a:r>
              <a:rPr lang="en-US" altLang="ko-KR" sz="2800" b="1" dirty="0" smtClean="0"/>
              <a:t>()</a:t>
            </a:r>
          </a:p>
          <a:p>
            <a:r>
              <a:rPr lang="en-US" altLang="ko-KR" sz="2800" b="1" dirty="0" smtClean="0"/>
              <a:t>def </a:t>
            </a:r>
            <a:r>
              <a:rPr lang="en-US" altLang="ko-KR" sz="2800" b="1" dirty="0" err="1" smtClean="0"/>
              <a:t>func</a:t>
            </a:r>
            <a:r>
              <a:rPr lang="en-US" altLang="ko-KR" sz="2800" b="1" dirty="0" smtClean="0"/>
              <a:t>():</a:t>
            </a:r>
          </a:p>
          <a:p>
            <a:r>
              <a:rPr lang="en-US" altLang="ko-KR" sz="2800" b="1" dirty="0" smtClean="0"/>
              <a:t>	print ('Pushed')</a:t>
            </a:r>
          </a:p>
          <a:p>
            <a:r>
              <a:rPr lang="en-US" altLang="ko-KR" sz="2800" b="1" dirty="0" smtClean="0"/>
              <a:t>button=Button(win, text='Push!', command=</a:t>
            </a:r>
            <a:r>
              <a:rPr lang="en-US" altLang="ko-KR" sz="2800" b="1" dirty="0" err="1" smtClean="0"/>
              <a:t>func</a:t>
            </a:r>
            <a:r>
              <a:rPr lang="en-US" altLang="ko-KR" sz="2800" b="1" dirty="0" smtClean="0"/>
              <a:t>)</a:t>
            </a:r>
          </a:p>
          <a:p>
            <a:r>
              <a:rPr lang="en-US" altLang="ko-KR" sz="2800" b="1" dirty="0" err="1" smtClean="0"/>
              <a:t>button.pack</a:t>
            </a:r>
            <a:r>
              <a:rPr lang="en-US" altLang="ko-KR" sz="2800" b="1" dirty="0" smtClean="0"/>
              <a:t>()</a:t>
            </a:r>
          </a:p>
          <a:p>
            <a:r>
              <a:rPr lang="en-US" altLang="ko-KR" sz="2800" b="1" dirty="0" err="1" smtClean="0"/>
              <a:t>win.mainloop</a:t>
            </a:r>
            <a:r>
              <a:rPr lang="en-US" altLang="ko-KR" sz="2800" b="1" dirty="0" smtClean="0"/>
              <a:t>() 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 만들기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버튼을 누르면 터미널에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Pushed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출력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 만들기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font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크기 조절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45657" y="968991"/>
            <a:ext cx="8434316" cy="575542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import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tkinter 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as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tk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import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tkinter.font 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as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font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class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App: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def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B200B2"/>
                </a:solidFill>
                <a:effectLst/>
                <a:latin typeface="+mn-ea"/>
                <a:cs typeface="굴림" pitchFamily="50" charset="-127"/>
              </a:rPr>
              <a:t>__init__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):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root=tk.Tk()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.customFont = font.Font(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family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"Helvetica"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size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12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label = tk.Label(root,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text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"Hello, World!"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font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.customFont)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label.pack()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bigger = tk.Button(root,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text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</a:t>
            </a:r>
            <a:r>
              <a:rPr kumimoji="1" 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폰트를 크게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command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.BigFont)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smaller = tk.Button(root,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text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</a:t>
            </a:r>
            <a:r>
              <a:rPr kumimoji="1" 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폰트를 작게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command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.SmallFont)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bigger.pack()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smaller.pack()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root.mainloop()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/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def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BigFont(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):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size =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.customFont[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'size'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]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.customFont.configure(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size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=size +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/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def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SmallFont(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):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size =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.customFont[</a:t>
            </a:r>
            <a:r>
              <a:rPr kumimoji="1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'size'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]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   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+mn-ea"/>
                <a:cs typeface="굴림" pitchFamily="50" charset="-127"/>
              </a:rPr>
              <a:t>self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.customFont.configure(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size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=size - 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/>
            </a:r>
            <a:b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app = App()</a:t>
            </a:r>
            <a:endParaRPr kumimoji="1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 만들기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relief Option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1983" y="1096582"/>
            <a:ext cx="8434316" cy="424731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/>
              <a:t>from </a:t>
            </a:r>
            <a:r>
              <a:rPr lang="en-US" dirty="0" err="1" smtClean="0"/>
              <a:t>tkinter</a:t>
            </a:r>
            <a:r>
              <a:rPr lang="en-US" dirty="0" smtClean="0"/>
              <a:t> </a:t>
            </a:r>
            <a:r>
              <a:rPr lang="en-US" b="1" dirty="0" smtClean="0"/>
              <a:t>import </a:t>
            </a:r>
            <a:r>
              <a:rPr lang="en-US" dirty="0" smtClean="0"/>
              <a:t>*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top = </a:t>
            </a:r>
            <a:r>
              <a:rPr lang="en-US" dirty="0" err="1" smtClean="0"/>
              <a:t>Tk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B1 = Button(top, text =</a:t>
            </a:r>
            <a:r>
              <a:rPr lang="en-US" b="1" dirty="0" smtClean="0"/>
              <a:t>"FLAT"</a:t>
            </a:r>
            <a:r>
              <a:rPr lang="en-US" dirty="0" smtClean="0"/>
              <a:t>, relief=FLAT )</a:t>
            </a:r>
            <a:br>
              <a:rPr lang="en-US" dirty="0" smtClean="0"/>
            </a:br>
            <a:r>
              <a:rPr lang="en-US" dirty="0" smtClean="0"/>
              <a:t>B2 = Button(top, text =</a:t>
            </a:r>
            <a:r>
              <a:rPr lang="en-US" b="1" dirty="0" smtClean="0"/>
              <a:t>"RAISED"</a:t>
            </a:r>
            <a:r>
              <a:rPr lang="en-US" dirty="0" smtClean="0"/>
              <a:t>, relief=RAISED )</a:t>
            </a:r>
            <a:br>
              <a:rPr lang="en-US" dirty="0" smtClean="0"/>
            </a:br>
            <a:r>
              <a:rPr lang="en-US" dirty="0" smtClean="0"/>
              <a:t>B3 = Button(top, text =</a:t>
            </a:r>
            <a:r>
              <a:rPr lang="en-US" b="1" dirty="0" smtClean="0"/>
              <a:t>"SUNKEN"</a:t>
            </a:r>
            <a:r>
              <a:rPr lang="en-US" dirty="0" smtClean="0"/>
              <a:t>, relief=SUNKEN )</a:t>
            </a:r>
            <a:br>
              <a:rPr lang="en-US" dirty="0" smtClean="0"/>
            </a:br>
            <a:r>
              <a:rPr lang="en-US" dirty="0" smtClean="0"/>
              <a:t>B4 = Button(top, text =</a:t>
            </a:r>
            <a:r>
              <a:rPr lang="en-US" b="1" dirty="0" smtClean="0"/>
              <a:t>"GROOVE"</a:t>
            </a:r>
            <a:r>
              <a:rPr lang="en-US" dirty="0" smtClean="0"/>
              <a:t>, relief=GROOVE )</a:t>
            </a:r>
            <a:br>
              <a:rPr lang="en-US" dirty="0" smtClean="0"/>
            </a:br>
            <a:r>
              <a:rPr lang="en-US" dirty="0" smtClean="0"/>
              <a:t>B5 = Button(top, text =</a:t>
            </a:r>
            <a:r>
              <a:rPr lang="en-US" b="1" dirty="0" smtClean="0"/>
              <a:t>"RIDGE"</a:t>
            </a:r>
            <a:r>
              <a:rPr lang="en-US" dirty="0" smtClean="0"/>
              <a:t>, relief=RIDGE )</a:t>
            </a:r>
            <a:br>
              <a:rPr lang="en-US" dirty="0" smtClean="0"/>
            </a:br>
            <a:r>
              <a:rPr lang="en-US" dirty="0" smtClean="0"/>
              <a:t>B1.pack()</a:t>
            </a:r>
            <a:br>
              <a:rPr lang="en-US" dirty="0" smtClean="0"/>
            </a:br>
            <a:r>
              <a:rPr lang="en-US" dirty="0" smtClean="0"/>
              <a:t>B2.pack()</a:t>
            </a:r>
            <a:br>
              <a:rPr lang="en-US" dirty="0" smtClean="0"/>
            </a:br>
            <a:r>
              <a:rPr lang="en-US" dirty="0" smtClean="0"/>
              <a:t>B3.pack()</a:t>
            </a:r>
            <a:br>
              <a:rPr lang="en-US" dirty="0" smtClean="0"/>
            </a:br>
            <a:r>
              <a:rPr lang="en-US" dirty="0" smtClean="0"/>
              <a:t>B4.pack()</a:t>
            </a:r>
            <a:br>
              <a:rPr lang="en-US" dirty="0" smtClean="0"/>
            </a:br>
            <a:r>
              <a:rPr lang="en-US" dirty="0" smtClean="0"/>
              <a:t>B5.pack()</a:t>
            </a:r>
            <a:br>
              <a:rPr lang="en-US" dirty="0" smtClean="0"/>
            </a:br>
            <a:r>
              <a:rPr lang="en-US" dirty="0" err="1" smtClean="0"/>
              <a:t>top.mainloop</a:t>
            </a:r>
            <a:r>
              <a:rPr lang="en-US" dirty="0" smtClean="0"/>
              <a:t>()</a:t>
            </a:r>
            <a:endParaRPr kumimoji="1" lang="ko-KR" altLang="ko-KR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pic>
        <p:nvPicPr>
          <p:cNvPr id="4" name="Picture 2" descr="TK Relie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5158" y="1391093"/>
            <a:ext cx="2330375" cy="29883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Widget Option :  Color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7545" y="1079395"/>
            <a:ext cx="8557147" cy="31779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from </a:t>
            </a:r>
            <a:r>
              <a:rPr lang="en-US" altLang="ko-KR" sz="2000" b="1" dirty="0" err="1" smtClean="0">
                <a:latin typeface="+mn-ea"/>
              </a:rPr>
              <a:t>tkinter</a:t>
            </a:r>
            <a:r>
              <a:rPr lang="en-US" altLang="ko-KR" sz="2000" b="1" dirty="0" smtClean="0">
                <a:latin typeface="+mn-ea"/>
              </a:rPr>
              <a:t> import *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win = </a:t>
            </a:r>
            <a:r>
              <a:rPr lang="en-US" altLang="ko-KR" sz="2000" b="1" dirty="0" err="1" smtClean="0">
                <a:latin typeface="+mn-ea"/>
              </a:rPr>
              <a:t>Tk</a:t>
            </a:r>
            <a:r>
              <a:rPr lang="en-US" altLang="ko-KR" sz="2000" b="1" dirty="0" smtClean="0">
                <a:latin typeface="+mn-ea"/>
              </a:rPr>
              <a:t>()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 = Label(win, text="Red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="red",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="white")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(fill=</a:t>
            </a:r>
            <a:r>
              <a:rPr lang="en-US" altLang="ko-KR" sz="2000" b="1" dirty="0" err="1" smtClean="0">
                <a:latin typeface="+mn-ea"/>
              </a:rPr>
              <a:t>X,pady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 = Label(win, text="Green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="green",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(fill=</a:t>
            </a:r>
            <a:r>
              <a:rPr lang="en-US" altLang="ko-KR" sz="2000" b="1" dirty="0" err="1" smtClean="0">
                <a:latin typeface="+mn-ea"/>
              </a:rPr>
              <a:t>X,pady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 = Label(win, text="Blue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="blue",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="white")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(fill=</a:t>
            </a:r>
            <a:r>
              <a:rPr lang="en-US" altLang="ko-KR" sz="2000" b="1" dirty="0" err="1" smtClean="0">
                <a:latin typeface="+mn-ea"/>
              </a:rPr>
              <a:t>X,pady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mainloop</a:t>
            </a:r>
            <a:r>
              <a:rPr lang="en-US" altLang="ko-KR" sz="2000" b="1" dirty="0" smtClean="0">
                <a:latin typeface="+mn-ea"/>
              </a:rPr>
              <a:t>()</a:t>
            </a:r>
            <a:endParaRPr lang="en-US" altLang="ko-KR" sz="2000" b="1" dirty="0">
              <a:latin typeface="+mn-ea"/>
            </a:endParaRPr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877186"/>
            <a:ext cx="5090601" cy="13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Widget Option :  Color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09432" y="1174929"/>
            <a:ext cx="8516204" cy="31779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from </a:t>
            </a:r>
            <a:r>
              <a:rPr lang="en-US" altLang="ko-KR" sz="2000" b="1" dirty="0" err="1" smtClean="0">
                <a:latin typeface="+mn-ea"/>
              </a:rPr>
              <a:t>tkinter</a:t>
            </a:r>
            <a:r>
              <a:rPr lang="en-US" altLang="ko-KR" sz="2000" b="1" dirty="0" smtClean="0">
                <a:latin typeface="+mn-ea"/>
              </a:rPr>
              <a:t> import *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win = </a:t>
            </a:r>
            <a:r>
              <a:rPr lang="en-US" altLang="ko-KR" sz="2000" b="1" dirty="0" err="1" smtClean="0">
                <a:latin typeface="+mn-ea"/>
              </a:rPr>
              <a:t>Tk</a:t>
            </a:r>
            <a:r>
              <a:rPr lang="en-US" altLang="ko-KR" sz="2000" b="1" dirty="0" smtClean="0">
                <a:latin typeface="+mn-ea"/>
              </a:rPr>
              <a:t>()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 = Label(win, text="Yellow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="#ff0",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(fill=</a:t>
            </a:r>
            <a:r>
              <a:rPr lang="en-US" altLang="ko-KR" sz="2000" b="1" dirty="0" err="1" smtClean="0">
                <a:latin typeface="+mn-ea"/>
              </a:rPr>
              <a:t>X,pady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 = Label(win, text="Blue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="#00ffff",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(fill=</a:t>
            </a:r>
            <a:r>
              <a:rPr lang="en-US" altLang="ko-KR" sz="2000" b="1" dirty="0" err="1" smtClean="0">
                <a:latin typeface="+mn-ea"/>
              </a:rPr>
              <a:t>X,pady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smtClean="0">
                <a:latin typeface="+mn-ea"/>
              </a:rPr>
              <a:t>w = Label(win, text="Pink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="#fff000fff",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="white")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(fill=</a:t>
            </a:r>
            <a:r>
              <a:rPr lang="en-US" altLang="ko-KR" sz="2000" b="1" dirty="0" err="1" smtClean="0">
                <a:latin typeface="+mn-ea"/>
              </a:rPr>
              <a:t>X,pady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700"/>
              </a:lnSpc>
            </a:pPr>
            <a:r>
              <a:rPr lang="en-US" altLang="ko-KR" sz="2000" b="1" dirty="0" err="1" smtClean="0">
                <a:latin typeface="+mn-ea"/>
              </a:rPr>
              <a:t>mainloop</a:t>
            </a:r>
            <a:r>
              <a:rPr lang="en-US" altLang="ko-KR" sz="2000" b="1" dirty="0" smtClean="0">
                <a:latin typeface="+mn-ea"/>
              </a:rPr>
              <a:t>()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Widget Option :  side, padx, pady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13898" y="1652600"/>
            <a:ext cx="8488908" cy="306571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from </a:t>
            </a:r>
            <a:r>
              <a:rPr lang="en-US" altLang="ko-KR" sz="2000" b="1" dirty="0" err="1" smtClean="0">
                <a:latin typeface="+mn-ea"/>
              </a:rPr>
              <a:t>tkinter</a:t>
            </a:r>
            <a:r>
              <a:rPr lang="en-US" altLang="ko-KR" sz="2000" b="1" dirty="0" smtClean="0">
                <a:latin typeface="+mn-ea"/>
              </a:rPr>
              <a:t> import *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win = </a:t>
            </a:r>
            <a:r>
              <a:rPr lang="en-US" altLang="ko-KR" sz="2000" b="1" dirty="0" err="1" smtClean="0">
                <a:latin typeface="+mn-ea"/>
              </a:rPr>
              <a:t>Tk</a:t>
            </a:r>
            <a:r>
              <a:rPr lang="en-US" altLang="ko-KR" sz="2000" b="1" dirty="0" smtClean="0">
                <a:latin typeface="+mn-ea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text="Yellow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="#ff0",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(side=LEFT, </a:t>
            </a:r>
            <a:r>
              <a:rPr lang="en-US" altLang="ko-KR" sz="2000" b="1" dirty="0" err="1" smtClean="0">
                <a:latin typeface="+mn-ea"/>
              </a:rPr>
              <a:t>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text="Blue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="#00ffff",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</a:t>
            </a:r>
            <a:r>
              <a:rPr lang="en-US" altLang="ko-KR" sz="2000" b="1" dirty="0" err="1" smtClean="0">
                <a:latin typeface="+mn-ea"/>
              </a:rPr>
              <a:t>LEFT,pady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text="Pink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="#fff000fff",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="white")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</a:t>
            </a:r>
            <a:r>
              <a:rPr lang="en-US" altLang="ko-KR" sz="2000" b="1" dirty="0" err="1" smtClean="0">
                <a:latin typeface="+mn-ea"/>
              </a:rPr>
              <a:t>LEFT,pady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mainloop</a:t>
            </a:r>
            <a:r>
              <a:rPr lang="en-US" altLang="ko-KR" sz="2000" b="1" dirty="0" smtClean="0">
                <a:latin typeface="+mn-ea"/>
              </a:rPr>
              <a:t>()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300250" y="1146414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버튼 가로 배치</a:t>
            </a:r>
            <a:endParaRPr lang="ko-KR" altLang="en-US" sz="2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5" name="그림 4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54155" y="4922354"/>
            <a:ext cx="2629267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Widget Option :  side, padx, pady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13898" y="1652600"/>
            <a:ext cx="8488908" cy="306571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from </a:t>
            </a:r>
            <a:r>
              <a:rPr lang="en-US" altLang="ko-KR" sz="2000" b="1" dirty="0" err="1" smtClean="0">
                <a:latin typeface="+mn-ea"/>
              </a:rPr>
              <a:t>tkinter</a:t>
            </a:r>
            <a:r>
              <a:rPr lang="en-US" altLang="ko-KR" sz="2000" b="1" dirty="0" smtClean="0">
                <a:latin typeface="+mn-ea"/>
              </a:rPr>
              <a:t> import *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win = </a:t>
            </a:r>
            <a:r>
              <a:rPr lang="en-US" altLang="ko-KR" sz="2000" b="1" dirty="0" err="1" smtClean="0">
                <a:latin typeface="+mn-ea"/>
              </a:rPr>
              <a:t>Tk</a:t>
            </a:r>
            <a:r>
              <a:rPr lang="en-US" altLang="ko-KR" sz="2000" b="1" dirty="0" smtClean="0">
                <a:latin typeface="+mn-ea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text="Yellow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="#ff0",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(side=LEFT, </a:t>
            </a:r>
            <a:r>
              <a:rPr lang="en-US" altLang="ko-KR" sz="2000" b="1" dirty="0" err="1" smtClean="0">
                <a:latin typeface="+mn-ea"/>
              </a:rPr>
              <a:t>padx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text="Blue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="#00ffff",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</a:t>
            </a:r>
            <a:r>
              <a:rPr lang="en-US" altLang="ko-KR" sz="2000" b="1" dirty="0" err="1" smtClean="0">
                <a:latin typeface="+mn-ea"/>
              </a:rPr>
              <a:t>LEFT,padx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text="Pink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="#fff000fff",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="white")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</a:t>
            </a:r>
            <a:r>
              <a:rPr lang="en-US" altLang="ko-KR" sz="2000" b="1" dirty="0" err="1" smtClean="0">
                <a:latin typeface="+mn-ea"/>
              </a:rPr>
              <a:t>LEFT,padx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mainloop</a:t>
            </a:r>
            <a:r>
              <a:rPr lang="en-US" altLang="ko-KR" sz="2000" b="1" dirty="0" smtClean="0">
                <a:latin typeface="+mn-ea"/>
              </a:rPr>
              <a:t>()</a:t>
            </a:r>
          </a:p>
        </p:txBody>
      </p:sp>
      <p:sp>
        <p:nvSpPr>
          <p:cNvPr id="4" name="TextBox 5"/>
          <p:cNvSpPr txBox="1"/>
          <p:nvPr/>
        </p:nvSpPr>
        <p:spPr>
          <a:xfrm>
            <a:off x="300250" y="1146414"/>
            <a:ext cx="3406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버튼 가로 배치 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, </a:t>
            </a:r>
            <a:r>
              <a:rPr lang="en-US" altLang="ko-KR" sz="2000" b="1" dirty="0" err="1" smtClean="0">
                <a:solidFill>
                  <a:srgbClr val="0000FF"/>
                </a:solidFill>
                <a:latin typeface="+mn-ea"/>
              </a:rPr>
              <a:t>padx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=10</a:t>
            </a:r>
            <a:endParaRPr lang="ko-KR" altLang="en-US" sz="2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5" name="그림 4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54155" y="4922354"/>
            <a:ext cx="2629267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 Widget Option :  side, padx, pady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13898" y="1652600"/>
            <a:ext cx="8488908" cy="339913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from </a:t>
            </a:r>
            <a:r>
              <a:rPr lang="en-US" altLang="ko-KR" sz="2000" b="1" dirty="0" err="1" smtClean="0">
                <a:latin typeface="+mn-ea"/>
              </a:rPr>
              <a:t>tkinter</a:t>
            </a:r>
            <a:r>
              <a:rPr lang="en-US" altLang="ko-KR" sz="2000" b="1" dirty="0" smtClean="0">
                <a:latin typeface="+mn-ea"/>
              </a:rPr>
              <a:t> import *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win = </a:t>
            </a:r>
            <a:r>
              <a:rPr lang="en-US" altLang="ko-KR" sz="2000" b="1" dirty="0" err="1" smtClean="0">
                <a:latin typeface="+mn-ea"/>
              </a:rPr>
              <a:t>Tk</a:t>
            </a:r>
            <a:r>
              <a:rPr lang="en-US" altLang="ko-KR" sz="2000" b="1" dirty="0" smtClean="0">
                <a:latin typeface="+mn-ea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text="Yellow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="#ff0",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(side=LEFT, </a:t>
            </a:r>
            <a:r>
              <a:rPr lang="en-US" altLang="ko-KR" sz="2000" b="1" dirty="0" err="1" smtClean="0">
                <a:latin typeface="+mn-ea"/>
              </a:rPr>
              <a:t>padx</a:t>
            </a:r>
            <a:r>
              <a:rPr lang="en-US" altLang="ko-KR" sz="2000" b="1" dirty="0" smtClean="0">
                <a:latin typeface="+mn-ea"/>
              </a:rPr>
              <a:t>=10, </a:t>
            </a:r>
            <a:r>
              <a:rPr lang="en-US" altLang="ko-KR" sz="2000" b="1" dirty="0" err="1" smtClean="0">
                <a:latin typeface="+mn-ea"/>
              </a:rPr>
              <a:t>ipadx</a:t>
            </a:r>
            <a:r>
              <a:rPr lang="en-US" altLang="ko-KR" sz="2000" b="1" dirty="0" smtClean="0">
                <a:latin typeface="+mn-ea"/>
              </a:rPr>
              <a:t>=20, </a:t>
            </a:r>
            <a:r>
              <a:rPr lang="en-US" altLang="ko-KR" sz="2000" b="1" dirty="0" err="1" smtClean="0">
                <a:latin typeface="+mn-ea"/>
              </a:rPr>
              <a:t>ipady</a:t>
            </a:r>
            <a:r>
              <a:rPr lang="en-US" altLang="ko-KR" sz="2000" b="1" dirty="0" smtClean="0">
                <a:latin typeface="+mn-ea"/>
              </a:rPr>
              <a:t>=20)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text="Blue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="#00ffff",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="black")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</a:t>
            </a:r>
            <a:r>
              <a:rPr lang="en-US" altLang="ko-KR" sz="2000" b="1" dirty="0" err="1" smtClean="0">
                <a:latin typeface="+mn-ea"/>
              </a:rPr>
              <a:t>LEFT,padx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smtClean="0">
                <a:latin typeface="+mn-ea"/>
              </a:rPr>
              <a:t>w = Label(win, text="Pink Color", </a:t>
            </a:r>
            <a:r>
              <a:rPr lang="en-US" altLang="ko-KR" sz="2000" b="1" dirty="0" err="1" smtClean="0">
                <a:latin typeface="+mn-ea"/>
              </a:rPr>
              <a:t>bg</a:t>
            </a:r>
            <a:r>
              <a:rPr lang="en-US" altLang="ko-KR" sz="2000" b="1" dirty="0" smtClean="0">
                <a:latin typeface="+mn-ea"/>
              </a:rPr>
              <a:t>="#fff000fff", </a:t>
            </a:r>
            <a:r>
              <a:rPr lang="en-US" altLang="ko-KR" sz="2000" b="1" dirty="0" err="1" smtClean="0">
                <a:latin typeface="+mn-ea"/>
              </a:rPr>
              <a:t>fg</a:t>
            </a:r>
            <a:r>
              <a:rPr lang="en-US" altLang="ko-KR" sz="2000" b="1" dirty="0" smtClean="0">
                <a:latin typeface="+mn-ea"/>
              </a:rPr>
              <a:t>="white")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w.pack</a:t>
            </a:r>
            <a:r>
              <a:rPr lang="en-US" altLang="ko-KR" sz="2000" b="1" dirty="0" smtClean="0">
                <a:latin typeface="+mn-ea"/>
              </a:rPr>
              <a:t>(side=</a:t>
            </a:r>
            <a:r>
              <a:rPr lang="en-US" altLang="ko-KR" sz="2000" b="1" dirty="0" err="1" smtClean="0">
                <a:latin typeface="+mn-ea"/>
              </a:rPr>
              <a:t>LEFT,padx</a:t>
            </a:r>
            <a:r>
              <a:rPr lang="en-US" altLang="ko-KR" sz="2000" b="1" dirty="0" smtClean="0">
                <a:latin typeface="+mn-ea"/>
              </a:rPr>
              <a:t>=10)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 smtClean="0">
                <a:latin typeface="+mn-ea"/>
              </a:rPr>
              <a:t>mainloop</a:t>
            </a:r>
            <a:r>
              <a:rPr lang="en-US" altLang="ko-KR" sz="2000" b="1" dirty="0" smtClean="0">
                <a:latin typeface="+mn-ea"/>
              </a:rPr>
              <a:t>()</a:t>
            </a:r>
          </a:p>
          <a:p>
            <a:pPr>
              <a:lnSpc>
                <a:spcPts val="2600"/>
              </a:lnSpc>
            </a:pPr>
            <a:endParaRPr lang="en-US" altLang="ko-KR" sz="2000" b="1" dirty="0" smtClean="0">
              <a:latin typeface="+mn-ea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300250" y="1146414"/>
            <a:ext cx="4726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내부 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pad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지정 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, </a:t>
            </a:r>
            <a:r>
              <a:rPr lang="en-US" altLang="ko-KR" sz="2000" b="1" dirty="0" err="1" smtClean="0">
                <a:solidFill>
                  <a:srgbClr val="0000FF"/>
                </a:solidFill>
                <a:latin typeface="+mn-ea"/>
              </a:rPr>
              <a:t>ipadx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=10, </a:t>
            </a:r>
            <a:r>
              <a:rPr lang="en-US" altLang="ko-KR" sz="2000" b="1" dirty="0" err="1" smtClean="0">
                <a:solidFill>
                  <a:srgbClr val="0000FF"/>
                </a:solidFill>
                <a:latin typeface="+mn-ea"/>
              </a:rPr>
              <a:t>ipady</a:t>
            </a:r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=10</a:t>
            </a:r>
            <a:endParaRPr lang="ko-KR" altLang="en-US" sz="2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5" name="그림 4" descr="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03532" y="4559811"/>
            <a:ext cx="3458058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303361" y="1079395"/>
            <a:ext cx="6926239" cy="415498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from </a:t>
            </a:r>
            <a:r>
              <a:rPr lang="en-US" altLang="ko-KR" sz="2400" b="1" dirty="0" err="1" smtClean="0"/>
              <a:t>tkinter</a:t>
            </a:r>
            <a:r>
              <a:rPr lang="en-US" altLang="ko-KR" sz="2400" b="1" dirty="0" smtClean="0"/>
              <a:t> import *</a:t>
            </a:r>
          </a:p>
          <a:p>
            <a:r>
              <a:rPr lang="en-US" altLang="ko-KR" sz="2400" b="1" dirty="0" smtClean="0"/>
              <a:t>win=</a:t>
            </a:r>
            <a:r>
              <a:rPr lang="en-US" altLang="ko-KR" sz="2400" b="1" dirty="0" err="1" smtClean="0"/>
              <a:t>Tk</a:t>
            </a:r>
            <a:r>
              <a:rPr lang="en-US" altLang="ko-KR" sz="2400" b="1" dirty="0" smtClean="0"/>
              <a:t>()</a:t>
            </a:r>
          </a:p>
          <a:p>
            <a:r>
              <a:rPr lang="en-US" altLang="ko-KR" sz="2400" b="1" dirty="0" smtClean="0"/>
              <a:t>def </a:t>
            </a:r>
            <a:r>
              <a:rPr lang="en-US" altLang="ko-KR" sz="2400" b="1" dirty="0" err="1" smtClean="0"/>
              <a:t>func</a:t>
            </a:r>
            <a:r>
              <a:rPr lang="en-US" altLang="ko-KR" sz="2400" b="1" dirty="0" smtClean="0"/>
              <a:t>():</a:t>
            </a:r>
          </a:p>
          <a:p>
            <a:r>
              <a:rPr lang="en-US" altLang="ko-KR" sz="2400" b="1" dirty="0" smtClean="0"/>
              <a:t>	</a:t>
            </a:r>
            <a:r>
              <a:rPr lang="en-US" altLang="ko-KR" sz="2400" b="1" dirty="0" err="1" smtClean="0"/>
              <a:t>label.config</a:t>
            </a:r>
            <a:r>
              <a:rPr lang="en-US" altLang="ko-KR" sz="2400" b="1" dirty="0" smtClean="0"/>
              <a:t>(text='Pushed')</a:t>
            </a:r>
          </a:p>
          <a:p>
            <a:endParaRPr lang="en-US" altLang="ko-KR" sz="2400" b="1" dirty="0" smtClean="0"/>
          </a:p>
          <a:p>
            <a:r>
              <a:rPr lang="en-US" altLang="ko-KR" sz="2400" b="1" dirty="0" smtClean="0"/>
              <a:t>label=Label(win, text='Push Button')</a:t>
            </a:r>
          </a:p>
          <a:p>
            <a:r>
              <a:rPr lang="en-US" altLang="ko-KR" sz="2400" b="1" dirty="0" err="1" smtClean="0"/>
              <a:t>label.pack</a:t>
            </a:r>
            <a:r>
              <a:rPr lang="en-US" altLang="ko-KR" sz="2400" b="1" dirty="0" smtClean="0"/>
              <a:t>()</a:t>
            </a:r>
          </a:p>
          <a:p>
            <a:r>
              <a:rPr lang="en-US" altLang="ko-KR" sz="2400" b="1" dirty="0" smtClean="0"/>
              <a:t>button=Button(win, text='Push!', command=</a:t>
            </a:r>
            <a:r>
              <a:rPr lang="en-US" altLang="ko-KR" sz="2400" b="1" dirty="0" err="1" smtClean="0"/>
              <a:t>func</a:t>
            </a:r>
            <a:r>
              <a:rPr lang="en-US" altLang="ko-KR" sz="2400" b="1" dirty="0" smtClean="0"/>
              <a:t>)</a:t>
            </a:r>
          </a:p>
          <a:p>
            <a:r>
              <a:rPr lang="en-US" altLang="ko-KR" sz="2400" b="1" dirty="0" err="1" smtClean="0"/>
              <a:t>button.pack</a:t>
            </a:r>
            <a:r>
              <a:rPr lang="en-US" altLang="ko-KR" sz="2400" b="1" dirty="0" smtClean="0"/>
              <a:t>()</a:t>
            </a:r>
          </a:p>
          <a:p>
            <a:endParaRPr lang="en-US" altLang="ko-KR" sz="2400" b="1" dirty="0" smtClean="0"/>
          </a:p>
          <a:p>
            <a:r>
              <a:rPr lang="en-US" altLang="ko-KR" sz="2400" b="1" dirty="0" err="1" smtClean="0"/>
              <a:t>win.mainloop</a:t>
            </a:r>
            <a:r>
              <a:rPr lang="en-US" altLang="ko-KR" sz="2400" b="1" dirty="0" smtClean="0"/>
              <a:t>() </a:t>
            </a:r>
            <a:endParaRPr lang="ko-KR" altLang="en-US" sz="24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 만들기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버튼을 누르면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Window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에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label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표시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210311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400" b="1" dirty="0" smtClean="0">
                <a:solidFill>
                  <a:srgbClr val="000099"/>
                </a:solidFill>
              </a:rPr>
              <a:t> </a:t>
            </a:r>
            <a:r>
              <a:rPr lang="ko-KR" altLang="en-US" sz="2400" b="1" dirty="0" smtClean="0">
                <a:solidFill>
                  <a:srgbClr val="000099"/>
                </a:solidFill>
              </a:rPr>
              <a:t>버튼 크기</a:t>
            </a:r>
            <a:endParaRPr lang="en-US" altLang="ko-KR" sz="2400" b="1" dirty="0" smtClean="0">
              <a:solidFill>
                <a:srgbClr val="000099"/>
              </a:solidFill>
            </a:endParaRPr>
          </a:p>
          <a:p>
            <a:r>
              <a:rPr lang="en-US" altLang="ko-KR" sz="2400" b="1" dirty="0" smtClean="0"/>
              <a:t>button=Button(win, text='Push!, command=</a:t>
            </a:r>
            <a:r>
              <a:rPr lang="en-US" altLang="ko-KR" sz="2400" b="1" dirty="0" err="1" smtClean="0"/>
              <a:t>func</a:t>
            </a:r>
            <a:r>
              <a:rPr lang="en-US" altLang="ko-KR" sz="2400" b="1" dirty="0" smtClean="0"/>
              <a:t>, width=20,height=5)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272" y="216794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400" b="1" dirty="0" smtClean="0">
                <a:solidFill>
                  <a:srgbClr val="000099"/>
                </a:solidFill>
              </a:rPr>
              <a:t> </a:t>
            </a:r>
            <a:r>
              <a:rPr lang="ko-KR" altLang="en-US" sz="2400" b="1" dirty="0" smtClean="0">
                <a:solidFill>
                  <a:srgbClr val="000099"/>
                </a:solidFill>
              </a:rPr>
              <a:t>버튼 색상</a:t>
            </a:r>
            <a:endParaRPr lang="en-US" altLang="ko-KR" sz="2400" b="1" dirty="0" smtClean="0">
              <a:solidFill>
                <a:srgbClr val="000099"/>
              </a:solidFill>
            </a:endParaRPr>
          </a:p>
          <a:p>
            <a:r>
              <a:rPr lang="en-US" altLang="ko-KR" sz="2400" b="1" dirty="0" smtClean="0"/>
              <a:t>button=Button(win, text='Push!, command=</a:t>
            </a:r>
            <a:r>
              <a:rPr lang="en-US" altLang="ko-KR" sz="2400" b="1" dirty="0" err="1" smtClean="0"/>
              <a:t>func</a:t>
            </a:r>
            <a:r>
              <a:rPr lang="en-US" altLang="ko-KR" sz="2400" b="1" dirty="0" smtClean="0"/>
              <a:t>, background=“RED”)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544" y="307098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400" b="1" dirty="0" smtClean="0">
                <a:solidFill>
                  <a:srgbClr val="000099"/>
                </a:solidFill>
              </a:rPr>
              <a:t> </a:t>
            </a:r>
            <a:r>
              <a:rPr lang="ko-KR" altLang="en-US" sz="2400" b="1" dirty="0" smtClean="0">
                <a:solidFill>
                  <a:srgbClr val="000099"/>
                </a:solidFill>
              </a:rPr>
              <a:t>버튼 </a:t>
            </a:r>
            <a:r>
              <a:rPr lang="en-US" altLang="ko-KR" sz="2400" b="1" dirty="0" smtClean="0">
                <a:solidFill>
                  <a:srgbClr val="000099"/>
                </a:solidFill>
              </a:rPr>
              <a:t>Text Font</a:t>
            </a:r>
          </a:p>
          <a:p>
            <a:r>
              <a:rPr lang="en-US" altLang="ko-KR" sz="2400" b="1" dirty="0" smtClean="0"/>
              <a:t>button=Button(win, text='Push!, command=</a:t>
            </a:r>
            <a:r>
              <a:rPr lang="en-US" altLang="ko-KR" sz="2400" b="1" dirty="0" err="1" smtClean="0"/>
              <a:t>func</a:t>
            </a:r>
            <a:r>
              <a:rPr lang="en-US" altLang="ko-KR" sz="2400" b="1" dirty="0" smtClean="0"/>
              <a:t>, font=“Arial 15 bold”)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0464" y="397402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400" b="1" dirty="0" smtClean="0">
                <a:solidFill>
                  <a:srgbClr val="000099"/>
                </a:solidFill>
              </a:rPr>
              <a:t> </a:t>
            </a:r>
            <a:r>
              <a:rPr lang="ko-KR" altLang="en-US" sz="2400" b="1" dirty="0" smtClean="0">
                <a:solidFill>
                  <a:srgbClr val="000099"/>
                </a:solidFill>
              </a:rPr>
              <a:t>버튼 위치</a:t>
            </a:r>
            <a:endParaRPr lang="en-US" altLang="ko-KR" sz="2400" b="1" dirty="0" smtClean="0">
              <a:solidFill>
                <a:srgbClr val="000099"/>
              </a:solidFill>
            </a:endParaRPr>
          </a:p>
          <a:p>
            <a:r>
              <a:rPr lang="en-US" altLang="ko-KR" sz="2400" b="1" dirty="0" err="1" smtClean="0"/>
              <a:t>button.place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relx</a:t>
            </a:r>
            <a:r>
              <a:rPr lang="en-US" altLang="ko-KR" sz="2400" b="1" dirty="0" smtClean="0"/>
              <a:t>=0.5, rely=0.3, anchor=CENTER)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Option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9308" y="879227"/>
            <a:ext cx="8884692" cy="59093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*</a:t>
            </a:r>
          </a:p>
          <a:p>
            <a:r>
              <a:rPr lang="en-US" altLang="ko-KR" sz="2000" b="1" dirty="0" smtClean="0"/>
              <a:t>win=</a:t>
            </a:r>
            <a:r>
              <a:rPr lang="en-US" altLang="ko-KR" sz="2000" b="1" dirty="0" err="1" smtClean="0"/>
              <a:t>Tk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smtClean="0"/>
              <a:t>def </a:t>
            </a:r>
            <a:r>
              <a:rPr lang="en-US" altLang="ko-KR" sz="2000" b="1" dirty="0" err="1" smtClean="0"/>
              <a:t>func</a:t>
            </a:r>
            <a:r>
              <a:rPr lang="en-US" altLang="ko-KR" sz="2000" b="1" dirty="0" smtClean="0"/>
              <a:t>():</a:t>
            </a:r>
          </a:p>
          <a:p>
            <a:r>
              <a:rPr lang="en-US" altLang="ko-KR" sz="2000" b="1" dirty="0" smtClean="0"/>
              <a:t>	</a:t>
            </a:r>
            <a:r>
              <a:rPr lang="en-US" altLang="ko-KR" sz="2000" b="1" dirty="0" err="1" smtClean="0"/>
              <a:t>label.config</a:t>
            </a:r>
            <a:r>
              <a:rPr lang="en-US" altLang="ko-KR" sz="2000" b="1" dirty="0" smtClean="0"/>
              <a:t>(text='Pushed')</a:t>
            </a:r>
          </a:p>
          <a:p>
            <a:r>
              <a:rPr lang="en-US" altLang="ko-KR" sz="2000" b="1" dirty="0" smtClean="0"/>
              <a:t>def func1():</a:t>
            </a:r>
          </a:p>
          <a:p>
            <a:r>
              <a:rPr lang="en-US" altLang="ko-KR" sz="2000" b="1" dirty="0" smtClean="0"/>
              <a:t>	</a:t>
            </a:r>
            <a:r>
              <a:rPr lang="en-US" altLang="ko-KR" sz="2000" b="1" dirty="0" err="1" smtClean="0"/>
              <a:t>label.config</a:t>
            </a:r>
            <a:r>
              <a:rPr lang="en-US" altLang="ko-KR" sz="2000" b="1" dirty="0" smtClean="0"/>
              <a:t>(text='STOP')		</a:t>
            </a:r>
          </a:p>
          <a:p>
            <a:r>
              <a:rPr lang="en-US" altLang="ko-KR" sz="2000" b="1" dirty="0" err="1" smtClean="0"/>
              <a:t>win.geometry</a:t>
            </a:r>
            <a:r>
              <a:rPr lang="en-US" altLang="ko-KR" sz="2000" b="1" dirty="0" smtClean="0"/>
              <a:t>("400x200“)</a:t>
            </a:r>
          </a:p>
          <a:p>
            <a:r>
              <a:rPr lang="en-US" altLang="ko-KR" sz="2000" b="1" dirty="0" smtClean="0"/>
              <a:t>label=Label(win, text='Push Button')</a:t>
            </a:r>
          </a:p>
          <a:p>
            <a:r>
              <a:rPr lang="en-US" altLang="ko-KR" sz="2000" b="1" dirty="0" err="1" smtClean="0"/>
              <a:t>label.pack</a:t>
            </a:r>
            <a:r>
              <a:rPr lang="en-US" altLang="ko-KR" sz="2000" b="1" dirty="0" smtClean="0"/>
              <a:t>()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button=Button(win, text='Push!', command=</a:t>
            </a:r>
            <a:r>
              <a:rPr lang="en-US" altLang="ko-KR" sz="2000" b="1" dirty="0" err="1" smtClean="0"/>
              <a:t>func</a:t>
            </a:r>
            <a:r>
              <a:rPr lang="en-US" altLang="ko-KR" sz="2000" b="1" dirty="0" smtClean="0"/>
              <a:t>,  width=20, height=3, background='RED')</a:t>
            </a:r>
          </a:p>
          <a:p>
            <a:r>
              <a:rPr lang="en-US" altLang="ko-KR" sz="2000" b="1" dirty="0" err="1" smtClean="0"/>
              <a:t>button.place</a:t>
            </a:r>
            <a:r>
              <a:rPr lang="en-US" altLang="ko-KR" sz="2000" b="1" dirty="0" smtClean="0"/>
              <a:t>(</a:t>
            </a:r>
            <a:r>
              <a:rPr lang="en-US" altLang="ko-KR" sz="2000" b="1" dirty="0" err="1" smtClean="0"/>
              <a:t>relx</a:t>
            </a:r>
            <a:r>
              <a:rPr lang="en-US" altLang="ko-KR" sz="2000" b="1" dirty="0" smtClean="0"/>
              <a:t>=0.5, rely=0.3, anchor=CENTER)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button1=Button(win, text='STOP!', command=func1,  width=20, height=3, background='YELLOW')</a:t>
            </a:r>
          </a:p>
          <a:p>
            <a:r>
              <a:rPr lang="en-US" altLang="ko-KR" sz="2000" b="1" dirty="0" smtClean="0"/>
              <a:t>button1.place(</a:t>
            </a:r>
            <a:r>
              <a:rPr lang="en-US" altLang="ko-KR" sz="2000" b="1" dirty="0" err="1" smtClean="0"/>
              <a:t>relx</a:t>
            </a:r>
            <a:r>
              <a:rPr lang="en-US" altLang="ko-KR" sz="2000" b="1" dirty="0" smtClean="0"/>
              <a:t>=0.5, rely=0.6, anchor=CENTER)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err="1" smtClean="0"/>
              <a:t>win.mainloop</a:t>
            </a:r>
            <a:r>
              <a:rPr lang="en-US" altLang="ko-KR" sz="2000" b="1" dirty="0" smtClean="0"/>
              <a:t>() 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2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개의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버튼 만들기  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#button_1.py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0" y="812764"/>
            <a:ext cx="9144000" cy="4644"/>
          </a:xfrm>
          <a:prstGeom prst="line">
            <a:avLst/>
          </a:prstGeom>
          <a:ln w="34925" cmpd="thinThick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586853" y="854461"/>
            <a:ext cx="7942997" cy="563231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*</a:t>
            </a:r>
          </a:p>
          <a:p>
            <a:r>
              <a:rPr lang="en-US" altLang="ko-KR" sz="2000" b="1" dirty="0" smtClean="0"/>
              <a:t>win=</a:t>
            </a:r>
            <a:r>
              <a:rPr lang="en-US" altLang="ko-KR" sz="2000" b="1" dirty="0" err="1" smtClean="0"/>
              <a:t>Tk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smtClean="0"/>
              <a:t>def </a:t>
            </a:r>
            <a:r>
              <a:rPr lang="en-US" altLang="ko-KR" sz="2000" b="1" dirty="0" err="1" smtClean="0"/>
              <a:t>func</a:t>
            </a:r>
            <a:r>
              <a:rPr lang="en-US" altLang="ko-KR" sz="2000" b="1" dirty="0" smtClean="0"/>
              <a:t>():</a:t>
            </a:r>
          </a:p>
          <a:p>
            <a:r>
              <a:rPr lang="en-US" altLang="ko-KR" sz="2000" b="1" dirty="0" smtClean="0"/>
              <a:t>	</a:t>
            </a:r>
            <a:r>
              <a:rPr lang="en-US" altLang="ko-KR" sz="2000" b="1" dirty="0" err="1" smtClean="0"/>
              <a:t>label.config</a:t>
            </a:r>
            <a:r>
              <a:rPr lang="en-US" altLang="ko-KR" sz="2000" b="1" dirty="0" smtClean="0"/>
              <a:t>(text='Button1')</a:t>
            </a:r>
          </a:p>
          <a:p>
            <a:r>
              <a:rPr lang="en-US" altLang="ko-KR" sz="2000" b="1" dirty="0" smtClean="0"/>
              <a:t>def func1():</a:t>
            </a:r>
          </a:p>
          <a:p>
            <a:r>
              <a:rPr lang="en-US" altLang="ko-KR" sz="2000" b="1" dirty="0" smtClean="0"/>
              <a:t>	</a:t>
            </a:r>
            <a:r>
              <a:rPr lang="en-US" altLang="ko-KR" sz="2000" b="1" dirty="0" err="1" smtClean="0"/>
              <a:t>label.config</a:t>
            </a:r>
            <a:r>
              <a:rPr lang="en-US" altLang="ko-KR" sz="2000" b="1" dirty="0" smtClean="0"/>
              <a:t>(text='Button2')	</a:t>
            </a:r>
          </a:p>
          <a:p>
            <a:r>
              <a:rPr lang="en-US" altLang="ko-KR" sz="2000" b="1" dirty="0" err="1" smtClean="0"/>
              <a:t>sel</a:t>
            </a:r>
            <a:r>
              <a:rPr lang="en-US" altLang="ko-KR" sz="2000" b="1" dirty="0" smtClean="0"/>
              <a:t>=</a:t>
            </a:r>
            <a:r>
              <a:rPr lang="en-US" altLang="ko-KR" sz="2000" b="1" dirty="0" err="1" smtClean="0"/>
              <a:t>IntVar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err="1" smtClean="0"/>
              <a:t>sel.set</a:t>
            </a:r>
            <a:r>
              <a:rPr lang="en-US" altLang="ko-KR" sz="2000" b="1" dirty="0" smtClean="0"/>
              <a:t>(1)</a:t>
            </a:r>
          </a:p>
          <a:p>
            <a:r>
              <a:rPr lang="en-US" altLang="ko-KR" sz="2000" b="1" dirty="0" smtClean="0"/>
              <a:t>label=Label(win, text='Select Button')</a:t>
            </a:r>
          </a:p>
          <a:p>
            <a:r>
              <a:rPr lang="en-US" altLang="ko-KR" sz="2000" b="1" dirty="0" err="1" smtClean="0"/>
              <a:t>label.pack</a:t>
            </a:r>
            <a:r>
              <a:rPr lang="en-US" altLang="ko-KR" sz="2000" b="1" dirty="0" smtClean="0"/>
              <a:t>();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rb1=</a:t>
            </a:r>
            <a:r>
              <a:rPr lang="en-US" altLang="ko-KR" sz="2000" b="1" dirty="0" err="1" smtClean="0"/>
              <a:t>Radiobutton</a:t>
            </a:r>
            <a:r>
              <a:rPr lang="en-US" altLang="ko-KR" sz="2000" b="1" dirty="0" smtClean="0"/>
              <a:t>(win, text='Button1', variable=</a:t>
            </a:r>
            <a:r>
              <a:rPr lang="en-US" altLang="ko-KR" sz="2000" b="1" dirty="0" err="1" smtClean="0"/>
              <a:t>sel</a:t>
            </a:r>
            <a:r>
              <a:rPr lang="en-US" altLang="ko-KR" sz="2000" b="1" dirty="0" smtClean="0"/>
              <a:t>, value=1, command=</a:t>
            </a:r>
            <a:r>
              <a:rPr lang="en-US" altLang="ko-KR" sz="2000" b="1" dirty="0" err="1" smtClean="0"/>
              <a:t>func</a:t>
            </a:r>
            <a:r>
              <a:rPr lang="en-US" altLang="ko-KR" sz="2000" b="1" dirty="0" smtClean="0"/>
              <a:t>)</a:t>
            </a:r>
          </a:p>
          <a:p>
            <a:r>
              <a:rPr lang="en-US" altLang="ko-KR" sz="2000" b="1" dirty="0" smtClean="0"/>
              <a:t>rb1.pack()</a:t>
            </a:r>
          </a:p>
          <a:p>
            <a:r>
              <a:rPr lang="en-US" altLang="ko-KR" sz="2000" b="1" dirty="0" smtClean="0"/>
              <a:t>rb2=</a:t>
            </a:r>
            <a:r>
              <a:rPr lang="en-US" altLang="ko-KR" sz="2000" b="1" dirty="0" err="1" smtClean="0"/>
              <a:t>Radiobutton</a:t>
            </a:r>
            <a:r>
              <a:rPr lang="en-US" altLang="ko-KR" sz="2000" b="1" dirty="0" smtClean="0"/>
              <a:t>(win, text='Button2', variable=</a:t>
            </a:r>
            <a:r>
              <a:rPr lang="en-US" altLang="ko-KR" sz="2000" b="1" dirty="0" err="1" smtClean="0"/>
              <a:t>sel</a:t>
            </a:r>
            <a:r>
              <a:rPr lang="en-US" altLang="ko-KR" sz="2000" b="1" dirty="0" smtClean="0"/>
              <a:t>, value=2, command=func1)</a:t>
            </a:r>
          </a:p>
          <a:p>
            <a:r>
              <a:rPr lang="en-US" altLang="ko-KR" sz="2000" b="1" dirty="0" smtClean="0"/>
              <a:t>rb2.pack()</a:t>
            </a:r>
          </a:p>
          <a:p>
            <a:r>
              <a:rPr lang="en-US" altLang="ko-KR" sz="2000" b="1" dirty="0" err="1" smtClean="0"/>
              <a:t>win.mainloop</a:t>
            </a:r>
            <a:r>
              <a:rPr lang="en-US" altLang="ko-KR" sz="2000" b="1" dirty="0" smtClean="0"/>
              <a:t>() </a:t>
            </a:r>
            <a:endParaRPr lang="ko-KR" altLang="en-US" sz="20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라디오 버튼 만들기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72056" y="1146501"/>
            <a:ext cx="7677806" cy="4401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from </a:t>
            </a:r>
            <a:r>
              <a:rPr lang="en-US" altLang="ko-KR" sz="2800" b="1" dirty="0" err="1" smtClean="0"/>
              <a:t>tkinter</a:t>
            </a:r>
            <a:r>
              <a:rPr lang="en-US" altLang="ko-KR" sz="2800" b="1" dirty="0" smtClean="0"/>
              <a:t> import *</a:t>
            </a:r>
          </a:p>
          <a:p>
            <a:r>
              <a:rPr lang="en-US" altLang="ko-KR" sz="2800" b="1" dirty="0" smtClean="0"/>
              <a:t>root = </a:t>
            </a:r>
            <a:r>
              <a:rPr lang="en-US" altLang="ko-KR" sz="2800" b="1" dirty="0" err="1" smtClean="0"/>
              <a:t>Tk</a:t>
            </a:r>
            <a:r>
              <a:rPr lang="en-US" altLang="ko-KR" sz="2800" b="1" dirty="0" smtClean="0"/>
              <a:t>()</a:t>
            </a:r>
          </a:p>
          <a:p>
            <a:r>
              <a:rPr lang="en-US" altLang="ko-KR" sz="2800" b="1" dirty="0" smtClean="0"/>
              <a:t> </a:t>
            </a:r>
          </a:p>
          <a:p>
            <a:r>
              <a:rPr lang="en-US" altLang="ko-KR" sz="2800" b="1" dirty="0" smtClean="0"/>
              <a:t>win = Label(root, text=“</a:t>
            </a:r>
            <a:r>
              <a:rPr lang="ko-KR" altLang="en-US" sz="2800" b="1" dirty="0" smtClean="0"/>
              <a:t>이름</a:t>
            </a:r>
            <a:r>
              <a:rPr lang="en-US" altLang="ko-KR" sz="2800" b="1" dirty="0" smtClean="0"/>
              <a:t>")</a:t>
            </a:r>
          </a:p>
          <a:p>
            <a:r>
              <a:rPr lang="en-US" altLang="ko-KR" sz="2800" b="1" dirty="0" err="1" smtClean="0"/>
              <a:t>win.pack</a:t>
            </a:r>
            <a:r>
              <a:rPr lang="en-US" altLang="ko-KR" sz="2800" b="1" dirty="0" smtClean="0"/>
              <a:t>() </a:t>
            </a:r>
          </a:p>
          <a:p>
            <a:r>
              <a:rPr lang="en-US" altLang="ko-KR" sz="2800" b="1" dirty="0" smtClean="0"/>
              <a:t>txt = Entry(root)</a:t>
            </a:r>
          </a:p>
          <a:p>
            <a:r>
              <a:rPr lang="en-US" altLang="ko-KR" sz="2800" b="1" dirty="0" err="1" smtClean="0"/>
              <a:t>txt.pack</a:t>
            </a:r>
            <a:r>
              <a:rPr lang="en-US" altLang="ko-KR" sz="2800" b="1" dirty="0" smtClean="0"/>
              <a:t>() </a:t>
            </a:r>
          </a:p>
          <a:p>
            <a:r>
              <a:rPr lang="en-US" altLang="ko-KR" sz="2800" b="1" dirty="0" err="1" smtClean="0"/>
              <a:t>btn</a:t>
            </a:r>
            <a:r>
              <a:rPr lang="en-US" altLang="ko-KR" sz="2800" b="1" dirty="0" smtClean="0"/>
              <a:t> = Button(root, text="OK")</a:t>
            </a:r>
          </a:p>
          <a:p>
            <a:r>
              <a:rPr lang="en-US" altLang="ko-KR" sz="2800" b="1" dirty="0" err="1" smtClean="0"/>
              <a:t>btn.pack</a:t>
            </a:r>
            <a:r>
              <a:rPr lang="en-US" altLang="ko-KR" sz="2800" b="1" dirty="0" smtClean="0"/>
              <a:t>() </a:t>
            </a:r>
          </a:p>
          <a:p>
            <a:r>
              <a:rPr lang="en-US" altLang="ko-KR" sz="2800" b="1" dirty="0" err="1" smtClean="0"/>
              <a:t>root.mainloop</a:t>
            </a:r>
            <a:r>
              <a:rPr lang="en-US" altLang="ko-KR" sz="2800" b="1" dirty="0" smtClean="0"/>
              <a:t>()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다이얼로그 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-1     # dialog_1.py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1075" y="1086829"/>
            <a:ext cx="7551683" cy="48320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from </a:t>
            </a:r>
            <a:r>
              <a:rPr lang="en-US" altLang="ko-KR" sz="2800" b="1" dirty="0" err="1" smtClean="0"/>
              <a:t>tkinter</a:t>
            </a:r>
            <a:r>
              <a:rPr lang="en-US" altLang="ko-KR" sz="2800" b="1" dirty="0" smtClean="0"/>
              <a:t> import *</a:t>
            </a:r>
          </a:p>
          <a:p>
            <a:r>
              <a:rPr lang="en-US" altLang="ko-KR" sz="2800" b="1" dirty="0" smtClean="0"/>
              <a:t>root = </a:t>
            </a:r>
            <a:r>
              <a:rPr lang="en-US" altLang="ko-KR" sz="2800" b="1" dirty="0" err="1" smtClean="0"/>
              <a:t>Tk</a:t>
            </a:r>
            <a:r>
              <a:rPr lang="en-US" altLang="ko-KR" sz="2800" b="1" dirty="0" smtClean="0"/>
              <a:t>()</a:t>
            </a:r>
          </a:p>
          <a:p>
            <a:r>
              <a:rPr lang="en-US" altLang="ko-KR" sz="2800" b="1" dirty="0" smtClean="0"/>
              <a:t> </a:t>
            </a:r>
          </a:p>
          <a:p>
            <a:r>
              <a:rPr lang="en-US" altLang="ko-KR" sz="2800" b="1" dirty="0" err="1" smtClean="0"/>
              <a:t>lbl</a:t>
            </a:r>
            <a:r>
              <a:rPr lang="en-US" altLang="ko-KR" sz="2800" b="1" dirty="0" smtClean="0"/>
              <a:t> = Label(root, text="</a:t>
            </a:r>
            <a:r>
              <a:rPr lang="ko-KR" altLang="en-US" sz="2800" b="1" dirty="0" smtClean="0"/>
              <a:t>이름</a:t>
            </a:r>
            <a:r>
              <a:rPr lang="en-US" altLang="ko-KR" sz="2800" b="1" dirty="0" smtClean="0"/>
              <a:t>")</a:t>
            </a:r>
          </a:p>
          <a:p>
            <a:r>
              <a:rPr lang="en-US" altLang="ko-KR" sz="2800" b="1" dirty="0" err="1" smtClean="0"/>
              <a:t>lbl.grid</a:t>
            </a:r>
            <a:r>
              <a:rPr lang="en-US" altLang="ko-KR" sz="2800" b="1" dirty="0" smtClean="0"/>
              <a:t>(row=0, column=0)</a:t>
            </a:r>
          </a:p>
          <a:p>
            <a:r>
              <a:rPr lang="en-US" altLang="ko-KR" sz="2800" b="1" dirty="0" smtClean="0"/>
              <a:t>txt = Entry(root)</a:t>
            </a:r>
          </a:p>
          <a:p>
            <a:r>
              <a:rPr lang="en-US" altLang="ko-KR" sz="2800" b="1" dirty="0" err="1" smtClean="0"/>
              <a:t>txt.grid</a:t>
            </a:r>
            <a:r>
              <a:rPr lang="en-US" altLang="ko-KR" sz="2800" b="1" dirty="0" smtClean="0"/>
              <a:t>(row=0, column=1)</a:t>
            </a:r>
          </a:p>
          <a:p>
            <a:r>
              <a:rPr lang="en-US" altLang="ko-KR" sz="2800" b="1" dirty="0" err="1" smtClean="0"/>
              <a:t>btn</a:t>
            </a:r>
            <a:r>
              <a:rPr lang="en-US" altLang="ko-KR" sz="2800" b="1" dirty="0" smtClean="0"/>
              <a:t> = Button(root, text="OK", width=15)</a:t>
            </a:r>
          </a:p>
          <a:p>
            <a:r>
              <a:rPr lang="en-US" altLang="ko-KR" sz="2800" b="1" dirty="0" err="1" smtClean="0"/>
              <a:t>btn.grid</a:t>
            </a:r>
            <a:r>
              <a:rPr lang="en-US" altLang="ko-KR" sz="2800" b="1" dirty="0" smtClean="0"/>
              <a:t>(row=1, column=1)</a:t>
            </a:r>
          </a:p>
          <a:p>
            <a:r>
              <a:rPr lang="en-US" altLang="ko-KR" sz="2800" b="1" dirty="0" smtClean="0"/>
              <a:t> </a:t>
            </a:r>
          </a:p>
          <a:p>
            <a:r>
              <a:rPr lang="en-US" altLang="ko-KR" sz="2800" b="1" dirty="0" err="1" smtClean="0"/>
              <a:t>root.mainloop</a:t>
            </a:r>
            <a:r>
              <a:rPr lang="en-US" altLang="ko-KR" sz="2800" b="1" dirty="0" smtClean="0"/>
              <a:t>()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다이얼로그 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-2  # dialog_2.py</a:t>
            </a:r>
            <a:endParaRPr lang="ko-KR" altLang="en-US" sz="28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5072" y="161952"/>
            <a:ext cx="177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/>
              <a:t>  Example</a:t>
            </a:r>
            <a:endParaRPr lang="ko-KR" altLang="en-US" sz="2800" b="1" dirty="0"/>
          </a:p>
        </p:txBody>
      </p:sp>
      <p:sp>
        <p:nvSpPr>
          <p:cNvPr id="4" name="직사각형 3"/>
          <p:cNvSpPr/>
          <p:nvPr/>
        </p:nvSpPr>
        <p:spPr>
          <a:xfrm>
            <a:off x="286603" y="948690"/>
            <a:ext cx="8584441" cy="59093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from </a:t>
            </a:r>
            <a:r>
              <a:rPr lang="en-US" altLang="ko-KR" dirty="0" err="1" smtClean="0"/>
              <a:t>tkinter</a:t>
            </a:r>
            <a:r>
              <a:rPr lang="en-US" altLang="ko-KR" dirty="0" smtClean="0"/>
              <a:t> import * </a:t>
            </a:r>
          </a:p>
          <a:p>
            <a:r>
              <a:rPr lang="en-US" altLang="ko-KR" dirty="0" smtClean="0"/>
              <a:t>root = </a:t>
            </a:r>
            <a:r>
              <a:rPr lang="en-US" altLang="ko-KR" dirty="0" err="1" smtClean="0"/>
              <a:t>Tk</a:t>
            </a:r>
            <a:r>
              <a:rPr lang="en-US" altLang="ko-KR" dirty="0" smtClean="0"/>
              <a:t>()</a:t>
            </a:r>
          </a:p>
          <a:p>
            <a:r>
              <a:rPr lang="en-US" altLang="ko-KR" dirty="0" err="1" smtClean="0"/>
              <a:t>root.config</a:t>
            </a:r>
            <a:r>
              <a:rPr lang="en-US" altLang="ko-KR" dirty="0" smtClean="0"/>
              <a:t>(width=800, height=600, </a:t>
            </a:r>
            <a:r>
              <a:rPr lang="en-US" altLang="ko-KR" dirty="0" err="1" smtClean="0"/>
              <a:t>bg</a:t>
            </a:r>
            <a:r>
              <a:rPr lang="en-US" altLang="ko-KR" dirty="0" smtClean="0"/>
              <a:t>="gray")</a:t>
            </a:r>
          </a:p>
          <a:p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l1 = Label(root, text="First Name:")</a:t>
            </a:r>
          </a:p>
          <a:p>
            <a:r>
              <a:rPr lang="en-US" altLang="ko-KR" dirty="0" smtClean="0"/>
              <a:t>e1 = Entry(root) </a:t>
            </a:r>
          </a:p>
          <a:p>
            <a:r>
              <a:rPr lang="en-US" altLang="ko-KR" dirty="0" smtClean="0"/>
              <a:t>l1.grid(row=0, column=0) #grid</a:t>
            </a:r>
            <a:r>
              <a:rPr lang="ko-KR" altLang="en-US" dirty="0" smtClean="0"/>
              <a:t>는 입력창의 크기를 알아서 조정해준다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e1.grid(row=0, column=1)</a:t>
            </a:r>
          </a:p>
          <a:p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l2 = Label(root, text="Last Name:")</a:t>
            </a:r>
          </a:p>
          <a:p>
            <a:r>
              <a:rPr lang="en-US" altLang="ko-KR" dirty="0" smtClean="0"/>
              <a:t>e2 = Entry(root) </a:t>
            </a:r>
          </a:p>
          <a:p>
            <a:r>
              <a:rPr lang="en-US" altLang="ko-KR" dirty="0" smtClean="0"/>
              <a:t>l2.grid(row=1, column=0)</a:t>
            </a:r>
          </a:p>
          <a:p>
            <a:r>
              <a:rPr lang="en-US" altLang="ko-KR" dirty="0" smtClean="0"/>
              <a:t>e2.grid(row=1, column=1)</a:t>
            </a:r>
          </a:p>
          <a:p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l3 = Label(root, text="Age:",</a:t>
            </a:r>
            <a:r>
              <a:rPr lang="en-US" altLang="ko-KR" dirty="0" err="1" smtClean="0"/>
              <a:t>bg</a:t>
            </a:r>
            <a:r>
              <a:rPr lang="en-US" altLang="ko-KR" dirty="0" smtClean="0"/>
              <a:t>="light gray")</a:t>
            </a:r>
          </a:p>
          <a:p>
            <a:r>
              <a:rPr lang="en-US" altLang="ko-KR" dirty="0" smtClean="0"/>
              <a:t>e3 = Entry(</a:t>
            </a:r>
            <a:r>
              <a:rPr lang="en-US" altLang="ko-KR" dirty="0" err="1" smtClean="0"/>
              <a:t>root,bg</a:t>
            </a:r>
            <a:r>
              <a:rPr lang="en-US" altLang="ko-KR" dirty="0" smtClean="0"/>
              <a:t>="dark slate gray")</a:t>
            </a:r>
          </a:p>
          <a:p>
            <a:r>
              <a:rPr lang="en-US" altLang="ko-KR" dirty="0" smtClean="0"/>
              <a:t>b3 = Button(root, text="submit", </a:t>
            </a:r>
            <a:r>
              <a:rPr lang="en-US" altLang="ko-KR" dirty="0" err="1" smtClean="0"/>
              <a:t>bg</a:t>
            </a:r>
            <a:r>
              <a:rPr lang="en-US" altLang="ko-KR" dirty="0" smtClean="0"/>
              <a:t> = "slate gray“)</a:t>
            </a:r>
          </a:p>
          <a:p>
            <a:r>
              <a:rPr lang="en-US" altLang="ko-KR" dirty="0" smtClean="0"/>
              <a:t>l3.grid(row=2, column=0)</a:t>
            </a:r>
          </a:p>
          <a:p>
            <a:r>
              <a:rPr lang="en-US" altLang="ko-KR" dirty="0" smtClean="0"/>
              <a:t>e3.grid(row=2, column=1)</a:t>
            </a:r>
          </a:p>
          <a:p>
            <a:r>
              <a:rPr lang="en-US" altLang="ko-KR" dirty="0" smtClean="0"/>
              <a:t>b3.grid(row=3, column=1) </a:t>
            </a:r>
          </a:p>
          <a:p>
            <a:r>
              <a:rPr lang="en-US" altLang="ko-KR" dirty="0" err="1" smtClean="0"/>
              <a:t>root.mainloop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828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Example       #dialog_3.py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6603" y="948690"/>
            <a:ext cx="8584441" cy="535531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from </a:t>
            </a:r>
            <a:r>
              <a:rPr lang="en-US" altLang="ko-KR" dirty="0" err="1" smtClean="0"/>
              <a:t>tkinter</a:t>
            </a:r>
            <a:r>
              <a:rPr lang="en-US" altLang="ko-KR" dirty="0" smtClean="0"/>
              <a:t> import *</a:t>
            </a:r>
          </a:p>
          <a:p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root = </a:t>
            </a:r>
            <a:r>
              <a:rPr lang="en-US" altLang="ko-KR" dirty="0" err="1" smtClean="0"/>
              <a:t>Tk</a:t>
            </a:r>
            <a:r>
              <a:rPr lang="en-US" altLang="ko-KR" dirty="0" smtClean="0"/>
              <a:t>()</a:t>
            </a:r>
          </a:p>
          <a:p>
            <a:r>
              <a:rPr lang="en-US" altLang="ko-KR" dirty="0" err="1" smtClean="0"/>
              <a:t>root.title</a:t>
            </a:r>
            <a:r>
              <a:rPr lang="en-US" altLang="ko-KR" dirty="0" smtClean="0"/>
              <a:t>('</a:t>
            </a:r>
            <a:r>
              <a:rPr lang="ko-KR" altLang="en-US" dirty="0" err="1" smtClean="0"/>
              <a:t>두번째</a:t>
            </a:r>
            <a:r>
              <a:rPr lang="ko-KR" altLang="en-US" dirty="0" smtClean="0"/>
              <a:t> 예제</a:t>
            </a:r>
            <a:r>
              <a:rPr lang="en-US" altLang="ko-KR" dirty="0" smtClean="0"/>
              <a:t>')</a:t>
            </a:r>
          </a:p>
          <a:p>
            <a:r>
              <a:rPr lang="en-US" altLang="ko-KR" dirty="0" err="1" smtClean="0"/>
              <a:t>root.config</a:t>
            </a:r>
            <a:r>
              <a:rPr lang="en-US" altLang="ko-KR" dirty="0" smtClean="0"/>
              <a:t>(width=400, height=300, </a:t>
            </a:r>
            <a:r>
              <a:rPr lang="en-US" altLang="ko-KR" dirty="0" err="1" smtClean="0"/>
              <a:t>bg</a:t>
            </a:r>
            <a:r>
              <a:rPr lang="en-US" altLang="ko-KR" dirty="0" smtClean="0"/>
              <a:t>="gray")   #root</a:t>
            </a:r>
            <a:r>
              <a:rPr lang="ko-KR" altLang="en-US" dirty="0" smtClean="0"/>
              <a:t>의 크기를 지정한다</a:t>
            </a:r>
          </a:p>
          <a:p>
            <a:r>
              <a:rPr lang="ko-KR" altLang="en-US" dirty="0" smtClean="0"/>
              <a:t> </a:t>
            </a:r>
          </a:p>
          <a:p>
            <a:r>
              <a:rPr lang="en-US" altLang="ko-KR" dirty="0" smtClean="0"/>
              <a:t>b1= Button(root, text="top-left", </a:t>
            </a:r>
            <a:r>
              <a:rPr lang="en-US" altLang="ko-KR" dirty="0" err="1" smtClean="0"/>
              <a:t>bg</a:t>
            </a:r>
            <a:r>
              <a:rPr lang="en-US" altLang="ko-KR" dirty="0" smtClean="0"/>
              <a:t> = "dark gray", relief=RIDGE, width=10)</a:t>
            </a:r>
          </a:p>
          <a:p>
            <a:r>
              <a:rPr lang="en-US" altLang="ko-KR" dirty="0" smtClean="0"/>
              <a:t>b2= Button(root, text="top-right", </a:t>
            </a:r>
            <a:r>
              <a:rPr lang="en-US" altLang="ko-KR" dirty="0" err="1" smtClean="0"/>
              <a:t>bg</a:t>
            </a:r>
            <a:r>
              <a:rPr lang="en-US" altLang="ko-KR" dirty="0" smtClean="0"/>
              <a:t>="dark gray", relief=RAISED, width=15)</a:t>
            </a:r>
          </a:p>
          <a:p>
            <a:r>
              <a:rPr lang="en-US" altLang="ko-KR" dirty="0" smtClean="0"/>
              <a:t>b3= Button(root, text="bottom-left")</a:t>
            </a:r>
          </a:p>
          <a:p>
            <a:r>
              <a:rPr lang="en-US" altLang="ko-KR" dirty="0" smtClean="0"/>
              <a:t>b4= Button(root, text="bottom-right")</a:t>
            </a:r>
          </a:p>
          <a:p>
            <a:r>
              <a:rPr lang="en-US" altLang="ko-KR" dirty="0" smtClean="0"/>
              <a:t>b5= Button(root, text="center")</a:t>
            </a:r>
          </a:p>
          <a:p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b1.place(</a:t>
            </a:r>
            <a:r>
              <a:rPr lang="en-US" altLang="ko-KR" dirty="0" err="1" smtClean="0"/>
              <a:t>relx</a:t>
            </a:r>
            <a:r>
              <a:rPr lang="en-US" altLang="ko-KR" dirty="0" smtClean="0"/>
              <a:t>=.0,rely=0)   </a:t>
            </a:r>
          </a:p>
          <a:p>
            <a:r>
              <a:rPr lang="en-US" altLang="ko-KR" dirty="0" smtClean="0"/>
              <a:t>b2.place(</a:t>
            </a:r>
            <a:r>
              <a:rPr lang="en-US" altLang="ko-KR" dirty="0" err="1" smtClean="0"/>
              <a:t>relx</a:t>
            </a:r>
            <a:r>
              <a:rPr lang="en-US" altLang="ko-KR" dirty="0" smtClean="0"/>
              <a:t>=.2,rely=.0)  </a:t>
            </a:r>
          </a:p>
          <a:p>
            <a:r>
              <a:rPr lang="en-US" altLang="ko-KR" dirty="0" smtClean="0"/>
              <a:t>b3.place(</a:t>
            </a:r>
            <a:r>
              <a:rPr lang="en-US" altLang="ko-KR" dirty="0" err="1" smtClean="0"/>
              <a:t>relx</a:t>
            </a:r>
            <a:r>
              <a:rPr lang="en-US" altLang="ko-KR" dirty="0" smtClean="0"/>
              <a:t>=.0,rely=.2)</a:t>
            </a:r>
          </a:p>
          <a:p>
            <a:r>
              <a:rPr lang="en-US" altLang="ko-KR" dirty="0" smtClean="0"/>
              <a:t>b4.place(</a:t>
            </a:r>
            <a:r>
              <a:rPr lang="en-US" altLang="ko-KR" dirty="0" err="1" smtClean="0"/>
              <a:t>relx</a:t>
            </a:r>
            <a:r>
              <a:rPr lang="en-US" altLang="ko-KR" dirty="0" smtClean="0"/>
              <a:t>=.2,rely=.2)</a:t>
            </a:r>
          </a:p>
          <a:p>
            <a:r>
              <a:rPr lang="en-US" altLang="ko-KR" dirty="0" smtClean="0"/>
              <a:t>b5.place(</a:t>
            </a:r>
            <a:r>
              <a:rPr lang="en-US" altLang="ko-KR" dirty="0" err="1" smtClean="0"/>
              <a:t>relx</a:t>
            </a:r>
            <a:r>
              <a:rPr lang="en-US" altLang="ko-KR" dirty="0" smtClean="0"/>
              <a:t>=.1,rely=.1)</a:t>
            </a:r>
          </a:p>
          <a:p>
            <a:r>
              <a:rPr lang="en-US" altLang="ko-KR" dirty="0" smtClean="0"/>
              <a:t> </a:t>
            </a:r>
          </a:p>
          <a:p>
            <a:r>
              <a:rPr lang="en-US" altLang="ko-KR" dirty="0" err="1" smtClean="0"/>
              <a:t>root.mainloop</a:t>
            </a:r>
            <a:r>
              <a:rPr lang="en-US" altLang="ko-KR" dirty="0" smtClean="0"/>
              <a:t>()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Example : component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위치 설정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" y="975986"/>
            <a:ext cx="9144000" cy="50167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/>
              <a:t>import </a:t>
            </a:r>
            <a:r>
              <a:rPr lang="en-US" sz="2000" dirty="0" smtClean="0"/>
              <a:t>serial</a:t>
            </a:r>
            <a:br>
              <a:rPr lang="en-US" sz="2000" dirty="0" smtClean="0"/>
            </a:br>
            <a:r>
              <a:rPr lang="en-US" sz="2000" b="1" dirty="0" smtClean="0"/>
              <a:t>from </a:t>
            </a:r>
            <a:r>
              <a:rPr lang="en-US" sz="2000" dirty="0" err="1" smtClean="0"/>
              <a:t>tkinter</a:t>
            </a:r>
            <a:r>
              <a:rPr lang="en-US" sz="2000" dirty="0" smtClean="0"/>
              <a:t> </a:t>
            </a:r>
            <a:r>
              <a:rPr lang="en-US" sz="2000" b="1" dirty="0" smtClean="0"/>
              <a:t>import </a:t>
            </a:r>
            <a:r>
              <a:rPr lang="en-US" sz="2000" dirty="0" smtClean="0"/>
              <a:t>*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smtClean="0"/>
              <a:t>class </a:t>
            </a:r>
            <a:r>
              <a:rPr lang="en-US" sz="2000" dirty="0" smtClean="0"/>
              <a:t>serial_test(object):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def </a:t>
            </a:r>
            <a:r>
              <a:rPr lang="en-US" sz="2000" dirty="0" smtClean="0"/>
              <a:t>__init__(self):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self.serialPort</a:t>
            </a:r>
            <a:r>
              <a:rPr lang="en-US" sz="2000" dirty="0" smtClean="0"/>
              <a:t> = </a:t>
            </a:r>
            <a:r>
              <a:rPr lang="en-US" sz="2000" b="1" dirty="0" smtClean="0"/>
              <a:t>"COM4"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dirty="0" err="1" smtClean="0"/>
              <a:t>self.baudRate</a:t>
            </a:r>
            <a:r>
              <a:rPr lang="en-US" sz="2000" dirty="0" smtClean="0"/>
              <a:t> = 115200</a:t>
            </a:r>
            <a:br>
              <a:rPr lang="en-US" sz="2000" dirty="0" smtClean="0"/>
            </a:br>
            <a:r>
              <a:rPr lang="en-US" sz="2000" dirty="0" smtClean="0"/>
              <a:t>        self.ser = </a:t>
            </a:r>
            <a:r>
              <a:rPr lang="en-US" sz="2000" dirty="0" err="1" smtClean="0"/>
              <a:t>serial.Serial</a:t>
            </a:r>
            <a:r>
              <a:rPr lang="en-US" sz="2000" dirty="0" smtClean="0"/>
              <a:t>(</a:t>
            </a:r>
            <a:r>
              <a:rPr lang="en-US" sz="2000" dirty="0" err="1" smtClean="0"/>
              <a:t>self.serialPort</a:t>
            </a:r>
            <a:r>
              <a:rPr lang="en-US" sz="2000" dirty="0" smtClean="0"/>
              <a:t> , </a:t>
            </a:r>
            <a:r>
              <a:rPr lang="en-US" sz="2000" dirty="0" err="1" smtClean="0"/>
              <a:t>self.baudRate</a:t>
            </a:r>
            <a:r>
              <a:rPr lang="en-US" sz="2000" dirty="0" smtClean="0"/>
              <a:t>, timeout=0, </a:t>
            </a:r>
            <a:r>
              <a:rPr lang="en-US" sz="2000" dirty="0" err="1" smtClean="0"/>
              <a:t>writeTimeout</a:t>
            </a:r>
            <a:r>
              <a:rPr lang="en-US" sz="2000" dirty="0" smtClean="0"/>
              <a:t>=0) </a:t>
            </a:r>
            <a:r>
              <a:rPr lang="en-US" sz="2000" i="1" dirty="0" smtClean="0"/>
              <a:t/>
            </a:r>
            <a:br>
              <a:rPr lang="en-US" sz="2000" i="1" dirty="0" smtClean="0"/>
            </a:br>
            <a:r>
              <a:rPr lang="en-US" sz="2000" i="1" dirty="0" smtClean="0"/>
              <a:t>        </a:t>
            </a:r>
            <a:r>
              <a:rPr lang="en-US" sz="2000" dirty="0" err="1" smtClean="0"/>
              <a:t>self.root</a:t>
            </a:r>
            <a:r>
              <a:rPr lang="en-US" sz="2000" dirty="0" smtClean="0"/>
              <a:t> = </a:t>
            </a:r>
            <a:r>
              <a:rPr lang="en-US" sz="2000" dirty="0" err="1" smtClean="0"/>
              <a:t>Tk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self.root.wm_title</a:t>
            </a:r>
            <a:r>
              <a:rPr lang="en-US" sz="2000" dirty="0" smtClean="0"/>
              <a:t>(</a:t>
            </a:r>
            <a:r>
              <a:rPr lang="en-US" sz="2000" b="1" dirty="0" smtClean="0"/>
              <a:t>"Reading Serial"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i="1" dirty="0" smtClean="0"/>
              <a:t>        </a:t>
            </a:r>
            <a:r>
              <a:rPr lang="en-US" sz="2000" dirty="0" err="1" smtClean="0"/>
              <a:t>self.scrollbar</a:t>
            </a:r>
            <a:r>
              <a:rPr lang="en-US" sz="2000" dirty="0" smtClean="0"/>
              <a:t> = Scrollbar(</a:t>
            </a:r>
            <a:r>
              <a:rPr lang="en-US" sz="2000" dirty="0" err="1" smtClean="0"/>
              <a:t>self.root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self.scrollbar.pack</a:t>
            </a:r>
            <a:r>
              <a:rPr lang="en-US" sz="2000" dirty="0" smtClean="0"/>
              <a:t>(side=RIGHT, fill=Y)</a:t>
            </a:r>
            <a:br>
              <a:rPr lang="en-US" sz="2000" dirty="0" smtClean="0"/>
            </a:br>
            <a:r>
              <a:rPr lang="en-US" sz="2000" i="1" dirty="0" smtClean="0"/>
              <a:t>        </a:t>
            </a:r>
            <a:r>
              <a:rPr lang="en-US" sz="2000" dirty="0" smtClean="0"/>
              <a:t>self.log = Text ( </a:t>
            </a:r>
            <a:r>
              <a:rPr lang="en-US" sz="2000" dirty="0" err="1" smtClean="0"/>
              <a:t>self.root</a:t>
            </a:r>
            <a:r>
              <a:rPr lang="en-US" sz="2000" dirty="0" smtClean="0"/>
              <a:t>, width=30, height=30, </a:t>
            </a:r>
            <a:r>
              <a:rPr lang="en-US" sz="2000" dirty="0" err="1" smtClean="0"/>
              <a:t>takefocus</a:t>
            </a:r>
            <a:r>
              <a:rPr lang="en-US" sz="2000" dirty="0" smtClean="0"/>
              <a:t>=0)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self.log.pack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i="1" dirty="0" smtClean="0"/>
              <a:t>        </a:t>
            </a:r>
            <a:r>
              <a:rPr lang="en-US" sz="2000" dirty="0" smtClean="0"/>
              <a:t>self.log.config(</a:t>
            </a:r>
            <a:r>
              <a:rPr lang="en-US" sz="2000" dirty="0" err="1" smtClean="0"/>
              <a:t>yscrollcommand</a:t>
            </a:r>
            <a:r>
              <a:rPr lang="en-US" sz="2000" dirty="0" smtClean="0"/>
              <a:t>=</a:t>
            </a:r>
            <a:r>
              <a:rPr lang="en-US" sz="2000" dirty="0" err="1" smtClean="0"/>
              <a:t>self.scrollbar.set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self.scrollbar.config</a:t>
            </a:r>
            <a:r>
              <a:rPr lang="en-US" sz="2000" dirty="0" smtClean="0"/>
              <a:t>(command=</a:t>
            </a:r>
            <a:r>
              <a:rPr lang="en-US" sz="2000" dirty="0" err="1" smtClean="0"/>
              <a:t>self.log.yview</a:t>
            </a:r>
            <a:r>
              <a:rPr lang="en-US" sz="2000" dirty="0" smtClean="0"/>
              <a:t>)</a:t>
            </a:r>
            <a:endParaRPr lang="en-US" altLang="ko-KR" sz="2000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Example : Serial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수신 데이터 표시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- 1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6603" y="948690"/>
            <a:ext cx="8584441" cy="52629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 smtClean="0"/>
              <a:t/>
            </a:r>
            <a:br>
              <a:rPr lang="en-US" sz="2000" i="1" dirty="0" smtClean="0"/>
            </a:br>
            <a:r>
              <a:rPr lang="en-US" sz="2000" i="1" dirty="0" smtClean="0"/>
              <a:t>        </a:t>
            </a:r>
            <a:r>
              <a:rPr lang="en-US" sz="2000" dirty="0" err="1" smtClean="0"/>
              <a:t>self.buff</a:t>
            </a:r>
            <a:r>
              <a:rPr lang="en-US" sz="2000" dirty="0" smtClean="0"/>
              <a:t>=0</a:t>
            </a:r>
            <a:br>
              <a:rPr lang="en-US" sz="2000" dirty="0" smtClean="0"/>
            </a:br>
            <a:r>
              <a:rPr lang="en-US" sz="2000" dirty="0" smtClean="0"/>
              <a:t>        self.bou=Button(</a:t>
            </a:r>
            <a:r>
              <a:rPr lang="en-US" sz="2000" dirty="0" err="1" smtClean="0"/>
              <a:t>self.root,text</a:t>
            </a:r>
            <a:r>
              <a:rPr lang="en-US" sz="2000" dirty="0" smtClean="0"/>
              <a:t>=</a:t>
            </a:r>
            <a:r>
              <a:rPr lang="en-US" sz="2000" b="1" dirty="0" smtClean="0"/>
              <a:t>'</a:t>
            </a:r>
            <a:r>
              <a:rPr lang="en-US" sz="2000" b="1" dirty="0" err="1" smtClean="0"/>
              <a:t>Valid'</a:t>
            </a:r>
            <a:r>
              <a:rPr lang="en-US" sz="2000" dirty="0" err="1" smtClean="0"/>
              <a:t>,command</a:t>
            </a:r>
            <a:r>
              <a:rPr lang="en-US" sz="2000" dirty="0" smtClean="0"/>
              <a:t>=</a:t>
            </a:r>
            <a:r>
              <a:rPr lang="en-US" sz="2000" dirty="0" err="1" smtClean="0"/>
              <a:t>self.writeSerial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self.bou.pack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self.root.after</a:t>
            </a:r>
            <a:r>
              <a:rPr lang="en-US" sz="2000" dirty="0" smtClean="0"/>
              <a:t>(100, </a:t>
            </a:r>
            <a:r>
              <a:rPr lang="en-US" sz="2000" dirty="0" err="1" smtClean="0"/>
              <a:t>self.readSerial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self.root.protocol</a:t>
            </a:r>
            <a:r>
              <a:rPr lang="en-US" sz="2000" dirty="0" smtClean="0"/>
              <a:t>(</a:t>
            </a:r>
            <a:r>
              <a:rPr lang="en-US" sz="2000" b="1" dirty="0" smtClean="0"/>
              <a:t>"WM_DELETE_WINDOW"</a:t>
            </a:r>
            <a:r>
              <a:rPr lang="en-US" sz="2000" dirty="0" smtClean="0"/>
              <a:t>, </a:t>
            </a:r>
            <a:r>
              <a:rPr lang="en-US" sz="2000" dirty="0" err="1" smtClean="0"/>
              <a:t>self.Intercept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self.root.mainloop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def </a:t>
            </a:r>
            <a:r>
              <a:rPr lang="en-US" sz="2000" dirty="0" smtClean="0"/>
              <a:t>Intercept(self):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try 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dirty="0" err="1" smtClean="0"/>
              <a:t>self.ser.close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except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b="1" dirty="0" smtClean="0"/>
              <a:t>pass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dirty="0" err="1" smtClean="0"/>
              <a:t>self.root.destroy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def </a:t>
            </a:r>
            <a:r>
              <a:rPr lang="en-US" sz="2000" dirty="0" err="1" smtClean="0"/>
              <a:t>writeSerial</a:t>
            </a:r>
            <a:r>
              <a:rPr lang="en-US" sz="2000" dirty="0" smtClean="0"/>
              <a:t>(self):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self.ser.write</a:t>
            </a:r>
            <a:r>
              <a:rPr lang="en-US" sz="2000" dirty="0" smtClean="0"/>
              <a:t>(</a:t>
            </a:r>
            <a:r>
              <a:rPr lang="en-US" sz="2000" b="1" dirty="0" smtClean="0"/>
              <a:t>"Testing"</a:t>
            </a:r>
            <a:r>
              <a:rPr lang="en-US" sz="2000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altLang="ko-KR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Example : Serial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수신 데이터 표시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-2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6603" y="953839"/>
            <a:ext cx="8584441" cy="563231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    </a:t>
            </a:r>
            <a:r>
              <a:rPr lang="en-US" sz="2000" b="1" dirty="0" smtClean="0"/>
              <a:t>def </a:t>
            </a:r>
            <a:r>
              <a:rPr lang="en-US" sz="2000" dirty="0" err="1" smtClean="0"/>
              <a:t>readSerial</a:t>
            </a:r>
            <a:r>
              <a:rPr lang="en-US" sz="2000" dirty="0" smtClean="0"/>
              <a:t>(self):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while True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dirty="0" err="1" smtClean="0"/>
              <a:t>self.c</a:t>
            </a:r>
            <a:r>
              <a:rPr lang="en-US" sz="2000" dirty="0" smtClean="0"/>
              <a:t> = </a:t>
            </a:r>
            <a:r>
              <a:rPr lang="en-US" sz="2000" dirty="0" err="1" smtClean="0"/>
              <a:t>self.ser.read</a:t>
            </a:r>
            <a:r>
              <a:rPr lang="en-US" sz="2000" dirty="0" smtClean="0"/>
              <a:t>()       </a:t>
            </a:r>
            <a:r>
              <a:rPr lang="en-US" sz="2000" i="1" dirty="0" smtClean="0"/>
              <a:t># attempt to read a character from Serial</a:t>
            </a:r>
            <a:br>
              <a:rPr lang="en-US" sz="2000" i="1" dirty="0" smtClean="0"/>
            </a:br>
            <a:r>
              <a:rPr lang="en-US" sz="2000" i="1" dirty="0" smtClean="0"/>
              <a:t>            #was anything read?</a:t>
            </a:r>
            <a:br>
              <a:rPr lang="en-US" sz="2000" i="1" dirty="0" smtClean="0"/>
            </a:br>
            <a:r>
              <a:rPr lang="en-US" sz="2000" i="1" dirty="0" smtClean="0"/>
              <a:t>    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len</a:t>
            </a:r>
            <a:r>
              <a:rPr lang="en-US" sz="2000" dirty="0" smtClean="0"/>
              <a:t>(</a:t>
            </a:r>
            <a:r>
              <a:rPr lang="en-US" sz="2000" dirty="0" err="1" smtClean="0"/>
              <a:t>self.c</a:t>
            </a:r>
            <a:r>
              <a:rPr lang="en-US" sz="2000" dirty="0" smtClean="0"/>
              <a:t>) == 0:</a:t>
            </a:r>
            <a:br>
              <a:rPr lang="en-US" sz="2000" dirty="0" smtClean="0"/>
            </a:br>
            <a:r>
              <a:rPr lang="en-US" sz="2000" dirty="0" smtClean="0"/>
              <a:t>                </a:t>
            </a:r>
            <a:r>
              <a:rPr lang="en-US" sz="2000" b="1" dirty="0" smtClean="0"/>
              <a:t>break</a:t>
            </a:r>
            <a:br>
              <a:rPr lang="en-US" sz="2000" b="1" dirty="0" smtClean="0"/>
            </a:br>
            <a:r>
              <a:rPr lang="en-US" sz="2000" b="1" dirty="0" smtClean="0"/>
              <a:t>            </a:t>
            </a:r>
            <a:r>
              <a:rPr lang="en-US" sz="2000" i="1" dirty="0" smtClean="0"/>
              <a:t># get the buffer from outside of this function</a:t>
            </a:r>
            <a:br>
              <a:rPr lang="en-US" sz="2000" i="1" dirty="0" smtClean="0"/>
            </a:br>
            <a:r>
              <a:rPr lang="en-US" sz="2000" i="1" dirty="0" smtClean="0"/>
              <a:t>            </a:t>
            </a:r>
            <a:r>
              <a:rPr lang="en-US" sz="2000" dirty="0" err="1" smtClean="0"/>
              <a:t>self.log.insert</a:t>
            </a:r>
            <a:r>
              <a:rPr lang="en-US" sz="2000" dirty="0" smtClean="0"/>
              <a:t>(END, </a:t>
            </a:r>
            <a:r>
              <a:rPr lang="en-US" sz="2000" dirty="0" err="1" smtClean="0"/>
              <a:t>self.c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dirty="0" err="1" smtClean="0"/>
              <a:t>self.buff</a:t>
            </a:r>
            <a:r>
              <a:rPr lang="en-US" sz="2000" dirty="0" smtClean="0"/>
              <a:t>=self.buff+1</a:t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self.c</a:t>
            </a:r>
            <a:r>
              <a:rPr lang="en-US" sz="2000" dirty="0" smtClean="0"/>
              <a:t> == </a:t>
            </a:r>
            <a:r>
              <a:rPr lang="en-US" sz="2000" b="1" dirty="0" smtClean="0"/>
              <a:t>'\r'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    </a:t>
            </a:r>
            <a:r>
              <a:rPr lang="en-US" sz="2000" b="1" dirty="0" smtClean="0"/>
              <a:t>for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b="1" dirty="0" smtClean="0"/>
              <a:t>in </a:t>
            </a:r>
            <a:r>
              <a:rPr lang="en-US" sz="2000" dirty="0" smtClean="0"/>
              <a:t>range(30-self.buff):</a:t>
            </a:r>
            <a:br>
              <a:rPr lang="en-US" sz="2000" dirty="0" smtClean="0"/>
            </a:br>
            <a:r>
              <a:rPr lang="en-US" sz="2000" dirty="0" smtClean="0"/>
              <a:t>                    </a:t>
            </a:r>
            <a:r>
              <a:rPr lang="en-US" sz="2000" dirty="0" err="1" smtClean="0"/>
              <a:t>self.log.insert</a:t>
            </a:r>
            <a:r>
              <a:rPr lang="en-US" sz="2000" dirty="0" smtClean="0"/>
              <a:t>(END, </a:t>
            </a:r>
            <a:r>
              <a:rPr lang="en-US" sz="2000" b="1" dirty="0" smtClean="0"/>
              <a:t>' '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            </a:t>
            </a:r>
            <a:r>
              <a:rPr lang="en-US" sz="2000" dirty="0" err="1" smtClean="0"/>
              <a:t>self.buff</a:t>
            </a:r>
            <a:r>
              <a:rPr lang="en-US" sz="2000" dirty="0" smtClean="0"/>
              <a:t>=0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self.buff</a:t>
            </a:r>
            <a:r>
              <a:rPr lang="en-US" sz="2000" dirty="0" smtClean="0"/>
              <a:t>==30:</a:t>
            </a:r>
            <a:br>
              <a:rPr lang="en-US" sz="2000" dirty="0" smtClean="0"/>
            </a:br>
            <a:r>
              <a:rPr lang="en-US" sz="2000" dirty="0" smtClean="0"/>
              <a:t>                </a:t>
            </a:r>
            <a:r>
              <a:rPr lang="en-US" sz="2000" dirty="0" err="1" smtClean="0"/>
              <a:t>self.buff</a:t>
            </a:r>
            <a:r>
              <a:rPr lang="en-US" sz="2000" dirty="0" smtClean="0"/>
              <a:t>=0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self.root.after</a:t>
            </a:r>
            <a:r>
              <a:rPr lang="en-US" sz="2000" dirty="0" smtClean="0"/>
              <a:t>(10, </a:t>
            </a:r>
            <a:r>
              <a:rPr lang="en-US" sz="2000" dirty="0" err="1" smtClean="0"/>
              <a:t>self.readSerial</a:t>
            </a:r>
            <a:r>
              <a:rPr lang="en-US" sz="2000" dirty="0" smtClean="0"/>
              <a:t>) </a:t>
            </a:r>
            <a:r>
              <a:rPr lang="en-US" sz="2000" i="1" dirty="0" smtClean="0"/>
              <a:t># check serial again soon</a:t>
            </a:r>
            <a:br>
              <a:rPr lang="en-US" sz="2000" i="1" dirty="0" smtClean="0"/>
            </a:br>
            <a:r>
              <a:rPr lang="en-US" sz="2000" dirty="0" smtClean="0"/>
              <a:t>serial_test()</a:t>
            </a:r>
            <a:endParaRPr lang="en-US" altLang="ko-KR" sz="2000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0" y="5149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Example : Serial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수신 데이터 표시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-3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64275" y="1160777"/>
            <a:ext cx="8379725" cy="50167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/>
              <a:t>from </a:t>
            </a:r>
            <a:r>
              <a:rPr lang="en-US" sz="2000" dirty="0" err="1" smtClean="0"/>
              <a:t>tkinter</a:t>
            </a:r>
            <a:r>
              <a:rPr lang="en-US" sz="2000" dirty="0" smtClean="0"/>
              <a:t> </a:t>
            </a:r>
            <a:r>
              <a:rPr lang="en-US" sz="2000" b="1" dirty="0" smtClean="0"/>
              <a:t>import </a:t>
            </a:r>
            <a:r>
              <a:rPr lang="en-US" sz="2000" dirty="0" smtClean="0"/>
              <a:t>*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smtClean="0"/>
              <a:t>class </a:t>
            </a:r>
            <a:r>
              <a:rPr lang="en-US" sz="2000" dirty="0" err="1" smtClean="0"/>
              <a:t>MyFrame</a:t>
            </a:r>
            <a:r>
              <a:rPr lang="en-US" sz="2000" dirty="0" smtClean="0"/>
              <a:t>(Frame):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def </a:t>
            </a:r>
            <a:r>
              <a:rPr lang="en-US" sz="2000" dirty="0" smtClean="0"/>
              <a:t>__init__(self, master):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img</a:t>
            </a:r>
            <a:r>
              <a:rPr lang="en-US" sz="2000" dirty="0" smtClean="0"/>
              <a:t> = </a:t>
            </a:r>
            <a:r>
              <a:rPr lang="en-US" sz="2000" dirty="0" err="1" smtClean="0"/>
              <a:t>PhotoImage</a:t>
            </a:r>
            <a:r>
              <a:rPr lang="en-US" sz="2000" dirty="0" smtClean="0"/>
              <a:t>(file=</a:t>
            </a:r>
            <a:r>
              <a:rPr lang="en-US" sz="2000" b="1" dirty="0" smtClean="0"/>
              <a:t>"image\mario_s.png"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lbl</a:t>
            </a:r>
            <a:r>
              <a:rPr lang="en-US" sz="2000" dirty="0" smtClean="0"/>
              <a:t> = Label(image=</a:t>
            </a:r>
            <a:r>
              <a:rPr lang="en-US" sz="2000" dirty="0" err="1" smtClean="0"/>
              <a:t>img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lbl.image</a:t>
            </a:r>
            <a:r>
              <a:rPr lang="en-US" sz="2000" dirty="0" smtClean="0"/>
              <a:t> = </a:t>
            </a:r>
            <a:r>
              <a:rPr lang="en-US" sz="2000" dirty="0" err="1" smtClean="0"/>
              <a:t>img</a:t>
            </a:r>
            <a:r>
              <a:rPr lang="en-US" sz="2000" dirty="0" smtClean="0"/>
              <a:t>                                          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2000" i="1" dirty="0" err="1" smtClean="0">
                <a:solidFill>
                  <a:srgbClr val="0000FF"/>
                </a:solidFill>
              </a:rPr>
              <a:t>레퍼런스</a:t>
            </a:r>
            <a:r>
              <a:rPr lang="ko-KR" altLang="en-US" sz="2000" i="1" dirty="0" smtClean="0">
                <a:solidFill>
                  <a:srgbClr val="0000FF"/>
                </a:solidFill>
              </a:rPr>
              <a:t> 추가</a:t>
            </a:r>
            <a:br>
              <a:rPr lang="ko-KR" altLang="en-US" sz="2000" i="1" dirty="0" smtClean="0">
                <a:solidFill>
                  <a:srgbClr val="0000FF"/>
                </a:solidFill>
              </a:rPr>
            </a:br>
            <a:r>
              <a:rPr lang="ko-KR" altLang="en-US" sz="2000" i="1" dirty="0" smtClean="0"/>
              <a:t>        </a:t>
            </a:r>
            <a:r>
              <a:rPr lang="en-US" sz="2000" dirty="0" err="1" smtClean="0"/>
              <a:t>lbl.place</a:t>
            </a:r>
            <a:r>
              <a:rPr lang="en-US" sz="2000" dirty="0" smtClean="0"/>
              <a:t>(x=0, y=0)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smtClean="0"/>
              <a:t>def </a:t>
            </a:r>
            <a:r>
              <a:rPr lang="en-US" sz="2000" dirty="0" err="1" smtClean="0"/>
              <a:t>func</a:t>
            </a:r>
            <a:r>
              <a:rPr lang="en-US" sz="2000" dirty="0" smtClean="0"/>
              <a:t>():</a:t>
            </a:r>
            <a:br>
              <a:rPr lang="en-US" sz="2000" dirty="0" smtClean="0"/>
            </a:br>
            <a:r>
              <a:rPr lang="en-US" sz="2000" dirty="0" smtClean="0"/>
              <a:t>    root = </a:t>
            </a:r>
            <a:r>
              <a:rPr lang="en-US" sz="2000" dirty="0" err="1" smtClean="0"/>
              <a:t>Tk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dirty="0" err="1" smtClean="0"/>
              <a:t>root.title</a:t>
            </a:r>
            <a:r>
              <a:rPr lang="en-US" sz="2000" dirty="0" smtClean="0"/>
              <a:t>(</a:t>
            </a:r>
            <a:r>
              <a:rPr lang="en-US" sz="2000" b="1" dirty="0" smtClean="0"/>
              <a:t>'</a:t>
            </a:r>
            <a:r>
              <a:rPr lang="ko-KR" altLang="en-US" sz="2000" b="1" dirty="0" smtClean="0"/>
              <a:t>이미지 보기</a:t>
            </a:r>
            <a:r>
              <a:rPr lang="en-US" altLang="ko-KR" sz="2000" b="1" dirty="0" smtClean="0"/>
              <a:t>'</a:t>
            </a:r>
            <a:r>
              <a:rPr lang="en-US" altLang="ko-KR" sz="2000" dirty="0" smtClean="0"/>
              <a:t>)</a:t>
            </a:r>
            <a:br>
              <a:rPr lang="en-US" altLang="ko-KR" sz="2000" dirty="0" smtClean="0"/>
            </a:br>
            <a:r>
              <a:rPr lang="en-US" altLang="ko-KR" sz="2000" dirty="0" smtClean="0"/>
              <a:t>    </a:t>
            </a:r>
            <a:r>
              <a:rPr lang="en-US" sz="2000" dirty="0" err="1" smtClean="0"/>
              <a:t>root.geometry</a:t>
            </a:r>
            <a:r>
              <a:rPr lang="en-US" sz="2000" dirty="0" smtClean="0"/>
              <a:t>(</a:t>
            </a:r>
            <a:r>
              <a:rPr lang="en-US" sz="2000" b="1" dirty="0" smtClean="0"/>
              <a:t>'500x600+0+0'</a:t>
            </a:r>
            <a:r>
              <a:rPr lang="en-US" sz="2000" dirty="0" smtClean="0"/>
              <a:t>)              </a:t>
            </a:r>
            <a:r>
              <a:rPr lang="en-US" sz="20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2000" i="1" dirty="0" smtClean="0">
                <a:solidFill>
                  <a:srgbClr val="0000FF"/>
                </a:solidFill>
              </a:rPr>
              <a:t>화면크기</a:t>
            </a:r>
            <a:r>
              <a:rPr lang="en-US" altLang="ko-KR" sz="2000" i="1" dirty="0" smtClean="0">
                <a:solidFill>
                  <a:srgbClr val="0000FF"/>
                </a:solidFill>
              </a:rPr>
              <a:t>+</a:t>
            </a:r>
            <a:r>
              <a:rPr lang="ko-KR" altLang="en-US" sz="2000" i="1" dirty="0" smtClean="0">
                <a:solidFill>
                  <a:srgbClr val="0000FF"/>
                </a:solidFill>
              </a:rPr>
              <a:t>화면위치</a:t>
            </a:r>
            <a:br>
              <a:rPr lang="ko-KR" altLang="en-US" sz="2000" i="1" dirty="0" smtClean="0">
                <a:solidFill>
                  <a:srgbClr val="0000FF"/>
                </a:solidFill>
              </a:rPr>
            </a:br>
            <a:r>
              <a:rPr lang="ko-KR" altLang="en-US" sz="2000" i="1" dirty="0" smtClean="0"/>
              <a:t>    </a:t>
            </a:r>
            <a:r>
              <a:rPr lang="en-US" sz="2000" dirty="0" err="1" smtClean="0"/>
              <a:t>myframe</a:t>
            </a:r>
            <a:r>
              <a:rPr lang="en-US" sz="2000" dirty="0" smtClean="0"/>
              <a:t> = </a:t>
            </a:r>
            <a:r>
              <a:rPr lang="en-US" sz="2000" dirty="0" err="1" smtClean="0"/>
              <a:t>MyFrame</a:t>
            </a:r>
            <a:r>
              <a:rPr lang="en-US" sz="2000" dirty="0" smtClean="0"/>
              <a:t>(root)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dirty="0" err="1" smtClean="0"/>
              <a:t>root.mainloop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err="1" smtClean="0"/>
              <a:t>func</a:t>
            </a:r>
            <a:r>
              <a:rPr lang="en-US" sz="2000" dirty="0" smtClean="0"/>
              <a:t>()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이미지 넣기     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#image_1.py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이미지 넣기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Quiz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50878" y="1446663"/>
            <a:ext cx="6892119" cy="432634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378424" y="1746913"/>
            <a:ext cx="3098042" cy="3780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800" b="1" dirty="0" smtClean="0">
                <a:solidFill>
                  <a:srgbClr val="0000FF"/>
                </a:solidFill>
              </a:rPr>
              <a:t>자기 사진을 </a:t>
            </a:r>
            <a:endParaRPr lang="en-US" altLang="ko-KR" sz="2800" b="1" dirty="0" smtClean="0">
              <a:solidFill>
                <a:srgbClr val="0000FF"/>
              </a:solidFill>
            </a:endParaRPr>
          </a:p>
          <a:p>
            <a:pPr algn="ctr"/>
            <a:r>
              <a:rPr lang="ko-KR" altLang="en-US" sz="2800" b="1" dirty="0" smtClean="0">
                <a:solidFill>
                  <a:srgbClr val="0000FF"/>
                </a:solidFill>
              </a:rPr>
              <a:t>넣으시오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.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5" name="TextBox 8"/>
          <p:cNvSpPr txBox="1"/>
          <p:nvPr/>
        </p:nvSpPr>
        <p:spPr>
          <a:xfrm>
            <a:off x="4899546" y="2088107"/>
            <a:ext cx="28523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이름은</a:t>
            </a:r>
            <a:r>
              <a:rPr lang="en-US" altLang="ko-KR" dirty="0" smtClean="0"/>
              <a:t>..</a:t>
            </a:r>
          </a:p>
          <a:p>
            <a:r>
              <a:rPr lang="ko-KR" altLang="en-US" dirty="0" smtClean="0"/>
              <a:t>성격은</a:t>
            </a:r>
            <a:r>
              <a:rPr lang="en-US" altLang="ko-KR" dirty="0" smtClean="0"/>
              <a:t>…</a:t>
            </a:r>
          </a:p>
          <a:p>
            <a:r>
              <a:rPr lang="ko-KR" altLang="en-US" dirty="0" smtClean="0"/>
              <a:t>뭐는 </a:t>
            </a:r>
            <a:r>
              <a:rPr lang="ko-KR" altLang="en-US" dirty="0" err="1" smtClean="0"/>
              <a:t>어떻구요</a:t>
            </a:r>
            <a:r>
              <a:rPr lang="en-US" altLang="ko-KR" dirty="0" smtClean="0"/>
              <a:t>…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어떻</a:t>
            </a:r>
            <a:r>
              <a:rPr lang="ko-KR" altLang="en-US" dirty="0" smtClean="0"/>
              <a:t> 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207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이미지 넣기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example  #image_ex1.py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63773" y="927432"/>
            <a:ext cx="8720920" cy="59093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smtClean="0">
                <a:latin typeface="+mn-ea"/>
              </a:rPr>
              <a:t>from </a:t>
            </a:r>
            <a:r>
              <a:rPr lang="en-US" altLang="ko-KR" sz="1400" b="1" dirty="0" err="1" smtClean="0">
                <a:latin typeface="+mn-ea"/>
              </a:rPr>
              <a:t>tkinter</a:t>
            </a:r>
            <a:r>
              <a:rPr lang="en-US" altLang="ko-KR" sz="1400" b="1" dirty="0" smtClean="0">
                <a:latin typeface="+mn-ea"/>
              </a:rPr>
              <a:t> import *</a:t>
            </a:r>
          </a:p>
          <a:p>
            <a:r>
              <a:rPr lang="en-US" altLang="ko-KR" sz="1400" b="1" dirty="0" smtClean="0">
                <a:latin typeface="+mn-ea"/>
              </a:rPr>
              <a:t>master = </a:t>
            </a:r>
            <a:r>
              <a:rPr lang="en-US" altLang="ko-KR" sz="1400" b="1" dirty="0" err="1" smtClean="0">
                <a:latin typeface="+mn-ea"/>
              </a:rPr>
              <a:t>Tk</a:t>
            </a:r>
            <a:r>
              <a:rPr lang="en-US" altLang="ko-KR" sz="1400" b="1" dirty="0" smtClean="0">
                <a:latin typeface="+mn-ea"/>
              </a:rPr>
              <a:t>()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w = Canvas(master, width=800, height=480, </a:t>
            </a:r>
            <a:r>
              <a:rPr lang="en-US" altLang="ko-KR" sz="1400" b="1" dirty="0" err="1" smtClean="0">
                <a:latin typeface="+mn-ea"/>
              </a:rPr>
              <a:t>bg</a:t>
            </a:r>
            <a:r>
              <a:rPr lang="en-US" altLang="ko-KR" sz="1400" b="1" dirty="0" smtClean="0">
                <a:latin typeface="+mn-ea"/>
              </a:rPr>
              <a:t>="white")</a:t>
            </a:r>
          </a:p>
          <a:p>
            <a:r>
              <a:rPr lang="en-US" altLang="ko-KR" sz="1400" b="1" dirty="0" err="1" smtClean="0">
                <a:latin typeface="+mn-ea"/>
              </a:rPr>
              <a:t>w.pack</a:t>
            </a:r>
            <a:r>
              <a:rPr lang="en-US" altLang="ko-KR" sz="1400" b="1" dirty="0" smtClean="0">
                <a:latin typeface="+mn-ea"/>
              </a:rPr>
              <a:t>()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 = </a:t>
            </a:r>
            <a:r>
              <a:rPr lang="en-US" altLang="ko-KR" sz="1400" b="1" dirty="0" err="1" smtClean="0">
                <a:latin typeface="+mn-ea"/>
              </a:rPr>
              <a:t>PhotoImage</a:t>
            </a:r>
            <a:r>
              <a:rPr lang="en-US" altLang="ko-KR" sz="1400" b="1" dirty="0" smtClean="0">
                <a:latin typeface="+mn-ea"/>
              </a:rPr>
              <a:t>(file="st1_42.png")</a:t>
            </a:r>
          </a:p>
          <a:p>
            <a:r>
              <a:rPr lang="en-US" altLang="ko-KR" sz="1400" b="1" dirty="0" err="1" smtClean="0">
                <a:latin typeface="+mn-ea"/>
              </a:rPr>
              <a:t>lbl</a:t>
            </a:r>
            <a:r>
              <a:rPr lang="en-US" altLang="ko-KR" sz="1400" b="1" dirty="0" smtClean="0">
                <a:latin typeface="+mn-ea"/>
              </a:rPr>
              <a:t> = Label(image=</a:t>
            </a:r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err="1" smtClean="0">
                <a:latin typeface="+mn-ea"/>
              </a:rPr>
              <a:t>lbl.image</a:t>
            </a:r>
            <a:r>
              <a:rPr lang="en-US" altLang="ko-KR" sz="1400" b="1" dirty="0" smtClean="0">
                <a:latin typeface="+mn-ea"/>
              </a:rPr>
              <a:t> = </a:t>
            </a:r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  # </a:t>
            </a:r>
            <a:r>
              <a:rPr lang="ko-KR" altLang="en-US" sz="1400" b="1" dirty="0" err="1" smtClean="0">
                <a:latin typeface="+mn-ea"/>
              </a:rPr>
              <a:t>레퍼런스</a:t>
            </a:r>
            <a:r>
              <a:rPr lang="ko-KR" altLang="en-US" sz="1400" b="1" dirty="0" smtClean="0">
                <a:latin typeface="+mn-ea"/>
              </a:rPr>
              <a:t> 추가</a:t>
            </a:r>
          </a:p>
          <a:p>
            <a:r>
              <a:rPr lang="en-US" altLang="ko-KR" sz="1400" b="1" dirty="0" err="1" smtClean="0">
                <a:latin typeface="+mn-ea"/>
              </a:rPr>
              <a:t>lbl.place</a:t>
            </a:r>
            <a:r>
              <a:rPr lang="en-US" altLang="ko-KR" sz="1400" b="1" dirty="0" smtClean="0">
                <a:latin typeface="+mn-ea"/>
              </a:rPr>
              <a:t>(x=5, y=5)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 = </a:t>
            </a:r>
            <a:r>
              <a:rPr lang="en-US" altLang="ko-KR" sz="1400" b="1" dirty="0" err="1" smtClean="0">
                <a:latin typeface="+mn-ea"/>
              </a:rPr>
              <a:t>PhotoImage</a:t>
            </a:r>
            <a:r>
              <a:rPr lang="en-US" altLang="ko-KR" sz="1400" b="1" dirty="0" smtClean="0">
                <a:latin typeface="+mn-ea"/>
              </a:rPr>
              <a:t>(file="pic1_42.png")</a:t>
            </a:r>
          </a:p>
          <a:p>
            <a:r>
              <a:rPr lang="en-US" altLang="ko-KR" sz="1400" b="1" dirty="0" err="1" smtClean="0">
                <a:latin typeface="+mn-ea"/>
              </a:rPr>
              <a:t>lbl</a:t>
            </a:r>
            <a:r>
              <a:rPr lang="en-US" altLang="ko-KR" sz="1400" b="1" dirty="0" smtClean="0">
                <a:latin typeface="+mn-ea"/>
              </a:rPr>
              <a:t> = Label(image=</a:t>
            </a:r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err="1" smtClean="0">
                <a:latin typeface="+mn-ea"/>
              </a:rPr>
              <a:t>lbl.image</a:t>
            </a:r>
            <a:r>
              <a:rPr lang="en-US" altLang="ko-KR" sz="1400" b="1" dirty="0" smtClean="0">
                <a:latin typeface="+mn-ea"/>
              </a:rPr>
              <a:t> = </a:t>
            </a:r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  # </a:t>
            </a:r>
            <a:r>
              <a:rPr lang="ko-KR" altLang="en-US" sz="1400" b="1" dirty="0" err="1" smtClean="0">
                <a:latin typeface="+mn-ea"/>
              </a:rPr>
              <a:t>레퍼런스</a:t>
            </a:r>
            <a:r>
              <a:rPr lang="ko-KR" altLang="en-US" sz="1400" b="1" dirty="0" smtClean="0">
                <a:latin typeface="+mn-ea"/>
              </a:rPr>
              <a:t> 추가</a:t>
            </a:r>
          </a:p>
          <a:p>
            <a:r>
              <a:rPr lang="en-US" altLang="ko-KR" sz="1400" b="1" dirty="0" err="1" smtClean="0">
                <a:latin typeface="+mn-ea"/>
              </a:rPr>
              <a:t>lbl.place</a:t>
            </a:r>
            <a:r>
              <a:rPr lang="en-US" altLang="ko-KR" sz="1400" b="1" dirty="0" smtClean="0">
                <a:latin typeface="+mn-ea"/>
              </a:rPr>
              <a:t>(x=5, y=240)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err="1" smtClean="0">
                <a:latin typeface="+mn-ea"/>
              </a:rPr>
              <a:t>w.create_rectangle</a:t>
            </a:r>
            <a:r>
              <a:rPr lang="en-US" altLang="ko-KR" sz="1400" b="1" dirty="0" smtClean="0">
                <a:latin typeface="+mn-ea"/>
              </a:rPr>
              <a:t>(415, 5, 795, 480, fill="#</a:t>
            </a:r>
            <a:r>
              <a:rPr lang="en-US" altLang="ko-KR" sz="1400" b="1" dirty="0" err="1" smtClean="0">
                <a:latin typeface="+mn-ea"/>
              </a:rPr>
              <a:t>eeffff</a:t>
            </a:r>
            <a:r>
              <a:rPr lang="en-US" altLang="ko-KR" sz="1400" b="1" dirty="0" smtClean="0">
                <a:latin typeface="+mn-ea"/>
              </a:rPr>
              <a:t>")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w.create_text(590, 50, fill="purple",  font="Helvetica 19 bold", text = '</a:t>
            </a:r>
            <a:r>
              <a:rPr lang="ko-KR" altLang="en-US" sz="1400" b="1" dirty="0" smtClean="0">
                <a:latin typeface="+mn-ea"/>
              </a:rPr>
              <a:t>자기 소개를 하겠습니다</a:t>
            </a:r>
            <a:r>
              <a:rPr lang="en-US" altLang="ko-KR" sz="1400" b="1" dirty="0" smtClean="0">
                <a:latin typeface="+mn-ea"/>
              </a:rPr>
              <a:t>.')</a:t>
            </a:r>
          </a:p>
          <a:p>
            <a:r>
              <a:rPr lang="en-US" altLang="ko-KR" sz="1400" b="1" dirty="0" smtClean="0">
                <a:latin typeface="+mn-ea"/>
              </a:rPr>
              <a:t>w.create_text(500, 120, fill="black", anchor="</a:t>
            </a:r>
            <a:r>
              <a:rPr lang="en-US" altLang="ko-KR" sz="1400" b="1" dirty="0" err="1" smtClean="0">
                <a:latin typeface="+mn-ea"/>
              </a:rPr>
              <a:t>w",font</a:t>
            </a:r>
            <a:r>
              <a:rPr lang="en-US" altLang="ko-KR" sz="1400" b="1" dirty="0" smtClean="0">
                <a:latin typeface="+mn-ea"/>
              </a:rPr>
              <a:t>="Helvetica 13 bold", text = '</a:t>
            </a:r>
            <a:r>
              <a:rPr lang="ko-KR" altLang="en-US" sz="1400" b="1" dirty="0" smtClean="0">
                <a:latin typeface="+mn-ea"/>
              </a:rPr>
              <a:t>이름 </a:t>
            </a:r>
            <a:r>
              <a:rPr lang="en-US" altLang="ko-KR" sz="1400" b="1" dirty="0" smtClean="0">
                <a:latin typeface="+mn-ea"/>
              </a:rPr>
              <a:t>: </a:t>
            </a:r>
            <a:r>
              <a:rPr lang="ko-KR" altLang="en-US" sz="1400" b="1" dirty="0" smtClean="0">
                <a:latin typeface="+mn-ea"/>
              </a:rPr>
              <a:t>손 </a:t>
            </a:r>
            <a:r>
              <a:rPr lang="ko-KR" altLang="en-US" sz="1400" b="1" dirty="0" err="1" smtClean="0">
                <a:latin typeface="+mn-ea"/>
              </a:rPr>
              <a:t>오공</a:t>
            </a:r>
            <a:r>
              <a:rPr lang="en-US" altLang="ko-KR" sz="1400" b="1" dirty="0" smtClean="0">
                <a:latin typeface="+mn-ea"/>
              </a:rPr>
              <a:t>')</a:t>
            </a:r>
          </a:p>
          <a:p>
            <a:r>
              <a:rPr lang="en-US" altLang="ko-KR" sz="1400" b="1" dirty="0" err="1" smtClean="0">
                <a:latin typeface="+mn-ea"/>
              </a:rPr>
              <a:t>w.create_text</a:t>
            </a:r>
            <a:r>
              <a:rPr lang="en-US" altLang="ko-KR" sz="1400" b="1" dirty="0" smtClean="0">
                <a:latin typeface="+mn-ea"/>
              </a:rPr>
              <a:t>(500, 150, fill="black", anchor="</a:t>
            </a:r>
            <a:r>
              <a:rPr lang="en-US" altLang="ko-KR" sz="1400" b="1" dirty="0" err="1" smtClean="0">
                <a:latin typeface="+mn-ea"/>
              </a:rPr>
              <a:t>w",font</a:t>
            </a:r>
            <a:r>
              <a:rPr lang="en-US" altLang="ko-KR" sz="1400" b="1" dirty="0" smtClean="0">
                <a:latin typeface="+mn-ea"/>
              </a:rPr>
              <a:t>="Helvetica 13 bold", text = '</a:t>
            </a:r>
            <a:r>
              <a:rPr lang="ko-KR" altLang="en-US" sz="1400" b="1" dirty="0" smtClean="0">
                <a:latin typeface="+mn-ea"/>
              </a:rPr>
              <a:t>나이 </a:t>
            </a:r>
            <a:r>
              <a:rPr lang="en-US" altLang="ko-KR" sz="1400" b="1" dirty="0" smtClean="0">
                <a:latin typeface="+mn-ea"/>
              </a:rPr>
              <a:t>: 35</a:t>
            </a:r>
            <a:r>
              <a:rPr lang="ko-KR" altLang="en-US" sz="1400" b="1" dirty="0" smtClean="0">
                <a:latin typeface="+mn-ea"/>
              </a:rPr>
              <a:t>만살</a:t>
            </a:r>
            <a:r>
              <a:rPr lang="en-US" altLang="ko-KR" sz="1400" b="1" dirty="0" smtClean="0">
                <a:latin typeface="+mn-ea"/>
              </a:rPr>
              <a:t>')</a:t>
            </a:r>
          </a:p>
          <a:p>
            <a:r>
              <a:rPr lang="en-US" altLang="ko-KR" sz="1400" b="1" dirty="0" err="1" smtClean="0">
                <a:latin typeface="+mn-ea"/>
              </a:rPr>
              <a:t>w.create_text</a:t>
            </a:r>
            <a:r>
              <a:rPr lang="en-US" altLang="ko-KR" sz="1400" b="1" dirty="0" smtClean="0">
                <a:latin typeface="+mn-ea"/>
              </a:rPr>
              <a:t>(500, 180, fill="black", anchor="</a:t>
            </a:r>
            <a:r>
              <a:rPr lang="en-US" altLang="ko-KR" sz="1400" b="1" dirty="0" err="1" smtClean="0">
                <a:latin typeface="+mn-ea"/>
              </a:rPr>
              <a:t>w",font</a:t>
            </a:r>
            <a:r>
              <a:rPr lang="en-US" altLang="ko-KR" sz="1400" b="1" dirty="0" smtClean="0">
                <a:latin typeface="+mn-ea"/>
              </a:rPr>
              <a:t>="Helvetica 13 bold", text = '</a:t>
            </a:r>
            <a:r>
              <a:rPr lang="ko-KR" altLang="en-US" sz="1400" b="1" dirty="0" smtClean="0">
                <a:latin typeface="+mn-ea"/>
              </a:rPr>
              <a:t>취미 </a:t>
            </a:r>
            <a:r>
              <a:rPr lang="en-US" altLang="ko-KR" sz="1400" b="1" dirty="0" smtClean="0">
                <a:latin typeface="+mn-ea"/>
              </a:rPr>
              <a:t>: </a:t>
            </a:r>
            <a:r>
              <a:rPr lang="ko-KR" altLang="en-US" sz="1400" b="1" dirty="0" err="1" smtClean="0">
                <a:latin typeface="+mn-ea"/>
              </a:rPr>
              <a:t>코파기</a:t>
            </a:r>
            <a:r>
              <a:rPr lang="en-US" altLang="ko-KR" sz="1400" b="1" dirty="0" smtClean="0">
                <a:latin typeface="+mn-ea"/>
              </a:rPr>
              <a:t>')</a:t>
            </a:r>
          </a:p>
          <a:p>
            <a:r>
              <a:rPr lang="en-US" altLang="ko-KR" sz="1400" b="1" dirty="0" err="1" smtClean="0">
                <a:latin typeface="+mn-ea"/>
              </a:rPr>
              <a:t>w.create_text</a:t>
            </a:r>
            <a:r>
              <a:rPr lang="en-US" altLang="ko-KR" sz="1400" b="1" dirty="0" smtClean="0">
                <a:latin typeface="+mn-ea"/>
              </a:rPr>
              <a:t>(500, 210, fill="black", anchor="</a:t>
            </a:r>
            <a:r>
              <a:rPr lang="en-US" altLang="ko-KR" sz="1400" b="1" dirty="0" err="1" smtClean="0">
                <a:latin typeface="+mn-ea"/>
              </a:rPr>
              <a:t>w",font</a:t>
            </a:r>
            <a:r>
              <a:rPr lang="en-US" altLang="ko-KR" sz="1400" b="1" dirty="0" smtClean="0">
                <a:latin typeface="+mn-ea"/>
              </a:rPr>
              <a:t>="Helvetica 13 bold", text = '</a:t>
            </a:r>
            <a:r>
              <a:rPr lang="ko-KR" altLang="en-US" sz="1400" b="1" dirty="0" smtClean="0">
                <a:latin typeface="+mn-ea"/>
              </a:rPr>
              <a:t>특기 </a:t>
            </a:r>
            <a:r>
              <a:rPr lang="en-US" altLang="ko-KR" sz="1400" b="1" dirty="0" smtClean="0">
                <a:latin typeface="+mn-ea"/>
              </a:rPr>
              <a:t>: </a:t>
            </a:r>
            <a:r>
              <a:rPr lang="ko-KR" altLang="en-US" sz="1400" b="1" dirty="0" smtClean="0">
                <a:latin typeface="+mn-ea"/>
              </a:rPr>
              <a:t>구름 타기</a:t>
            </a:r>
            <a:r>
              <a:rPr lang="en-US" altLang="ko-KR" sz="1400" b="1" dirty="0" smtClean="0">
                <a:latin typeface="+mn-ea"/>
              </a:rPr>
              <a:t>')</a:t>
            </a:r>
          </a:p>
          <a:p>
            <a:r>
              <a:rPr lang="en-US" altLang="ko-KR" sz="1400" b="1" dirty="0" err="1" smtClean="0">
                <a:latin typeface="+mn-ea"/>
              </a:rPr>
              <a:t>w.create_text</a:t>
            </a:r>
            <a:r>
              <a:rPr lang="en-US" altLang="ko-KR" sz="1400" b="1" dirty="0" smtClean="0">
                <a:latin typeface="+mn-ea"/>
              </a:rPr>
              <a:t>(500, 240, fill="black", anchor="</a:t>
            </a:r>
            <a:r>
              <a:rPr lang="en-US" altLang="ko-KR" sz="1400" b="1" dirty="0" err="1" smtClean="0">
                <a:latin typeface="+mn-ea"/>
              </a:rPr>
              <a:t>w",font</a:t>
            </a:r>
            <a:r>
              <a:rPr lang="en-US" altLang="ko-KR" sz="1400" b="1" dirty="0" smtClean="0">
                <a:latin typeface="+mn-ea"/>
              </a:rPr>
              <a:t>="Helvetica 13 bold", text = '</a:t>
            </a:r>
            <a:r>
              <a:rPr lang="ko-KR" altLang="en-US" sz="1400" b="1" dirty="0" smtClean="0">
                <a:latin typeface="+mn-ea"/>
              </a:rPr>
              <a:t>장래희망 </a:t>
            </a:r>
            <a:r>
              <a:rPr lang="en-US" altLang="ko-KR" sz="1400" b="1" dirty="0" smtClean="0">
                <a:latin typeface="+mn-ea"/>
              </a:rPr>
              <a:t>: </a:t>
            </a:r>
            <a:r>
              <a:rPr lang="ko-KR" altLang="en-US" sz="1400" b="1" dirty="0" smtClean="0">
                <a:latin typeface="+mn-ea"/>
              </a:rPr>
              <a:t>신선</a:t>
            </a:r>
            <a:r>
              <a:rPr lang="en-US" altLang="ko-KR" sz="1400" b="1" dirty="0" smtClean="0">
                <a:latin typeface="+mn-ea"/>
              </a:rPr>
              <a:t>')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err="1" smtClean="0">
                <a:latin typeface="+mn-ea"/>
              </a:rPr>
              <a:t>mainloop</a:t>
            </a:r>
            <a:r>
              <a:rPr lang="en-US" altLang="ko-KR" sz="1400" b="1" dirty="0" smtClean="0">
                <a:latin typeface="+mn-ea"/>
              </a:rPr>
              <a:t>()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7292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Image Slide Show     # slideshow.py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8700" y="1105584"/>
            <a:ext cx="6607277" cy="54784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smtClean="0">
                <a:latin typeface="+mn-ea"/>
              </a:rPr>
              <a:t>from </a:t>
            </a:r>
            <a:r>
              <a:rPr lang="en-US" altLang="ko-KR" sz="1400" b="1" dirty="0" err="1" smtClean="0">
                <a:latin typeface="+mn-ea"/>
              </a:rPr>
              <a:t>itertools</a:t>
            </a:r>
            <a:r>
              <a:rPr lang="en-US" altLang="ko-KR" sz="1400" b="1" dirty="0" smtClean="0">
                <a:latin typeface="+mn-ea"/>
              </a:rPr>
              <a:t> import cycle         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# 1 - </a:t>
            </a:r>
            <a:r>
              <a:rPr lang="en-US" altLang="ko-KR" sz="1400" b="1" dirty="0" err="1" smtClean="0">
                <a:solidFill>
                  <a:srgbClr val="0000FF"/>
                </a:solidFill>
                <a:latin typeface="+mn-ea"/>
              </a:rPr>
              <a:t>itertools</a:t>
            </a:r>
            <a:endParaRPr lang="en-US" altLang="ko-KR" sz="1400" b="1" dirty="0" smtClean="0">
              <a:solidFill>
                <a:srgbClr val="0000FF"/>
              </a:solidFill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import </a:t>
            </a:r>
            <a:r>
              <a:rPr lang="en-US" altLang="ko-KR" sz="1400" b="1" dirty="0" err="1" smtClean="0">
                <a:latin typeface="+mn-ea"/>
              </a:rPr>
              <a:t>tkinter</a:t>
            </a:r>
            <a:r>
              <a:rPr lang="en-US" altLang="ko-KR" sz="1400" b="1" dirty="0" smtClean="0">
                <a:latin typeface="+mn-ea"/>
              </a:rPr>
              <a:t> as </a:t>
            </a:r>
            <a:r>
              <a:rPr lang="en-US" altLang="ko-KR" sz="1400" b="1" dirty="0" err="1" smtClean="0">
                <a:latin typeface="+mn-ea"/>
              </a:rPr>
              <a:t>tk</a:t>
            </a:r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class App(</a:t>
            </a:r>
            <a:r>
              <a:rPr lang="en-US" altLang="ko-KR" sz="1400" b="1" dirty="0" err="1" smtClean="0">
                <a:latin typeface="+mn-ea"/>
              </a:rPr>
              <a:t>tk.Tk</a:t>
            </a:r>
            <a:r>
              <a:rPr lang="en-US" altLang="ko-KR" sz="1400" b="1" dirty="0" smtClean="0">
                <a:latin typeface="+mn-ea"/>
              </a:rPr>
              <a:t>):</a:t>
            </a:r>
          </a:p>
          <a:p>
            <a:r>
              <a:rPr lang="en-US" altLang="ko-KR" sz="1400" b="1" dirty="0" smtClean="0">
                <a:latin typeface="+mn-ea"/>
              </a:rPr>
              <a:t>    def __init__(self, </a:t>
            </a:r>
            <a:r>
              <a:rPr lang="en-US" altLang="ko-KR" sz="1400" b="1" dirty="0" err="1" smtClean="0">
                <a:latin typeface="+mn-ea"/>
              </a:rPr>
              <a:t>image_files</a:t>
            </a:r>
            <a:r>
              <a:rPr lang="en-US" altLang="ko-KR" sz="1400" b="1" dirty="0" smtClean="0">
                <a:latin typeface="+mn-ea"/>
              </a:rPr>
              <a:t>, x, y, delay):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tk.Tk.__init</a:t>
            </a:r>
            <a:r>
              <a:rPr lang="en-US" altLang="ko-KR" sz="1400" b="1" dirty="0" smtClean="0">
                <a:latin typeface="+mn-ea"/>
              </a:rPr>
              <a:t>__(self)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self.geometry</a:t>
            </a:r>
            <a:r>
              <a:rPr lang="en-US" altLang="ko-KR" sz="1400" b="1" dirty="0" smtClean="0">
                <a:latin typeface="+mn-ea"/>
              </a:rPr>
              <a:t>('+{}+{}'.format(x, y))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self.delay</a:t>
            </a:r>
            <a:r>
              <a:rPr lang="en-US" altLang="ko-KR" sz="1400" b="1" dirty="0" smtClean="0">
                <a:latin typeface="+mn-ea"/>
              </a:rPr>
              <a:t> = delay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self.pictures</a:t>
            </a:r>
            <a:r>
              <a:rPr lang="en-US" altLang="ko-KR" sz="1400" b="1" dirty="0" smtClean="0">
                <a:latin typeface="+mn-ea"/>
              </a:rPr>
              <a:t> = cycle((</a:t>
            </a:r>
            <a:r>
              <a:rPr lang="en-US" altLang="ko-KR" sz="1400" b="1" dirty="0" err="1" smtClean="0">
                <a:latin typeface="+mn-ea"/>
              </a:rPr>
              <a:t>tk.PhotoImage</a:t>
            </a:r>
            <a:r>
              <a:rPr lang="en-US" altLang="ko-KR" sz="1400" b="1" dirty="0" smtClean="0">
                <a:latin typeface="+mn-ea"/>
              </a:rPr>
              <a:t>(file=image), image)</a:t>
            </a:r>
          </a:p>
          <a:p>
            <a:r>
              <a:rPr lang="en-US" altLang="ko-KR" sz="1400" b="1" dirty="0" smtClean="0">
                <a:latin typeface="+mn-ea"/>
              </a:rPr>
              <a:t>                              for image in </a:t>
            </a:r>
            <a:r>
              <a:rPr lang="en-US" altLang="ko-KR" sz="1400" b="1" dirty="0" err="1" smtClean="0">
                <a:latin typeface="+mn-ea"/>
              </a:rPr>
              <a:t>image_files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smtClean="0">
                <a:latin typeface="+mn-ea"/>
              </a:rPr>
              <a:t>        self.picture_display = </a:t>
            </a:r>
            <a:r>
              <a:rPr lang="en-US" altLang="ko-KR" sz="1400" b="1" dirty="0" err="1" smtClean="0">
                <a:latin typeface="+mn-ea"/>
              </a:rPr>
              <a:t>tk.Label</a:t>
            </a:r>
            <a:r>
              <a:rPr lang="en-US" altLang="ko-KR" sz="1400" b="1" dirty="0" smtClean="0">
                <a:latin typeface="+mn-ea"/>
              </a:rPr>
              <a:t>(self)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self.picture_display.pack</a:t>
            </a:r>
            <a:r>
              <a:rPr lang="en-US" altLang="ko-KR" sz="1400" b="1" dirty="0" smtClean="0">
                <a:latin typeface="+mn-ea"/>
              </a:rPr>
              <a:t>()</a:t>
            </a:r>
          </a:p>
          <a:p>
            <a:r>
              <a:rPr lang="en-US" altLang="ko-KR" sz="1400" b="1" dirty="0" smtClean="0">
                <a:latin typeface="+mn-ea"/>
              </a:rPr>
              <a:t>    def </a:t>
            </a:r>
            <a:r>
              <a:rPr lang="en-US" altLang="ko-KR" sz="1400" b="1" dirty="0" err="1" smtClean="0">
                <a:latin typeface="+mn-ea"/>
              </a:rPr>
              <a:t>show_slides</a:t>
            </a:r>
            <a:r>
              <a:rPr lang="en-US" altLang="ko-KR" sz="1400" b="1" dirty="0" smtClean="0">
                <a:latin typeface="+mn-ea"/>
              </a:rPr>
              <a:t>(self):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img_object</a:t>
            </a:r>
            <a:r>
              <a:rPr lang="en-US" altLang="ko-KR" sz="1400" b="1" dirty="0" smtClean="0">
                <a:latin typeface="+mn-ea"/>
              </a:rPr>
              <a:t>, </a:t>
            </a:r>
            <a:r>
              <a:rPr lang="en-US" altLang="ko-KR" sz="1400" b="1" dirty="0" err="1" smtClean="0">
                <a:latin typeface="+mn-ea"/>
              </a:rPr>
              <a:t>img_name</a:t>
            </a:r>
            <a:r>
              <a:rPr lang="en-US" altLang="ko-KR" sz="1400" b="1" dirty="0" smtClean="0">
                <a:latin typeface="+mn-ea"/>
              </a:rPr>
              <a:t> = next(</a:t>
            </a:r>
            <a:r>
              <a:rPr lang="en-US" altLang="ko-KR" sz="1400" b="1" dirty="0" err="1" smtClean="0">
                <a:latin typeface="+mn-ea"/>
              </a:rPr>
              <a:t>self.pictures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self.picture_display.config</a:t>
            </a:r>
            <a:r>
              <a:rPr lang="en-US" altLang="ko-KR" sz="1400" b="1" dirty="0" smtClean="0">
                <a:latin typeface="+mn-ea"/>
              </a:rPr>
              <a:t>(image=</a:t>
            </a:r>
            <a:r>
              <a:rPr lang="en-US" altLang="ko-KR" sz="1400" b="1" dirty="0" err="1" smtClean="0">
                <a:latin typeface="+mn-ea"/>
              </a:rPr>
              <a:t>img_object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self.title</a:t>
            </a:r>
            <a:r>
              <a:rPr lang="en-US" altLang="ko-KR" sz="1400" b="1" dirty="0" smtClean="0">
                <a:latin typeface="+mn-ea"/>
              </a:rPr>
              <a:t>(</a:t>
            </a:r>
            <a:r>
              <a:rPr lang="en-US" altLang="ko-KR" sz="1400" b="1" dirty="0" err="1" smtClean="0">
                <a:latin typeface="+mn-ea"/>
              </a:rPr>
              <a:t>img_name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self.after</a:t>
            </a:r>
            <a:r>
              <a:rPr lang="en-US" altLang="ko-KR" sz="1400" b="1" dirty="0" smtClean="0">
                <a:latin typeface="+mn-ea"/>
              </a:rPr>
              <a:t>(</a:t>
            </a:r>
            <a:r>
              <a:rPr lang="en-US" altLang="ko-KR" sz="1400" b="1" dirty="0" err="1" smtClean="0">
                <a:latin typeface="+mn-ea"/>
              </a:rPr>
              <a:t>self.delay</a:t>
            </a:r>
            <a:r>
              <a:rPr lang="en-US" altLang="ko-KR" sz="1400" b="1" dirty="0" smtClean="0">
                <a:latin typeface="+mn-ea"/>
              </a:rPr>
              <a:t>, </a:t>
            </a:r>
            <a:r>
              <a:rPr lang="en-US" altLang="ko-KR" sz="1400" b="1" dirty="0" err="1" smtClean="0">
                <a:latin typeface="+mn-ea"/>
              </a:rPr>
              <a:t>self.show_slides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smtClean="0">
                <a:latin typeface="+mn-ea"/>
              </a:rPr>
              <a:t>    def run(self):</a:t>
            </a:r>
          </a:p>
          <a:p>
            <a:r>
              <a:rPr lang="en-US" altLang="ko-KR" sz="1400" b="1" dirty="0" smtClean="0">
                <a:latin typeface="+mn-ea"/>
              </a:rPr>
              <a:t>        </a:t>
            </a:r>
            <a:r>
              <a:rPr lang="en-US" altLang="ko-KR" sz="1400" b="1" dirty="0" err="1" smtClean="0">
                <a:latin typeface="+mn-ea"/>
              </a:rPr>
              <a:t>self.mainloop</a:t>
            </a:r>
            <a:r>
              <a:rPr lang="en-US" altLang="ko-KR" sz="1400" b="1" dirty="0" smtClean="0">
                <a:latin typeface="+mn-ea"/>
              </a:rPr>
              <a:t>()</a:t>
            </a:r>
          </a:p>
          <a:p>
            <a:r>
              <a:rPr lang="en-US" altLang="ko-KR" sz="1400" b="1" dirty="0" smtClean="0">
                <a:latin typeface="+mn-ea"/>
              </a:rPr>
              <a:t>delay = 2000</a:t>
            </a:r>
          </a:p>
          <a:p>
            <a:r>
              <a:rPr lang="en-US" altLang="ko-KR" sz="1400" b="1" dirty="0" err="1" smtClean="0">
                <a:latin typeface="+mn-ea"/>
              </a:rPr>
              <a:t>image_files</a:t>
            </a:r>
            <a:r>
              <a:rPr lang="en-US" altLang="ko-KR" sz="1400" b="1" dirty="0" smtClean="0">
                <a:latin typeface="+mn-ea"/>
              </a:rPr>
              <a:t> = [ 'st1.png', 'st2.png', 'st3.png', ]</a:t>
            </a:r>
          </a:p>
          <a:p>
            <a:r>
              <a:rPr lang="en-US" altLang="ko-KR" sz="1400" b="1" dirty="0" smtClean="0">
                <a:latin typeface="+mn-ea"/>
              </a:rPr>
              <a:t>x = 0</a:t>
            </a:r>
          </a:p>
          <a:p>
            <a:r>
              <a:rPr lang="en-US" altLang="ko-KR" sz="1400" b="1" dirty="0" smtClean="0">
                <a:latin typeface="+mn-ea"/>
              </a:rPr>
              <a:t>y = 0</a:t>
            </a:r>
          </a:p>
          <a:p>
            <a:r>
              <a:rPr lang="en-US" altLang="ko-KR" sz="1400" b="1" dirty="0" smtClean="0">
                <a:latin typeface="+mn-ea"/>
              </a:rPr>
              <a:t>app = App(</a:t>
            </a:r>
            <a:r>
              <a:rPr lang="en-US" altLang="ko-KR" sz="1400" b="1" dirty="0" err="1" smtClean="0">
                <a:latin typeface="+mn-ea"/>
              </a:rPr>
              <a:t>image_files</a:t>
            </a:r>
            <a:r>
              <a:rPr lang="en-US" altLang="ko-KR" sz="1400" b="1" dirty="0" smtClean="0">
                <a:latin typeface="+mn-ea"/>
              </a:rPr>
              <a:t>, x, y, delay)</a:t>
            </a:r>
          </a:p>
          <a:p>
            <a:r>
              <a:rPr lang="en-US" altLang="ko-KR" sz="1400" b="1" dirty="0" err="1" smtClean="0">
                <a:latin typeface="+mn-ea"/>
              </a:rPr>
              <a:t>app.show_slides</a:t>
            </a:r>
            <a:r>
              <a:rPr lang="en-US" altLang="ko-KR" sz="1400" b="1" dirty="0" smtClean="0">
                <a:latin typeface="+mn-ea"/>
              </a:rPr>
              <a:t>()</a:t>
            </a:r>
          </a:p>
          <a:p>
            <a:r>
              <a:rPr lang="en-US" altLang="ko-KR" sz="1400" b="1" dirty="0" err="1" smtClean="0">
                <a:latin typeface="+mn-ea"/>
              </a:rPr>
              <a:t>app.run</a:t>
            </a:r>
            <a:r>
              <a:rPr lang="en-US" altLang="ko-KR" sz="1400" b="1" dirty="0" smtClean="0">
                <a:latin typeface="+mn-ea"/>
              </a:rPr>
              <a:t>()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pygame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8700" y="1098292"/>
            <a:ext cx="8461401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pip(Installing Python Package) tool </a:t>
            </a:r>
            <a:r>
              <a:rPr lang="ko-KR" altLang="en-US" sz="2400" b="1" dirty="0" smtClean="0"/>
              <a:t>을 이용하여 설치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   </a:t>
            </a:r>
            <a:r>
              <a:rPr lang="en-US" sz="2400" b="1" dirty="0" smtClean="0">
                <a:sym typeface="Wingdings" pitchFamily="2" charset="2"/>
              </a:rPr>
              <a:t> </a:t>
            </a:r>
            <a:r>
              <a:rPr lang="en-US" sz="2400" b="1" dirty="0" err="1" smtClean="0">
                <a:sym typeface="Wingdings" pitchFamily="2" charset="2"/>
              </a:rPr>
              <a:t>RaspberryPi</a:t>
            </a:r>
            <a:r>
              <a:rPr lang="en-US" sz="2400" b="1" dirty="0" smtClean="0">
                <a:sym typeface="Wingdings" pitchFamily="2" charset="2"/>
              </a:rPr>
              <a:t> </a:t>
            </a:r>
            <a:r>
              <a:rPr lang="ko-KR" altLang="en-US" sz="2400" b="1" dirty="0" smtClean="0">
                <a:sym typeface="Wingdings" pitchFamily="2" charset="2"/>
              </a:rPr>
              <a:t>에서는</a:t>
            </a:r>
            <a:endParaRPr lang="en-US" sz="2400" b="1" dirty="0" smtClean="0"/>
          </a:p>
          <a:p>
            <a:r>
              <a:rPr lang="en-US" sz="1600" b="1" dirty="0" smtClean="0">
                <a:solidFill>
                  <a:srgbClr val="0000FF"/>
                </a:solidFill>
              </a:rPr>
              <a:t>      </a:t>
            </a:r>
            <a:r>
              <a:rPr lang="ko-KR" altLang="en-US" sz="1600" b="1" dirty="0" err="1" smtClean="0">
                <a:solidFill>
                  <a:srgbClr val="0000FF"/>
                </a:solidFill>
              </a:rPr>
              <a:t>터미널창에서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: </a:t>
            </a:r>
            <a:r>
              <a:rPr lang="en-US" sz="2400" b="1" dirty="0" smtClean="0"/>
              <a:t>python3 -m pip install </a:t>
            </a:r>
            <a:r>
              <a:rPr lang="en-US" sz="2400" b="1" dirty="0" err="1" smtClean="0"/>
              <a:t>pygame</a:t>
            </a:r>
            <a:r>
              <a:rPr lang="en-US" sz="2400" b="1" dirty="0" smtClean="0"/>
              <a:t> 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   </a:t>
            </a:r>
            <a:r>
              <a:rPr lang="en-US" sz="2400" b="1" dirty="0" smtClean="0">
                <a:sym typeface="Wingdings" pitchFamily="2" charset="2"/>
              </a:rPr>
              <a:t> Windows </a:t>
            </a:r>
            <a:r>
              <a:rPr lang="ko-KR" altLang="en-US" sz="2400" b="1" dirty="0" smtClean="0">
                <a:sym typeface="Wingdings" pitchFamily="2" charset="2"/>
              </a:rPr>
              <a:t>에서는</a:t>
            </a:r>
            <a:endParaRPr lang="en-US" sz="2400" b="1" dirty="0" smtClean="0"/>
          </a:p>
          <a:p>
            <a:r>
              <a:rPr lang="en-US" sz="1600" b="1" dirty="0" smtClean="0">
                <a:solidFill>
                  <a:srgbClr val="0000FF"/>
                </a:solidFill>
              </a:rPr>
              <a:t>    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명령프롬프트에서 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:  </a:t>
            </a:r>
            <a:r>
              <a:rPr lang="en-US" sz="2400" b="1" dirty="0" smtClean="0"/>
              <a:t>pip install </a:t>
            </a:r>
            <a:r>
              <a:rPr lang="en-US" sz="2400" b="1" dirty="0" err="1" smtClean="0"/>
              <a:t>pygame</a:t>
            </a:r>
            <a:r>
              <a:rPr lang="en-US" sz="2400" b="1" dirty="0" smtClean="0"/>
              <a:t> </a:t>
            </a:r>
            <a:endParaRPr lang="en-US" altLang="ko-KR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-5856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Image Slide Show + wav     # slideshow_wav.py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8700" y="1149586"/>
            <a:ext cx="8461401" cy="54856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00"/>
              </a:lnSpc>
              <a:buFont typeface="Arial" pitchFamily="34" charset="0"/>
              <a:buChar char="•"/>
            </a:pPr>
            <a:r>
              <a:rPr lang="en-US" sz="1600" b="1" dirty="0" smtClean="0"/>
              <a:t>from </a:t>
            </a:r>
            <a:r>
              <a:rPr lang="en-US" sz="1600" dirty="0" err="1" smtClean="0"/>
              <a:t>itertools</a:t>
            </a:r>
            <a:r>
              <a:rPr lang="en-US" sz="1600" dirty="0" smtClean="0"/>
              <a:t> </a:t>
            </a:r>
            <a:r>
              <a:rPr lang="en-US" sz="1600" b="1" dirty="0" smtClean="0"/>
              <a:t>import </a:t>
            </a:r>
            <a:r>
              <a:rPr lang="en-US" sz="1600" dirty="0" smtClean="0"/>
              <a:t>cycle</a:t>
            </a:r>
            <a:br>
              <a:rPr lang="en-US" sz="1600" dirty="0" smtClean="0"/>
            </a:br>
            <a:r>
              <a:rPr lang="en-US" sz="1600" b="1" dirty="0" smtClean="0"/>
              <a:t>import </a:t>
            </a:r>
            <a:r>
              <a:rPr lang="en-US" sz="1600" dirty="0" err="1" smtClean="0"/>
              <a:t>tkinter</a:t>
            </a:r>
            <a:r>
              <a:rPr lang="en-US" sz="1600" dirty="0" smtClean="0"/>
              <a:t> </a:t>
            </a:r>
            <a:r>
              <a:rPr lang="en-US" sz="1600" b="1" dirty="0" smtClean="0"/>
              <a:t>as </a:t>
            </a:r>
            <a:r>
              <a:rPr lang="en-US" sz="1600" dirty="0" err="1" smtClean="0"/>
              <a:t>tk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b="1" dirty="0" smtClean="0">
                <a:solidFill>
                  <a:srgbClr val="0000FF"/>
                </a:solidFill>
              </a:rPr>
              <a:t>import </a:t>
            </a:r>
            <a:r>
              <a:rPr lang="en-US" sz="1600" b="1" dirty="0" err="1" smtClean="0">
                <a:solidFill>
                  <a:srgbClr val="0000FF"/>
                </a:solidFill>
              </a:rPr>
              <a:t>pygame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b="1" dirty="0" smtClean="0"/>
              <a:t>class </a:t>
            </a:r>
            <a:r>
              <a:rPr lang="en-US" sz="1600" dirty="0" smtClean="0"/>
              <a:t>App(</a:t>
            </a:r>
            <a:r>
              <a:rPr lang="en-US" sz="1600" dirty="0" err="1" smtClean="0"/>
              <a:t>tk.Tk</a:t>
            </a:r>
            <a:r>
              <a:rPr lang="en-US" sz="1600" dirty="0" smtClean="0"/>
              <a:t>):</a:t>
            </a:r>
            <a:br>
              <a:rPr lang="en-US" sz="1600" dirty="0" smtClean="0"/>
            </a:br>
            <a:r>
              <a:rPr lang="en-US" sz="1600" dirty="0" smtClean="0"/>
              <a:t>    </a:t>
            </a:r>
            <a:r>
              <a:rPr lang="en-US" sz="1600" b="1" dirty="0" smtClean="0"/>
              <a:t>def </a:t>
            </a:r>
            <a:r>
              <a:rPr lang="en-US" sz="1600" dirty="0" smtClean="0"/>
              <a:t>__init__(self, </a:t>
            </a:r>
            <a:r>
              <a:rPr lang="en-US" sz="1600" dirty="0" err="1" smtClean="0"/>
              <a:t>image_files</a:t>
            </a:r>
            <a:r>
              <a:rPr lang="en-US" sz="1600" dirty="0" smtClean="0"/>
              <a:t>, x, y, delay):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tk.Tk.__init</a:t>
            </a:r>
            <a:r>
              <a:rPr lang="en-US" sz="1600" dirty="0" smtClean="0"/>
              <a:t>__(self)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self.geometry</a:t>
            </a:r>
            <a:r>
              <a:rPr lang="en-US" sz="1600" dirty="0" smtClean="0"/>
              <a:t>(</a:t>
            </a:r>
            <a:r>
              <a:rPr lang="en-US" sz="1600" b="1" dirty="0" smtClean="0"/>
              <a:t>'+{}+{}'</a:t>
            </a:r>
            <a:r>
              <a:rPr lang="en-US" sz="1600" dirty="0" smtClean="0"/>
              <a:t>.format(x, y))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self.delay</a:t>
            </a:r>
            <a:r>
              <a:rPr lang="en-US" sz="1600" dirty="0" smtClean="0"/>
              <a:t> = delay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self.pictures</a:t>
            </a:r>
            <a:r>
              <a:rPr lang="en-US" sz="1600" dirty="0" smtClean="0"/>
              <a:t> = cycle((</a:t>
            </a:r>
            <a:r>
              <a:rPr lang="en-US" sz="1600" dirty="0" err="1" smtClean="0"/>
              <a:t>tk.PhotoImage</a:t>
            </a:r>
            <a:r>
              <a:rPr lang="en-US" sz="1600" dirty="0" smtClean="0"/>
              <a:t>(file=image), image) </a:t>
            </a:r>
            <a:r>
              <a:rPr lang="en-US" sz="1600" b="1" dirty="0" smtClean="0"/>
              <a:t>for </a:t>
            </a:r>
            <a:r>
              <a:rPr lang="en-US" sz="1600" dirty="0" smtClean="0"/>
              <a:t>image </a:t>
            </a:r>
            <a:r>
              <a:rPr lang="en-US" sz="1600" b="1" dirty="0" smtClean="0"/>
              <a:t>in </a:t>
            </a:r>
            <a:r>
              <a:rPr lang="en-US" sz="1600" dirty="0" err="1" smtClean="0"/>
              <a:t>image_files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en-US" sz="1600" dirty="0" smtClean="0"/>
              <a:t>        self.picture_display = </a:t>
            </a:r>
            <a:r>
              <a:rPr lang="en-US" sz="1600" dirty="0" err="1" smtClean="0"/>
              <a:t>tk.Label</a:t>
            </a:r>
            <a:r>
              <a:rPr lang="en-US" sz="1600" dirty="0" smtClean="0"/>
              <a:t>(self)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self.picture_display.pack</a:t>
            </a:r>
            <a:r>
              <a:rPr lang="en-US" sz="1600" dirty="0" smtClean="0"/>
              <a:t>()</a:t>
            </a:r>
            <a:br>
              <a:rPr lang="en-US" sz="1600" dirty="0" smtClean="0"/>
            </a:br>
            <a:r>
              <a:rPr lang="en-US" sz="1600" dirty="0" smtClean="0"/>
              <a:t>    </a:t>
            </a:r>
            <a:r>
              <a:rPr lang="en-US" sz="1600" b="1" dirty="0" smtClean="0"/>
              <a:t>def </a:t>
            </a:r>
            <a:r>
              <a:rPr lang="en-US" sz="1600" dirty="0" err="1" smtClean="0"/>
              <a:t>show_slides</a:t>
            </a:r>
            <a:r>
              <a:rPr lang="en-US" sz="1600" dirty="0" smtClean="0"/>
              <a:t>(self):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img_object</a:t>
            </a:r>
            <a:r>
              <a:rPr lang="en-US" sz="1600" dirty="0" smtClean="0"/>
              <a:t>, </a:t>
            </a:r>
            <a:r>
              <a:rPr lang="en-US" sz="1600" dirty="0" err="1" smtClean="0"/>
              <a:t>img_name</a:t>
            </a:r>
            <a:r>
              <a:rPr lang="en-US" sz="1600" dirty="0" smtClean="0"/>
              <a:t> = next(</a:t>
            </a:r>
            <a:r>
              <a:rPr lang="en-US" sz="1600" dirty="0" err="1" smtClean="0"/>
              <a:t>self.pictures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self.picture_display.config</a:t>
            </a:r>
            <a:r>
              <a:rPr lang="en-US" sz="1600" dirty="0" smtClean="0"/>
              <a:t>(image=</a:t>
            </a:r>
            <a:r>
              <a:rPr lang="en-US" sz="1600" dirty="0" err="1" smtClean="0"/>
              <a:t>img_object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self.title</a:t>
            </a:r>
            <a:r>
              <a:rPr lang="en-US" sz="1600" dirty="0" smtClean="0"/>
              <a:t>(</a:t>
            </a:r>
            <a:r>
              <a:rPr lang="en-US" sz="1600" dirty="0" err="1" smtClean="0"/>
              <a:t>img_name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self.after</a:t>
            </a:r>
            <a:r>
              <a:rPr lang="en-US" sz="1600" dirty="0" smtClean="0"/>
              <a:t>(</a:t>
            </a:r>
            <a:r>
              <a:rPr lang="en-US" sz="1600" dirty="0" err="1" smtClean="0"/>
              <a:t>self.delay</a:t>
            </a:r>
            <a:r>
              <a:rPr lang="en-US" sz="1600" dirty="0" smtClean="0"/>
              <a:t>, </a:t>
            </a:r>
            <a:r>
              <a:rPr lang="en-US" sz="1600" dirty="0" err="1" smtClean="0"/>
              <a:t>self.show_slides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en-US" sz="1600" dirty="0" smtClean="0"/>
              <a:t>    </a:t>
            </a:r>
            <a:r>
              <a:rPr lang="en-US" sz="1600" b="1" dirty="0" smtClean="0"/>
              <a:t>def </a:t>
            </a:r>
            <a:r>
              <a:rPr lang="en-US" sz="1600" dirty="0" smtClean="0"/>
              <a:t>run(self):</a:t>
            </a:r>
            <a:br>
              <a:rPr lang="en-US" sz="1600" dirty="0" smtClean="0"/>
            </a:br>
            <a:r>
              <a:rPr lang="en-US" sz="1600" dirty="0" smtClean="0"/>
              <a:t>        </a:t>
            </a:r>
            <a:r>
              <a:rPr lang="en-US" sz="1600" dirty="0" err="1" smtClean="0"/>
              <a:t>self.mainloop</a:t>
            </a:r>
            <a:r>
              <a:rPr lang="en-US" sz="1600" dirty="0" smtClean="0"/>
              <a:t>()</a:t>
            </a:r>
            <a:br>
              <a:rPr lang="en-US" sz="1600" dirty="0" smtClean="0"/>
            </a:br>
            <a:r>
              <a:rPr lang="en-US" sz="1600" b="1" dirty="0" err="1" smtClean="0">
                <a:solidFill>
                  <a:srgbClr val="0000FF"/>
                </a:solidFill>
              </a:rPr>
              <a:t>pygame.init</a:t>
            </a:r>
            <a:r>
              <a:rPr lang="en-US" sz="1600" b="1" dirty="0" smtClean="0">
                <a:solidFill>
                  <a:srgbClr val="0000FF"/>
                </a:solidFill>
              </a:rPr>
              <a:t>()</a:t>
            </a:r>
            <a:br>
              <a:rPr lang="en-US" sz="1600" b="1" dirty="0" smtClean="0">
                <a:solidFill>
                  <a:srgbClr val="0000FF"/>
                </a:solidFill>
              </a:rPr>
            </a:br>
            <a:r>
              <a:rPr lang="en-US" sz="1600" b="1" dirty="0" err="1" smtClean="0">
                <a:solidFill>
                  <a:srgbClr val="0000FF"/>
                </a:solidFill>
              </a:rPr>
              <a:t>pygame.mixer.init</a:t>
            </a:r>
            <a:r>
              <a:rPr lang="en-US" sz="1600" b="1" dirty="0" smtClean="0">
                <a:solidFill>
                  <a:srgbClr val="0000FF"/>
                </a:solidFill>
              </a:rPr>
              <a:t>()</a:t>
            </a:r>
            <a:br>
              <a:rPr lang="en-US" sz="1600" b="1" dirty="0" smtClean="0">
                <a:solidFill>
                  <a:srgbClr val="0000FF"/>
                </a:solidFill>
              </a:rPr>
            </a:br>
            <a:r>
              <a:rPr lang="en-US" sz="1600" b="1" dirty="0" err="1" smtClean="0">
                <a:solidFill>
                  <a:srgbClr val="0000FF"/>
                </a:solidFill>
              </a:rPr>
              <a:t>sounda</a:t>
            </a:r>
            <a:r>
              <a:rPr lang="en-US" sz="1600" b="1" dirty="0" smtClean="0">
                <a:solidFill>
                  <a:srgbClr val="0000FF"/>
                </a:solidFill>
              </a:rPr>
              <a:t>=</a:t>
            </a:r>
            <a:r>
              <a:rPr lang="en-US" sz="1600" b="1" dirty="0" err="1" smtClean="0">
                <a:solidFill>
                  <a:srgbClr val="0000FF"/>
                </a:solidFill>
              </a:rPr>
              <a:t>pygame.mixer.Sound</a:t>
            </a:r>
            <a:r>
              <a:rPr lang="en-US" sz="1600" b="1" dirty="0" smtClean="0">
                <a:solidFill>
                  <a:srgbClr val="0000FF"/>
                </a:solidFill>
              </a:rPr>
              <a:t>('wav/EICordorPasa.wav')</a:t>
            </a:r>
            <a:br>
              <a:rPr lang="en-US" sz="1600" b="1" dirty="0" smtClean="0">
                <a:solidFill>
                  <a:srgbClr val="0000FF"/>
                </a:solidFill>
              </a:rPr>
            </a:br>
            <a:r>
              <a:rPr lang="en-US" sz="1600" b="1" dirty="0" err="1" smtClean="0">
                <a:solidFill>
                  <a:srgbClr val="0000FF"/>
                </a:solidFill>
              </a:rPr>
              <a:t>sounda.play</a:t>
            </a:r>
            <a:r>
              <a:rPr lang="en-US" sz="1600" b="1" dirty="0" smtClean="0">
                <a:solidFill>
                  <a:srgbClr val="0000FF"/>
                </a:solidFill>
              </a:rPr>
              <a:t>()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delay = 2000</a:t>
            </a:r>
            <a:br>
              <a:rPr lang="en-US" sz="1600" dirty="0" smtClean="0"/>
            </a:br>
            <a:r>
              <a:rPr lang="en-US" sz="1600" dirty="0" err="1" smtClean="0"/>
              <a:t>image_files</a:t>
            </a:r>
            <a:r>
              <a:rPr lang="en-US" sz="1600" dirty="0" smtClean="0"/>
              <a:t> = [</a:t>
            </a:r>
            <a:br>
              <a:rPr lang="en-US" sz="1600" dirty="0" smtClean="0"/>
            </a:br>
            <a:r>
              <a:rPr lang="en-US" sz="1600" b="1" dirty="0" smtClean="0"/>
              <a:t>'st1.png'</a:t>
            </a:r>
            <a:r>
              <a:rPr lang="en-US" sz="1600" dirty="0" smtClean="0"/>
              <a:t>,</a:t>
            </a:r>
            <a:r>
              <a:rPr lang="en-US" sz="1600" b="1" dirty="0" smtClean="0"/>
              <a:t>'st2.png'</a:t>
            </a:r>
            <a:r>
              <a:rPr lang="en-US" sz="1600" dirty="0" smtClean="0"/>
              <a:t>,</a:t>
            </a:r>
            <a:r>
              <a:rPr lang="en-US" sz="1600" b="1" dirty="0" smtClean="0"/>
              <a:t>'st3.png'</a:t>
            </a:r>
            <a:r>
              <a:rPr lang="en-US" sz="1600" dirty="0" smtClean="0"/>
              <a:t>, ]</a:t>
            </a:r>
            <a:br>
              <a:rPr lang="en-US" sz="1600" dirty="0" smtClean="0"/>
            </a:br>
            <a:r>
              <a:rPr lang="en-US" sz="1600" dirty="0" smtClean="0"/>
              <a:t>x = 0</a:t>
            </a:r>
            <a:br>
              <a:rPr lang="en-US" sz="1600" dirty="0" smtClean="0"/>
            </a:br>
            <a:r>
              <a:rPr lang="en-US" sz="1600" dirty="0" smtClean="0"/>
              <a:t>y = 0</a:t>
            </a:r>
            <a:br>
              <a:rPr lang="en-US" sz="1600" dirty="0" smtClean="0"/>
            </a:br>
            <a:r>
              <a:rPr lang="en-US" sz="1600" dirty="0" smtClean="0"/>
              <a:t>app = App(</a:t>
            </a:r>
            <a:r>
              <a:rPr lang="en-US" sz="1600" dirty="0" err="1" smtClean="0"/>
              <a:t>image_files</a:t>
            </a:r>
            <a:r>
              <a:rPr lang="en-US" sz="1600" dirty="0" smtClean="0"/>
              <a:t>, x, y, delay)</a:t>
            </a:r>
            <a:br>
              <a:rPr lang="en-US" sz="1600" dirty="0" smtClean="0"/>
            </a:br>
            <a:r>
              <a:rPr lang="en-US" sz="1600" dirty="0" err="1" smtClean="0"/>
              <a:t>app.show_slides</a:t>
            </a:r>
            <a:r>
              <a:rPr lang="en-US" sz="1600" dirty="0" smtClean="0"/>
              <a:t>()</a:t>
            </a:r>
            <a:br>
              <a:rPr lang="en-US" sz="1600" dirty="0" smtClean="0"/>
            </a:br>
            <a:r>
              <a:rPr lang="en-US" sz="1600" dirty="0" err="1" smtClean="0"/>
              <a:t>app.run</a:t>
            </a:r>
            <a:r>
              <a:rPr lang="en-US" sz="1600" dirty="0" smtClean="0"/>
              <a:t>()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Image Slide Show + wav     # image_2.py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3" name="그림 2" descr="pi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65431" y="1108796"/>
            <a:ext cx="5836121" cy="4931467"/>
          </a:xfrm>
          <a:prstGeom prst="rect">
            <a:avLst/>
          </a:prstGeom>
        </p:spPr>
      </p:pic>
      <p:sp>
        <p:nvSpPr>
          <p:cNvPr id="4" name="TextBox 6"/>
          <p:cNvSpPr txBox="1"/>
          <p:nvPr/>
        </p:nvSpPr>
        <p:spPr>
          <a:xfrm>
            <a:off x="1924336" y="6168786"/>
            <a:ext cx="4645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 smtClean="0"/>
              <a:t>그림을 누르면  동물의 소리가 들립니다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Image Slide Show + wav     # image_2.py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1069" y="908715"/>
            <a:ext cx="8106770" cy="569386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import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tkinter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as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tk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import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pygame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pygame.init()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pygame.mixer.init()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def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click1():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sounda = pygame.mixer.Sound(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'wav/pig.wav'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;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sounda.play()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def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click2():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soundb = pygame.mixer.Sound(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'wav/cat.wav'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;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soundb.play()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def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click3():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soundc = pygame.mixer.Sound(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'wav/bird.wav'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;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soundc.play()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굴림" pitchFamily="50" charset="-127"/>
              </a:rPr>
              <a:t>def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click4():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    soundd = pygame.mixer.Sound(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'wav/wolf.wav'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;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soundd.play()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root = tk.Tk()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frame1 = tk.Frame(root,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width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800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height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480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frame1.pack(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side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=tk.TOP,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fill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=tk.X)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photo1 = tk.PhotoImage(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file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"image/pig250x200.png"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button1 = tk.Button(frame1,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width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250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height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200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image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=photo1,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command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=click1)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button1.grid(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row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column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photo2 = tk.PhotoImage(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file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"image/CAT250x200.png"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button2 = tk.Button(frame1,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width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250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height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200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image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=photo2,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command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=click2)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button2.grid(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row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column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photo3 = tk.PhotoImage(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file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"image/bird250x200.png"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button3 = tk.Button(frame1,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width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250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height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200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image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=photo3,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command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=click3)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button3.grid(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row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column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photo4 = tk.PhotoImage(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file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+mn-ea"/>
                <a:cs typeface="굴림" pitchFamily="50" charset="-127"/>
              </a:rPr>
              <a:t>"image/wolf250x200.png"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button4 = tk.Button(frame1,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width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250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height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200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image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=photo4,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command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=click4)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button4.grid(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row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+mn-ea"/>
                <a:cs typeface="굴림" pitchFamily="50" charset="-127"/>
              </a:rPr>
              <a:t>column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=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굴림" pitchFamily="50" charset="-127"/>
              </a:rPr>
              <a:t>1</a:t>
            </a: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)</a:t>
            </a:r>
            <a:b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</a:br>
            <a:r>
              <a:rPr kumimoji="1" lang="ko-KR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굴림" pitchFamily="50" charset="-127"/>
              </a:rPr>
              <a:t>root.mainloop()</a:t>
            </a:r>
            <a:endParaRPr kumimoji="1" lang="ko-KR" altLang="ko-KR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Image Slide Show : -1. 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+mn-ea"/>
              </a:rPr>
              <a:t>itertools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1729" y="996816"/>
            <a:ext cx="7005484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 Python</a:t>
            </a:r>
            <a:r>
              <a:rPr lang="ko-KR" altLang="en-US" sz="2000" b="1" dirty="0" smtClean="0">
                <a:latin typeface="+mn-ea"/>
              </a:rPr>
              <a:t>에서 제공하는 반복자 모듈</a:t>
            </a:r>
            <a:endParaRPr lang="en-US" altLang="ko-KR" sz="2000" b="1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 Functions creating iterators  for efficient looping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 Infinite Iterators</a:t>
            </a:r>
            <a:endParaRPr lang="en-US" altLang="ko-KR" sz="2000" b="1" dirty="0">
              <a:latin typeface="+mn-ea"/>
            </a:endParaRPr>
          </a:p>
        </p:txBody>
      </p:sp>
      <p:pic>
        <p:nvPicPr>
          <p:cNvPr id="4" name="그림 3" descr="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221" y="2021073"/>
            <a:ext cx="8735645" cy="135631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44129" y="3508958"/>
            <a:ext cx="7005484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2000" b="1" dirty="0" smtClean="0">
                <a:latin typeface="+mn-ea"/>
              </a:rPr>
              <a:t> count() </a:t>
            </a:r>
            <a:r>
              <a:rPr lang="ko-KR" altLang="en-US" sz="2000" b="1" dirty="0" smtClean="0">
                <a:latin typeface="+mn-ea"/>
              </a:rPr>
              <a:t>는 반복 최대수를 알지 못할 경우 사용 가능</a:t>
            </a:r>
            <a:endParaRPr lang="en-US" altLang="ko-KR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Image Slide Show -2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4701" y="1048043"/>
            <a:ext cx="8564451" cy="55092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 smtClean="0">
                <a:latin typeface="+mn-ea"/>
              </a:rPr>
              <a:t>from </a:t>
            </a:r>
            <a:r>
              <a:rPr lang="en-US" altLang="ko-KR" sz="1600" b="1" dirty="0" err="1" smtClean="0">
                <a:latin typeface="+mn-ea"/>
              </a:rPr>
              <a:t>tkinter</a:t>
            </a:r>
            <a:r>
              <a:rPr lang="en-US" altLang="ko-KR" sz="1600" b="1" dirty="0" smtClean="0">
                <a:latin typeface="+mn-ea"/>
              </a:rPr>
              <a:t> import *</a:t>
            </a:r>
          </a:p>
          <a:p>
            <a:endParaRPr lang="en-US" altLang="ko-KR" sz="1600" b="1" dirty="0" smtClean="0">
              <a:latin typeface="+mn-ea"/>
            </a:endParaRPr>
          </a:p>
          <a:p>
            <a:r>
              <a:rPr lang="en-US" altLang="ko-KR" sz="1600" b="1" dirty="0" smtClean="0">
                <a:latin typeface="+mn-ea"/>
              </a:rPr>
              <a:t>root = </a:t>
            </a:r>
            <a:r>
              <a:rPr lang="en-US" altLang="ko-KR" sz="1600" b="1" dirty="0" err="1" smtClean="0">
                <a:latin typeface="+mn-ea"/>
              </a:rPr>
              <a:t>Tk</a:t>
            </a:r>
            <a:r>
              <a:rPr lang="en-US" altLang="ko-KR" sz="1600" b="1" dirty="0" smtClean="0">
                <a:latin typeface="+mn-ea"/>
              </a:rPr>
              <a:t>() #Makes the window</a:t>
            </a:r>
          </a:p>
          <a:p>
            <a:r>
              <a:rPr lang="en-US" altLang="ko-KR" sz="1600" b="1" dirty="0" err="1" smtClean="0">
                <a:latin typeface="+mn-ea"/>
              </a:rPr>
              <a:t>root.wm_title</a:t>
            </a:r>
            <a:r>
              <a:rPr lang="en-US" altLang="ko-KR" sz="1600" b="1" dirty="0" smtClean="0">
                <a:latin typeface="+mn-ea"/>
              </a:rPr>
              <a:t>("Photo Viewer") #Makes the title that will appear in the top left</a:t>
            </a:r>
          </a:p>
          <a:p>
            <a:r>
              <a:rPr lang="en-US" altLang="ko-KR" sz="1600" b="1" dirty="0" err="1" smtClean="0">
                <a:latin typeface="+mn-ea"/>
              </a:rPr>
              <a:t>root.config</a:t>
            </a:r>
            <a:r>
              <a:rPr lang="en-US" altLang="ko-KR" sz="1600" b="1" dirty="0" smtClean="0">
                <a:latin typeface="+mn-ea"/>
              </a:rPr>
              <a:t>(background = "#FFFFFF")</a:t>
            </a:r>
          </a:p>
          <a:p>
            <a:endParaRPr lang="en-US" altLang="ko-KR" sz="1600" b="1" dirty="0" smtClean="0">
              <a:latin typeface="+mn-ea"/>
            </a:endParaRPr>
          </a:p>
          <a:p>
            <a:r>
              <a:rPr lang="en-US" altLang="ko-KR" sz="1600" b="1" dirty="0" smtClean="0">
                <a:latin typeface="+mn-ea"/>
              </a:rPr>
              <a:t>def INTRO():</a:t>
            </a:r>
          </a:p>
          <a:p>
            <a:r>
              <a:rPr lang="en-US" altLang="ko-KR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 = </a:t>
            </a:r>
            <a:r>
              <a:rPr lang="en-US" altLang="ko-KR" sz="1600" b="1" dirty="0" err="1" smtClean="0">
                <a:latin typeface="+mn-ea"/>
              </a:rPr>
              <a:t>PhotoImage</a:t>
            </a:r>
            <a:r>
              <a:rPr lang="en-US" altLang="ko-KR" sz="1600" b="1" dirty="0" smtClean="0">
                <a:latin typeface="+mn-ea"/>
              </a:rPr>
              <a:t>(file="image700_400/intro.png")</a:t>
            </a:r>
          </a:p>
          <a:p>
            <a:r>
              <a:rPr lang="en-US" altLang="ko-KR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lbl</a:t>
            </a:r>
            <a:r>
              <a:rPr lang="en-US" altLang="ko-KR" sz="1600" b="1" dirty="0" smtClean="0">
                <a:latin typeface="+mn-ea"/>
              </a:rPr>
              <a:t> = Label(image=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)</a:t>
            </a:r>
          </a:p>
          <a:p>
            <a:r>
              <a:rPr lang="en-US" altLang="ko-KR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lbl.image</a:t>
            </a:r>
            <a:r>
              <a:rPr lang="en-US" altLang="ko-KR" sz="1600" b="1" dirty="0" smtClean="0">
                <a:latin typeface="+mn-ea"/>
              </a:rPr>
              <a:t> = 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  # </a:t>
            </a:r>
            <a:r>
              <a:rPr lang="ko-KR" altLang="en-US" sz="1600" b="1" dirty="0" err="1" smtClean="0">
                <a:latin typeface="+mn-ea"/>
              </a:rPr>
              <a:t>레퍼런스</a:t>
            </a:r>
            <a:r>
              <a:rPr lang="ko-KR" altLang="en-US" sz="1600" b="1" dirty="0" smtClean="0">
                <a:latin typeface="+mn-ea"/>
              </a:rPr>
              <a:t> 추가</a:t>
            </a:r>
          </a:p>
          <a:p>
            <a:r>
              <a:rPr lang="ko-KR" altLang="en-US" sz="1600" b="1" dirty="0" smtClean="0">
                <a:latin typeface="+mn-ea"/>
              </a:rPr>
              <a:t>	</a:t>
            </a:r>
            <a:r>
              <a:rPr lang="en-US" altLang="ko-KR" sz="1600" b="1" dirty="0" err="1" smtClean="0">
                <a:latin typeface="+mn-ea"/>
              </a:rPr>
              <a:t>lbl.place</a:t>
            </a:r>
            <a:r>
              <a:rPr lang="en-US" altLang="ko-KR" sz="1600" b="1" dirty="0" smtClean="0">
                <a:latin typeface="+mn-ea"/>
              </a:rPr>
              <a:t>(x=70, y=5)</a:t>
            </a:r>
          </a:p>
          <a:p>
            <a:r>
              <a:rPr lang="en-US" altLang="ko-KR" sz="1600" b="1" dirty="0" smtClean="0">
                <a:latin typeface="+mn-ea"/>
              </a:rPr>
              <a:t>def PIC1():</a:t>
            </a:r>
          </a:p>
          <a:p>
            <a:r>
              <a:rPr lang="en-US" altLang="ko-KR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 = </a:t>
            </a:r>
            <a:r>
              <a:rPr lang="en-US" altLang="ko-KR" sz="1600" b="1" dirty="0" err="1" smtClean="0">
                <a:latin typeface="+mn-ea"/>
              </a:rPr>
              <a:t>PhotoImage</a:t>
            </a:r>
            <a:r>
              <a:rPr lang="en-US" altLang="ko-KR" sz="1600" b="1" dirty="0" smtClean="0">
                <a:latin typeface="+mn-ea"/>
              </a:rPr>
              <a:t>(file="image700_400/st1_1.png")</a:t>
            </a:r>
          </a:p>
          <a:p>
            <a:r>
              <a:rPr lang="en-US" altLang="ko-KR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lbl</a:t>
            </a:r>
            <a:r>
              <a:rPr lang="en-US" altLang="ko-KR" sz="1600" b="1" dirty="0" smtClean="0">
                <a:latin typeface="+mn-ea"/>
              </a:rPr>
              <a:t> = Label(image=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)</a:t>
            </a:r>
          </a:p>
          <a:p>
            <a:r>
              <a:rPr lang="en-US" altLang="ko-KR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lbl.image</a:t>
            </a:r>
            <a:r>
              <a:rPr lang="en-US" altLang="ko-KR" sz="1600" b="1" dirty="0" smtClean="0">
                <a:latin typeface="+mn-ea"/>
              </a:rPr>
              <a:t> = 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  # </a:t>
            </a:r>
            <a:r>
              <a:rPr lang="ko-KR" altLang="en-US" sz="1600" b="1" dirty="0" err="1" smtClean="0">
                <a:latin typeface="+mn-ea"/>
              </a:rPr>
              <a:t>레퍼런스</a:t>
            </a:r>
            <a:r>
              <a:rPr lang="ko-KR" altLang="en-US" sz="1600" b="1" dirty="0" smtClean="0">
                <a:latin typeface="+mn-ea"/>
              </a:rPr>
              <a:t> 추가</a:t>
            </a:r>
          </a:p>
          <a:p>
            <a:r>
              <a:rPr lang="ko-KR" altLang="en-US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lbl.place</a:t>
            </a:r>
            <a:r>
              <a:rPr lang="en-US" altLang="ko-KR" sz="1600" b="1" dirty="0" smtClean="0">
                <a:latin typeface="+mn-ea"/>
              </a:rPr>
              <a:t>(x=70, y=5)</a:t>
            </a:r>
          </a:p>
          <a:p>
            <a:r>
              <a:rPr lang="en-US" altLang="ko-KR" sz="1600" b="1" dirty="0" smtClean="0">
                <a:latin typeface="+mn-ea"/>
              </a:rPr>
              <a:t>def PIC2():</a:t>
            </a:r>
          </a:p>
          <a:p>
            <a:r>
              <a:rPr lang="en-US" altLang="ko-KR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 = </a:t>
            </a:r>
            <a:r>
              <a:rPr lang="en-US" altLang="ko-KR" sz="1600" b="1" dirty="0" err="1" smtClean="0">
                <a:latin typeface="+mn-ea"/>
              </a:rPr>
              <a:t>PhotoImage</a:t>
            </a:r>
            <a:r>
              <a:rPr lang="en-US" altLang="ko-KR" sz="1600" b="1" dirty="0" smtClean="0">
                <a:latin typeface="+mn-ea"/>
              </a:rPr>
              <a:t>(file="image700_400/st2_1.png")</a:t>
            </a:r>
          </a:p>
          <a:p>
            <a:r>
              <a:rPr lang="en-US" altLang="ko-KR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lbl</a:t>
            </a:r>
            <a:r>
              <a:rPr lang="en-US" altLang="ko-KR" sz="1600" b="1" dirty="0" smtClean="0">
                <a:latin typeface="+mn-ea"/>
              </a:rPr>
              <a:t> = Label(image=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)</a:t>
            </a:r>
          </a:p>
          <a:p>
            <a:r>
              <a:rPr lang="en-US" altLang="ko-KR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lbl.image</a:t>
            </a:r>
            <a:r>
              <a:rPr lang="en-US" altLang="ko-KR" sz="1600" b="1" dirty="0" smtClean="0">
                <a:latin typeface="+mn-ea"/>
              </a:rPr>
              <a:t> = </a:t>
            </a:r>
            <a:r>
              <a:rPr lang="en-US" altLang="ko-KR" sz="1600" b="1" dirty="0" err="1" smtClean="0">
                <a:latin typeface="+mn-ea"/>
              </a:rPr>
              <a:t>img</a:t>
            </a:r>
            <a:r>
              <a:rPr lang="en-US" altLang="ko-KR" sz="1600" b="1" dirty="0" smtClean="0">
                <a:latin typeface="+mn-ea"/>
              </a:rPr>
              <a:t>  # </a:t>
            </a:r>
            <a:r>
              <a:rPr lang="ko-KR" altLang="en-US" sz="1600" b="1" dirty="0" err="1" smtClean="0">
                <a:latin typeface="+mn-ea"/>
              </a:rPr>
              <a:t>레퍼런스</a:t>
            </a:r>
            <a:r>
              <a:rPr lang="ko-KR" altLang="en-US" sz="1600" b="1" dirty="0" smtClean="0">
                <a:latin typeface="+mn-ea"/>
              </a:rPr>
              <a:t> 추가</a:t>
            </a:r>
          </a:p>
          <a:p>
            <a:r>
              <a:rPr lang="ko-KR" altLang="en-US" sz="1600" b="1" dirty="0" smtClean="0">
                <a:latin typeface="+mn-ea"/>
              </a:rPr>
              <a:t>    </a:t>
            </a:r>
            <a:r>
              <a:rPr lang="en-US" altLang="ko-KR" sz="1600" b="1" dirty="0" err="1" smtClean="0">
                <a:latin typeface="+mn-ea"/>
              </a:rPr>
              <a:t>lbl.place</a:t>
            </a:r>
            <a:r>
              <a:rPr lang="en-US" altLang="ko-KR" sz="1600" b="1" dirty="0" smtClean="0">
                <a:latin typeface="+mn-ea"/>
              </a:rPr>
              <a:t>(x=70, y=5)</a:t>
            </a:r>
          </a:p>
          <a:p>
            <a:r>
              <a:rPr lang="en-US" altLang="ko-KR" sz="1600" b="1" dirty="0" smtClean="0">
                <a:latin typeface="+mn-ea"/>
              </a:rP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3358" y="180754"/>
            <a:ext cx="266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rgbClr val="0000FF"/>
                </a:solidFill>
              </a:rPr>
              <a:t>#slideshow_1.py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Image Slide Show -2 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12128" y="868631"/>
            <a:ext cx="7521262" cy="56938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smtClean="0">
                <a:latin typeface="+mn-ea"/>
              </a:rPr>
              <a:t>    </a:t>
            </a:r>
          </a:p>
          <a:p>
            <a:r>
              <a:rPr lang="en-US" altLang="ko-KR" sz="1400" b="1" dirty="0" smtClean="0">
                <a:latin typeface="+mn-ea"/>
              </a:rPr>
              <a:t>def PIC3():</a:t>
            </a:r>
          </a:p>
          <a:p>
            <a:r>
              <a:rPr lang="en-US" altLang="ko-KR" sz="1400" b="1" dirty="0" smtClean="0">
                <a:latin typeface="+mn-ea"/>
              </a:rPr>
              <a:t>    </a:t>
            </a:r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 = </a:t>
            </a:r>
            <a:r>
              <a:rPr lang="en-US" altLang="ko-KR" sz="1400" b="1" dirty="0" err="1" smtClean="0">
                <a:latin typeface="+mn-ea"/>
              </a:rPr>
              <a:t>PhotoImage</a:t>
            </a:r>
            <a:r>
              <a:rPr lang="en-US" altLang="ko-KR" sz="1400" b="1" dirty="0" smtClean="0">
                <a:latin typeface="+mn-ea"/>
              </a:rPr>
              <a:t>(file="image700_400/st3_1.png")</a:t>
            </a:r>
          </a:p>
          <a:p>
            <a:r>
              <a:rPr lang="en-US" altLang="ko-KR" sz="1400" b="1" dirty="0" smtClean="0">
                <a:latin typeface="+mn-ea"/>
              </a:rPr>
              <a:t>    </a:t>
            </a:r>
            <a:r>
              <a:rPr lang="en-US" altLang="ko-KR" sz="1400" b="1" dirty="0" err="1" smtClean="0">
                <a:latin typeface="+mn-ea"/>
              </a:rPr>
              <a:t>lbl</a:t>
            </a:r>
            <a:r>
              <a:rPr lang="en-US" altLang="ko-KR" sz="1400" b="1" dirty="0" smtClean="0">
                <a:latin typeface="+mn-ea"/>
              </a:rPr>
              <a:t> = Label(image=</a:t>
            </a:r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)</a:t>
            </a:r>
          </a:p>
          <a:p>
            <a:r>
              <a:rPr lang="en-US" altLang="ko-KR" sz="1400" b="1" dirty="0" smtClean="0">
                <a:latin typeface="+mn-ea"/>
              </a:rPr>
              <a:t>    </a:t>
            </a:r>
            <a:r>
              <a:rPr lang="en-US" altLang="ko-KR" sz="1400" b="1" dirty="0" err="1" smtClean="0">
                <a:latin typeface="+mn-ea"/>
              </a:rPr>
              <a:t>lbl.image</a:t>
            </a:r>
            <a:r>
              <a:rPr lang="en-US" altLang="ko-KR" sz="1400" b="1" dirty="0" smtClean="0">
                <a:latin typeface="+mn-ea"/>
              </a:rPr>
              <a:t> = </a:t>
            </a:r>
            <a:r>
              <a:rPr lang="en-US" altLang="ko-KR" sz="1400" b="1" dirty="0" err="1" smtClean="0">
                <a:latin typeface="+mn-ea"/>
              </a:rPr>
              <a:t>img</a:t>
            </a:r>
            <a:r>
              <a:rPr lang="en-US" altLang="ko-KR" sz="1400" b="1" dirty="0" smtClean="0">
                <a:latin typeface="+mn-ea"/>
              </a:rPr>
              <a:t>  # </a:t>
            </a:r>
            <a:r>
              <a:rPr lang="ko-KR" altLang="en-US" sz="1400" b="1" dirty="0" err="1" smtClean="0">
                <a:latin typeface="+mn-ea"/>
              </a:rPr>
              <a:t>레퍼런스</a:t>
            </a:r>
            <a:r>
              <a:rPr lang="ko-KR" altLang="en-US" sz="1400" b="1" dirty="0" smtClean="0">
                <a:latin typeface="+mn-ea"/>
              </a:rPr>
              <a:t> 추가</a:t>
            </a:r>
          </a:p>
          <a:p>
            <a:r>
              <a:rPr lang="ko-KR" altLang="en-US" sz="1400" b="1" dirty="0" smtClean="0">
                <a:latin typeface="+mn-ea"/>
              </a:rPr>
              <a:t>    </a:t>
            </a:r>
            <a:r>
              <a:rPr lang="en-US" altLang="ko-KR" sz="1400" b="1" dirty="0" err="1" smtClean="0">
                <a:latin typeface="+mn-ea"/>
              </a:rPr>
              <a:t>lbl.place</a:t>
            </a:r>
            <a:r>
              <a:rPr lang="en-US" altLang="ko-KR" sz="1400" b="1" dirty="0" smtClean="0">
                <a:latin typeface="+mn-ea"/>
              </a:rPr>
              <a:t>(x=70, y=5)</a:t>
            </a:r>
          </a:p>
          <a:p>
            <a:r>
              <a:rPr lang="en-US" altLang="ko-KR" sz="1400" b="1" dirty="0" smtClean="0">
                <a:latin typeface="+mn-ea"/>
              </a:rPr>
              <a:t> </a:t>
            </a:r>
          </a:p>
          <a:p>
            <a:r>
              <a:rPr lang="en-US" altLang="ko-KR" sz="1400" b="1" dirty="0" err="1" smtClean="0">
                <a:latin typeface="+mn-ea"/>
              </a:rPr>
              <a:t>MainFrame</a:t>
            </a:r>
            <a:r>
              <a:rPr lang="en-US" altLang="ko-KR" sz="1400" b="1" dirty="0" smtClean="0">
                <a:latin typeface="+mn-ea"/>
              </a:rPr>
              <a:t> = Frame(root, width=800, height = 480)</a:t>
            </a:r>
          </a:p>
          <a:p>
            <a:r>
              <a:rPr lang="en-US" altLang="ko-KR" sz="1400" b="1" dirty="0" err="1" smtClean="0">
                <a:latin typeface="+mn-ea"/>
              </a:rPr>
              <a:t>MainFrame.grid</a:t>
            </a:r>
            <a:r>
              <a:rPr lang="en-US" altLang="ko-KR" sz="1400" b="1" dirty="0" smtClean="0">
                <a:latin typeface="+mn-ea"/>
              </a:rPr>
              <a:t>(row=0, column=0, </a:t>
            </a:r>
            <a:r>
              <a:rPr lang="en-US" altLang="ko-KR" sz="1400" b="1" dirty="0" err="1" smtClean="0">
                <a:latin typeface="+mn-ea"/>
              </a:rPr>
              <a:t>padx</a:t>
            </a:r>
            <a:r>
              <a:rPr lang="en-US" altLang="ko-KR" sz="1400" b="1" dirty="0" smtClean="0">
                <a:latin typeface="+mn-ea"/>
              </a:rPr>
              <a:t>=10, </a:t>
            </a:r>
            <a:r>
              <a:rPr lang="en-US" altLang="ko-KR" sz="1400" b="1" dirty="0" err="1" smtClean="0">
                <a:latin typeface="+mn-ea"/>
              </a:rPr>
              <a:t>pady</a:t>
            </a:r>
            <a:r>
              <a:rPr lang="en-US" altLang="ko-KR" sz="1400" b="1" dirty="0" smtClean="0">
                <a:latin typeface="+mn-ea"/>
              </a:rPr>
              <a:t>=2)</a:t>
            </a:r>
          </a:p>
          <a:p>
            <a:r>
              <a:rPr lang="en-US" altLang="ko-KR" sz="1400" b="1" dirty="0" err="1" smtClean="0">
                <a:latin typeface="+mn-ea"/>
              </a:rPr>
              <a:t>ViewCanvas</a:t>
            </a:r>
            <a:r>
              <a:rPr lang="en-US" altLang="ko-KR" sz="1400" b="1" dirty="0" smtClean="0">
                <a:latin typeface="+mn-ea"/>
              </a:rPr>
              <a:t> = Canvas(</a:t>
            </a:r>
            <a:r>
              <a:rPr lang="en-US" altLang="ko-KR" sz="1400" b="1" dirty="0" err="1" smtClean="0">
                <a:latin typeface="+mn-ea"/>
              </a:rPr>
              <a:t>MainFrame</a:t>
            </a:r>
            <a:r>
              <a:rPr lang="en-US" altLang="ko-KR" sz="1400" b="1" dirty="0" smtClean="0">
                <a:latin typeface="+mn-ea"/>
              </a:rPr>
              <a:t>, width=800, height=400, </a:t>
            </a:r>
            <a:r>
              <a:rPr lang="en-US" altLang="ko-KR" sz="1400" b="1" dirty="0" err="1" smtClean="0">
                <a:latin typeface="+mn-ea"/>
              </a:rPr>
              <a:t>bg</a:t>
            </a:r>
            <a:r>
              <a:rPr lang="en-US" altLang="ko-KR" sz="1400" b="1" dirty="0" smtClean="0">
                <a:latin typeface="+mn-ea"/>
              </a:rPr>
              <a:t>='white')</a:t>
            </a:r>
          </a:p>
          <a:p>
            <a:r>
              <a:rPr lang="en-US" altLang="ko-KR" sz="1400" b="1" dirty="0" err="1" smtClean="0">
                <a:latin typeface="+mn-ea"/>
              </a:rPr>
              <a:t>ViewCanvas.grid</a:t>
            </a:r>
            <a:r>
              <a:rPr lang="en-US" altLang="ko-KR" sz="1400" b="1" dirty="0" smtClean="0">
                <a:latin typeface="+mn-ea"/>
              </a:rPr>
              <a:t>(row=0, column=0, </a:t>
            </a:r>
            <a:r>
              <a:rPr lang="en-US" altLang="ko-KR" sz="1400" b="1" dirty="0" err="1" smtClean="0">
                <a:latin typeface="+mn-ea"/>
              </a:rPr>
              <a:t>padx</a:t>
            </a:r>
            <a:r>
              <a:rPr lang="en-US" altLang="ko-KR" sz="1400" b="1" dirty="0" smtClean="0">
                <a:latin typeface="+mn-ea"/>
              </a:rPr>
              <a:t>=10, </a:t>
            </a:r>
            <a:r>
              <a:rPr lang="en-US" altLang="ko-KR" sz="1400" b="1" dirty="0" err="1" smtClean="0">
                <a:latin typeface="+mn-ea"/>
              </a:rPr>
              <a:t>pady</a:t>
            </a:r>
            <a:r>
              <a:rPr lang="en-US" altLang="ko-KR" sz="1400" b="1" dirty="0" smtClean="0">
                <a:latin typeface="+mn-ea"/>
              </a:rPr>
              <a:t>=2)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# Button </a:t>
            </a:r>
          </a:p>
          <a:p>
            <a:r>
              <a:rPr lang="en-US" altLang="ko-KR" sz="1400" b="1" dirty="0" err="1" smtClean="0">
                <a:latin typeface="+mn-ea"/>
              </a:rPr>
              <a:t>btnFrame</a:t>
            </a:r>
            <a:r>
              <a:rPr lang="en-US" altLang="ko-KR" sz="1400" b="1" dirty="0" smtClean="0">
                <a:latin typeface="+mn-ea"/>
              </a:rPr>
              <a:t> = Frame(</a:t>
            </a:r>
            <a:r>
              <a:rPr lang="en-US" altLang="ko-KR" sz="1400" b="1" dirty="0" err="1" smtClean="0">
                <a:latin typeface="+mn-ea"/>
              </a:rPr>
              <a:t>MainFrame</a:t>
            </a:r>
            <a:r>
              <a:rPr lang="en-US" altLang="ko-KR" sz="1400" b="1" dirty="0" smtClean="0">
                <a:latin typeface="+mn-ea"/>
              </a:rPr>
              <a:t>, width=200, height = 200, </a:t>
            </a:r>
            <a:r>
              <a:rPr lang="en-US" altLang="ko-KR" sz="1400" b="1" dirty="0" err="1" smtClean="0">
                <a:latin typeface="+mn-ea"/>
              </a:rPr>
              <a:t>bg</a:t>
            </a:r>
            <a:r>
              <a:rPr lang="en-US" altLang="ko-KR" sz="1400" b="1" dirty="0" smtClean="0">
                <a:latin typeface="+mn-ea"/>
              </a:rPr>
              <a:t>="green")</a:t>
            </a:r>
          </a:p>
          <a:p>
            <a:r>
              <a:rPr lang="en-US" altLang="ko-KR" sz="1400" b="1" dirty="0" err="1" smtClean="0">
                <a:latin typeface="+mn-ea"/>
              </a:rPr>
              <a:t>btnFrame.grid</a:t>
            </a:r>
            <a:r>
              <a:rPr lang="en-US" altLang="ko-KR" sz="1400" b="1" dirty="0" smtClean="0">
                <a:latin typeface="+mn-ea"/>
              </a:rPr>
              <a:t>(row=1, column=0, </a:t>
            </a:r>
            <a:r>
              <a:rPr lang="en-US" altLang="ko-KR" sz="1400" b="1" dirty="0" err="1" smtClean="0">
                <a:latin typeface="+mn-ea"/>
              </a:rPr>
              <a:t>padx</a:t>
            </a:r>
            <a:r>
              <a:rPr lang="en-US" altLang="ko-KR" sz="1400" b="1" dirty="0" smtClean="0">
                <a:latin typeface="+mn-ea"/>
              </a:rPr>
              <a:t>=10, </a:t>
            </a:r>
            <a:r>
              <a:rPr lang="en-US" altLang="ko-KR" sz="1400" b="1" dirty="0" err="1" smtClean="0">
                <a:latin typeface="+mn-ea"/>
              </a:rPr>
              <a:t>pady</a:t>
            </a:r>
            <a:r>
              <a:rPr lang="en-US" altLang="ko-KR" sz="1400" b="1" dirty="0" smtClean="0">
                <a:latin typeface="+mn-ea"/>
              </a:rPr>
              <a:t>=2)</a:t>
            </a:r>
          </a:p>
          <a:p>
            <a:r>
              <a:rPr lang="en-US" altLang="ko-KR" sz="1400" b="1" dirty="0" smtClean="0">
                <a:latin typeface="+mn-ea"/>
              </a:rPr>
              <a:t>pic1Btn = Button(</a:t>
            </a:r>
            <a:r>
              <a:rPr lang="en-US" altLang="ko-KR" sz="1400" b="1" dirty="0" err="1" smtClean="0">
                <a:latin typeface="+mn-ea"/>
              </a:rPr>
              <a:t>btnFrame</a:t>
            </a:r>
            <a:r>
              <a:rPr lang="en-US" altLang="ko-KR" sz="1400" b="1" dirty="0" smtClean="0">
                <a:latin typeface="+mn-ea"/>
              </a:rPr>
              <a:t>, text="Pic-1", command=PIC1, </a:t>
            </a:r>
            <a:r>
              <a:rPr lang="en-US" altLang="ko-KR" sz="1400" b="1" dirty="0" err="1" smtClean="0">
                <a:latin typeface="+mn-ea"/>
              </a:rPr>
              <a:t>bg</a:t>
            </a:r>
            <a:r>
              <a:rPr lang="en-US" altLang="ko-KR" sz="1400" b="1" dirty="0" smtClean="0">
                <a:latin typeface="+mn-ea"/>
              </a:rPr>
              <a:t>="white")</a:t>
            </a:r>
          </a:p>
          <a:p>
            <a:r>
              <a:rPr lang="en-US" altLang="ko-KR" sz="1400" b="1" dirty="0" smtClean="0">
                <a:latin typeface="+mn-ea"/>
              </a:rPr>
              <a:t>pic1Btn.grid(row=0, column=0, </a:t>
            </a:r>
            <a:r>
              <a:rPr lang="en-US" altLang="ko-KR" sz="1400" b="1" dirty="0" err="1" smtClean="0">
                <a:latin typeface="+mn-ea"/>
              </a:rPr>
              <a:t>padx</a:t>
            </a:r>
            <a:r>
              <a:rPr lang="en-US" altLang="ko-KR" sz="1400" b="1" dirty="0" smtClean="0">
                <a:latin typeface="+mn-ea"/>
              </a:rPr>
              <a:t>=10, </a:t>
            </a:r>
            <a:r>
              <a:rPr lang="en-US" altLang="ko-KR" sz="1400" b="1" dirty="0" err="1" smtClean="0">
                <a:latin typeface="+mn-ea"/>
              </a:rPr>
              <a:t>pady</a:t>
            </a:r>
            <a:r>
              <a:rPr lang="en-US" altLang="ko-KR" sz="1400" b="1" dirty="0" smtClean="0">
                <a:latin typeface="+mn-ea"/>
              </a:rPr>
              <a:t>=2)</a:t>
            </a:r>
          </a:p>
          <a:p>
            <a:r>
              <a:rPr lang="en-US" altLang="ko-KR" sz="1400" b="1" dirty="0" smtClean="0">
                <a:latin typeface="+mn-ea"/>
              </a:rPr>
              <a:t>pic2Btn = Button(</a:t>
            </a:r>
            <a:r>
              <a:rPr lang="en-US" altLang="ko-KR" sz="1400" b="1" dirty="0" err="1" smtClean="0">
                <a:latin typeface="+mn-ea"/>
              </a:rPr>
              <a:t>btnFrame</a:t>
            </a:r>
            <a:r>
              <a:rPr lang="en-US" altLang="ko-KR" sz="1400" b="1" dirty="0" smtClean="0">
                <a:latin typeface="+mn-ea"/>
              </a:rPr>
              <a:t>, text="Pic-2", command=PIC2, </a:t>
            </a:r>
            <a:r>
              <a:rPr lang="en-US" altLang="ko-KR" sz="1400" b="1" dirty="0" err="1" smtClean="0">
                <a:latin typeface="+mn-ea"/>
              </a:rPr>
              <a:t>bg</a:t>
            </a:r>
            <a:r>
              <a:rPr lang="en-US" altLang="ko-KR" sz="1400" b="1" dirty="0" smtClean="0">
                <a:latin typeface="+mn-ea"/>
              </a:rPr>
              <a:t>="white")</a:t>
            </a:r>
          </a:p>
          <a:p>
            <a:r>
              <a:rPr lang="en-US" altLang="ko-KR" sz="1400" b="1" dirty="0" smtClean="0">
                <a:latin typeface="+mn-ea"/>
              </a:rPr>
              <a:t>pic2Btn.grid(row=0, column=1, </a:t>
            </a:r>
            <a:r>
              <a:rPr lang="en-US" altLang="ko-KR" sz="1400" b="1" dirty="0" err="1" smtClean="0">
                <a:latin typeface="+mn-ea"/>
              </a:rPr>
              <a:t>padx</a:t>
            </a:r>
            <a:r>
              <a:rPr lang="en-US" altLang="ko-KR" sz="1400" b="1" dirty="0" smtClean="0">
                <a:latin typeface="+mn-ea"/>
              </a:rPr>
              <a:t>=10, </a:t>
            </a:r>
            <a:r>
              <a:rPr lang="en-US" altLang="ko-KR" sz="1400" b="1" dirty="0" err="1" smtClean="0">
                <a:latin typeface="+mn-ea"/>
              </a:rPr>
              <a:t>pady</a:t>
            </a:r>
            <a:r>
              <a:rPr lang="en-US" altLang="ko-KR" sz="1400" b="1" dirty="0" smtClean="0">
                <a:latin typeface="+mn-ea"/>
              </a:rPr>
              <a:t>=2)</a:t>
            </a:r>
          </a:p>
          <a:p>
            <a:r>
              <a:rPr lang="en-US" altLang="ko-KR" sz="1400" b="1" dirty="0" smtClean="0">
                <a:latin typeface="+mn-ea"/>
              </a:rPr>
              <a:t>pic3Btn = Button(</a:t>
            </a:r>
            <a:r>
              <a:rPr lang="en-US" altLang="ko-KR" sz="1400" b="1" dirty="0" err="1" smtClean="0">
                <a:latin typeface="+mn-ea"/>
              </a:rPr>
              <a:t>btnFrame</a:t>
            </a:r>
            <a:r>
              <a:rPr lang="en-US" altLang="ko-KR" sz="1400" b="1" dirty="0" smtClean="0">
                <a:latin typeface="+mn-ea"/>
              </a:rPr>
              <a:t>, text="</a:t>
            </a:r>
            <a:r>
              <a:rPr lang="ko-KR" altLang="en-US" sz="1400" b="1" dirty="0" smtClean="0">
                <a:latin typeface="+mn-ea"/>
              </a:rPr>
              <a:t>사진</a:t>
            </a:r>
            <a:r>
              <a:rPr lang="en-US" altLang="ko-KR" sz="1400" b="1" dirty="0" smtClean="0">
                <a:latin typeface="+mn-ea"/>
              </a:rPr>
              <a:t>-3", command=PIC3, </a:t>
            </a:r>
            <a:r>
              <a:rPr lang="en-US" altLang="ko-KR" sz="1400" b="1" dirty="0" err="1" smtClean="0">
                <a:latin typeface="+mn-ea"/>
              </a:rPr>
              <a:t>bg</a:t>
            </a:r>
            <a:r>
              <a:rPr lang="en-US" altLang="ko-KR" sz="1400" b="1" dirty="0" smtClean="0">
                <a:latin typeface="+mn-ea"/>
              </a:rPr>
              <a:t>="white")</a:t>
            </a:r>
          </a:p>
          <a:p>
            <a:r>
              <a:rPr lang="en-US" altLang="ko-KR" sz="1400" b="1" dirty="0" smtClean="0">
                <a:latin typeface="+mn-ea"/>
              </a:rPr>
              <a:t>pic3Btn.grid(row=0, column=2, </a:t>
            </a:r>
            <a:r>
              <a:rPr lang="en-US" altLang="ko-KR" sz="1400" b="1" dirty="0" err="1" smtClean="0">
                <a:latin typeface="+mn-ea"/>
              </a:rPr>
              <a:t>padx</a:t>
            </a:r>
            <a:r>
              <a:rPr lang="en-US" altLang="ko-KR" sz="1400" b="1" dirty="0" smtClean="0">
                <a:latin typeface="+mn-ea"/>
              </a:rPr>
              <a:t>=10, </a:t>
            </a:r>
            <a:r>
              <a:rPr lang="en-US" altLang="ko-KR" sz="1400" b="1" dirty="0" err="1" smtClean="0">
                <a:latin typeface="+mn-ea"/>
              </a:rPr>
              <a:t>pady</a:t>
            </a:r>
            <a:r>
              <a:rPr lang="en-US" altLang="ko-KR" sz="1400" b="1" dirty="0" smtClean="0">
                <a:latin typeface="+mn-ea"/>
              </a:rPr>
              <a:t>=2)</a:t>
            </a:r>
          </a:p>
          <a:p>
            <a:r>
              <a:rPr lang="en-US" altLang="ko-KR" sz="1400" b="1" dirty="0" smtClean="0">
                <a:latin typeface="+mn-ea"/>
              </a:rPr>
              <a:t>pic3Btn = Button(</a:t>
            </a:r>
            <a:r>
              <a:rPr lang="en-US" altLang="ko-KR" sz="1400" b="1" dirty="0" err="1" smtClean="0">
                <a:latin typeface="+mn-ea"/>
              </a:rPr>
              <a:t>btnFrame</a:t>
            </a:r>
            <a:r>
              <a:rPr lang="en-US" altLang="ko-KR" sz="1400" b="1" dirty="0" smtClean="0">
                <a:latin typeface="+mn-ea"/>
              </a:rPr>
              <a:t>, text="</a:t>
            </a:r>
            <a:r>
              <a:rPr lang="ko-KR" altLang="en-US" sz="1400" b="1" dirty="0" smtClean="0">
                <a:latin typeface="+mn-ea"/>
              </a:rPr>
              <a:t>처음으로</a:t>
            </a:r>
            <a:r>
              <a:rPr lang="en-US" altLang="ko-KR" sz="1400" b="1" dirty="0" smtClean="0">
                <a:latin typeface="+mn-ea"/>
              </a:rPr>
              <a:t>", command=INTRO, </a:t>
            </a:r>
            <a:r>
              <a:rPr lang="en-US" altLang="ko-KR" sz="1400" b="1" dirty="0" err="1" smtClean="0">
                <a:latin typeface="+mn-ea"/>
              </a:rPr>
              <a:t>bg</a:t>
            </a:r>
            <a:r>
              <a:rPr lang="en-US" altLang="ko-KR" sz="1400" b="1" dirty="0" smtClean="0">
                <a:latin typeface="+mn-ea"/>
              </a:rPr>
              <a:t>="white")</a:t>
            </a:r>
          </a:p>
          <a:p>
            <a:r>
              <a:rPr lang="en-US" altLang="ko-KR" sz="1400" b="1" dirty="0" smtClean="0">
                <a:latin typeface="+mn-ea"/>
              </a:rPr>
              <a:t>pic3Btn.grid(row=0, column=3, </a:t>
            </a:r>
            <a:r>
              <a:rPr lang="en-US" altLang="ko-KR" sz="1400" b="1" dirty="0" err="1" smtClean="0">
                <a:latin typeface="+mn-ea"/>
              </a:rPr>
              <a:t>padx</a:t>
            </a:r>
            <a:r>
              <a:rPr lang="en-US" altLang="ko-KR" sz="1400" b="1" dirty="0" smtClean="0">
                <a:latin typeface="+mn-ea"/>
              </a:rPr>
              <a:t>=10, </a:t>
            </a:r>
            <a:r>
              <a:rPr lang="en-US" altLang="ko-KR" sz="1400" b="1" dirty="0" err="1" smtClean="0">
                <a:latin typeface="+mn-ea"/>
              </a:rPr>
              <a:t>pady</a:t>
            </a:r>
            <a:r>
              <a:rPr lang="en-US" altLang="ko-KR" sz="1400" b="1" dirty="0" smtClean="0">
                <a:latin typeface="+mn-ea"/>
              </a:rPr>
              <a:t>=2)</a:t>
            </a: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en-US" altLang="ko-KR" sz="1400" b="1" dirty="0" err="1" smtClean="0">
                <a:latin typeface="+mn-ea"/>
              </a:rPr>
              <a:t>root.mainloop</a:t>
            </a:r>
            <a:r>
              <a:rPr lang="en-US" altLang="ko-KR" sz="1400" b="1" dirty="0" smtClean="0">
                <a:latin typeface="+mn-ea"/>
              </a:rPr>
              <a:t>()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Quiz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50878" y="1446663"/>
            <a:ext cx="6892119" cy="432634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66802" y="1462586"/>
            <a:ext cx="1485329" cy="429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1241947" y="2156346"/>
            <a:ext cx="1078173" cy="4230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+mn-ea"/>
              </a:rPr>
              <a:t>메뉴</a:t>
            </a:r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-1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244219" y="2950202"/>
            <a:ext cx="1078173" cy="4230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+mn-ea"/>
              </a:rPr>
              <a:t>메뉴</a:t>
            </a:r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-2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246491" y="3675818"/>
            <a:ext cx="1078173" cy="4230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+mn-ea"/>
              </a:rPr>
              <a:t>메뉴</a:t>
            </a:r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-3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248763" y="4415082"/>
            <a:ext cx="1078173" cy="4230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Home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TextBox 15"/>
          <p:cNvSpPr txBox="1"/>
          <p:nvPr/>
        </p:nvSpPr>
        <p:spPr>
          <a:xfrm>
            <a:off x="3725839" y="2552131"/>
            <a:ext cx="33105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b="1" dirty="0" smtClean="0"/>
              <a:t>메뉴 선택 창</a:t>
            </a:r>
            <a:endParaRPr lang="en-US" altLang="ko-KR" sz="2000" b="1" dirty="0" smtClean="0"/>
          </a:p>
          <a:p>
            <a:pPr algn="ctr"/>
            <a:endParaRPr lang="en-US" altLang="ko-KR" sz="2000" b="1" dirty="0" smtClean="0"/>
          </a:p>
          <a:p>
            <a:pPr algn="ctr"/>
            <a:r>
              <a:rPr lang="ko-KR" altLang="en-US" sz="2000" b="1" dirty="0" err="1" smtClean="0"/>
              <a:t>메뉴별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3~4</a:t>
            </a:r>
            <a:r>
              <a:rPr lang="ko-KR" altLang="en-US" sz="2000" b="1" dirty="0" smtClean="0"/>
              <a:t>개의 창으로 구성</a:t>
            </a:r>
            <a:endParaRPr lang="ko-KR" alt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007933" y="287077"/>
            <a:ext cx="2123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smtClean="0"/>
              <a:t>#kiosk-1.py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Quiz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5007933" y="287077"/>
            <a:ext cx="2123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smtClean="0"/>
              <a:t>#kiosk-1.py</a:t>
            </a:r>
            <a:endParaRPr lang="ko-KR" altLang="en-US" sz="3200" b="1" dirty="0"/>
          </a:p>
        </p:txBody>
      </p:sp>
      <p:pic>
        <p:nvPicPr>
          <p:cNvPr id="4" name="그림 3" descr="kio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1600" y="1404116"/>
            <a:ext cx="6421511" cy="40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Quiz : Source code-1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7020277" y="170119"/>
            <a:ext cx="2123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smtClean="0"/>
              <a:t>#kiosk-1.py</a:t>
            </a:r>
            <a:endParaRPr lang="ko-KR" altLang="en-US" sz="32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5064" y="1116417"/>
            <a:ext cx="8654902" cy="467050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from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tkinter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*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from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tkinter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font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from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itertools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cycle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time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# </a:t>
            </a:r>
            <a:r>
              <a:rPr kumimoji="1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이미지 </a:t>
            </a:r>
            <a:r>
              <a:rPr kumimoji="1" lang="ko-KR" altLang="en-US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파일를</a:t>
            </a:r>
            <a:r>
              <a:rPr kumimoji="1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List</a:t>
            </a:r>
            <a:r>
              <a:rPr kumimoji="1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에 저장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image_files  = [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'image_700x480/yunah-1.png'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'image_700x480/yunah-2.png'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'image_700x480/yunah-3.png'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'image_700x480/yunah-4.png'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'image_700x480/yunah-5.png'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'image_700x480/yunah-7.png'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'image_700x480/yunah-9.png'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image_files1  = [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'image_700x480/haesu-1.png'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'image_700x480/haesu-2.png'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'image_700x480/haesu-3.png'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'image_700x480/haesu-4.png'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image_files2  = [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'image_700x480/go1.png'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'image_700x480/go2.png'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'image_700x480/go3.png'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'image_700x480/go4.png'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'image_700x480/go5.png'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image_files3  = [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'image_700x480/moon1.png'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'image_700x480/moon2.png'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'image_700x480/moon3.png'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'image_700x480/moon4.png'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'image_700x480/moon5.png'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]</a:t>
            </a:r>
            <a:endParaRPr kumimoji="1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itchFamily="49" charset="-127"/>
              <a:ea typeface="굴림체" pitchFamily="49" charset="-127"/>
              <a:cs typeface="굴림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1200" dirty="0" smtClean="0">
              <a:solidFill>
                <a:srgbClr val="000000"/>
              </a:solidFill>
              <a:latin typeface="+mn-ea"/>
              <a:cs typeface="굴림" pitchFamily="50" charset="-127"/>
            </a:endParaRPr>
          </a:p>
          <a:p>
            <a:pPr lvl="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latin typeface="+mn-ea"/>
              </a:rPr>
              <a:t>root=</a:t>
            </a:r>
            <a:r>
              <a:rPr lang="en-US" sz="1200" dirty="0" err="1" smtClean="0">
                <a:latin typeface="+mn-ea"/>
              </a:rPr>
              <a:t>Tk</a:t>
            </a:r>
            <a:r>
              <a:rPr lang="en-US" sz="1200" dirty="0" smtClean="0">
                <a:latin typeface="+mn-ea"/>
              </a:rPr>
              <a:t>()</a:t>
            </a:r>
            <a:br>
              <a:rPr lang="en-US" sz="1200" dirty="0" smtClean="0">
                <a:latin typeface="+mn-ea"/>
              </a:rPr>
            </a:br>
            <a:r>
              <a:rPr lang="en-US" sz="1200" dirty="0" err="1" smtClean="0">
                <a:latin typeface="+mn-ea"/>
              </a:rPr>
              <a:t>root.geometry</a:t>
            </a:r>
            <a:r>
              <a:rPr lang="en-US" sz="1200" dirty="0" smtClean="0">
                <a:latin typeface="+mn-ea"/>
              </a:rPr>
              <a:t>(</a:t>
            </a:r>
            <a:r>
              <a:rPr lang="en-US" sz="1200" b="1" dirty="0" smtClean="0">
                <a:latin typeface="+mn-ea"/>
              </a:rPr>
              <a:t>"800x480"</a:t>
            </a:r>
            <a:r>
              <a:rPr lang="en-US" sz="1200" dirty="0" smtClean="0">
                <a:latin typeface="+mn-ea"/>
              </a:rPr>
              <a:t>)                   # </a:t>
            </a:r>
            <a:r>
              <a:rPr lang="ko-KR" altLang="en-US" sz="1200" dirty="0" err="1" smtClean="0">
                <a:latin typeface="+mn-ea"/>
              </a:rPr>
              <a:t>라즈베리파이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7</a:t>
            </a:r>
            <a:r>
              <a:rPr lang="ko-KR" altLang="en-US" sz="1200" dirty="0" smtClean="0">
                <a:latin typeface="+mn-ea"/>
              </a:rPr>
              <a:t>인치 터치 </a:t>
            </a:r>
            <a:r>
              <a:rPr lang="en-US" altLang="ko-KR" sz="1200" dirty="0" smtClean="0">
                <a:latin typeface="+mn-ea"/>
              </a:rPr>
              <a:t>size</a:t>
            </a:r>
            <a:r>
              <a:rPr lang="en-US" sz="1200" dirty="0" smtClean="0">
                <a:latin typeface="+mn-ea"/>
              </a:rPr>
              <a:t/>
            </a:r>
            <a:br>
              <a:rPr lang="en-US" sz="1200" dirty="0" smtClean="0">
                <a:latin typeface="+mn-ea"/>
              </a:rPr>
            </a:br>
            <a:r>
              <a:rPr lang="en-US" sz="1200" dirty="0" err="1" smtClean="0">
                <a:latin typeface="+mn-ea"/>
              </a:rPr>
              <a:t>root.config</a:t>
            </a:r>
            <a:r>
              <a:rPr lang="en-US" sz="1200" dirty="0" smtClean="0">
                <a:latin typeface="+mn-ea"/>
              </a:rPr>
              <a:t>(cursor=</a:t>
            </a:r>
            <a:r>
              <a:rPr lang="en-US" sz="1200" b="1" dirty="0" smtClean="0">
                <a:latin typeface="+mn-ea"/>
              </a:rPr>
              <a:t>'none'</a:t>
            </a:r>
            <a:r>
              <a:rPr lang="en-US" sz="1200" dirty="0" smtClean="0">
                <a:latin typeface="+mn-ea"/>
              </a:rPr>
              <a:t>)                   # </a:t>
            </a:r>
            <a:r>
              <a:rPr lang="ko-KR" altLang="en-US" sz="1200" dirty="0" smtClean="0">
                <a:latin typeface="+mn-ea"/>
              </a:rPr>
              <a:t>화면에서 커서를 안보이게 함</a:t>
            </a:r>
            <a:r>
              <a:rPr lang="en-US" sz="1200" dirty="0" smtClean="0">
                <a:latin typeface="+mn-ea"/>
              </a:rPr>
              <a:t/>
            </a:r>
            <a:br>
              <a:rPr lang="en-US" sz="1200" dirty="0" smtClean="0">
                <a:latin typeface="+mn-ea"/>
              </a:rPr>
            </a:br>
            <a:r>
              <a:rPr lang="en-US" sz="1200" dirty="0" err="1" smtClean="0">
                <a:latin typeface="+mn-ea"/>
              </a:rPr>
              <a:t>root.attributes</a:t>
            </a:r>
            <a:r>
              <a:rPr lang="en-US" sz="1200" dirty="0" smtClean="0">
                <a:latin typeface="+mn-ea"/>
              </a:rPr>
              <a:t>(</a:t>
            </a:r>
            <a:r>
              <a:rPr lang="en-US" sz="1200" b="1" dirty="0" smtClean="0">
                <a:latin typeface="+mn-ea"/>
              </a:rPr>
              <a:t>'-</a:t>
            </a:r>
            <a:r>
              <a:rPr lang="en-US" sz="1200" b="1" dirty="0" err="1" smtClean="0">
                <a:latin typeface="+mn-ea"/>
              </a:rPr>
              <a:t>fullscreen</a:t>
            </a:r>
            <a:r>
              <a:rPr lang="en-US" sz="1200" b="1" dirty="0" smtClean="0">
                <a:latin typeface="+mn-ea"/>
              </a:rPr>
              <a:t>'</a:t>
            </a:r>
            <a:r>
              <a:rPr lang="en-US" sz="1200" dirty="0" smtClean="0">
                <a:latin typeface="+mn-ea"/>
              </a:rPr>
              <a:t>, </a:t>
            </a:r>
            <a:r>
              <a:rPr lang="en-US" sz="1200" b="1" dirty="0" smtClean="0">
                <a:latin typeface="+mn-ea"/>
              </a:rPr>
              <a:t>True</a:t>
            </a:r>
            <a:r>
              <a:rPr lang="en-US" sz="1200" dirty="0" smtClean="0">
                <a:latin typeface="+mn-ea"/>
              </a:rPr>
              <a:t>)       # </a:t>
            </a:r>
            <a:r>
              <a:rPr lang="ko-KR" altLang="en-US" sz="1200" dirty="0" smtClean="0">
                <a:latin typeface="+mn-ea"/>
              </a:rPr>
              <a:t>전체 화면 모드</a:t>
            </a:r>
            <a:r>
              <a:rPr lang="en-US" sz="1200" dirty="0" smtClean="0">
                <a:latin typeface="+mn-ea"/>
              </a:rPr>
              <a:t/>
            </a:r>
            <a:br>
              <a:rPr lang="en-US" sz="1200" dirty="0" smtClean="0">
                <a:latin typeface="+mn-ea"/>
              </a:rPr>
            </a:br>
            <a:r>
              <a:rPr lang="en-US" sz="1200" dirty="0" smtClean="0">
                <a:latin typeface="+mn-ea"/>
              </a:rPr>
              <a:t>my_photo=App(master=root)               # App Class  </a:t>
            </a:r>
            <a:r>
              <a:rPr lang="ko-KR" altLang="en-US" sz="1200" dirty="0" err="1" smtClean="0">
                <a:latin typeface="+mn-ea"/>
              </a:rPr>
              <a:t>생성자</a:t>
            </a:r>
            <a:r>
              <a:rPr lang="ko-KR" altLang="en-US" sz="1200" dirty="0" smtClean="0">
                <a:latin typeface="+mn-ea"/>
              </a:rPr>
              <a:t> 함수 실행</a:t>
            </a:r>
            <a:r>
              <a:rPr lang="en-US" sz="1200" dirty="0" smtClean="0">
                <a:latin typeface="+mn-ea"/>
              </a:rPr>
              <a:t/>
            </a:r>
            <a:br>
              <a:rPr lang="en-US" sz="1200" dirty="0" smtClean="0">
                <a:latin typeface="+mn-ea"/>
              </a:rPr>
            </a:br>
            <a:r>
              <a:rPr lang="en-US" sz="1200" dirty="0" err="1" smtClean="0">
                <a:latin typeface="+mn-ea"/>
              </a:rPr>
              <a:t>root.mainloop</a:t>
            </a:r>
            <a:r>
              <a:rPr lang="en-US" sz="1200" dirty="0" smtClean="0">
                <a:latin typeface="+mn-ea"/>
              </a:rPr>
              <a:t>()</a:t>
            </a:r>
            <a:endParaRPr kumimoji="1" lang="ko-KR" altLang="ko-K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Quiz : Source code-2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7020277" y="170119"/>
            <a:ext cx="2123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smtClean="0"/>
              <a:t>#kiosk-1.py</a:t>
            </a:r>
            <a:endParaRPr lang="ko-KR" altLang="en-US" sz="32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5064" y="1063252"/>
            <a:ext cx="8654902" cy="569643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/>
              <a:t>class </a:t>
            </a:r>
            <a:r>
              <a:rPr lang="en-US" sz="1200" dirty="0" smtClean="0"/>
              <a:t>App(Canvas):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def </a:t>
            </a:r>
            <a:r>
              <a:rPr lang="en-US" sz="1200" dirty="0" smtClean="0"/>
              <a:t>__init__(self, master=</a:t>
            </a:r>
            <a:r>
              <a:rPr lang="en-US" sz="1200" b="1" dirty="0" smtClean="0"/>
              <a:t>None</a:t>
            </a:r>
            <a:r>
              <a:rPr lang="en-US" sz="1200" dirty="0" smtClean="0"/>
              <a:t>):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self.master</a:t>
            </a:r>
            <a:r>
              <a:rPr lang="en-US" sz="1200" dirty="0" smtClean="0"/>
              <a:t> = master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Canvas.__init</a:t>
            </a:r>
            <a:r>
              <a:rPr lang="en-US" sz="1200" dirty="0" smtClean="0"/>
              <a:t>__(self, width=800, height=480)       </a:t>
            </a:r>
            <a:r>
              <a:rPr lang="en-US" sz="1200" dirty="0" smtClean="0">
                <a:solidFill>
                  <a:srgbClr val="0000FF"/>
                </a:solidFill>
              </a:rPr>
              <a:t># canvas </a:t>
            </a:r>
            <a:r>
              <a:rPr lang="ko-KR" altLang="en-US" sz="1200" dirty="0" smtClean="0">
                <a:solidFill>
                  <a:srgbClr val="0000FF"/>
                </a:solidFill>
              </a:rPr>
              <a:t>생성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self.init_ui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def </a:t>
            </a:r>
            <a:r>
              <a:rPr lang="en-US" sz="1200" dirty="0" err="1" smtClean="0"/>
              <a:t>init_ui</a:t>
            </a:r>
            <a:r>
              <a:rPr lang="en-US" sz="1200" dirty="0" smtClean="0"/>
              <a:t>(self):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self.config</a:t>
            </a:r>
            <a:r>
              <a:rPr lang="en-US" sz="1200" dirty="0" smtClean="0"/>
              <a:t>(</a:t>
            </a:r>
            <a:r>
              <a:rPr lang="en-US" sz="1200" dirty="0" err="1" smtClean="0"/>
              <a:t>bg</a:t>
            </a:r>
            <a:r>
              <a:rPr lang="en-US" sz="1200" dirty="0" smtClean="0"/>
              <a:t>=</a:t>
            </a:r>
            <a:r>
              <a:rPr lang="en-US" sz="1200" b="1" dirty="0" smtClean="0"/>
              <a:t>'White'</a:t>
            </a:r>
            <a:r>
              <a:rPr lang="en-US" sz="1200" dirty="0" smtClean="0"/>
              <a:t>)               </a:t>
            </a:r>
            <a:r>
              <a:rPr lang="en-US" sz="1200" dirty="0" smtClean="0">
                <a:solidFill>
                  <a:srgbClr val="0000FF"/>
                </a:solidFill>
              </a:rPr>
              <a:t># canvas </a:t>
            </a:r>
            <a:r>
              <a:rPr lang="ko-KR" altLang="en-US" sz="1200" dirty="0" smtClean="0">
                <a:solidFill>
                  <a:srgbClr val="0000FF"/>
                </a:solidFill>
              </a:rPr>
              <a:t>바탕 흰색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self.grid</a:t>
            </a:r>
            <a:r>
              <a:rPr lang="en-US" sz="1200" dirty="0" smtClean="0"/>
              <a:t>(column=0, row=0)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self.create_rectangle</a:t>
            </a:r>
            <a:r>
              <a:rPr lang="en-US" sz="1200" dirty="0" smtClean="0"/>
              <a:t>(0, 0, 100, 480, width=3, fill=</a:t>
            </a:r>
            <a:r>
              <a:rPr lang="en-US" sz="1200" b="1" dirty="0" smtClean="0"/>
              <a:t>'light yellow'</a:t>
            </a:r>
            <a:r>
              <a:rPr lang="en-US" sz="1200" dirty="0" smtClean="0"/>
              <a:t>, outline=</a:t>
            </a:r>
            <a:r>
              <a:rPr lang="en-US" sz="1200" b="1" dirty="0" smtClean="0"/>
              <a:t>'light yellow'</a:t>
            </a:r>
            <a:r>
              <a:rPr lang="en-US" sz="1200" dirty="0" smtClean="0"/>
              <a:t>)          </a:t>
            </a:r>
            <a:r>
              <a:rPr lang="en-US" sz="1200" dirty="0" smtClean="0">
                <a:solidFill>
                  <a:srgbClr val="0000FF"/>
                </a:solidFill>
              </a:rPr>
              <a:t># </a:t>
            </a:r>
            <a:r>
              <a:rPr lang="ko-KR" altLang="en-US" sz="1200" dirty="0" smtClean="0">
                <a:solidFill>
                  <a:srgbClr val="0000FF"/>
                </a:solidFill>
              </a:rPr>
              <a:t>버튼 영역 생성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    self.bg1 = </a:t>
            </a:r>
            <a:r>
              <a:rPr lang="en-US" sz="1200" dirty="0" err="1" smtClean="0"/>
              <a:t>PhotoImage</a:t>
            </a:r>
            <a:r>
              <a:rPr lang="en-US" sz="1200" dirty="0" smtClean="0"/>
              <a:t>(file=</a:t>
            </a:r>
            <a:r>
              <a:rPr lang="en-US" sz="1200" b="1" dirty="0" smtClean="0"/>
              <a:t>'image_700x480/bg1.png'</a:t>
            </a:r>
            <a:r>
              <a:rPr lang="en-US" sz="1200" dirty="0" smtClean="0"/>
              <a:t>)                                                                 </a:t>
            </a:r>
            <a:r>
              <a:rPr lang="en-US" sz="1200" dirty="0" smtClean="0">
                <a:solidFill>
                  <a:srgbClr val="0000FF"/>
                </a:solidFill>
              </a:rPr>
              <a:t># </a:t>
            </a:r>
            <a:r>
              <a:rPr lang="ko-KR" altLang="en-US" sz="1200" dirty="0" smtClean="0">
                <a:solidFill>
                  <a:srgbClr val="0000FF"/>
                </a:solidFill>
              </a:rPr>
              <a:t>초기 화면 생성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self.create_image</a:t>
            </a:r>
            <a:r>
              <a:rPr lang="en-US" sz="1200" dirty="0" smtClean="0"/>
              <a:t>(101, 0, anchor=</a:t>
            </a:r>
            <a:r>
              <a:rPr lang="en-US" sz="1200" b="1" dirty="0" smtClean="0"/>
              <a:t>'</a:t>
            </a:r>
            <a:r>
              <a:rPr lang="en-US" sz="1200" b="1" dirty="0" err="1" smtClean="0"/>
              <a:t>nw</a:t>
            </a:r>
            <a:r>
              <a:rPr lang="en-US" sz="1200" b="1" dirty="0" smtClean="0"/>
              <a:t>'</a:t>
            </a:r>
            <a:r>
              <a:rPr lang="en-US" sz="1200" dirty="0" smtClean="0"/>
              <a:t>, image=self.bg1)</a:t>
            </a:r>
            <a:br>
              <a:rPr lang="en-US" sz="1200" dirty="0" smtClean="0"/>
            </a:b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    self.photo1 = </a:t>
            </a:r>
            <a:r>
              <a:rPr lang="en-US" sz="1200" dirty="0" err="1" smtClean="0"/>
              <a:t>PhotoImage</a:t>
            </a:r>
            <a:r>
              <a:rPr lang="en-US" sz="1200" dirty="0" smtClean="0"/>
              <a:t>(file=</a:t>
            </a:r>
            <a:r>
              <a:rPr lang="en-US" sz="1200" b="1" dirty="0" smtClean="0"/>
              <a:t>"image/but_y_80x30.png"</a:t>
            </a:r>
            <a:r>
              <a:rPr lang="en-US" sz="1200" dirty="0" smtClean="0"/>
              <a:t>)          </a:t>
            </a:r>
            <a:r>
              <a:rPr lang="en-US" sz="1200" dirty="0" smtClean="0">
                <a:solidFill>
                  <a:srgbClr val="0000FF"/>
                </a:solidFill>
              </a:rPr>
              <a:t># 1</a:t>
            </a:r>
            <a:r>
              <a:rPr lang="ko-KR" altLang="en-US" sz="1200" dirty="0" smtClean="0">
                <a:solidFill>
                  <a:srgbClr val="0000FF"/>
                </a:solidFill>
              </a:rPr>
              <a:t>번째 버튼 이미지 지정</a:t>
            </a:r>
            <a:endParaRPr lang="en-US" altLang="ko-KR" sz="1200" dirty="0" smtClean="0">
              <a:solidFill>
                <a:srgbClr val="0000FF"/>
              </a:solidFill>
            </a:endParaRPr>
          </a:p>
          <a:p>
            <a:pPr lvl="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/>
              <a:t>          </a:t>
            </a:r>
            <a:r>
              <a:rPr lang="en-US" sz="1200" dirty="0" smtClean="0">
                <a:solidFill>
                  <a:srgbClr val="0000FF"/>
                </a:solidFill>
              </a:rPr>
              <a:t> # </a:t>
            </a:r>
            <a:r>
              <a:rPr lang="ko-KR" altLang="en-US" sz="1200" dirty="0" smtClean="0">
                <a:solidFill>
                  <a:srgbClr val="0000FF"/>
                </a:solidFill>
              </a:rPr>
              <a:t>버튼 크기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이미지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바탕색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err="1" smtClean="0">
                <a:solidFill>
                  <a:srgbClr val="0000FF"/>
                </a:solidFill>
              </a:rPr>
              <a:t>눌렀을때</a:t>
            </a:r>
            <a:r>
              <a:rPr lang="ko-KR" altLang="en-US" sz="1200" dirty="0" smtClean="0">
                <a:solidFill>
                  <a:srgbClr val="0000FF"/>
                </a:solidFill>
              </a:rPr>
              <a:t> 색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경계선 두께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1200" dirty="0" smtClean="0">
                <a:solidFill>
                  <a:srgbClr val="0000FF"/>
                </a:solidFill>
              </a:rPr>
              <a:t> 실행 함수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버튼 </a:t>
            </a:r>
            <a:r>
              <a:rPr lang="en-US" altLang="ko-KR" sz="1200" dirty="0" smtClean="0">
                <a:solidFill>
                  <a:srgbClr val="0000FF"/>
                </a:solidFill>
              </a:rPr>
              <a:t>relief(</a:t>
            </a:r>
            <a:r>
              <a:rPr lang="ko-KR" altLang="en-US" sz="1200" dirty="0" smtClean="0">
                <a:solidFill>
                  <a:srgbClr val="0000FF"/>
                </a:solidFill>
              </a:rPr>
              <a:t>효과</a:t>
            </a:r>
            <a:r>
              <a:rPr lang="en-US" altLang="ko-KR" sz="1200" dirty="0" smtClean="0">
                <a:solidFill>
                  <a:srgbClr val="0000FF"/>
                </a:solidFill>
              </a:rPr>
              <a:t>) </a:t>
            </a:r>
            <a:r>
              <a:rPr lang="ko-KR" altLang="en-US" sz="1200" dirty="0" smtClean="0">
                <a:solidFill>
                  <a:srgbClr val="0000FF"/>
                </a:solidFill>
              </a:rPr>
              <a:t>설정</a:t>
            </a:r>
            <a:r>
              <a:rPr lang="en-US" sz="1200" dirty="0" smtClean="0">
                <a:solidFill>
                  <a:srgbClr val="0000FF"/>
                </a:solidFill>
              </a:rPr>
              <a:t/>
            </a:r>
            <a:br>
              <a:rPr lang="en-US" sz="1200" dirty="0" smtClean="0">
                <a:solidFill>
                  <a:srgbClr val="0000FF"/>
                </a:solidFill>
              </a:rPr>
            </a:br>
            <a:r>
              <a:rPr lang="en-US" sz="1200" dirty="0" smtClean="0"/>
              <a:t>        self.button1 = Button(width=80, height=30, image=self.photo1, </a:t>
            </a:r>
            <a:r>
              <a:rPr lang="en-US" sz="1200" dirty="0" err="1" smtClean="0"/>
              <a:t>bg</a:t>
            </a:r>
            <a:r>
              <a:rPr lang="en-US" sz="1200" dirty="0" smtClean="0"/>
              <a:t>=</a:t>
            </a:r>
            <a:r>
              <a:rPr lang="en-US" sz="1200" b="1" dirty="0" smtClean="0"/>
              <a:t>'light yellow'</a:t>
            </a:r>
            <a:r>
              <a:rPr lang="en-US" sz="1200" dirty="0" smtClean="0"/>
              <a:t>, </a:t>
            </a:r>
            <a:r>
              <a:rPr lang="en-US" sz="1200" dirty="0" err="1" smtClean="0"/>
              <a:t>activebackground</a:t>
            </a:r>
            <a:r>
              <a:rPr lang="en-US" sz="1200" dirty="0" smtClean="0"/>
              <a:t>=</a:t>
            </a:r>
            <a:r>
              <a:rPr lang="en-US" sz="1200" b="1" dirty="0" smtClean="0"/>
              <a:t>'light yellow'</a:t>
            </a:r>
            <a:r>
              <a:rPr lang="en-US" sz="1200" dirty="0" smtClean="0"/>
              <a:t>,</a:t>
            </a:r>
            <a:br>
              <a:rPr lang="en-US" sz="1200" dirty="0" smtClean="0"/>
            </a:br>
            <a:r>
              <a:rPr lang="en-US" sz="1200" dirty="0" smtClean="0"/>
              <a:t>                            </a:t>
            </a:r>
            <a:r>
              <a:rPr lang="en-US" sz="1200" dirty="0" err="1" smtClean="0"/>
              <a:t>borderwidth</a:t>
            </a:r>
            <a:r>
              <a:rPr lang="en-US" sz="1200" dirty="0" smtClean="0"/>
              <a:t>=0, command=self.click1, relief=FLAT)</a:t>
            </a:r>
          </a:p>
          <a:p>
            <a:pPr lvl="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/>
              <a:t>          </a:t>
            </a:r>
            <a:r>
              <a:rPr lang="en-US" sz="1200" dirty="0" smtClean="0">
                <a:solidFill>
                  <a:srgbClr val="0000FF"/>
                </a:solidFill>
              </a:rPr>
              <a:t> # </a:t>
            </a:r>
            <a:r>
              <a:rPr lang="ko-KR" altLang="en-US" sz="1200" dirty="0" smtClean="0">
                <a:solidFill>
                  <a:srgbClr val="0000FF"/>
                </a:solidFill>
              </a:rPr>
              <a:t>버튼 테두리가 </a:t>
            </a:r>
            <a:r>
              <a:rPr lang="ko-KR" altLang="en-US" sz="1200" dirty="0" err="1" smtClean="0">
                <a:solidFill>
                  <a:srgbClr val="0000FF"/>
                </a:solidFill>
              </a:rPr>
              <a:t>얅게</a:t>
            </a:r>
            <a:r>
              <a:rPr lang="ko-KR" altLang="en-US" sz="1200" dirty="0" smtClean="0">
                <a:solidFill>
                  <a:srgbClr val="0000FF"/>
                </a:solidFill>
              </a:rPr>
              <a:t> 남아 있는 것을 제거 </a:t>
            </a:r>
            <a:r>
              <a:rPr lang="en-US" altLang="ko-KR" sz="1200" dirty="0" smtClean="0">
                <a:solidFill>
                  <a:srgbClr val="0000FF"/>
                </a:solidFill>
              </a:rPr>
              <a:t>configure</a:t>
            </a:r>
            <a:r>
              <a:rPr lang="en-US" sz="1200" dirty="0" smtClean="0">
                <a:solidFill>
                  <a:srgbClr val="0000FF"/>
                </a:solidFill>
              </a:rPr>
              <a:t>           </a:t>
            </a:r>
            <a:br>
              <a:rPr lang="en-US" sz="1200" dirty="0" smtClean="0">
                <a:solidFill>
                  <a:srgbClr val="0000FF"/>
                </a:solidFill>
              </a:rPr>
            </a:br>
            <a:r>
              <a:rPr lang="en-US" sz="1200" dirty="0" smtClean="0"/>
              <a:t>        self.button1.configure(width=80, height=30, </a:t>
            </a:r>
            <a:r>
              <a:rPr lang="en-US" sz="1200" dirty="0" err="1" smtClean="0"/>
              <a:t>activebackground</a:t>
            </a:r>
            <a:r>
              <a:rPr lang="en-US" sz="1200" dirty="0" smtClean="0"/>
              <a:t>=</a:t>
            </a:r>
            <a:r>
              <a:rPr lang="en-US" sz="1200" b="1" dirty="0" smtClean="0"/>
              <a:t>'light yellow'</a:t>
            </a:r>
            <a:r>
              <a:rPr lang="en-US" sz="1200" dirty="0" smtClean="0"/>
              <a:t>, </a:t>
            </a:r>
            <a:r>
              <a:rPr lang="en-US" sz="1200" dirty="0" err="1" smtClean="0"/>
              <a:t>highlightthickness</a:t>
            </a:r>
            <a:r>
              <a:rPr lang="en-US" sz="1200" dirty="0" smtClean="0"/>
              <a:t>=0)</a:t>
            </a:r>
            <a:br>
              <a:rPr lang="en-US" sz="1200" dirty="0" smtClean="0"/>
            </a:br>
            <a:r>
              <a:rPr lang="en-US" sz="1200" dirty="0" smtClean="0"/>
              <a:t>        but1 = </a:t>
            </a:r>
            <a:r>
              <a:rPr lang="en-US" sz="1200" dirty="0" err="1" smtClean="0"/>
              <a:t>self.create_window</a:t>
            </a:r>
            <a:r>
              <a:rPr lang="en-US" sz="1200" dirty="0" smtClean="0"/>
              <a:t>(10, 100, anchor=</a:t>
            </a:r>
            <a:r>
              <a:rPr lang="en-US" sz="1200" b="1" dirty="0" smtClean="0"/>
              <a:t>'</a:t>
            </a:r>
            <a:r>
              <a:rPr lang="en-US" sz="1200" b="1" dirty="0" err="1" smtClean="0"/>
              <a:t>nw</a:t>
            </a:r>
            <a:r>
              <a:rPr lang="en-US" sz="1200" b="1" dirty="0" smtClean="0"/>
              <a:t>'</a:t>
            </a:r>
            <a:r>
              <a:rPr lang="en-US" sz="1200" dirty="0" smtClean="0"/>
              <a:t>, window=self.button1)     </a:t>
            </a:r>
            <a:r>
              <a:rPr lang="en-US" sz="1200" dirty="0" smtClean="0">
                <a:solidFill>
                  <a:srgbClr val="0000FF"/>
                </a:solidFill>
              </a:rPr>
              <a:t>   # </a:t>
            </a:r>
            <a:r>
              <a:rPr lang="ko-KR" altLang="en-US" sz="1200" dirty="0" smtClean="0">
                <a:solidFill>
                  <a:srgbClr val="0000FF"/>
                </a:solidFill>
              </a:rPr>
              <a:t>버튼 크기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위치 지정</a:t>
            </a:r>
            <a:endParaRPr lang="en-US" altLang="ko-KR" sz="1200" dirty="0" smtClean="0">
              <a:solidFill>
                <a:srgbClr val="0000FF"/>
              </a:solidFill>
            </a:endParaRPr>
          </a:p>
          <a:p>
            <a:pPr lvl="0" fontAlgn="base">
              <a:lnSpc>
                <a:spcPts val="19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/>
              <a:t> </a:t>
            </a:r>
            <a:r>
              <a:rPr lang="en-US" sz="1200" b="1" dirty="0" smtClean="0"/>
              <a:t>def </a:t>
            </a:r>
            <a:r>
              <a:rPr lang="en-US" sz="1200" dirty="0" err="1" smtClean="0"/>
              <a:t>clicka</a:t>
            </a:r>
            <a:r>
              <a:rPr lang="en-US" sz="1200" dirty="0" smtClean="0"/>
              <a:t>(event):</a:t>
            </a:r>
            <a:br>
              <a:rPr lang="en-US" sz="1200" dirty="0" smtClean="0"/>
            </a:br>
            <a:r>
              <a:rPr lang="en-US" sz="1200" dirty="0" smtClean="0"/>
              <a:t>            print (</a:t>
            </a:r>
            <a:r>
              <a:rPr lang="en-US" sz="1200" b="1" dirty="0" smtClean="0"/>
              <a:t>'event1'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smtClean="0"/>
              <a:t>            </a:t>
            </a:r>
            <a:r>
              <a:rPr lang="en-US" sz="1200" dirty="0" err="1" smtClean="0"/>
              <a:t>self.after_cancel</a:t>
            </a:r>
            <a:r>
              <a:rPr lang="en-US" sz="1200" dirty="0" smtClean="0"/>
              <a:t>(</a:t>
            </a:r>
            <a:r>
              <a:rPr lang="en-US" sz="1200" dirty="0" err="1" smtClean="0"/>
              <a:t>self.photo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smtClean="0"/>
              <a:t>self.button1.bind(</a:t>
            </a:r>
            <a:r>
              <a:rPr lang="en-US" sz="1200" b="1" dirty="0" smtClean="0"/>
              <a:t>"&lt;Button-1&gt;"</a:t>
            </a:r>
            <a:r>
              <a:rPr lang="en-US" sz="1200" dirty="0" smtClean="0"/>
              <a:t>, </a:t>
            </a:r>
            <a:r>
              <a:rPr lang="en-US" sz="1200" dirty="0" err="1" smtClean="0"/>
              <a:t>clicka</a:t>
            </a:r>
            <a:r>
              <a:rPr lang="en-US" sz="1200" dirty="0" smtClean="0"/>
              <a:t>)        </a:t>
            </a:r>
            <a:r>
              <a:rPr lang="en-US" sz="1200" dirty="0" smtClean="0">
                <a:solidFill>
                  <a:srgbClr val="0000FF"/>
                </a:solidFill>
              </a:rPr>
              <a:t># </a:t>
            </a:r>
            <a:r>
              <a:rPr lang="ko-KR" altLang="en-US" sz="1200" dirty="0" smtClean="0">
                <a:solidFill>
                  <a:srgbClr val="0000FF"/>
                </a:solidFill>
              </a:rPr>
              <a:t>다른 </a:t>
            </a:r>
            <a:r>
              <a:rPr lang="en-US" altLang="ko-KR" sz="1200" dirty="0" smtClean="0">
                <a:solidFill>
                  <a:srgbClr val="0000FF"/>
                </a:solidFill>
              </a:rPr>
              <a:t>after </a:t>
            </a:r>
            <a:r>
              <a:rPr lang="ko-KR" altLang="en-US" sz="1200" dirty="0" err="1" smtClean="0">
                <a:solidFill>
                  <a:srgbClr val="0000FF"/>
                </a:solidFill>
              </a:rPr>
              <a:t>수행중</a:t>
            </a:r>
            <a:r>
              <a:rPr lang="ko-KR" altLang="en-US" sz="1200" dirty="0" smtClean="0">
                <a:solidFill>
                  <a:srgbClr val="0000FF"/>
                </a:solidFill>
              </a:rPr>
              <a:t> 다른 버튼 </a:t>
            </a:r>
            <a:r>
              <a:rPr lang="ko-KR" altLang="en-US" sz="12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1200" dirty="0" smtClean="0">
                <a:solidFill>
                  <a:srgbClr val="0000FF"/>
                </a:solidFill>
              </a:rPr>
              <a:t> </a:t>
            </a:r>
            <a:r>
              <a:rPr lang="en-US" altLang="ko-KR" sz="1200" dirty="0" smtClean="0">
                <a:solidFill>
                  <a:srgbClr val="0000FF"/>
                </a:solidFill>
              </a:rPr>
              <a:t>timer </a:t>
            </a:r>
            <a:r>
              <a:rPr lang="ko-KR" altLang="en-US" sz="1200" dirty="0" smtClean="0">
                <a:solidFill>
                  <a:srgbClr val="0000FF"/>
                </a:solidFill>
              </a:rPr>
              <a:t>오동작하므로 </a:t>
            </a:r>
            <a:endParaRPr lang="en-US" altLang="ko-KR" sz="1200" dirty="0" smtClean="0">
              <a:solidFill>
                <a:srgbClr val="0000FF"/>
              </a:solidFill>
            </a:endParaRPr>
          </a:p>
          <a:p>
            <a:pPr lvl="0" fontAlgn="base">
              <a:lnSpc>
                <a:spcPts val="19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000FF"/>
                </a:solidFill>
              </a:rPr>
              <a:t>                                                                             # </a:t>
            </a:r>
            <a:r>
              <a:rPr lang="ko-KR" altLang="en-US" sz="1200" dirty="0" smtClean="0">
                <a:solidFill>
                  <a:srgbClr val="0000FF"/>
                </a:solidFill>
              </a:rPr>
              <a:t>다른 버튼 눌러지면 </a:t>
            </a:r>
            <a:r>
              <a:rPr lang="en-US" altLang="ko-KR" sz="1200" dirty="0" err="1" smtClean="0">
                <a:solidFill>
                  <a:srgbClr val="0000FF"/>
                </a:solidFill>
              </a:rPr>
              <a:t>after_cancel</a:t>
            </a:r>
            <a:r>
              <a:rPr lang="en-US" altLang="ko-KR" sz="1200" dirty="0" smtClean="0">
                <a:solidFill>
                  <a:srgbClr val="0000FF"/>
                </a:solidFill>
              </a:rPr>
              <a:t> </a:t>
            </a:r>
            <a:r>
              <a:rPr lang="ko-KR" altLang="en-US" sz="1200" dirty="0" smtClean="0">
                <a:solidFill>
                  <a:srgbClr val="0000FF"/>
                </a:solidFill>
              </a:rPr>
              <a:t>함수로 </a:t>
            </a:r>
            <a:r>
              <a:rPr lang="en-US" altLang="ko-KR" sz="1200" dirty="0" smtClean="0">
                <a:solidFill>
                  <a:srgbClr val="0000FF"/>
                </a:solidFill>
              </a:rPr>
              <a:t>after </a:t>
            </a:r>
            <a:r>
              <a:rPr lang="ko-KR" altLang="en-US" sz="1200" dirty="0" smtClean="0">
                <a:solidFill>
                  <a:srgbClr val="0000FF"/>
                </a:solidFill>
              </a:rPr>
              <a:t>삭제해 주어야 함</a:t>
            </a:r>
            <a:r>
              <a:rPr lang="en-US" sz="1200" dirty="0" smtClean="0"/>
              <a:t/>
            </a:r>
            <a:br>
              <a:rPr lang="en-US" sz="1200" dirty="0" smtClean="0"/>
            </a:br>
            <a:endParaRPr kumimoji="1" lang="ko-KR" altLang="ko-K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Quiz : Source code-3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7020277" y="170119"/>
            <a:ext cx="2123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b="1" dirty="0" smtClean="0"/>
              <a:t>#kiosk-1.py</a:t>
            </a:r>
            <a:endParaRPr lang="ko-KR" altLang="en-US" sz="32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5064" y="1063252"/>
            <a:ext cx="8654902" cy="30162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ts val="19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b="1" dirty="0" smtClean="0"/>
              <a:t>def </a:t>
            </a:r>
            <a:r>
              <a:rPr lang="en-US" sz="1400" dirty="0" smtClean="0"/>
              <a:t>click1(self):                </a:t>
            </a:r>
            <a:r>
              <a:rPr lang="en-US" sz="1400" dirty="0" smtClean="0">
                <a:solidFill>
                  <a:srgbClr val="0000FF"/>
                </a:solidFill>
              </a:rPr>
              <a:t># </a:t>
            </a:r>
            <a:r>
              <a:rPr lang="ko-KR" altLang="en-US" sz="1400" dirty="0" smtClean="0">
                <a:solidFill>
                  <a:srgbClr val="0000FF"/>
                </a:solidFill>
              </a:rPr>
              <a:t>버튼 </a:t>
            </a:r>
            <a:r>
              <a:rPr lang="en-US" altLang="ko-KR" sz="1400" dirty="0" smtClean="0">
                <a:solidFill>
                  <a:srgbClr val="0000FF"/>
                </a:solidFill>
              </a:rPr>
              <a:t>1</a:t>
            </a:r>
            <a:r>
              <a:rPr lang="ko-KR" altLang="en-US" sz="1400" dirty="0" smtClean="0">
                <a:solidFill>
                  <a:srgbClr val="0000FF"/>
                </a:solidFill>
              </a:rPr>
              <a:t>이 눌러지면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    print (</a:t>
            </a:r>
            <a:r>
              <a:rPr lang="en-US" sz="1400" b="1" dirty="0" smtClean="0"/>
              <a:t>'click 1'</a:t>
            </a:r>
            <a:r>
              <a:rPr lang="en-US" sz="1400" dirty="0" smtClean="0"/>
              <a:t>)</a:t>
            </a:r>
          </a:p>
          <a:p>
            <a:pPr lvl="0" fontAlgn="base">
              <a:lnSpc>
                <a:spcPts val="19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FF"/>
                </a:solidFill>
              </a:rPr>
              <a:t>           # cycle</a:t>
            </a:r>
            <a:r>
              <a:rPr lang="ko-KR" altLang="en-US" sz="1400" dirty="0" smtClean="0">
                <a:solidFill>
                  <a:srgbClr val="0000FF"/>
                </a:solidFill>
              </a:rPr>
              <a:t>로 보여줄 이미지들을 저장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    </a:t>
            </a:r>
            <a:r>
              <a:rPr lang="en-US" sz="1400" dirty="0" err="1" smtClean="0"/>
              <a:t>self.pictures</a:t>
            </a:r>
            <a:r>
              <a:rPr lang="en-US" sz="1400" dirty="0" smtClean="0"/>
              <a:t> = cycle((</a:t>
            </a:r>
            <a:r>
              <a:rPr lang="en-US" sz="1400" dirty="0" err="1" smtClean="0"/>
              <a:t>PhotoImage</a:t>
            </a:r>
            <a:r>
              <a:rPr lang="en-US" sz="1400" dirty="0" smtClean="0"/>
              <a:t>(file=image), image) </a:t>
            </a:r>
            <a:r>
              <a:rPr lang="en-US" sz="1400" b="1" dirty="0" smtClean="0"/>
              <a:t>for </a:t>
            </a:r>
            <a:r>
              <a:rPr lang="en-US" sz="1400" dirty="0" smtClean="0"/>
              <a:t>image </a:t>
            </a:r>
            <a:r>
              <a:rPr lang="en-US" sz="1400" b="1" dirty="0" smtClean="0"/>
              <a:t>in </a:t>
            </a:r>
            <a:r>
              <a:rPr lang="en-US" sz="1400" dirty="0" err="1" smtClean="0"/>
              <a:t>image_files</a:t>
            </a:r>
            <a:r>
              <a:rPr lang="en-US" sz="1400" dirty="0" smtClean="0"/>
              <a:t>)</a:t>
            </a:r>
            <a:br>
              <a:rPr lang="en-US" sz="1400" dirty="0" smtClean="0"/>
            </a:br>
            <a:r>
              <a:rPr lang="en-US" sz="1400" dirty="0" smtClean="0"/>
              <a:t>    self.picture_display = Label(self)    </a:t>
            </a:r>
            <a:br>
              <a:rPr lang="en-US" sz="1400" dirty="0" smtClean="0"/>
            </a:br>
            <a:r>
              <a:rPr lang="en-US" sz="1400" dirty="0" smtClean="0"/>
              <a:t>    self.ShowPhoto1()</a:t>
            </a:r>
            <a:br>
              <a:rPr lang="en-US" sz="1400" dirty="0" smtClean="0"/>
            </a:br>
            <a:r>
              <a:rPr lang="en-US" sz="1400" b="1" dirty="0" smtClean="0"/>
              <a:t>def </a:t>
            </a:r>
            <a:r>
              <a:rPr lang="en-US" sz="1400" dirty="0" smtClean="0"/>
              <a:t>ShowPhoto1(self):</a:t>
            </a:r>
            <a:br>
              <a:rPr lang="en-US" sz="1400" dirty="0" smtClean="0"/>
            </a:br>
            <a:r>
              <a:rPr lang="en-US" sz="1400" dirty="0" smtClean="0"/>
              <a:t>    </a:t>
            </a:r>
            <a:r>
              <a:rPr lang="en-US" sz="1400" dirty="0" err="1" smtClean="0"/>
              <a:t>img_object</a:t>
            </a:r>
            <a:r>
              <a:rPr lang="en-US" sz="1400" dirty="0" smtClean="0"/>
              <a:t>, </a:t>
            </a:r>
            <a:r>
              <a:rPr lang="en-US" sz="1400" dirty="0" err="1" smtClean="0"/>
              <a:t>img_name</a:t>
            </a:r>
            <a:r>
              <a:rPr lang="en-US" sz="1400" dirty="0" smtClean="0"/>
              <a:t> = next(</a:t>
            </a:r>
            <a:r>
              <a:rPr lang="en-US" sz="1400" dirty="0" err="1" smtClean="0"/>
              <a:t>self.pictures</a:t>
            </a:r>
            <a:r>
              <a:rPr lang="en-US" sz="1400" dirty="0" smtClean="0"/>
              <a:t>)</a:t>
            </a:r>
            <a:br>
              <a:rPr lang="en-US" sz="1400" dirty="0" smtClean="0"/>
            </a:br>
            <a:r>
              <a:rPr lang="en-US" sz="1400" dirty="0" smtClean="0"/>
              <a:t>    </a:t>
            </a:r>
            <a:r>
              <a:rPr lang="en-US" sz="1400" dirty="0" err="1" smtClean="0"/>
              <a:t>self.picture_display.config</a:t>
            </a:r>
            <a:r>
              <a:rPr lang="en-US" sz="1400" dirty="0" smtClean="0"/>
              <a:t>(image=</a:t>
            </a:r>
            <a:r>
              <a:rPr lang="en-US" sz="1400" dirty="0" err="1" smtClean="0"/>
              <a:t>img_object</a:t>
            </a:r>
            <a:r>
              <a:rPr lang="en-US" sz="1400" dirty="0" smtClean="0"/>
              <a:t>)</a:t>
            </a:r>
            <a:br>
              <a:rPr lang="en-US" sz="1400" dirty="0" smtClean="0"/>
            </a:br>
            <a:r>
              <a:rPr lang="en-US" sz="1400" dirty="0" smtClean="0"/>
              <a:t>    </a:t>
            </a:r>
            <a:r>
              <a:rPr lang="en-US" sz="1400" dirty="0" err="1" smtClean="0"/>
              <a:t>self.picture_display.place</a:t>
            </a:r>
            <a:r>
              <a:rPr lang="en-US" sz="1400" dirty="0" smtClean="0"/>
              <a:t>(</a:t>
            </a:r>
            <a:r>
              <a:rPr lang="en-US" sz="1400" dirty="0" err="1" smtClean="0"/>
              <a:t>relx</a:t>
            </a:r>
            <a:r>
              <a:rPr lang="en-US" sz="1400" dirty="0" smtClean="0"/>
              <a:t>=1.0, y=2.0, anchor=</a:t>
            </a:r>
            <a:r>
              <a:rPr lang="en-US" sz="1400" b="1" dirty="0" smtClean="0"/>
              <a:t>'ne'</a:t>
            </a:r>
            <a:r>
              <a:rPr lang="en-US" sz="1400" dirty="0" smtClean="0"/>
              <a:t>)      </a:t>
            </a:r>
            <a:r>
              <a:rPr lang="en-US" sz="1400" dirty="0" smtClean="0">
                <a:solidFill>
                  <a:srgbClr val="0000FF"/>
                </a:solidFill>
              </a:rPr>
              <a:t>    # </a:t>
            </a:r>
            <a:r>
              <a:rPr lang="ko-KR" altLang="en-US" sz="1400" dirty="0" smtClean="0">
                <a:solidFill>
                  <a:srgbClr val="0000FF"/>
                </a:solidFill>
              </a:rPr>
              <a:t>이미지 위치 지정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    </a:t>
            </a:r>
            <a:r>
              <a:rPr lang="en-US" sz="1400" dirty="0" err="1" smtClean="0"/>
              <a:t>self.photo</a:t>
            </a:r>
            <a:r>
              <a:rPr lang="en-US" sz="1400" dirty="0" smtClean="0"/>
              <a:t> =</a:t>
            </a:r>
            <a:r>
              <a:rPr lang="en-US" sz="1400" dirty="0" err="1" smtClean="0"/>
              <a:t>self.after</a:t>
            </a:r>
            <a:r>
              <a:rPr lang="en-US" sz="1400" dirty="0" smtClean="0"/>
              <a:t>(2000, self.ShowPhoto1)                           </a:t>
            </a:r>
            <a:r>
              <a:rPr lang="en-US" sz="1400" dirty="0" smtClean="0">
                <a:solidFill>
                  <a:srgbClr val="0000FF"/>
                </a:solidFill>
              </a:rPr>
              <a:t> # 2</a:t>
            </a:r>
            <a:r>
              <a:rPr lang="ko-KR" altLang="en-US" sz="1400" dirty="0" smtClean="0">
                <a:solidFill>
                  <a:srgbClr val="0000FF"/>
                </a:solidFill>
              </a:rPr>
              <a:t>초마다 </a:t>
            </a:r>
            <a:r>
              <a:rPr lang="en-US" altLang="ko-KR" sz="1400" dirty="0" smtClean="0">
                <a:solidFill>
                  <a:srgbClr val="0000FF"/>
                </a:solidFill>
              </a:rPr>
              <a:t>ShowPhoto1 </a:t>
            </a:r>
            <a:r>
              <a:rPr lang="ko-KR" altLang="en-US" sz="1400" dirty="0" err="1" smtClean="0">
                <a:solidFill>
                  <a:srgbClr val="0000FF"/>
                </a:solidFill>
              </a:rPr>
              <a:t>메소드를</a:t>
            </a:r>
            <a:r>
              <a:rPr lang="ko-KR" altLang="en-US" sz="1400" dirty="0" smtClean="0">
                <a:solidFill>
                  <a:srgbClr val="0000FF"/>
                </a:solidFill>
              </a:rPr>
              <a:t> 호출</a:t>
            </a:r>
            <a:r>
              <a:rPr lang="en-US" altLang="ko-KR" sz="1400" dirty="0" smtClean="0">
                <a:solidFill>
                  <a:srgbClr val="0000FF"/>
                </a:solidFill>
              </a:rPr>
              <a:t>, </a:t>
            </a:r>
            <a:r>
              <a:rPr lang="ko-KR" altLang="en-US" sz="1400" dirty="0" smtClean="0">
                <a:solidFill>
                  <a:srgbClr val="0000FF"/>
                </a:solidFill>
              </a:rPr>
              <a:t>이미지 갱신</a:t>
            </a:r>
            <a:endParaRPr kumimoji="1" lang="ko-KR" altLang="ko-KR" sz="12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+mn-ea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51320" y="1160777"/>
            <a:ext cx="8379725" cy="23696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구조화된 </a:t>
            </a:r>
            <a:r>
              <a:rPr lang="en-US" altLang="ko-KR" sz="2000" b="1" dirty="0" smtClean="0"/>
              <a:t>GUI </a:t>
            </a:r>
            <a:r>
              <a:rPr lang="ko-KR" altLang="en-US" sz="2000" b="1" dirty="0" smtClean="0"/>
              <a:t>기능 제공</a:t>
            </a:r>
            <a:endParaRPr lang="en-US" altLang="ko-KR" sz="2000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다양한 사용자 정의 </a:t>
            </a:r>
            <a:r>
              <a:rPr lang="ko-KR" altLang="en-US" sz="2000" b="1" dirty="0" err="1" smtClean="0"/>
              <a:t>위젯</a:t>
            </a:r>
            <a:r>
              <a:rPr lang="ko-KR" altLang="en-US" sz="2000" b="1" dirty="0" smtClean="0"/>
              <a:t> 구현에 사용할 수 있는 </a:t>
            </a:r>
            <a:r>
              <a:rPr lang="ko-KR" altLang="en-US" sz="2000" b="1" dirty="0" err="1" smtClean="0"/>
              <a:t>위젯</a:t>
            </a:r>
            <a:endParaRPr lang="en-US" altLang="ko-KR" sz="2000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일반적으로 그래프 및 그림을 표시하는데 사용</a:t>
            </a:r>
            <a:endParaRPr lang="en-US" altLang="ko-KR" sz="2000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Canvas</a:t>
            </a:r>
            <a:r>
              <a:rPr lang="ko-KR" altLang="en-US" sz="2000" b="1" dirty="0" smtClean="0"/>
              <a:t>에 추가된 항목은 제거하기 전까지 존재</a:t>
            </a:r>
            <a:endParaRPr lang="en-US" altLang="ko-KR" sz="2000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그림 변경은 </a:t>
            </a:r>
            <a:r>
              <a:rPr lang="en-US" altLang="ko-KR" sz="2000" b="1" dirty="0" err="1" smtClean="0"/>
              <a:t>coords</a:t>
            </a:r>
            <a:r>
              <a:rPr lang="en-US" altLang="ko-KR" sz="2000" b="1" dirty="0" smtClean="0"/>
              <a:t>, </a:t>
            </a:r>
            <a:r>
              <a:rPr lang="en-US" altLang="ko-KR" sz="2000" b="1" dirty="0" err="1" smtClean="0"/>
              <a:t>itemconfig</a:t>
            </a:r>
            <a:r>
              <a:rPr lang="ko-KR" altLang="en-US" sz="2000" b="1" dirty="0" smtClean="0"/>
              <a:t>와 같은 </a:t>
            </a:r>
            <a:r>
              <a:rPr lang="en-US" altLang="ko-KR" sz="2000" b="1" dirty="0" smtClean="0"/>
              <a:t>method </a:t>
            </a:r>
            <a:r>
              <a:rPr lang="ko-KR" altLang="en-US" sz="2000" b="1" dirty="0" smtClean="0"/>
              <a:t>사용</a:t>
            </a:r>
            <a:endParaRPr lang="en-US" altLang="ko-KR" sz="2000" b="1" dirty="0" smtClean="0"/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그림 삭제는 </a:t>
            </a:r>
            <a:r>
              <a:rPr lang="en-US" altLang="ko-KR" sz="2000" b="1" dirty="0" smtClean="0"/>
              <a:t>move, delete</a:t>
            </a:r>
            <a:r>
              <a:rPr lang="ko-KR" altLang="en-US" sz="2000" b="1" dirty="0" smtClean="0"/>
              <a:t>를 사용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Canvas Widget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Canvas Widget : option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2" y="1269409"/>
            <a:ext cx="7998645" cy="31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Canvas Widget : method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2" y="1269409"/>
            <a:ext cx="7998645" cy="39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64275" y="1160777"/>
            <a:ext cx="8379725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*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root=</a:t>
            </a:r>
            <a:r>
              <a:rPr lang="en-US" altLang="ko-KR" sz="2000" b="1" dirty="0" err="1" smtClean="0"/>
              <a:t>Tk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smtClean="0"/>
              <a:t>w = Canvas(root, width=800,  height=480,</a:t>
            </a:r>
          </a:p>
          <a:p>
            <a:r>
              <a:rPr lang="en-US" altLang="ko-KR" sz="2000" b="1" dirty="0" smtClean="0"/>
              <a:t>                 </a:t>
            </a:r>
            <a:r>
              <a:rPr lang="en-US" altLang="ko-KR" sz="2000" b="1" dirty="0" err="1" smtClean="0"/>
              <a:t>borderwidth</a:t>
            </a:r>
            <a:r>
              <a:rPr lang="en-US" altLang="ko-KR" sz="2000" b="1" dirty="0" smtClean="0"/>
              <a:t>=1,   background='white', relief='raised')</a:t>
            </a:r>
          </a:p>
          <a:p>
            <a:r>
              <a:rPr lang="en-US" altLang="ko-KR" sz="2000" b="1" dirty="0" err="1" smtClean="0"/>
              <a:t>w.pack</a:t>
            </a:r>
            <a:r>
              <a:rPr lang="en-US" altLang="ko-KR" sz="2000" b="1" dirty="0" smtClean="0"/>
              <a:t>(</a:t>
            </a:r>
            <a:r>
              <a:rPr lang="en-US" altLang="ko-KR" sz="2000" b="1" dirty="0" err="1" smtClean="0"/>
              <a:t>padx</a:t>
            </a:r>
            <a:r>
              <a:rPr lang="en-US" altLang="ko-KR" sz="2000" b="1" dirty="0" smtClean="0"/>
              <a:t>=10,pady=10)</a:t>
            </a:r>
          </a:p>
          <a:p>
            <a:r>
              <a:rPr lang="en-US" altLang="ko-KR" sz="2000" b="1" dirty="0" err="1" smtClean="0"/>
              <a:t>root.mainloop</a:t>
            </a:r>
            <a:r>
              <a:rPr lang="en-US" altLang="ko-KR" sz="2000" b="1" dirty="0" smtClean="0"/>
              <a:t>()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Canvas Widget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6007396" y="180753"/>
            <a:ext cx="219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rgbClr val="0000FF"/>
                </a:solidFill>
              </a:rPr>
              <a:t># canvas-1.py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87299" y="1160777"/>
            <a:ext cx="8379725" cy="40934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*</a:t>
            </a:r>
          </a:p>
          <a:p>
            <a:r>
              <a:rPr lang="en-US" altLang="ko-KR" sz="2000" b="1" dirty="0" smtClean="0"/>
              <a:t>master = </a:t>
            </a:r>
            <a:r>
              <a:rPr lang="en-US" altLang="ko-KR" sz="2000" b="1" dirty="0" err="1" smtClean="0"/>
              <a:t>Tk</a:t>
            </a:r>
            <a:r>
              <a:rPr lang="en-US" altLang="ko-KR" sz="2000" b="1" dirty="0" smtClean="0"/>
              <a:t>()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w = Canvas(master, width=200, height=100)</a:t>
            </a:r>
          </a:p>
          <a:p>
            <a:r>
              <a:rPr lang="en-US" altLang="ko-KR" sz="2000" b="1" dirty="0" err="1" smtClean="0"/>
              <a:t>w.pack</a:t>
            </a:r>
            <a:r>
              <a:rPr lang="en-US" altLang="ko-KR" sz="2000" b="1" dirty="0" smtClean="0"/>
              <a:t>()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err="1" smtClean="0"/>
              <a:t>i</a:t>
            </a:r>
            <a:r>
              <a:rPr lang="en-US" altLang="ko-KR" sz="2000" b="1" dirty="0" smtClean="0"/>
              <a:t>=</a:t>
            </a:r>
            <a:r>
              <a:rPr lang="en-US" altLang="ko-KR" sz="2000" b="1" dirty="0" err="1" smtClean="0"/>
              <a:t>w.create_line</a:t>
            </a:r>
            <a:r>
              <a:rPr lang="en-US" altLang="ko-KR" sz="2000" b="1" dirty="0" smtClean="0"/>
              <a:t>(0, 0, 200, 100)</a:t>
            </a:r>
          </a:p>
          <a:p>
            <a:r>
              <a:rPr lang="en-US" altLang="ko-KR" sz="2000" b="1" dirty="0" err="1" smtClean="0"/>
              <a:t>w.create_line</a:t>
            </a:r>
            <a:r>
              <a:rPr lang="en-US" altLang="ko-KR" sz="2000" b="1" dirty="0" smtClean="0"/>
              <a:t>(0, 100, 200, 0, fill="red", dash=(4, 4))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err="1" smtClean="0"/>
              <a:t>w.create_rectangle</a:t>
            </a:r>
            <a:r>
              <a:rPr lang="en-US" altLang="ko-KR" sz="2000" b="1" dirty="0" smtClean="0"/>
              <a:t>(50, 25, 150, 75, fill="blue")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# </a:t>
            </a:r>
            <a:r>
              <a:rPr lang="en-US" altLang="ko-KR" sz="2000" b="1" dirty="0" err="1" smtClean="0"/>
              <a:t>w.delete</a:t>
            </a:r>
            <a:r>
              <a:rPr lang="en-US" altLang="ko-KR" sz="2000" b="1" dirty="0" smtClean="0"/>
              <a:t>(</a:t>
            </a:r>
            <a:r>
              <a:rPr lang="en-US" altLang="ko-KR" sz="2000" b="1" dirty="0" err="1" smtClean="0"/>
              <a:t>i</a:t>
            </a:r>
            <a:r>
              <a:rPr lang="en-US" altLang="ko-KR" sz="2000" b="1" dirty="0" smtClean="0"/>
              <a:t>) # remove</a:t>
            </a:r>
          </a:p>
          <a:p>
            <a:r>
              <a:rPr lang="en-US" altLang="ko-KR" sz="2000" b="1" dirty="0" err="1" smtClean="0"/>
              <a:t>mainloop</a:t>
            </a:r>
            <a:r>
              <a:rPr lang="en-US" altLang="ko-KR" sz="2000" b="1" dirty="0" smtClean="0"/>
              <a:t>()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Canvas Widget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6007396" y="180753"/>
            <a:ext cx="219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rgbClr val="0000FF"/>
                </a:solidFill>
              </a:rPr>
              <a:t># canvas-2.py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25062" y="1116532"/>
            <a:ext cx="8379725" cy="37856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#  Canvas</a:t>
            </a:r>
            <a:r>
              <a:rPr lang="ko-KR" altLang="en-US" sz="2000" b="1" dirty="0" smtClean="0"/>
              <a:t>에 </a:t>
            </a:r>
            <a:r>
              <a:rPr lang="en-US" altLang="ko-KR" sz="2000" b="1" dirty="0" smtClean="0"/>
              <a:t>arc. image</a:t>
            </a:r>
            <a:r>
              <a:rPr lang="ko-KR" altLang="en-US" sz="2000" b="1" dirty="0" smtClean="0"/>
              <a:t>를 표시</a:t>
            </a:r>
            <a:endParaRPr lang="en-US" altLang="ko-KR" sz="2000" b="1" dirty="0" smtClean="0"/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*</a:t>
            </a:r>
          </a:p>
          <a:p>
            <a:r>
              <a:rPr lang="en-US" altLang="ko-KR" sz="2000" b="1" dirty="0" smtClean="0"/>
              <a:t>top = </a:t>
            </a:r>
            <a:r>
              <a:rPr lang="en-US" altLang="ko-KR" sz="2000" b="1" dirty="0" err="1" smtClean="0"/>
              <a:t>Tk</a:t>
            </a:r>
            <a:r>
              <a:rPr lang="en-US" altLang="ko-KR" sz="2000" b="1" dirty="0" smtClean="0"/>
              <a:t>()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smtClean="0"/>
              <a:t>C = Canvas(top, </a:t>
            </a:r>
            <a:r>
              <a:rPr lang="en-US" altLang="ko-KR" sz="2000" b="1" dirty="0" err="1" smtClean="0"/>
              <a:t>bg</a:t>
            </a:r>
            <a:r>
              <a:rPr lang="en-US" altLang="ko-KR" sz="2000" b="1" dirty="0" smtClean="0"/>
              <a:t>="blue", height=300, width=300)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err="1" smtClean="0"/>
              <a:t>coord</a:t>
            </a:r>
            <a:r>
              <a:rPr lang="en-US" altLang="ko-KR" sz="2000" b="1" dirty="0" smtClean="0"/>
              <a:t> = 10, 10, 290, 290   # arc size</a:t>
            </a:r>
          </a:p>
          <a:p>
            <a:r>
              <a:rPr lang="en-US" altLang="ko-KR" sz="2000" b="1" dirty="0" smtClean="0"/>
              <a:t>arc = </a:t>
            </a:r>
            <a:r>
              <a:rPr lang="en-US" altLang="ko-KR" sz="2000" b="1" dirty="0" err="1" smtClean="0"/>
              <a:t>C.create_arc</a:t>
            </a:r>
            <a:r>
              <a:rPr lang="en-US" altLang="ko-KR" sz="2000" b="1" dirty="0" smtClean="0"/>
              <a:t>(</a:t>
            </a:r>
            <a:r>
              <a:rPr lang="en-US" altLang="ko-KR" sz="2000" b="1" dirty="0" err="1" smtClean="0"/>
              <a:t>coord</a:t>
            </a:r>
            <a:r>
              <a:rPr lang="en-US" altLang="ko-KR" sz="2000" b="1" dirty="0" smtClean="0"/>
              <a:t>, start=0, extent=290, fill="red")</a:t>
            </a:r>
          </a:p>
          <a:p>
            <a:endParaRPr lang="en-US" altLang="ko-KR" sz="2000" b="1" dirty="0" smtClean="0"/>
          </a:p>
          <a:p>
            <a:r>
              <a:rPr lang="en-US" altLang="ko-KR" sz="2000" b="1" dirty="0" err="1" smtClean="0"/>
              <a:t>C.pack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err="1" smtClean="0"/>
              <a:t>top.mainloop</a:t>
            </a:r>
            <a:r>
              <a:rPr lang="en-US" altLang="ko-KR" sz="2000" b="1" dirty="0" smtClean="0"/>
              <a:t>()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Canvas  arc. objects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6007396" y="180753"/>
            <a:ext cx="219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rgbClr val="0000FF"/>
                </a:solidFill>
              </a:rPr>
              <a:t># canvas-3.py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25062" y="1116532"/>
            <a:ext cx="8379725" cy="31700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/>
              <a:t>from </a:t>
            </a:r>
            <a:r>
              <a:rPr lang="en-US" sz="2000" b="1" dirty="0" err="1" smtClean="0"/>
              <a:t>tkinter</a:t>
            </a:r>
            <a:r>
              <a:rPr lang="en-US" sz="2000" b="1" dirty="0" smtClean="0"/>
              <a:t> import *</a:t>
            </a:r>
            <a:br>
              <a:rPr lang="en-US" sz="2000" b="1" dirty="0" smtClean="0"/>
            </a:br>
            <a:r>
              <a:rPr lang="en-US" sz="2000" b="1" dirty="0" smtClean="0"/>
              <a:t>top = </a:t>
            </a:r>
            <a:r>
              <a:rPr lang="en-US" sz="2000" b="1" dirty="0" err="1" smtClean="0"/>
              <a:t>Tk</a:t>
            </a:r>
            <a:r>
              <a:rPr lang="en-US" sz="2000" b="1" dirty="0" smtClean="0"/>
              <a:t>()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C = Canvas(top, </a:t>
            </a:r>
            <a:r>
              <a:rPr lang="en-US" sz="2000" b="1" dirty="0" err="1" smtClean="0"/>
              <a:t>bg</a:t>
            </a:r>
            <a:r>
              <a:rPr lang="en-US" sz="2000" b="1" dirty="0" smtClean="0"/>
              <a:t>="#556677", width=800, height=480)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filename = </a:t>
            </a:r>
            <a:r>
              <a:rPr lang="en-US" sz="2000" b="1" dirty="0" err="1" smtClean="0"/>
              <a:t>PhotoImage</a:t>
            </a:r>
            <a:r>
              <a:rPr lang="en-US" sz="2000" b="1" dirty="0" smtClean="0"/>
              <a:t>(file = "../image/dog.png")</a:t>
            </a:r>
            <a:br>
              <a:rPr lang="en-US" sz="2000" b="1" dirty="0" smtClean="0"/>
            </a:br>
            <a:r>
              <a:rPr lang="en-US" sz="2000" b="1" dirty="0" smtClean="0"/>
              <a:t>image = </a:t>
            </a:r>
            <a:r>
              <a:rPr lang="en-US" sz="2000" b="1" dirty="0" err="1" smtClean="0"/>
              <a:t>C.create_image</a:t>
            </a:r>
            <a:r>
              <a:rPr lang="en-US" sz="2000" b="1" dirty="0" smtClean="0"/>
              <a:t>(300, 100, anchor=NW, image=filename)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err="1" smtClean="0"/>
              <a:t>C.pack</a:t>
            </a:r>
            <a:r>
              <a:rPr lang="en-US" sz="2000" b="1" dirty="0" smtClean="0"/>
              <a:t>()</a:t>
            </a:r>
            <a:br>
              <a:rPr lang="en-US" sz="2000" b="1" dirty="0" smtClean="0"/>
            </a:br>
            <a:r>
              <a:rPr lang="en-US" sz="2000" b="1" dirty="0" err="1" smtClean="0"/>
              <a:t>top.mainloop</a:t>
            </a:r>
            <a:r>
              <a:rPr lang="en-US" sz="2000" b="1" dirty="0" smtClean="0"/>
              <a:t>()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Canvas Image objects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6007396" y="180753"/>
            <a:ext cx="2488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>
                <a:solidFill>
                  <a:srgbClr val="0000FF"/>
                </a:solidFill>
              </a:rPr>
              <a:t># canvas-3-1.py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61665" y="1003282"/>
            <a:ext cx="8509380" cy="563231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*</a:t>
            </a:r>
          </a:p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</a:t>
            </a:r>
            <a:r>
              <a:rPr lang="en-US" altLang="ko-KR" sz="2000" b="1" dirty="0" err="1" smtClean="0"/>
              <a:t>messagebox</a:t>
            </a:r>
            <a:endParaRPr lang="en-US" altLang="ko-KR" sz="2000" b="1" dirty="0" smtClean="0"/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smtClean="0"/>
              <a:t>root = </a:t>
            </a:r>
            <a:r>
              <a:rPr lang="en-US" altLang="ko-KR" sz="2000" b="1" dirty="0" err="1" smtClean="0"/>
              <a:t>Tk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smtClean="0"/>
              <a:t>def </a:t>
            </a:r>
            <a:r>
              <a:rPr lang="en-US" altLang="ko-KR" sz="2000" b="1" dirty="0" err="1" smtClean="0"/>
              <a:t>okClick</a:t>
            </a:r>
            <a:r>
              <a:rPr lang="en-US" altLang="ko-KR" sz="2000" b="1" dirty="0" smtClean="0"/>
              <a:t>():          </a:t>
            </a:r>
            <a:r>
              <a:rPr lang="en-US" altLang="ko-KR" dirty="0" smtClean="0"/>
              <a:t># </a:t>
            </a:r>
            <a:r>
              <a:rPr lang="ko-KR" altLang="en-US" dirty="0" smtClean="0"/>
              <a:t>버튼 클릭 이벤트 </a:t>
            </a:r>
            <a:r>
              <a:rPr lang="ko-KR" altLang="en-US" dirty="0" err="1" smtClean="0"/>
              <a:t>핸들러</a:t>
            </a:r>
            <a:endParaRPr lang="en-US" altLang="ko-KR" sz="2000" dirty="0" smtClean="0"/>
          </a:p>
          <a:p>
            <a:r>
              <a:rPr lang="en-US" altLang="ko-KR" sz="2000" b="1" dirty="0" smtClean="0"/>
              <a:t>    name = </a:t>
            </a:r>
            <a:r>
              <a:rPr lang="en-US" altLang="ko-KR" sz="2000" b="1" dirty="0" err="1" smtClean="0"/>
              <a:t>txt.get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smtClean="0"/>
              <a:t>    </a:t>
            </a:r>
            <a:r>
              <a:rPr lang="en-US" altLang="ko-KR" sz="2000" b="1" dirty="0" err="1" smtClean="0"/>
              <a:t>messagebox.showinfo</a:t>
            </a:r>
            <a:r>
              <a:rPr lang="en-US" altLang="ko-KR" sz="2000" b="1" dirty="0" smtClean="0"/>
              <a:t>("</a:t>
            </a:r>
            <a:r>
              <a:rPr lang="ko-KR" altLang="en-US" sz="2000" b="1" dirty="0" smtClean="0"/>
              <a:t>이름</a:t>
            </a:r>
            <a:r>
              <a:rPr lang="en-US" altLang="ko-KR" sz="2000" b="1" dirty="0" smtClean="0"/>
              <a:t>", name)</a:t>
            </a:r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err="1" smtClean="0"/>
              <a:t>lbl</a:t>
            </a:r>
            <a:r>
              <a:rPr lang="en-US" altLang="ko-KR" sz="2000" b="1" dirty="0" smtClean="0"/>
              <a:t> = Label(root, text="</a:t>
            </a:r>
            <a:r>
              <a:rPr lang="ko-KR" altLang="en-US" sz="2000" b="1" dirty="0" smtClean="0"/>
              <a:t>이름</a:t>
            </a:r>
            <a:r>
              <a:rPr lang="en-US" altLang="ko-KR" sz="2000" b="1" dirty="0" smtClean="0"/>
              <a:t>")</a:t>
            </a:r>
          </a:p>
          <a:p>
            <a:r>
              <a:rPr lang="en-US" altLang="ko-KR" sz="2000" b="1" dirty="0" err="1" smtClean="0"/>
              <a:t>lbl.grid</a:t>
            </a:r>
            <a:r>
              <a:rPr lang="en-US" altLang="ko-KR" sz="2000" b="1" dirty="0" smtClean="0"/>
              <a:t>(row=0, column=0)</a:t>
            </a:r>
          </a:p>
          <a:p>
            <a:r>
              <a:rPr lang="en-US" altLang="ko-KR" sz="2000" b="1" dirty="0" smtClean="0"/>
              <a:t>txt = Entry(root)</a:t>
            </a:r>
          </a:p>
          <a:p>
            <a:r>
              <a:rPr lang="en-US" altLang="ko-KR" sz="2000" b="1" dirty="0" err="1" smtClean="0"/>
              <a:t>txt.grid</a:t>
            </a:r>
            <a:r>
              <a:rPr lang="en-US" altLang="ko-KR" sz="2000" b="1" dirty="0" smtClean="0"/>
              <a:t>(row=0, column=1)</a:t>
            </a:r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smtClean="0"/>
              <a:t># </a:t>
            </a:r>
            <a:r>
              <a:rPr lang="ko-KR" altLang="en-US" sz="2000" b="1" dirty="0" smtClean="0"/>
              <a:t>버튼 클릭 이벤트와 </a:t>
            </a:r>
            <a:r>
              <a:rPr lang="ko-KR" altLang="en-US" sz="2000" b="1" dirty="0" err="1" smtClean="0"/>
              <a:t>핸들러</a:t>
            </a:r>
            <a:r>
              <a:rPr lang="ko-KR" altLang="en-US" sz="2000" b="1" dirty="0" smtClean="0"/>
              <a:t> 정의</a:t>
            </a:r>
          </a:p>
          <a:p>
            <a:r>
              <a:rPr lang="en-US" altLang="ko-KR" sz="2000" b="1" dirty="0" err="1" smtClean="0"/>
              <a:t>btn</a:t>
            </a:r>
            <a:r>
              <a:rPr lang="en-US" altLang="ko-KR" sz="2000" b="1" dirty="0" smtClean="0"/>
              <a:t> = Button(root, text="OK", command=</a:t>
            </a:r>
            <a:r>
              <a:rPr lang="en-US" altLang="ko-KR" sz="2000" b="1" dirty="0" err="1" smtClean="0"/>
              <a:t>okClick</a:t>
            </a:r>
            <a:r>
              <a:rPr lang="en-US" altLang="ko-KR" sz="2000" b="1" dirty="0" smtClean="0"/>
              <a:t>)</a:t>
            </a:r>
          </a:p>
          <a:p>
            <a:r>
              <a:rPr lang="en-US" altLang="ko-KR" sz="2000" b="1" dirty="0" smtClean="0"/>
              <a:t> </a:t>
            </a:r>
            <a:r>
              <a:rPr lang="en-US" altLang="ko-KR" sz="2000" b="1" dirty="0" err="1" smtClean="0"/>
              <a:t>btn.grid</a:t>
            </a:r>
            <a:r>
              <a:rPr lang="en-US" altLang="ko-KR" sz="2000" b="1" dirty="0" smtClean="0"/>
              <a:t>(row=1, column=1) </a:t>
            </a:r>
          </a:p>
          <a:p>
            <a:r>
              <a:rPr lang="en-US" altLang="ko-KR" sz="2000" b="1" dirty="0" err="1" smtClean="0"/>
              <a:t>root.mainloop</a:t>
            </a:r>
            <a:r>
              <a:rPr lang="en-US" altLang="ko-KR" sz="2000" b="1" dirty="0" smtClean="0"/>
              <a:t>()</a:t>
            </a:r>
            <a:endParaRPr lang="ko-KR" altLang="en-US" sz="2000" b="1" dirty="0"/>
          </a:p>
        </p:txBody>
      </p:sp>
      <p:sp>
        <p:nvSpPr>
          <p:cNvPr id="3" name="TextBox 4"/>
          <p:cNvSpPr txBox="1"/>
          <p:nvPr/>
        </p:nvSpPr>
        <p:spPr>
          <a:xfrm>
            <a:off x="5800299" y="1119116"/>
            <a:ext cx="3050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# </a:t>
            </a:r>
            <a:r>
              <a:rPr lang="ko-KR" altLang="en-US" dirty="0" smtClean="0"/>
              <a:t>버튼이나 메뉴 클릭 </a:t>
            </a:r>
            <a:r>
              <a:rPr lang="ko-KR" altLang="en-US" dirty="0" err="1" smtClean="0"/>
              <a:t>핸드링</a:t>
            </a:r>
            <a:endParaRPr lang="en-US" altLang="ko-KR" dirty="0" smtClean="0"/>
          </a:p>
          <a:p>
            <a:r>
              <a:rPr lang="en-US" altLang="ko-KR" dirty="0" smtClean="0"/>
              <a:t># “command”= </a:t>
            </a:r>
            <a:r>
              <a:rPr lang="ko-KR" altLang="en-US" dirty="0" smtClean="0"/>
              <a:t>옵션 사용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이벤트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n-ea"/>
              </a:rPr>
              <a:t>핸드링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39088" y="1937190"/>
            <a:ext cx="7963470" cy="37856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from </a:t>
            </a:r>
            <a:r>
              <a:rPr lang="en-US" altLang="ko-KR" sz="2000" b="1" dirty="0" err="1" smtClean="0"/>
              <a:t>tkinter</a:t>
            </a:r>
            <a:r>
              <a:rPr lang="en-US" altLang="ko-KR" sz="2000" b="1" dirty="0" smtClean="0"/>
              <a:t> import *</a:t>
            </a:r>
          </a:p>
          <a:p>
            <a:r>
              <a:rPr lang="en-US" altLang="ko-KR" sz="2000" b="1" dirty="0" smtClean="0"/>
              <a:t>root = </a:t>
            </a:r>
            <a:r>
              <a:rPr lang="en-US" altLang="ko-KR" sz="2000" b="1" dirty="0" err="1" smtClean="0"/>
              <a:t>Tk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smtClean="0"/>
              <a:t>def click(event):</a:t>
            </a:r>
          </a:p>
          <a:p>
            <a:r>
              <a:rPr lang="en-US" altLang="ko-KR" sz="2000" b="1" dirty="0" smtClean="0"/>
              <a:t>    print("</a:t>
            </a:r>
            <a:r>
              <a:rPr lang="ko-KR" altLang="en-US" sz="2000" b="1" dirty="0" smtClean="0"/>
              <a:t>클릭위치</a:t>
            </a:r>
            <a:r>
              <a:rPr lang="en-US" altLang="ko-KR" sz="2000" b="1" dirty="0" smtClean="0"/>
              <a:t>", </a:t>
            </a:r>
            <a:r>
              <a:rPr lang="en-US" altLang="ko-KR" sz="2000" b="1" dirty="0" err="1" smtClean="0"/>
              <a:t>event.x</a:t>
            </a:r>
            <a:r>
              <a:rPr lang="en-US" altLang="ko-KR" sz="2000" b="1" dirty="0" smtClean="0"/>
              <a:t>, </a:t>
            </a:r>
            <a:r>
              <a:rPr lang="en-US" altLang="ko-KR" sz="2000" b="1" dirty="0" err="1" smtClean="0"/>
              <a:t>event.y</a:t>
            </a:r>
            <a:r>
              <a:rPr lang="en-US" altLang="ko-KR" sz="2000" b="1" dirty="0" smtClean="0"/>
              <a:t>)</a:t>
            </a:r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smtClean="0"/>
              <a:t>frame = Frame(root, width=300, height=300)</a:t>
            </a:r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smtClean="0"/>
              <a:t> </a:t>
            </a:r>
            <a:r>
              <a:rPr lang="en-US" altLang="ko-KR" sz="2000" b="1" dirty="0" err="1" smtClean="0"/>
              <a:t>frame.bind</a:t>
            </a:r>
            <a:r>
              <a:rPr lang="en-US" altLang="ko-KR" sz="2000" b="1" dirty="0" smtClean="0"/>
              <a:t>("&lt;Button-1&gt;", click)         #</a:t>
            </a:r>
            <a:r>
              <a:rPr lang="ko-KR" altLang="en-US" sz="2000" b="1" dirty="0" smtClean="0"/>
              <a:t>왼쪽 마우스 버튼 바인딩</a:t>
            </a:r>
            <a:endParaRPr lang="en-US" altLang="ko-KR" sz="2000" b="1" dirty="0" smtClean="0"/>
          </a:p>
          <a:p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 err="1" smtClean="0"/>
              <a:t>frame.pack</a:t>
            </a:r>
            <a:r>
              <a:rPr lang="en-US" altLang="ko-KR" sz="2000" b="1" dirty="0" smtClean="0"/>
              <a:t>()</a:t>
            </a:r>
          </a:p>
          <a:p>
            <a:r>
              <a:rPr lang="en-US" altLang="ko-KR" sz="2000" b="1" dirty="0" err="1" smtClean="0"/>
              <a:t>root.mainloop</a:t>
            </a:r>
            <a:r>
              <a:rPr lang="en-US" altLang="ko-KR" sz="2000" b="1" dirty="0" smtClean="0"/>
              <a:t>()</a:t>
            </a:r>
            <a:endParaRPr lang="ko-KR" altLang="en-US" sz="2000" b="1" dirty="0"/>
          </a:p>
        </p:txBody>
      </p:sp>
      <p:sp>
        <p:nvSpPr>
          <p:cNvPr id="3" name="TextBox 4"/>
          <p:cNvSpPr txBox="1"/>
          <p:nvPr/>
        </p:nvSpPr>
        <p:spPr>
          <a:xfrm>
            <a:off x="723331" y="1146412"/>
            <a:ext cx="6572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smtClean="0">
                <a:solidFill>
                  <a:srgbClr val="0000FF"/>
                </a:solidFill>
              </a:rPr>
              <a:t>이벤트와 이벤트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핸들러</a:t>
            </a:r>
            <a:r>
              <a:rPr lang="en-US" altLang="ko-KR" b="1" dirty="0" smtClean="0">
                <a:solidFill>
                  <a:srgbClr val="0000FF"/>
                </a:solidFill>
              </a:rPr>
              <a:t>(</a:t>
            </a:r>
            <a:r>
              <a:rPr lang="ko-KR" altLang="en-US" b="1" dirty="0" err="1" smtClean="0">
                <a:solidFill>
                  <a:srgbClr val="0000FF"/>
                </a:solidFill>
              </a:rPr>
              <a:t>메서드</a:t>
            </a:r>
            <a:r>
              <a:rPr lang="en-US" altLang="ko-KR" b="1" dirty="0" smtClean="0">
                <a:solidFill>
                  <a:srgbClr val="0000FF"/>
                </a:solidFill>
              </a:rPr>
              <a:t>/</a:t>
            </a:r>
            <a:r>
              <a:rPr lang="ko-KR" altLang="en-US" b="1" dirty="0" smtClean="0">
                <a:solidFill>
                  <a:srgbClr val="0000FF"/>
                </a:solidFill>
              </a:rPr>
              <a:t>함수</a:t>
            </a:r>
            <a:r>
              <a:rPr lang="en-US" altLang="ko-KR" b="1" dirty="0" smtClean="0">
                <a:solidFill>
                  <a:srgbClr val="0000FF"/>
                </a:solidFill>
              </a:rPr>
              <a:t>)</a:t>
            </a:r>
            <a:r>
              <a:rPr lang="ko-KR" altLang="en-US" b="1" dirty="0" smtClean="0">
                <a:solidFill>
                  <a:srgbClr val="0000FF"/>
                </a:solidFill>
              </a:rPr>
              <a:t>를 연결하는 </a:t>
            </a:r>
            <a:r>
              <a:rPr lang="en-US" altLang="ko-KR" b="1" dirty="0" smtClean="0">
                <a:solidFill>
                  <a:srgbClr val="0000FF"/>
                </a:solidFill>
              </a:rPr>
              <a:t>bind()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메서드</a:t>
            </a:r>
            <a:endParaRPr lang="en-US" altLang="ko-KR" b="1" dirty="0" smtClean="0">
              <a:solidFill>
                <a:srgbClr val="0000FF"/>
              </a:solidFill>
            </a:endParaRPr>
          </a:p>
          <a:p>
            <a:r>
              <a:rPr lang="ko-KR" altLang="en-US" b="1" dirty="0" err="1" smtClean="0">
                <a:solidFill>
                  <a:srgbClr val="0000FF"/>
                </a:solidFill>
              </a:rPr>
              <a:t>위젯</a:t>
            </a:r>
            <a:r>
              <a:rPr lang="en-US" altLang="ko-KR" b="1" dirty="0" smtClean="0">
                <a:solidFill>
                  <a:srgbClr val="0000FF"/>
                </a:solidFill>
              </a:rPr>
              <a:t>.bind(event, handler)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이벤트 바인딩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80030" y="1364482"/>
            <a:ext cx="7444854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400"/>
              </a:lnSpc>
            </a:pPr>
            <a:r>
              <a:rPr lang="en-US" altLang="ko-KR" sz="2400" b="1" dirty="0" smtClean="0"/>
              <a:t>&lt;Button-1&gt;</a:t>
            </a:r>
            <a:r>
              <a:rPr lang="ko-KR" altLang="en-US" sz="2400" dirty="0" smtClean="0"/>
              <a:t> 마우스 왼쪽 버튼 클릭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smtClean="0"/>
              <a:t>&lt;Button-2&gt;</a:t>
            </a:r>
            <a:r>
              <a:rPr lang="ko-KR" altLang="en-US" sz="2400" dirty="0" smtClean="0"/>
              <a:t> 마우스 중간 버튼 클릭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smtClean="0"/>
              <a:t>&lt;Button-3&gt;</a:t>
            </a:r>
            <a:r>
              <a:rPr lang="ko-KR" altLang="en-US" sz="2400" dirty="0" smtClean="0"/>
              <a:t> 마우스 오른쪽 버튼 클릭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smtClean="0"/>
              <a:t>&lt;Double-Button-1&gt;</a:t>
            </a:r>
            <a:r>
              <a:rPr lang="ko-KR" altLang="en-US" sz="2400" dirty="0" smtClean="0"/>
              <a:t> 왼쪽 버튼 더블클릭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smtClean="0"/>
              <a:t>&lt;Return&gt;</a:t>
            </a:r>
            <a:r>
              <a:rPr lang="ko-KR" altLang="en-US" sz="2400" dirty="0" smtClean="0"/>
              <a:t> </a:t>
            </a:r>
            <a:r>
              <a:rPr lang="en-US" altLang="ko-KR" sz="2400" dirty="0" smtClean="0"/>
              <a:t>Enter </a:t>
            </a:r>
            <a:r>
              <a:rPr lang="ko-KR" altLang="en-US" sz="2400" dirty="0" smtClean="0"/>
              <a:t>키 눌려짐</a:t>
            </a:r>
          </a:p>
          <a:p>
            <a:pPr>
              <a:lnSpc>
                <a:spcPts val="3400"/>
              </a:lnSpc>
            </a:pPr>
            <a:r>
              <a:rPr lang="en-US" altLang="ko-KR" sz="2400" b="1" dirty="0" smtClean="0"/>
              <a:t>&lt;Key&gt;</a:t>
            </a:r>
            <a:r>
              <a:rPr lang="ko-KR" altLang="en-US" sz="2400" dirty="0" smtClean="0"/>
              <a:t> 키가 눌려짐</a:t>
            </a:r>
            <a:endParaRPr lang="ko-KR" altLang="en-US" sz="2400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이벤트 명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6130" y="1167853"/>
            <a:ext cx="842749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err="1" smtClean="0">
                <a:solidFill>
                  <a:srgbClr val="0000FF"/>
                </a:solidFill>
              </a:rPr>
              <a:t>이벤트핸들러</a:t>
            </a:r>
            <a:r>
              <a:rPr lang="en-US" altLang="ko-KR" b="1" dirty="0" smtClean="0">
                <a:solidFill>
                  <a:srgbClr val="0000FF"/>
                </a:solidFill>
              </a:rPr>
              <a:t>(</a:t>
            </a:r>
            <a:r>
              <a:rPr lang="ko-KR" altLang="en-US" b="1" dirty="0" smtClean="0">
                <a:solidFill>
                  <a:srgbClr val="0000FF"/>
                </a:solidFill>
              </a:rPr>
              <a:t>이벤트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콜백</a:t>
            </a:r>
            <a:r>
              <a:rPr lang="en-US" altLang="ko-KR" b="1" dirty="0" smtClean="0">
                <a:solidFill>
                  <a:srgbClr val="0000FF"/>
                </a:solidFill>
              </a:rPr>
              <a:t>)</a:t>
            </a:r>
            <a:r>
              <a:rPr lang="ko-KR" altLang="en-US" b="1" dirty="0" smtClean="0">
                <a:solidFill>
                  <a:srgbClr val="0000FF"/>
                </a:solidFill>
              </a:rPr>
              <a:t>는 </a:t>
            </a:r>
            <a:r>
              <a:rPr lang="en-US" altLang="ko-KR" b="1" dirty="0" smtClean="0">
                <a:solidFill>
                  <a:srgbClr val="0000FF"/>
                </a:solidFill>
              </a:rPr>
              <a:t>event</a:t>
            </a:r>
            <a:r>
              <a:rPr lang="ko-KR" altLang="en-US" b="1" dirty="0" smtClean="0">
                <a:solidFill>
                  <a:srgbClr val="0000FF"/>
                </a:solidFill>
              </a:rPr>
              <a:t>라는 하나의 파라미터를 가진다</a:t>
            </a:r>
            <a:r>
              <a:rPr lang="en-US" altLang="ko-KR" b="1" dirty="0" smtClean="0">
                <a:solidFill>
                  <a:srgbClr val="0000FF"/>
                </a:solidFill>
              </a:rPr>
              <a:t>.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80030" y="1697588"/>
            <a:ext cx="7076363" cy="25545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ko-KR" sz="2000" b="1" dirty="0" smtClean="0"/>
              <a:t>char</a:t>
            </a:r>
            <a:r>
              <a:rPr lang="ko-KR" altLang="en-US" sz="2000" dirty="0" smtClean="0"/>
              <a:t> </a:t>
            </a:r>
            <a:r>
              <a:rPr lang="ko-KR" altLang="en-US" sz="2000" dirty="0" err="1" smtClean="0"/>
              <a:t>키보트</a:t>
            </a:r>
            <a:r>
              <a:rPr lang="ko-KR" altLang="en-US" sz="2000" dirty="0" smtClean="0"/>
              <a:t> 이벤트에서 발생하는 문자 하나</a:t>
            </a:r>
          </a:p>
          <a:p>
            <a:pPr>
              <a:lnSpc>
                <a:spcPts val="3200"/>
              </a:lnSpc>
            </a:pPr>
            <a:r>
              <a:rPr lang="en-US" altLang="ko-KR" sz="2000" b="1" dirty="0" err="1" smtClean="0"/>
              <a:t>keysym</a:t>
            </a:r>
            <a:r>
              <a:rPr lang="ko-KR" altLang="en-US" sz="2000" dirty="0" smtClean="0"/>
              <a:t> </a:t>
            </a:r>
            <a:r>
              <a:rPr lang="ko-KR" altLang="en-US" sz="2000" dirty="0" err="1" smtClean="0"/>
              <a:t>키보트</a:t>
            </a:r>
            <a:r>
              <a:rPr lang="ko-KR" altLang="en-US" sz="2000" dirty="0" smtClean="0"/>
              <a:t> 이벤트에서 발생하는 키의 </a:t>
            </a:r>
            <a:r>
              <a:rPr lang="ko-KR" altLang="en-US" sz="2000" dirty="0" err="1" smtClean="0"/>
              <a:t>심볼명</a:t>
            </a:r>
            <a:endParaRPr lang="ko-KR" altLang="en-US" sz="2000" dirty="0" smtClean="0"/>
          </a:p>
          <a:p>
            <a:pPr>
              <a:lnSpc>
                <a:spcPts val="3200"/>
              </a:lnSpc>
            </a:pPr>
            <a:r>
              <a:rPr lang="en-US" altLang="ko-KR" sz="2000" b="1" dirty="0" smtClean="0"/>
              <a:t>num</a:t>
            </a:r>
            <a:r>
              <a:rPr lang="ko-KR" altLang="en-US" sz="2000" dirty="0" smtClean="0"/>
              <a:t> 마우스 이벤트의 버튼 번호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왼쪽부터 </a:t>
            </a:r>
            <a:r>
              <a:rPr lang="en-US" altLang="ko-KR" sz="2000" dirty="0" smtClean="0"/>
              <a:t>1, 2, 3</a:t>
            </a:r>
          </a:p>
          <a:p>
            <a:pPr>
              <a:lnSpc>
                <a:spcPts val="3200"/>
              </a:lnSpc>
            </a:pPr>
            <a:r>
              <a:rPr lang="en-US" altLang="ko-KR" sz="2000" b="1" dirty="0" smtClean="0"/>
              <a:t>x, y</a:t>
            </a:r>
            <a:r>
              <a:rPr lang="ko-KR" altLang="en-US" sz="2000" dirty="0" smtClean="0"/>
              <a:t> </a:t>
            </a:r>
            <a:r>
              <a:rPr lang="ko-KR" altLang="en-US" sz="2000" dirty="0" err="1" smtClean="0"/>
              <a:t>위젯의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죄상단으로부터의</a:t>
            </a:r>
            <a:r>
              <a:rPr lang="ko-KR" altLang="en-US" sz="2000" dirty="0" smtClean="0"/>
              <a:t> 상대적 마우스 위치</a:t>
            </a:r>
          </a:p>
          <a:p>
            <a:pPr>
              <a:lnSpc>
                <a:spcPts val="3200"/>
              </a:lnSpc>
            </a:pPr>
            <a:r>
              <a:rPr lang="en-US" altLang="ko-KR" sz="2000" b="1" dirty="0" err="1" smtClean="0"/>
              <a:t>x_root</a:t>
            </a:r>
            <a:r>
              <a:rPr lang="en-US" altLang="ko-KR" sz="2000" b="1" dirty="0" smtClean="0"/>
              <a:t>, </a:t>
            </a:r>
            <a:r>
              <a:rPr lang="en-US" altLang="ko-KR" sz="2000" b="1" dirty="0" err="1" smtClean="0"/>
              <a:t>y_root</a:t>
            </a:r>
            <a:r>
              <a:rPr lang="ko-KR" altLang="en-US" sz="2000" dirty="0" smtClean="0"/>
              <a:t> 화면 </a:t>
            </a:r>
            <a:r>
              <a:rPr lang="ko-KR" altLang="en-US" sz="2000" dirty="0" err="1" smtClean="0"/>
              <a:t>죄상단으로부터의</a:t>
            </a:r>
            <a:r>
              <a:rPr lang="ko-KR" altLang="en-US" sz="2000" dirty="0" smtClean="0"/>
              <a:t> 상대적 마우스 위치</a:t>
            </a:r>
          </a:p>
          <a:p>
            <a:pPr>
              <a:lnSpc>
                <a:spcPts val="3200"/>
              </a:lnSpc>
            </a:pPr>
            <a:r>
              <a:rPr lang="en-US" altLang="ko-KR" sz="2000" b="1" dirty="0" smtClean="0"/>
              <a:t>Key</a:t>
            </a:r>
            <a:r>
              <a:rPr lang="ko-KR" altLang="en-US" sz="2000" dirty="0" smtClean="0"/>
              <a:t> 이벤트가 발생한 </a:t>
            </a:r>
            <a:r>
              <a:rPr lang="ko-KR" altLang="en-US" sz="2000" dirty="0" err="1" smtClean="0"/>
              <a:t>위젯</a:t>
            </a:r>
            <a:endParaRPr lang="ko-KR" altLang="en-US" sz="2000" dirty="0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Event Object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6257" y="1097086"/>
            <a:ext cx="8250071" cy="4196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ko-KR" sz="2400" b="1" dirty="0" smtClean="0"/>
              <a:t>from </a:t>
            </a:r>
            <a:r>
              <a:rPr lang="en-US" altLang="ko-KR" sz="2400" b="1" dirty="0" err="1" smtClean="0"/>
              <a:t>tkinter</a:t>
            </a:r>
            <a:r>
              <a:rPr lang="en-US" altLang="ko-KR" sz="2400" b="1" dirty="0" smtClean="0"/>
              <a:t> import * </a:t>
            </a:r>
          </a:p>
          <a:p>
            <a:pPr>
              <a:lnSpc>
                <a:spcPts val="3200"/>
              </a:lnSpc>
            </a:pPr>
            <a:r>
              <a:rPr lang="en-US" altLang="ko-KR" sz="2400" b="1" dirty="0" smtClean="0"/>
              <a:t>def </a:t>
            </a:r>
            <a:r>
              <a:rPr lang="en-US" altLang="ko-KR" sz="2400" b="1" dirty="0" err="1" smtClean="0"/>
              <a:t>keyPressed</a:t>
            </a:r>
            <a:r>
              <a:rPr lang="en-US" altLang="ko-KR" sz="2400" b="1" dirty="0" smtClean="0"/>
              <a:t>(event):     </a:t>
            </a:r>
            <a:r>
              <a:rPr lang="en-US" altLang="ko-KR" sz="2000" dirty="0" smtClean="0"/>
              <a:t># </a:t>
            </a:r>
            <a:r>
              <a:rPr lang="ko-KR" altLang="en-US" sz="2000" dirty="0" smtClean="0"/>
              <a:t>키보드 </a:t>
            </a:r>
            <a:r>
              <a:rPr lang="ko-KR" altLang="en-US" sz="2000" dirty="0" err="1" smtClean="0"/>
              <a:t>문자하나</a:t>
            </a:r>
            <a:r>
              <a:rPr lang="ko-KR" altLang="en-US" sz="2000" dirty="0" smtClean="0"/>
              <a:t> 출력    </a:t>
            </a:r>
            <a:endParaRPr lang="ko-KR" altLang="en-US" sz="2400" dirty="0" smtClean="0"/>
          </a:p>
          <a:p>
            <a:pPr>
              <a:lnSpc>
                <a:spcPts val="3200"/>
              </a:lnSpc>
            </a:pPr>
            <a:r>
              <a:rPr lang="ko-KR" altLang="en-US" sz="2400" b="1" dirty="0" smtClean="0"/>
              <a:t>    </a:t>
            </a:r>
            <a:r>
              <a:rPr lang="en-US" altLang="ko-KR" sz="2400" b="1" dirty="0" smtClean="0"/>
              <a:t>print(</a:t>
            </a:r>
            <a:r>
              <a:rPr lang="en-US" altLang="ko-KR" sz="2400" b="1" dirty="0" err="1" smtClean="0"/>
              <a:t>event.char</a:t>
            </a:r>
            <a:r>
              <a:rPr lang="en-US" altLang="ko-KR" sz="2400" b="1" dirty="0" smtClean="0"/>
              <a:t>) </a:t>
            </a:r>
          </a:p>
          <a:p>
            <a:pPr>
              <a:lnSpc>
                <a:spcPts val="3200"/>
              </a:lnSpc>
            </a:pPr>
            <a:r>
              <a:rPr lang="en-US" altLang="ko-KR" sz="2400" b="1" dirty="0" smtClean="0"/>
              <a:t>root = </a:t>
            </a:r>
            <a:r>
              <a:rPr lang="en-US" altLang="ko-KR" sz="2400" b="1" dirty="0" err="1" smtClean="0"/>
              <a:t>Tk</a:t>
            </a:r>
            <a:r>
              <a:rPr lang="en-US" altLang="ko-KR" sz="2400" b="1" dirty="0" smtClean="0"/>
              <a:t>()</a:t>
            </a:r>
          </a:p>
          <a:p>
            <a:pPr>
              <a:lnSpc>
                <a:spcPts val="3200"/>
              </a:lnSpc>
            </a:pPr>
            <a:r>
              <a:rPr lang="en-US" altLang="ko-KR" sz="2400" b="1" dirty="0" smtClean="0"/>
              <a:t> </a:t>
            </a:r>
          </a:p>
          <a:p>
            <a:pPr>
              <a:lnSpc>
                <a:spcPts val="3200"/>
              </a:lnSpc>
            </a:pPr>
            <a:r>
              <a:rPr lang="en-US" altLang="ko-KR" sz="2400" b="1" dirty="0" smtClean="0"/>
              <a:t>frame = Frame(root, width=100, height=100)</a:t>
            </a:r>
          </a:p>
          <a:p>
            <a:pPr>
              <a:lnSpc>
                <a:spcPts val="3200"/>
              </a:lnSpc>
            </a:pPr>
            <a:r>
              <a:rPr lang="en-US" altLang="ko-KR" sz="2400" b="1" dirty="0" err="1" smtClean="0"/>
              <a:t>frame.bind</a:t>
            </a:r>
            <a:r>
              <a:rPr lang="en-US" altLang="ko-KR" sz="2400" b="1" dirty="0" smtClean="0"/>
              <a:t>('&lt;Key&gt;', </a:t>
            </a:r>
            <a:r>
              <a:rPr lang="en-US" altLang="ko-KR" sz="2400" b="1" dirty="0" err="1" smtClean="0"/>
              <a:t>keyPressed</a:t>
            </a:r>
            <a:r>
              <a:rPr lang="en-US" altLang="ko-KR" sz="2400" b="1" dirty="0" smtClean="0"/>
              <a:t>)     </a:t>
            </a:r>
            <a:r>
              <a:rPr lang="en-US" altLang="ko-KR" sz="2000" dirty="0" smtClean="0"/>
              <a:t># Key </a:t>
            </a:r>
            <a:r>
              <a:rPr lang="ko-KR" altLang="en-US" sz="2000" dirty="0" smtClean="0"/>
              <a:t>이벤트 바인딩</a:t>
            </a:r>
            <a:endParaRPr lang="en-US" altLang="ko-KR" sz="2400" b="1" dirty="0" smtClean="0"/>
          </a:p>
          <a:p>
            <a:pPr>
              <a:lnSpc>
                <a:spcPts val="3200"/>
              </a:lnSpc>
            </a:pPr>
            <a:r>
              <a:rPr lang="en-US" altLang="ko-KR" sz="2400" b="1" dirty="0" err="1" smtClean="0"/>
              <a:t>frame.place</a:t>
            </a:r>
            <a:r>
              <a:rPr lang="en-US" altLang="ko-KR" sz="2400" b="1" dirty="0" smtClean="0"/>
              <a:t>(x=0, y=0) </a:t>
            </a:r>
          </a:p>
          <a:p>
            <a:pPr>
              <a:lnSpc>
                <a:spcPts val="3200"/>
              </a:lnSpc>
            </a:pPr>
            <a:r>
              <a:rPr lang="en-US" altLang="ko-KR" sz="2400" b="1" dirty="0" err="1" smtClean="0"/>
              <a:t>frame.focus_set</a:t>
            </a:r>
            <a:r>
              <a:rPr lang="en-US" altLang="ko-KR" sz="2400" b="1" dirty="0" smtClean="0"/>
              <a:t>()         </a:t>
            </a:r>
            <a:r>
              <a:rPr lang="en-US" altLang="ko-KR" sz="2000" dirty="0" smtClean="0"/>
              <a:t># </a:t>
            </a:r>
            <a:r>
              <a:rPr lang="ko-KR" altLang="en-US" sz="2000" dirty="0" smtClean="0"/>
              <a:t>키보드 포커를 갖게 한다</a:t>
            </a:r>
            <a:r>
              <a:rPr lang="en-US" altLang="ko-KR" sz="2000" dirty="0" smtClean="0"/>
              <a:t> </a:t>
            </a:r>
            <a:endParaRPr lang="en-US" altLang="ko-KR" sz="2400" dirty="0" smtClean="0"/>
          </a:p>
          <a:p>
            <a:pPr>
              <a:lnSpc>
                <a:spcPts val="3200"/>
              </a:lnSpc>
            </a:pPr>
            <a:r>
              <a:rPr lang="en-US" altLang="ko-KR" sz="2400" b="1" dirty="0" err="1" smtClean="0"/>
              <a:t>root.mainloop</a:t>
            </a:r>
            <a:r>
              <a:rPr lang="en-US" altLang="ko-KR" sz="2400" b="1" dirty="0" smtClean="0"/>
              <a:t>()</a:t>
            </a:r>
            <a:endParaRPr lang="ko-KR" altLang="en-US" sz="2400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Event Object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947933"/>
            <a:ext cx="9144000" cy="22382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800" b="1" dirty="0" err="1" smtClean="0">
                <a:solidFill>
                  <a:srgbClr val="0000FF"/>
                </a:solidFill>
              </a:rPr>
              <a:t>pygame</a:t>
            </a:r>
            <a:endParaRPr lang="en-US" altLang="ko-KR" sz="4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97207" y="1142439"/>
            <a:ext cx="8250071" cy="392030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r>
              <a:rPr lang="en-US" sz="2000" b="1" dirty="0" smtClean="0"/>
              <a:t>import </a:t>
            </a:r>
            <a:r>
              <a:rPr lang="en-US" sz="2000" dirty="0" err="1" smtClean="0"/>
              <a:t>pygame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pygame.init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ourScreen</a:t>
            </a:r>
            <a:r>
              <a:rPr lang="en-US" sz="2000" dirty="0" smtClean="0"/>
              <a:t>=</a:t>
            </a:r>
            <a:r>
              <a:rPr lang="en-US" sz="2000" dirty="0" err="1" smtClean="0"/>
              <a:t>pygame.display.set_mode</a:t>
            </a:r>
            <a:r>
              <a:rPr lang="en-US" sz="2000" dirty="0" smtClean="0"/>
              <a:t>((400, 300))</a:t>
            </a:r>
            <a:br>
              <a:rPr lang="en-US" sz="2000" dirty="0" smtClean="0"/>
            </a:br>
            <a:r>
              <a:rPr lang="en-US" sz="2000" dirty="0" err="1" smtClean="0"/>
              <a:t>pygame.display.set_caption</a:t>
            </a:r>
            <a:r>
              <a:rPr lang="en-US" sz="2000" dirty="0" smtClean="0"/>
              <a:t>(</a:t>
            </a:r>
            <a:r>
              <a:rPr lang="en-US" sz="2000" b="1" dirty="0" smtClean="0"/>
              <a:t>"Pygame"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finish = </a:t>
            </a:r>
            <a:r>
              <a:rPr lang="en-US" sz="2000" b="1" dirty="0" smtClean="0"/>
              <a:t>False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while not </a:t>
            </a:r>
            <a:r>
              <a:rPr lang="en-US" sz="2000" dirty="0" smtClean="0"/>
              <a:t>finish: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for </a:t>
            </a:r>
            <a:r>
              <a:rPr lang="en-US" sz="2000" dirty="0" smtClean="0"/>
              <a:t>event </a:t>
            </a:r>
            <a:r>
              <a:rPr lang="en-US" sz="2000" b="1" dirty="0" smtClean="0"/>
              <a:t>in </a:t>
            </a:r>
            <a:r>
              <a:rPr lang="en-US" sz="2000" dirty="0" err="1" smtClean="0"/>
              <a:t>pygame.event.get</a:t>
            </a:r>
            <a:r>
              <a:rPr lang="en-US" sz="2000" dirty="0" smtClean="0"/>
              <a:t>():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event.type</a:t>
            </a:r>
            <a:r>
              <a:rPr lang="en-US" sz="2000" dirty="0" smtClean="0"/>
              <a:t> == </a:t>
            </a:r>
            <a:r>
              <a:rPr lang="en-US" sz="2000" dirty="0" err="1" smtClean="0"/>
              <a:t>pygame.QUIT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finish = </a:t>
            </a:r>
            <a:r>
              <a:rPr lang="en-US" sz="2000" b="1" dirty="0" smtClean="0"/>
              <a:t>True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dirty="0" err="1" smtClean="0"/>
              <a:t>pygame.display.flip</a:t>
            </a:r>
            <a:r>
              <a:rPr lang="en-US" sz="2000" dirty="0" smtClean="0"/>
              <a:t>()      </a:t>
            </a:r>
            <a:r>
              <a:rPr lang="en-US" sz="2000" i="1" dirty="0" smtClean="0"/>
              <a:t># display update</a:t>
            </a:r>
            <a:endParaRPr lang="ko-KR" altLang="en-US" sz="2000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Window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3857" y="1037664"/>
            <a:ext cx="8250071" cy="48821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r>
              <a:rPr lang="en-US" sz="2000" b="1" dirty="0" smtClean="0"/>
              <a:t>import </a:t>
            </a:r>
            <a:r>
              <a:rPr lang="en-US" sz="2000" dirty="0" err="1" smtClean="0"/>
              <a:t>pygame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pygame.init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ourScreen</a:t>
            </a:r>
            <a:r>
              <a:rPr lang="en-US" sz="2000" dirty="0" smtClean="0"/>
              <a:t>=</a:t>
            </a:r>
            <a:r>
              <a:rPr lang="en-US" sz="2000" dirty="0" err="1" smtClean="0"/>
              <a:t>pygame.display.set_mode</a:t>
            </a:r>
            <a:r>
              <a:rPr lang="en-US" sz="2000" dirty="0" smtClean="0"/>
              <a:t>((400, 300))</a:t>
            </a:r>
            <a:br>
              <a:rPr lang="en-US" sz="2000" dirty="0" smtClean="0"/>
            </a:br>
            <a:r>
              <a:rPr lang="en-US" sz="2000" dirty="0" err="1" smtClean="0"/>
              <a:t>pygame.display.set_caption</a:t>
            </a:r>
            <a:r>
              <a:rPr lang="en-US" sz="2000" dirty="0" smtClean="0"/>
              <a:t>(</a:t>
            </a:r>
            <a:r>
              <a:rPr lang="en-US" sz="2000" b="1" dirty="0" smtClean="0"/>
              <a:t>"Pygame"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finish = </a:t>
            </a:r>
            <a:r>
              <a:rPr lang="en-US" sz="2000" b="1" dirty="0" smtClean="0"/>
              <a:t>False</a:t>
            </a:r>
            <a:br>
              <a:rPr lang="en-US" sz="2000" b="1" dirty="0" smtClean="0"/>
            </a:b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while not </a:t>
            </a:r>
            <a:r>
              <a:rPr lang="en-US" sz="2000" dirty="0" smtClean="0"/>
              <a:t>finish: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for </a:t>
            </a:r>
            <a:r>
              <a:rPr lang="en-US" sz="2000" dirty="0" smtClean="0"/>
              <a:t>event </a:t>
            </a:r>
            <a:r>
              <a:rPr lang="en-US" sz="2000" b="1" dirty="0" smtClean="0"/>
              <a:t>in </a:t>
            </a:r>
            <a:r>
              <a:rPr lang="en-US" sz="2000" dirty="0" err="1" smtClean="0"/>
              <a:t>pygame.event.get</a:t>
            </a:r>
            <a:r>
              <a:rPr lang="en-US" sz="2000" dirty="0" smtClean="0"/>
              <a:t>():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event.type</a:t>
            </a:r>
            <a:r>
              <a:rPr lang="en-US" sz="2000" dirty="0" smtClean="0"/>
              <a:t> == </a:t>
            </a:r>
            <a:r>
              <a:rPr lang="en-US" sz="2000" dirty="0" err="1" smtClean="0"/>
              <a:t>pygame.QUIT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finish = </a:t>
            </a:r>
            <a:r>
              <a:rPr lang="en-US" sz="2000" b="1" dirty="0" smtClean="0"/>
              <a:t>True</a:t>
            </a:r>
            <a:br>
              <a:rPr lang="en-US" sz="2000" b="1" dirty="0" smtClean="0"/>
            </a:br>
            <a:r>
              <a:rPr lang="en-US" sz="2000" b="1" dirty="0" smtClean="0"/>
              <a:t>        </a:t>
            </a:r>
            <a:r>
              <a:rPr lang="en-US" sz="2000" dirty="0" err="1" smtClean="0"/>
              <a:t>pygame.draw.rect</a:t>
            </a:r>
            <a:r>
              <a:rPr lang="en-US" sz="2000" dirty="0" smtClean="0"/>
              <a:t>(</a:t>
            </a:r>
            <a:r>
              <a:rPr lang="en-US" sz="2000" dirty="0" err="1" smtClean="0"/>
              <a:t>ourScreen</a:t>
            </a:r>
            <a:r>
              <a:rPr lang="en-US" sz="2000" dirty="0" smtClean="0"/>
              <a:t>, (255, 0, 0), </a:t>
            </a:r>
            <a:r>
              <a:rPr lang="en-US" sz="2000" dirty="0" err="1" smtClean="0"/>
              <a:t>pygame.Rect</a:t>
            </a:r>
            <a:r>
              <a:rPr lang="en-US" sz="2000" dirty="0" smtClean="0"/>
              <a:t>(0,0, 60, 60))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pygame.draw.rect</a:t>
            </a:r>
            <a:r>
              <a:rPr lang="en-US" sz="2000" dirty="0" smtClean="0"/>
              <a:t>(</a:t>
            </a:r>
            <a:r>
              <a:rPr lang="en-US" sz="2000" dirty="0" err="1" smtClean="0"/>
              <a:t>ourScreen</a:t>
            </a:r>
            <a:r>
              <a:rPr lang="en-US" sz="2000" dirty="0" smtClean="0"/>
              <a:t>, (0, 255, 0), </a:t>
            </a:r>
            <a:r>
              <a:rPr lang="en-US" sz="2000" dirty="0" err="1" smtClean="0"/>
              <a:t>pygame.Rect</a:t>
            </a:r>
            <a:r>
              <a:rPr lang="en-US" sz="2000" dirty="0" smtClean="0"/>
              <a:t>(60, 60, 60, 60))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pygame.draw.rect</a:t>
            </a:r>
            <a:r>
              <a:rPr lang="en-US" sz="2000" dirty="0" smtClean="0"/>
              <a:t>(</a:t>
            </a:r>
            <a:r>
              <a:rPr lang="en-US" sz="2000" dirty="0" err="1" smtClean="0"/>
              <a:t>ourScreen</a:t>
            </a:r>
            <a:r>
              <a:rPr lang="en-US" sz="2000" dirty="0" smtClean="0"/>
              <a:t>, (0, 0, 255), </a:t>
            </a:r>
            <a:r>
              <a:rPr lang="en-US" sz="2000" dirty="0" err="1" smtClean="0"/>
              <a:t>pygame.Rect</a:t>
            </a:r>
            <a:r>
              <a:rPr lang="en-US" sz="2000" dirty="0" smtClean="0"/>
              <a:t>(120, 120, 60, 60))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pygame.display.flip</a:t>
            </a:r>
            <a:r>
              <a:rPr lang="en-US" sz="2000" dirty="0" smtClean="0"/>
              <a:t>()      </a:t>
            </a:r>
            <a:r>
              <a:rPr lang="en-US" sz="2000" i="1" dirty="0" smtClean="0"/>
              <a:t># display update</a:t>
            </a:r>
            <a:endParaRPr lang="ko-KR" altLang="en-US" sz="2000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사각형 그리기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3857" y="1037664"/>
            <a:ext cx="8250071" cy="55233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r>
              <a:rPr lang="en-US" sz="2000" b="1" dirty="0" smtClean="0"/>
              <a:t>import </a:t>
            </a:r>
            <a:r>
              <a:rPr lang="en-US" sz="2000" dirty="0" err="1" smtClean="0"/>
              <a:t>pygame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pygame.init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ourScreen</a:t>
            </a:r>
            <a:r>
              <a:rPr lang="en-US" sz="2000" dirty="0" smtClean="0"/>
              <a:t>=</a:t>
            </a:r>
            <a:r>
              <a:rPr lang="en-US" sz="2000" dirty="0" err="1" smtClean="0"/>
              <a:t>pygame.display.set_mode</a:t>
            </a:r>
            <a:r>
              <a:rPr lang="en-US" sz="2000" dirty="0" smtClean="0"/>
              <a:t>((400, 300))</a:t>
            </a:r>
            <a:br>
              <a:rPr lang="en-US" sz="2000" dirty="0" smtClean="0"/>
            </a:br>
            <a:r>
              <a:rPr lang="en-US" sz="2000" dirty="0" err="1" smtClean="0"/>
              <a:t>pygame.display.set_caption</a:t>
            </a:r>
            <a:r>
              <a:rPr lang="en-US" sz="2000" dirty="0" smtClean="0"/>
              <a:t>(</a:t>
            </a:r>
            <a:r>
              <a:rPr lang="en-US" sz="2000" b="1" dirty="0" smtClean="0"/>
              <a:t>"Pygame"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finish = </a:t>
            </a:r>
            <a:r>
              <a:rPr lang="en-US" sz="2000" b="1" dirty="0" smtClean="0"/>
              <a:t>False</a:t>
            </a:r>
            <a:br>
              <a:rPr lang="en-US" sz="2000" b="1" dirty="0" smtClean="0"/>
            </a:br>
            <a:r>
              <a:rPr lang="en-US" sz="2000" dirty="0" err="1" smtClean="0"/>
              <a:t>colorBlue</a:t>
            </a:r>
            <a:r>
              <a:rPr lang="en-US" sz="2000" dirty="0" smtClean="0"/>
              <a:t> = </a:t>
            </a:r>
            <a:r>
              <a:rPr lang="en-US" sz="2000" b="1" dirty="0" smtClean="0"/>
              <a:t>True</a:t>
            </a:r>
            <a:br>
              <a:rPr lang="en-US" sz="2000" b="1" dirty="0" smtClean="0"/>
            </a:br>
            <a:r>
              <a:rPr lang="en-US" sz="2000" b="1" dirty="0" smtClean="0"/>
              <a:t>while not </a:t>
            </a:r>
            <a:r>
              <a:rPr lang="en-US" sz="2000" dirty="0" smtClean="0"/>
              <a:t>finish: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for </a:t>
            </a:r>
            <a:r>
              <a:rPr lang="en-US" sz="2000" dirty="0" smtClean="0"/>
              <a:t>event </a:t>
            </a:r>
            <a:r>
              <a:rPr lang="en-US" sz="2000" b="1" dirty="0" smtClean="0"/>
              <a:t>in </a:t>
            </a:r>
            <a:r>
              <a:rPr lang="en-US" sz="2000" dirty="0" err="1" smtClean="0"/>
              <a:t>pygame.event.get</a:t>
            </a:r>
            <a:r>
              <a:rPr lang="en-US" sz="2000" dirty="0" smtClean="0"/>
              <a:t>():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event.type</a:t>
            </a:r>
            <a:r>
              <a:rPr lang="en-US" sz="2000" dirty="0" smtClean="0"/>
              <a:t> == </a:t>
            </a:r>
            <a:r>
              <a:rPr lang="en-US" sz="2000" dirty="0" err="1" smtClean="0"/>
              <a:t>pygame.QUIT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finish = </a:t>
            </a:r>
            <a:r>
              <a:rPr lang="en-US" sz="2000" b="1" dirty="0" smtClean="0"/>
              <a:t>True</a:t>
            </a:r>
            <a:br>
              <a:rPr lang="en-US" sz="2000" b="1" dirty="0" smtClean="0"/>
            </a:br>
            <a:r>
              <a:rPr lang="en-US" sz="2000" b="1" dirty="0" smtClean="0"/>
              <a:t>        if </a:t>
            </a:r>
            <a:r>
              <a:rPr lang="en-US" sz="2000" dirty="0" err="1" smtClean="0"/>
              <a:t>event.type</a:t>
            </a:r>
            <a:r>
              <a:rPr lang="en-US" sz="2000" dirty="0" smtClean="0"/>
              <a:t> == </a:t>
            </a:r>
            <a:r>
              <a:rPr lang="en-US" sz="2000" dirty="0" err="1" smtClean="0"/>
              <a:t>pygame.KEYDOWN</a:t>
            </a:r>
            <a:r>
              <a:rPr lang="en-US" sz="2000" dirty="0" smtClean="0"/>
              <a:t> </a:t>
            </a:r>
            <a:r>
              <a:rPr lang="en-US" sz="2000" b="1" dirty="0" smtClean="0"/>
              <a:t>and </a:t>
            </a:r>
            <a:r>
              <a:rPr lang="en-US" sz="2000" dirty="0" err="1" smtClean="0"/>
              <a:t>event.key</a:t>
            </a:r>
            <a:r>
              <a:rPr lang="en-US" sz="2000" dirty="0" smtClean="0"/>
              <a:t>==</a:t>
            </a:r>
            <a:r>
              <a:rPr lang="en-US" sz="2000" dirty="0" err="1" smtClean="0"/>
              <a:t>pygame.K_SPACE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dirty="0" err="1" smtClean="0"/>
              <a:t>colorBlue</a:t>
            </a:r>
            <a:r>
              <a:rPr lang="en-US" sz="2000" dirty="0" smtClean="0"/>
              <a:t> = </a:t>
            </a:r>
            <a:r>
              <a:rPr lang="en-US" sz="2000" b="1" dirty="0" smtClean="0"/>
              <a:t>not </a:t>
            </a:r>
            <a:r>
              <a:rPr lang="en-US" sz="2000" dirty="0" err="1" smtClean="0"/>
              <a:t>colorBlue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colorBlue</a:t>
            </a:r>
            <a:r>
              <a:rPr lang="en-US" sz="2000" dirty="0" smtClean="0"/>
              <a:t>: color = (0, 0, 255)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else </a:t>
            </a:r>
            <a:r>
              <a:rPr lang="en-US" sz="2000" dirty="0" smtClean="0"/>
              <a:t>: color = (255, 255, 255)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pygame.draw.rect</a:t>
            </a:r>
            <a:r>
              <a:rPr lang="en-US" sz="2000" dirty="0" smtClean="0"/>
              <a:t>(</a:t>
            </a:r>
            <a:r>
              <a:rPr lang="en-US" sz="2000" dirty="0" err="1" smtClean="0"/>
              <a:t>ourScreen</a:t>
            </a:r>
            <a:r>
              <a:rPr lang="en-US" sz="2000" dirty="0" smtClean="0"/>
              <a:t>, color, </a:t>
            </a:r>
            <a:r>
              <a:rPr lang="en-US" sz="2000" dirty="0" err="1" smtClean="0"/>
              <a:t>pygame.Rect</a:t>
            </a:r>
            <a:r>
              <a:rPr lang="en-US" sz="2000" dirty="0" smtClean="0"/>
              <a:t>(50,50, 60, 60))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pygame.display.flip</a:t>
            </a:r>
            <a:r>
              <a:rPr lang="en-US" sz="2000" dirty="0" smtClean="0"/>
              <a:t>()      </a:t>
            </a:r>
            <a:r>
              <a:rPr lang="en-US" sz="2000" i="1" dirty="0" smtClean="0"/>
              <a:t># display update</a:t>
            </a:r>
            <a:endParaRPr lang="ko-KR" altLang="en-US" sz="2000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event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입력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키보드 입력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3857" y="1037664"/>
            <a:ext cx="8250071" cy="55233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r>
              <a:rPr lang="en-US" sz="2000" b="1" dirty="0" smtClean="0"/>
              <a:t>import </a:t>
            </a:r>
            <a:r>
              <a:rPr lang="en-US" sz="2000" dirty="0" err="1" smtClean="0"/>
              <a:t>pygame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pygame.init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ourScreen</a:t>
            </a:r>
            <a:r>
              <a:rPr lang="en-US" sz="2000" dirty="0" smtClean="0"/>
              <a:t>=</a:t>
            </a:r>
            <a:r>
              <a:rPr lang="en-US" sz="2000" dirty="0" err="1" smtClean="0"/>
              <a:t>pygame.display.set_mode</a:t>
            </a:r>
            <a:r>
              <a:rPr lang="en-US" sz="2000" dirty="0" smtClean="0"/>
              <a:t>((400, 300))</a:t>
            </a:r>
            <a:br>
              <a:rPr lang="en-US" sz="2000" dirty="0" smtClean="0"/>
            </a:br>
            <a:r>
              <a:rPr lang="en-US" sz="2000" dirty="0" err="1" smtClean="0"/>
              <a:t>pygame.display.set_caption</a:t>
            </a:r>
            <a:r>
              <a:rPr lang="en-US" sz="2000" dirty="0" smtClean="0"/>
              <a:t>(</a:t>
            </a:r>
            <a:r>
              <a:rPr lang="en-US" sz="2000" b="1" dirty="0" smtClean="0"/>
              <a:t>"Pygame"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finish = </a:t>
            </a:r>
            <a:r>
              <a:rPr lang="en-US" sz="2000" b="1" dirty="0" smtClean="0"/>
              <a:t>False</a:t>
            </a:r>
            <a:br>
              <a:rPr lang="en-US" sz="2000" b="1" dirty="0" smtClean="0"/>
            </a:br>
            <a:r>
              <a:rPr lang="en-US" sz="2000" dirty="0" err="1" smtClean="0"/>
              <a:t>colorBlue</a:t>
            </a:r>
            <a:r>
              <a:rPr lang="en-US" sz="2000" dirty="0" smtClean="0"/>
              <a:t> = </a:t>
            </a:r>
            <a:r>
              <a:rPr lang="en-US" sz="2000" b="1" dirty="0" smtClean="0"/>
              <a:t>True</a:t>
            </a:r>
            <a:br>
              <a:rPr lang="en-US" sz="2000" b="1" dirty="0" smtClean="0"/>
            </a:br>
            <a:r>
              <a:rPr lang="en-US" sz="2000" b="1" dirty="0" smtClean="0"/>
              <a:t>while not </a:t>
            </a:r>
            <a:r>
              <a:rPr lang="en-US" sz="2000" dirty="0" smtClean="0"/>
              <a:t>finish:</a:t>
            </a:r>
            <a:br>
              <a:rPr lang="en-US" sz="2000" dirty="0" smtClean="0"/>
            </a:br>
            <a:r>
              <a:rPr lang="en-US" sz="2000" dirty="0" smtClean="0"/>
              <a:t>    </a:t>
            </a:r>
            <a:r>
              <a:rPr lang="en-US" sz="2000" b="1" dirty="0" smtClean="0"/>
              <a:t>for </a:t>
            </a:r>
            <a:r>
              <a:rPr lang="en-US" sz="2000" dirty="0" smtClean="0"/>
              <a:t>event </a:t>
            </a:r>
            <a:r>
              <a:rPr lang="en-US" sz="2000" b="1" dirty="0" smtClean="0"/>
              <a:t>in </a:t>
            </a:r>
            <a:r>
              <a:rPr lang="en-US" sz="2000" dirty="0" err="1" smtClean="0"/>
              <a:t>pygame.event.get</a:t>
            </a:r>
            <a:r>
              <a:rPr lang="en-US" sz="2000" dirty="0" smtClean="0"/>
              <a:t>():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event.type</a:t>
            </a:r>
            <a:r>
              <a:rPr lang="en-US" sz="2000" dirty="0" smtClean="0"/>
              <a:t> == </a:t>
            </a:r>
            <a:r>
              <a:rPr lang="en-US" sz="2000" dirty="0" err="1" smtClean="0"/>
              <a:t>pygame.QUIT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finish = </a:t>
            </a:r>
            <a:r>
              <a:rPr lang="en-US" sz="2000" b="1" dirty="0" smtClean="0"/>
              <a:t>True</a:t>
            </a:r>
            <a:br>
              <a:rPr lang="en-US" sz="2000" b="1" dirty="0" smtClean="0"/>
            </a:br>
            <a:r>
              <a:rPr lang="en-US" sz="2000" b="1" dirty="0" smtClean="0"/>
              <a:t>        if </a:t>
            </a:r>
            <a:r>
              <a:rPr lang="en-US" sz="2000" dirty="0" err="1" smtClean="0"/>
              <a:t>event.type</a:t>
            </a:r>
            <a:r>
              <a:rPr lang="en-US" sz="2000" dirty="0" smtClean="0"/>
              <a:t> == </a:t>
            </a:r>
            <a:r>
              <a:rPr lang="en-US" sz="2000" dirty="0" err="1" smtClean="0"/>
              <a:t>pygame.KEYDOWN</a:t>
            </a:r>
            <a:r>
              <a:rPr lang="en-US" sz="2000" dirty="0" smtClean="0"/>
              <a:t> </a:t>
            </a:r>
            <a:r>
              <a:rPr lang="en-US" sz="2000" b="1" dirty="0" smtClean="0"/>
              <a:t>and </a:t>
            </a:r>
            <a:r>
              <a:rPr lang="en-US" sz="2000" dirty="0" err="1" smtClean="0"/>
              <a:t>event.key</a:t>
            </a:r>
            <a:r>
              <a:rPr lang="en-US" sz="2000" dirty="0" smtClean="0"/>
              <a:t>==</a:t>
            </a:r>
            <a:r>
              <a:rPr lang="en-US" sz="2000" dirty="0" err="1" smtClean="0"/>
              <a:t>pygame.K_SPACE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            </a:t>
            </a:r>
            <a:r>
              <a:rPr lang="en-US" sz="2000" dirty="0" err="1" smtClean="0"/>
              <a:t>colorBlue</a:t>
            </a:r>
            <a:r>
              <a:rPr lang="en-US" sz="2000" dirty="0" smtClean="0"/>
              <a:t> = </a:t>
            </a:r>
            <a:r>
              <a:rPr lang="en-US" sz="2000" b="1" dirty="0" smtClean="0"/>
              <a:t>not </a:t>
            </a:r>
            <a:r>
              <a:rPr lang="en-US" sz="2000" dirty="0" err="1" smtClean="0"/>
              <a:t>colorBlue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if </a:t>
            </a:r>
            <a:r>
              <a:rPr lang="en-US" sz="2000" dirty="0" err="1" smtClean="0"/>
              <a:t>colorBlue</a:t>
            </a:r>
            <a:r>
              <a:rPr lang="en-US" sz="2000" dirty="0" smtClean="0"/>
              <a:t>: color = (0, 0, 255)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b="1" dirty="0" smtClean="0"/>
              <a:t>else </a:t>
            </a:r>
            <a:r>
              <a:rPr lang="en-US" sz="2000" dirty="0" smtClean="0"/>
              <a:t>: color = (255, 255, 255)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pygame.draw.rect</a:t>
            </a:r>
            <a:r>
              <a:rPr lang="en-US" sz="2000" dirty="0" smtClean="0"/>
              <a:t>(</a:t>
            </a:r>
            <a:r>
              <a:rPr lang="en-US" sz="2000" dirty="0" err="1" smtClean="0"/>
              <a:t>ourScreen</a:t>
            </a:r>
            <a:r>
              <a:rPr lang="en-US" sz="2000" dirty="0" smtClean="0"/>
              <a:t>, color, </a:t>
            </a:r>
            <a:r>
              <a:rPr lang="en-US" sz="2000" dirty="0" err="1" smtClean="0"/>
              <a:t>pygame.Rect</a:t>
            </a:r>
            <a:r>
              <a:rPr lang="en-US" sz="2000" dirty="0" smtClean="0"/>
              <a:t>(50,50, 60, 60))</a:t>
            </a:r>
            <a:br>
              <a:rPr lang="en-US" sz="2000" dirty="0" smtClean="0"/>
            </a:br>
            <a:r>
              <a:rPr lang="en-US" sz="2000" dirty="0" smtClean="0"/>
              <a:t>        </a:t>
            </a:r>
            <a:r>
              <a:rPr lang="en-US" sz="2000" dirty="0" err="1" smtClean="0"/>
              <a:t>pygame.display.flip</a:t>
            </a:r>
            <a:r>
              <a:rPr lang="en-US" sz="2000" dirty="0" smtClean="0"/>
              <a:t>()      </a:t>
            </a:r>
            <a:r>
              <a:rPr lang="en-US" sz="2000" i="1" dirty="0" smtClean="0"/>
              <a:t># display update</a:t>
            </a:r>
            <a:endParaRPr lang="ko-KR" altLang="en-US" sz="2000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event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입력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키보드 입력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35282" y="1011963"/>
            <a:ext cx="8250071" cy="57669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 smtClean="0"/>
              <a:t>import </a:t>
            </a:r>
            <a:r>
              <a:rPr lang="en-US" dirty="0" err="1" smtClean="0"/>
              <a:t>pygame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pygame.init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err="1" smtClean="0"/>
              <a:t>ourScreen</a:t>
            </a:r>
            <a:r>
              <a:rPr lang="en-US" dirty="0" smtClean="0"/>
              <a:t>=</a:t>
            </a:r>
            <a:r>
              <a:rPr lang="en-US" dirty="0" err="1" smtClean="0"/>
              <a:t>pygame.display.set_mode</a:t>
            </a:r>
            <a:r>
              <a:rPr lang="en-US" dirty="0" smtClean="0"/>
              <a:t>((400, 300))</a:t>
            </a:r>
            <a:br>
              <a:rPr lang="en-US" dirty="0" smtClean="0"/>
            </a:br>
            <a:r>
              <a:rPr lang="en-US" dirty="0" err="1" smtClean="0"/>
              <a:t>pygame.display.set_caption</a:t>
            </a:r>
            <a:r>
              <a:rPr lang="en-US" dirty="0" smtClean="0"/>
              <a:t>(</a:t>
            </a:r>
            <a:r>
              <a:rPr lang="en-US" b="1" dirty="0" smtClean="0"/>
              <a:t>"Pygame"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finish = </a:t>
            </a:r>
            <a:r>
              <a:rPr lang="en-US" b="1" dirty="0" smtClean="0"/>
              <a:t>False</a:t>
            </a:r>
            <a:br>
              <a:rPr lang="en-US" b="1" dirty="0" smtClean="0"/>
            </a:br>
            <a:r>
              <a:rPr lang="en-US" dirty="0" err="1" smtClean="0"/>
              <a:t>colorBlue</a:t>
            </a:r>
            <a:r>
              <a:rPr lang="en-US" dirty="0" smtClean="0"/>
              <a:t> = </a:t>
            </a:r>
            <a:r>
              <a:rPr lang="en-US" b="1" dirty="0" smtClean="0"/>
              <a:t>True</a:t>
            </a:r>
            <a:br>
              <a:rPr lang="en-US" b="1" dirty="0" smtClean="0"/>
            </a:br>
            <a:r>
              <a:rPr lang="en-US" dirty="0" smtClean="0"/>
              <a:t>x=50</a:t>
            </a:r>
            <a:br>
              <a:rPr lang="en-US" dirty="0" smtClean="0"/>
            </a:br>
            <a:r>
              <a:rPr lang="en-US" dirty="0" smtClean="0"/>
              <a:t>y=50</a:t>
            </a:r>
            <a:br>
              <a:rPr lang="en-US" dirty="0" smtClean="0"/>
            </a:br>
            <a:r>
              <a:rPr lang="en-US" dirty="0" smtClean="0"/>
              <a:t>clock = </a:t>
            </a:r>
            <a:r>
              <a:rPr lang="en-US" dirty="0" err="1" smtClean="0"/>
              <a:t>pygame.time.Clock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b="1" dirty="0" smtClean="0"/>
              <a:t>while not </a:t>
            </a:r>
            <a:r>
              <a:rPr lang="en-US" dirty="0" smtClean="0"/>
              <a:t>finish: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for </a:t>
            </a:r>
            <a:r>
              <a:rPr lang="en-US" dirty="0" smtClean="0"/>
              <a:t>event </a:t>
            </a:r>
            <a:r>
              <a:rPr lang="en-US" b="1" dirty="0" smtClean="0"/>
              <a:t>in </a:t>
            </a:r>
            <a:r>
              <a:rPr lang="en-US" dirty="0" err="1" smtClean="0"/>
              <a:t>pygame.event.get</a:t>
            </a:r>
            <a:r>
              <a:rPr lang="en-US" dirty="0" smtClean="0"/>
              <a:t>():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pygame.QUIT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            finish = </a:t>
            </a:r>
            <a:r>
              <a:rPr lang="en-US" b="1" dirty="0" smtClean="0"/>
              <a:t>True</a:t>
            </a:r>
            <a:br>
              <a:rPr lang="en-US" b="1" dirty="0" smtClean="0"/>
            </a:br>
            <a:r>
              <a:rPr lang="en-US" b="1" dirty="0" smtClean="0"/>
              <a:t>        if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pygame.KEYDOWN</a:t>
            </a:r>
            <a:r>
              <a:rPr lang="en-US" dirty="0" smtClean="0"/>
              <a:t> </a:t>
            </a:r>
            <a:r>
              <a:rPr lang="en-US" b="1" dirty="0" smtClean="0"/>
              <a:t>and </a:t>
            </a:r>
            <a:r>
              <a:rPr lang="en-US" dirty="0" err="1" smtClean="0"/>
              <a:t>event.key</a:t>
            </a:r>
            <a:r>
              <a:rPr lang="en-US" dirty="0" smtClean="0"/>
              <a:t>==</a:t>
            </a:r>
            <a:r>
              <a:rPr lang="en-US" dirty="0" err="1" smtClean="0"/>
              <a:t>pygame.K_SPACE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            </a:t>
            </a:r>
            <a:r>
              <a:rPr lang="en-US" dirty="0" err="1" smtClean="0"/>
              <a:t>colorBlue</a:t>
            </a:r>
            <a:r>
              <a:rPr lang="en-US" dirty="0" smtClean="0"/>
              <a:t> = </a:t>
            </a:r>
            <a:r>
              <a:rPr lang="en-US" b="1" dirty="0" smtClean="0"/>
              <a:t>not </a:t>
            </a:r>
            <a:r>
              <a:rPr lang="en-US" dirty="0" err="1" smtClean="0"/>
              <a:t>colorBlue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pressed = </a:t>
            </a:r>
            <a:r>
              <a:rPr lang="en-US" dirty="0" err="1" smtClean="0"/>
              <a:t>pygame.key.get_pressed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smtClean="0"/>
              <a:t>pressed[</a:t>
            </a:r>
            <a:r>
              <a:rPr lang="en-US" dirty="0" err="1" smtClean="0"/>
              <a:t>pygame.K_UP</a:t>
            </a:r>
            <a:r>
              <a:rPr lang="en-US" dirty="0" smtClean="0"/>
              <a:t>]: y -= 3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smtClean="0"/>
              <a:t>pressed[</a:t>
            </a:r>
            <a:r>
              <a:rPr lang="en-US" dirty="0" err="1" smtClean="0"/>
              <a:t>pygame.K_DOWN</a:t>
            </a:r>
            <a:r>
              <a:rPr lang="en-US" dirty="0" smtClean="0"/>
              <a:t>]: y += 3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smtClean="0"/>
              <a:t>pressed[</a:t>
            </a:r>
            <a:r>
              <a:rPr lang="en-US" dirty="0" err="1" smtClean="0"/>
              <a:t>pygame.K_LEFT</a:t>
            </a:r>
            <a:r>
              <a:rPr lang="en-US" dirty="0" smtClean="0"/>
              <a:t>]: x -= 3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smtClean="0"/>
              <a:t>pressed[</a:t>
            </a:r>
            <a:r>
              <a:rPr lang="en-US" dirty="0" err="1" smtClean="0"/>
              <a:t>pygame.K_RIGHT</a:t>
            </a:r>
            <a:r>
              <a:rPr lang="en-US" dirty="0" smtClean="0"/>
              <a:t>]: x += 3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ourScreen.fill</a:t>
            </a:r>
            <a:r>
              <a:rPr lang="en-US" dirty="0" smtClean="0"/>
              <a:t>((0,0,0))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err="1" smtClean="0"/>
              <a:t>colorBlue</a:t>
            </a:r>
            <a:r>
              <a:rPr lang="en-US" dirty="0" smtClean="0"/>
              <a:t>: color = (0, 0, 255)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else </a:t>
            </a:r>
            <a:r>
              <a:rPr lang="en-US" dirty="0" smtClean="0"/>
              <a:t>: color = (255, 255, 255)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pygame.draw.rect</a:t>
            </a:r>
            <a:r>
              <a:rPr lang="en-US" dirty="0" smtClean="0"/>
              <a:t>(</a:t>
            </a:r>
            <a:r>
              <a:rPr lang="en-US" dirty="0" err="1" smtClean="0"/>
              <a:t>ourScreen</a:t>
            </a:r>
            <a:r>
              <a:rPr lang="en-US" dirty="0" smtClean="0"/>
              <a:t>, color, </a:t>
            </a:r>
            <a:r>
              <a:rPr lang="en-US" dirty="0" err="1" smtClean="0"/>
              <a:t>pygame.Rect</a:t>
            </a:r>
            <a:r>
              <a:rPr lang="en-US" dirty="0" smtClean="0"/>
              <a:t>(</a:t>
            </a:r>
            <a:r>
              <a:rPr lang="en-US" dirty="0" err="1" smtClean="0"/>
              <a:t>x,y</a:t>
            </a:r>
            <a:r>
              <a:rPr lang="en-US" dirty="0" smtClean="0"/>
              <a:t>, 60, 60))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pygame.display.flip</a:t>
            </a:r>
            <a:r>
              <a:rPr lang="en-US" dirty="0" smtClean="0"/>
              <a:t>()      </a:t>
            </a:r>
            <a:r>
              <a:rPr lang="en-US" i="1" dirty="0" smtClean="0"/>
              <a:t># display update</a:t>
            </a:r>
            <a:br>
              <a:rPr lang="en-US" i="1" dirty="0" smtClean="0"/>
            </a:br>
            <a:r>
              <a:rPr lang="en-US" i="1" dirty="0" smtClean="0"/>
              <a:t>        </a:t>
            </a:r>
            <a:r>
              <a:rPr lang="en-US" dirty="0" err="1" smtClean="0"/>
              <a:t>clock.tick</a:t>
            </a:r>
            <a:r>
              <a:rPr lang="en-US" dirty="0" smtClean="0"/>
              <a:t>(60)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0" y="2874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event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입력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키보드로 도형 이동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35282" y="1009089"/>
            <a:ext cx="8250071" cy="48949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 smtClean="0"/>
              <a:t>import </a:t>
            </a:r>
            <a:r>
              <a:rPr lang="en-US" dirty="0" err="1" smtClean="0"/>
              <a:t>pygame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pygame.init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window_width</a:t>
            </a:r>
            <a:r>
              <a:rPr lang="en-US" dirty="0" smtClean="0"/>
              <a:t> = 800</a:t>
            </a:r>
            <a:br>
              <a:rPr lang="en-US" dirty="0" smtClean="0"/>
            </a:br>
            <a:r>
              <a:rPr lang="en-US" dirty="0" err="1" smtClean="0"/>
              <a:t>window_height</a:t>
            </a:r>
            <a:r>
              <a:rPr lang="en-US" dirty="0" smtClean="0"/>
              <a:t> = 600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ourScreen</a:t>
            </a:r>
            <a:r>
              <a:rPr lang="en-US" dirty="0" smtClean="0"/>
              <a:t>=</a:t>
            </a:r>
            <a:r>
              <a:rPr lang="en-US" dirty="0" err="1" smtClean="0"/>
              <a:t>pygame.display.set_mode</a:t>
            </a:r>
            <a:r>
              <a:rPr lang="en-US" dirty="0" smtClean="0"/>
              <a:t>((</a:t>
            </a:r>
            <a:r>
              <a:rPr lang="en-US" dirty="0" err="1" smtClean="0"/>
              <a:t>window_width</a:t>
            </a:r>
            <a:r>
              <a:rPr lang="en-US" dirty="0" smtClean="0"/>
              <a:t>, </a:t>
            </a:r>
            <a:r>
              <a:rPr lang="en-US" dirty="0" err="1" smtClean="0"/>
              <a:t>window_height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myImg</a:t>
            </a:r>
            <a:r>
              <a:rPr lang="en-US" dirty="0" smtClean="0"/>
              <a:t> = 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b="1" dirty="0" smtClean="0"/>
              <a:t>"pic1.png"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b="1" dirty="0" smtClean="0"/>
              <a:t>def </a:t>
            </a:r>
            <a:r>
              <a:rPr lang="en-US" dirty="0" err="1" smtClean="0"/>
              <a:t>myimg</a:t>
            </a:r>
            <a:r>
              <a:rPr lang="en-US" dirty="0" smtClean="0"/>
              <a:t>(x, y):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dirty="0" err="1" smtClean="0"/>
              <a:t>ourScreen.blit</a:t>
            </a:r>
            <a:r>
              <a:rPr lang="en-US" dirty="0" smtClean="0"/>
              <a:t>(</a:t>
            </a:r>
            <a:r>
              <a:rPr lang="en-US" dirty="0" err="1" smtClean="0"/>
              <a:t>myImg</a:t>
            </a:r>
            <a:r>
              <a:rPr lang="en-US" dirty="0" smtClean="0"/>
              <a:t>, (x, y))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x = (</a:t>
            </a:r>
            <a:r>
              <a:rPr lang="en-US" dirty="0" err="1" smtClean="0"/>
              <a:t>window_width</a:t>
            </a:r>
            <a:r>
              <a:rPr lang="en-US" dirty="0" smtClean="0"/>
              <a:t> * 0.1)</a:t>
            </a:r>
            <a:br>
              <a:rPr lang="en-US" dirty="0" smtClean="0"/>
            </a:br>
            <a:r>
              <a:rPr lang="en-US" dirty="0" smtClean="0"/>
              <a:t>y = (</a:t>
            </a:r>
            <a:r>
              <a:rPr lang="en-US" dirty="0" err="1" smtClean="0"/>
              <a:t>window_width</a:t>
            </a:r>
            <a:r>
              <a:rPr lang="en-US" dirty="0" smtClean="0"/>
              <a:t> * 0.1)</a:t>
            </a:r>
            <a:br>
              <a:rPr lang="en-US" dirty="0" smtClean="0"/>
            </a:br>
            <a:r>
              <a:rPr lang="en-US" dirty="0" smtClean="0"/>
              <a:t>finished = </a:t>
            </a:r>
            <a:r>
              <a:rPr lang="en-US" b="1" dirty="0" smtClean="0"/>
              <a:t>False</a:t>
            </a:r>
            <a:br>
              <a:rPr lang="en-US" b="1" dirty="0" smtClean="0"/>
            </a:br>
            <a:r>
              <a:rPr lang="en-US" b="1" dirty="0" smtClean="0"/>
              <a:t>while not </a:t>
            </a:r>
            <a:r>
              <a:rPr lang="en-US" dirty="0" smtClean="0"/>
              <a:t>finished: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for </a:t>
            </a:r>
            <a:r>
              <a:rPr lang="en-US" dirty="0" smtClean="0"/>
              <a:t>event </a:t>
            </a:r>
            <a:r>
              <a:rPr lang="en-US" b="1" dirty="0" smtClean="0"/>
              <a:t>in </a:t>
            </a:r>
            <a:r>
              <a:rPr lang="en-US" dirty="0" err="1" smtClean="0"/>
              <a:t>pygame.event.get</a:t>
            </a:r>
            <a:r>
              <a:rPr lang="en-US" dirty="0" smtClean="0"/>
              <a:t>():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pygame.QUIT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            finished = </a:t>
            </a:r>
            <a:r>
              <a:rPr lang="en-US" b="1" dirty="0" smtClean="0"/>
              <a:t>True</a:t>
            </a:r>
            <a:br>
              <a:rPr lang="en-US" b="1" dirty="0" smtClean="0"/>
            </a:br>
            <a:r>
              <a:rPr lang="en-US" b="1" dirty="0" smtClean="0"/>
              <a:t>    </a:t>
            </a:r>
            <a:r>
              <a:rPr lang="en-US" dirty="0" err="1" smtClean="0"/>
              <a:t>ourScreen.fill</a:t>
            </a:r>
            <a:r>
              <a:rPr lang="en-US" dirty="0" smtClean="0"/>
              <a:t>((255, 255, 255))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dirty="0" err="1" smtClean="0"/>
              <a:t>myimg</a:t>
            </a:r>
            <a:r>
              <a:rPr lang="en-US" dirty="0" smtClean="0"/>
              <a:t>(x, y)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dirty="0" err="1" smtClean="0"/>
              <a:t>pygame.display.flip</a:t>
            </a:r>
            <a:r>
              <a:rPr lang="en-US" dirty="0" smtClean="0"/>
              <a:t>()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image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넣기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35282" y="1009089"/>
            <a:ext cx="8250071" cy="53309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 smtClean="0"/>
              <a:t>import </a:t>
            </a:r>
            <a:r>
              <a:rPr lang="en-US" dirty="0" err="1" smtClean="0"/>
              <a:t>pygame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pygame.init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err="1" smtClean="0"/>
              <a:t>pygame.mixer.music.load</a:t>
            </a:r>
            <a:r>
              <a:rPr lang="en-US" dirty="0" smtClean="0"/>
              <a:t>(</a:t>
            </a:r>
            <a:r>
              <a:rPr lang="en-US" b="1" dirty="0" smtClean="0"/>
              <a:t>"wav\Ben.mp3"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err="1" smtClean="0"/>
              <a:t>pygame.mixer.music.play</a:t>
            </a:r>
            <a:r>
              <a:rPr lang="en-US" dirty="0" smtClean="0"/>
              <a:t>(0)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window_width</a:t>
            </a:r>
            <a:r>
              <a:rPr lang="en-US" dirty="0" smtClean="0"/>
              <a:t> = 800</a:t>
            </a:r>
            <a:br>
              <a:rPr lang="en-US" dirty="0" smtClean="0"/>
            </a:br>
            <a:r>
              <a:rPr lang="en-US" dirty="0" err="1" smtClean="0"/>
              <a:t>window_height</a:t>
            </a:r>
            <a:r>
              <a:rPr lang="en-US" dirty="0" smtClean="0"/>
              <a:t> = 600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ourScreen</a:t>
            </a:r>
            <a:r>
              <a:rPr lang="en-US" dirty="0" smtClean="0"/>
              <a:t>=</a:t>
            </a:r>
            <a:r>
              <a:rPr lang="en-US" dirty="0" err="1" smtClean="0"/>
              <a:t>pygame.display.set_mode</a:t>
            </a:r>
            <a:r>
              <a:rPr lang="en-US" dirty="0" smtClean="0"/>
              <a:t>((</a:t>
            </a:r>
            <a:r>
              <a:rPr lang="en-US" dirty="0" err="1" smtClean="0"/>
              <a:t>window_width</a:t>
            </a:r>
            <a:r>
              <a:rPr lang="en-US" dirty="0" smtClean="0"/>
              <a:t>, </a:t>
            </a:r>
            <a:r>
              <a:rPr lang="en-US" dirty="0" err="1" smtClean="0"/>
              <a:t>window_height</a:t>
            </a:r>
            <a:r>
              <a:rPr lang="en-US" dirty="0" smtClean="0"/>
              <a:t>))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myImg</a:t>
            </a:r>
            <a:r>
              <a:rPr lang="en-US" dirty="0" smtClean="0"/>
              <a:t> = 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b="1" dirty="0" smtClean="0"/>
              <a:t>"pic1.png"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b="1" dirty="0" smtClean="0"/>
              <a:t>def </a:t>
            </a:r>
            <a:r>
              <a:rPr lang="en-US" dirty="0" err="1" smtClean="0"/>
              <a:t>myimg</a:t>
            </a:r>
            <a:r>
              <a:rPr lang="en-US" dirty="0" smtClean="0"/>
              <a:t>(x, y):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dirty="0" err="1" smtClean="0"/>
              <a:t>ourScreen.blit</a:t>
            </a:r>
            <a:r>
              <a:rPr lang="en-US" dirty="0" smtClean="0"/>
              <a:t>(</a:t>
            </a:r>
            <a:r>
              <a:rPr lang="en-US" dirty="0" err="1" smtClean="0"/>
              <a:t>myImg</a:t>
            </a:r>
            <a:r>
              <a:rPr lang="en-US" dirty="0" smtClean="0"/>
              <a:t>, (x, y))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x = (</a:t>
            </a:r>
            <a:r>
              <a:rPr lang="en-US" dirty="0" err="1" smtClean="0"/>
              <a:t>window_width</a:t>
            </a:r>
            <a:r>
              <a:rPr lang="en-US" dirty="0" smtClean="0"/>
              <a:t> * 0.1)</a:t>
            </a:r>
            <a:br>
              <a:rPr lang="en-US" dirty="0" smtClean="0"/>
            </a:br>
            <a:r>
              <a:rPr lang="en-US" dirty="0" smtClean="0"/>
              <a:t>y = (</a:t>
            </a:r>
            <a:r>
              <a:rPr lang="en-US" dirty="0" err="1" smtClean="0"/>
              <a:t>window_width</a:t>
            </a:r>
            <a:r>
              <a:rPr lang="en-US" dirty="0" smtClean="0"/>
              <a:t> * 0.1)</a:t>
            </a:r>
            <a:br>
              <a:rPr lang="en-US" dirty="0" smtClean="0"/>
            </a:br>
            <a:r>
              <a:rPr lang="en-US" dirty="0" smtClean="0"/>
              <a:t>finished = </a:t>
            </a:r>
            <a:r>
              <a:rPr lang="en-US" b="1" dirty="0" smtClean="0"/>
              <a:t>False</a:t>
            </a:r>
            <a:br>
              <a:rPr lang="en-US" b="1" dirty="0" smtClean="0"/>
            </a:br>
            <a:r>
              <a:rPr lang="en-US" b="1" dirty="0" smtClean="0"/>
              <a:t>while not </a:t>
            </a:r>
            <a:r>
              <a:rPr lang="en-US" dirty="0" smtClean="0"/>
              <a:t>finished: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b="1" dirty="0" smtClean="0"/>
              <a:t>for </a:t>
            </a:r>
            <a:r>
              <a:rPr lang="en-US" dirty="0" smtClean="0"/>
              <a:t>event </a:t>
            </a:r>
            <a:r>
              <a:rPr lang="en-US" b="1" dirty="0" smtClean="0"/>
              <a:t>in </a:t>
            </a:r>
            <a:r>
              <a:rPr lang="en-US" dirty="0" err="1" smtClean="0"/>
              <a:t>pygame.event.get</a:t>
            </a:r>
            <a:r>
              <a:rPr lang="en-US" dirty="0" smtClean="0"/>
              <a:t>():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b="1" dirty="0" smtClean="0"/>
              <a:t>if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pygame.QUIT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            finished = </a:t>
            </a:r>
            <a:r>
              <a:rPr lang="en-US" b="1" dirty="0" smtClean="0"/>
              <a:t>True</a:t>
            </a:r>
            <a:br>
              <a:rPr lang="en-US" b="1" dirty="0" smtClean="0"/>
            </a:br>
            <a:r>
              <a:rPr lang="en-US" b="1" dirty="0" smtClean="0"/>
              <a:t>    </a:t>
            </a:r>
            <a:r>
              <a:rPr lang="en-US" dirty="0" err="1" smtClean="0"/>
              <a:t>ourScreen.fill</a:t>
            </a:r>
            <a:r>
              <a:rPr lang="en-US" dirty="0" smtClean="0"/>
              <a:t>((255, 255, 255))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dirty="0" err="1" smtClean="0"/>
              <a:t>myimg</a:t>
            </a:r>
            <a:r>
              <a:rPr lang="en-US" dirty="0" smtClean="0"/>
              <a:t>(x, y)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dirty="0" err="1" smtClean="0"/>
              <a:t>pygame.display.flip</a:t>
            </a:r>
            <a:r>
              <a:rPr lang="en-US" dirty="0" smtClean="0"/>
              <a:t>()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음악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play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35282" y="1009089"/>
            <a:ext cx="8250071" cy="191334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 smtClean="0">
                <a:hlinkClick r:id="rId2"/>
              </a:rPr>
              <a:t>https://www.raywenderlich.com</a:t>
            </a:r>
            <a:endParaRPr lang="en-US" b="1" dirty="0" smtClean="0"/>
          </a:p>
          <a:p>
            <a:pPr>
              <a:lnSpc>
                <a:spcPts val="1700"/>
              </a:lnSpc>
            </a:pPr>
            <a:endParaRPr lang="en-US" altLang="ko-KR" b="1" dirty="0" smtClean="0"/>
          </a:p>
          <a:p>
            <a:pPr fontAlgn="base"/>
            <a:r>
              <a:rPr lang="en-US" b="1" dirty="0" smtClean="0">
                <a:hlinkClick r:id="rId3" tooltip="Beginning Game Programming for Teens with Python"/>
              </a:rPr>
              <a:t>Beginning Game Programming for Teens with Python</a:t>
            </a:r>
            <a:r>
              <a:rPr lang="en-US" b="1" dirty="0" smtClean="0"/>
              <a:t> | Julian Meyer</a:t>
            </a:r>
          </a:p>
          <a:p>
            <a:pPr fontAlgn="base"/>
            <a:r>
              <a:rPr lang="en-US" dirty="0" smtClean="0">
                <a:hlinkClick r:id="rId3"/>
              </a:rPr>
              <a:t>https://www.raywenderlich.com/24252/beginning-game-programming-for-teens-with-python</a:t>
            </a:r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6" name="Picture 2" descr="https://koenig-media.raywenderlich.com/uploads/2012/12/BunniesBadgers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11399" y="2540000"/>
            <a:ext cx="3546475" cy="29081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Adding the Game Resources 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063" y="1087953"/>
            <a:ext cx="8211045" cy="52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모서리가 둥근 직사각형 3"/>
          <p:cNvSpPr/>
          <p:nvPr/>
        </p:nvSpPr>
        <p:spPr>
          <a:xfrm>
            <a:off x="1151906" y="2090057"/>
            <a:ext cx="712520" cy="28500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1. Hello Bunny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201885" y="973784"/>
            <a:ext cx="484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game.py  </a:t>
            </a:r>
            <a:r>
              <a:rPr lang="ko-KR" altLang="en-US" b="1" dirty="0" err="1" smtClean="0">
                <a:solidFill>
                  <a:srgbClr val="0000FF"/>
                </a:solidFill>
                <a:latin typeface="+mn-ea"/>
              </a:rPr>
              <a:t>새파일을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 만들고 아래 코드를 입력</a:t>
            </a:r>
            <a:endParaRPr lang="ko-KR" altLang="en-US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" name="TextBox 7"/>
          <p:cNvSpPr txBox="1"/>
          <p:nvPr/>
        </p:nvSpPr>
        <p:spPr>
          <a:xfrm>
            <a:off x="234328" y="1363725"/>
            <a:ext cx="50075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i="1" dirty="0" smtClean="0">
                <a:solidFill>
                  <a:srgbClr val="0000FF"/>
                </a:solidFill>
              </a:rPr>
              <a:t># 1 - Import library</a:t>
            </a:r>
            <a:r>
              <a:rPr lang="en-US" sz="1200" b="1" i="1" dirty="0" smtClean="0"/>
              <a:t/>
            </a:r>
            <a:br>
              <a:rPr lang="en-US" sz="1200" b="1" i="1" dirty="0" smtClean="0"/>
            </a:br>
            <a:r>
              <a:rPr lang="en-US" sz="1200" b="1" dirty="0" smtClean="0"/>
              <a:t>import </a:t>
            </a:r>
            <a:r>
              <a:rPr lang="en-US" sz="1200" b="1" dirty="0" err="1" smtClean="0"/>
              <a:t>pygame</a:t>
            </a:r>
            <a:r>
              <a:rPr lang="en-US" sz="1200" b="1" dirty="0" smtClean="0"/>
              <a:t/>
            </a:r>
            <a:br>
              <a:rPr lang="en-US" sz="1200" b="1" dirty="0" smtClean="0"/>
            </a:br>
            <a:r>
              <a:rPr lang="en-US" sz="1200" b="1" dirty="0" smtClean="0"/>
              <a:t>from </a:t>
            </a:r>
            <a:r>
              <a:rPr lang="en-US" sz="1200" b="1" dirty="0" err="1" smtClean="0"/>
              <a:t>pygame.locals</a:t>
            </a:r>
            <a:r>
              <a:rPr lang="en-US" sz="1200" b="1" dirty="0" smtClean="0"/>
              <a:t> import *</a:t>
            </a:r>
            <a:br>
              <a:rPr lang="en-US" sz="1200" b="1" dirty="0" smtClean="0"/>
            </a:br>
            <a:r>
              <a:rPr lang="en-US" sz="1200" b="1" dirty="0" smtClean="0"/>
              <a:t/>
            </a:r>
            <a:br>
              <a:rPr lang="en-US" sz="1200" b="1" dirty="0" smtClean="0"/>
            </a:br>
            <a:r>
              <a:rPr lang="en-US" sz="1200" b="1" i="1" dirty="0" smtClean="0">
                <a:solidFill>
                  <a:srgbClr val="0000FF"/>
                </a:solidFill>
              </a:rPr>
              <a:t># 2 - Initialize the game</a:t>
            </a:r>
            <a:r>
              <a:rPr lang="en-US" sz="1200" b="1" i="1" dirty="0" smtClean="0"/>
              <a:t/>
            </a:r>
            <a:br>
              <a:rPr lang="en-US" sz="1200" b="1" i="1" dirty="0" smtClean="0"/>
            </a:br>
            <a:r>
              <a:rPr lang="en-US" sz="1200" b="1" dirty="0" err="1" smtClean="0"/>
              <a:t>pygame.init</a:t>
            </a:r>
            <a:r>
              <a:rPr lang="en-US" sz="1200" b="1" dirty="0" smtClean="0"/>
              <a:t>()</a:t>
            </a:r>
          </a:p>
          <a:p>
            <a:r>
              <a:rPr lang="en-US" sz="1200" b="1" dirty="0" err="1" smtClean="0"/>
              <a:t>pygame.mixer.init</a:t>
            </a:r>
            <a:r>
              <a:rPr lang="en-US" sz="1200" b="1" dirty="0" smtClean="0"/>
              <a:t>()</a:t>
            </a:r>
            <a:br>
              <a:rPr lang="en-US" sz="1200" b="1" dirty="0" smtClean="0"/>
            </a:br>
            <a:r>
              <a:rPr lang="en-US" sz="1200" b="1" dirty="0" smtClean="0"/>
              <a:t>width, height = 640, 480</a:t>
            </a:r>
            <a:br>
              <a:rPr lang="en-US" sz="1200" b="1" dirty="0" smtClean="0"/>
            </a:br>
            <a:r>
              <a:rPr lang="en-US" sz="1200" b="1" dirty="0" smtClean="0"/>
              <a:t>screen=</a:t>
            </a:r>
            <a:r>
              <a:rPr lang="en-US" sz="1200" b="1" dirty="0" err="1" smtClean="0"/>
              <a:t>pygame.display.set_mode</a:t>
            </a:r>
            <a:r>
              <a:rPr lang="en-US" sz="1200" b="1" dirty="0" smtClean="0"/>
              <a:t>((width, height))</a:t>
            </a:r>
            <a:br>
              <a:rPr lang="en-US" sz="1200" b="1" dirty="0" smtClean="0"/>
            </a:br>
            <a:r>
              <a:rPr lang="en-US" sz="1200" b="1" dirty="0" smtClean="0"/>
              <a:t/>
            </a:r>
            <a:br>
              <a:rPr lang="en-US" sz="1200" b="1" dirty="0" smtClean="0"/>
            </a:br>
            <a:r>
              <a:rPr lang="en-US" sz="1200" b="1" i="1" dirty="0" smtClean="0">
                <a:solidFill>
                  <a:srgbClr val="0000FF"/>
                </a:solidFill>
              </a:rPr>
              <a:t># 3 - Load images</a:t>
            </a:r>
            <a:r>
              <a:rPr lang="en-US" sz="1200" b="1" i="1" dirty="0" smtClean="0"/>
              <a:t/>
            </a:r>
            <a:br>
              <a:rPr lang="en-US" sz="1200" b="1" i="1" dirty="0" smtClean="0"/>
            </a:br>
            <a:r>
              <a:rPr lang="en-US" sz="1200" b="1" dirty="0" smtClean="0"/>
              <a:t>player = </a:t>
            </a:r>
            <a:r>
              <a:rPr lang="en-US" sz="1200" b="1" dirty="0" err="1" smtClean="0"/>
              <a:t>pygame.image.load</a:t>
            </a:r>
            <a:r>
              <a:rPr lang="en-US" sz="1200" b="1" dirty="0" smtClean="0"/>
              <a:t>("resources/images/dude.png")</a:t>
            </a:r>
            <a:br>
              <a:rPr lang="en-US" sz="1200" b="1" dirty="0" smtClean="0"/>
            </a:br>
            <a:r>
              <a:rPr lang="en-US" sz="1200" b="1" dirty="0" smtClean="0"/>
              <a:t/>
            </a:r>
            <a:br>
              <a:rPr lang="en-US" sz="1200" b="1" dirty="0" smtClean="0"/>
            </a:br>
            <a:r>
              <a:rPr lang="en-US" sz="1200" b="1" i="1" dirty="0" smtClean="0">
                <a:solidFill>
                  <a:srgbClr val="0000FF"/>
                </a:solidFill>
              </a:rPr>
              <a:t># 4 - keep looping through</a:t>
            </a:r>
            <a:r>
              <a:rPr lang="en-US" sz="1200" b="1" i="1" dirty="0" smtClean="0"/>
              <a:t/>
            </a:r>
            <a:br>
              <a:rPr lang="en-US" sz="1200" b="1" i="1" dirty="0" smtClean="0"/>
            </a:br>
            <a:r>
              <a:rPr lang="en-US" sz="1200" b="1" dirty="0" smtClean="0"/>
              <a:t>while 1:</a:t>
            </a:r>
            <a:br>
              <a:rPr lang="en-US" sz="1200" b="1" dirty="0" smtClean="0"/>
            </a:br>
            <a:r>
              <a:rPr lang="en-US" sz="1200" b="1" dirty="0" smtClean="0">
                <a:solidFill>
                  <a:srgbClr val="0000FF"/>
                </a:solidFill>
              </a:rPr>
              <a:t>    </a:t>
            </a:r>
            <a:r>
              <a:rPr lang="en-US" sz="1200" b="1" i="1" dirty="0" smtClean="0">
                <a:solidFill>
                  <a:srgbClr val="0000FF"/>
                </a:solidFill>
              </a:rPr>
              <a:t># 5 - clear the screen before drawing it again</a:t>
            </a:r>
            <a:r>
              <a:rPr lang="en-US" sz="1200" b="1" i="1" dirty="0" smtClean="0"/>
              <a:t/>
            </a:r>
            <a:br>
              <a:rPr lang="en-US" sz="1200" b="1" i="1" dirty="0" smtClean="0"/>
            </a:br>
            <a:r>
              <a:rPr lang="en-US" sz="1200" b="1" i="1" dirty="0" smtClean="0"/>
              <a:t>    </a:t>
            </a:r>
            <a:r>
              <a:rPr lang="en-US" sz="1200" b="1" dirty="0" err="1" smtClean="0"/>
              <a:t>screen.fill</a:t>
            </a:r>
            <a:r>
              <a:rPr lang="en-US" sz="1200" b="1" dirty="0" smtClean="0"/>
              <a:t>(0)</a:t>
            </a:r>
            <a:br>
              <a:rPr lang="en-US" sz="1200" b="1" dirty="0" smtClean="0"/>
            </a:br>
            <a:r>
              <a:rPr lang="en-US" sz="1200" b="1" dirty="0" smtClean="0">
                <a:solidFill>
                  <a:srgbClr val="0000FF"/>
                </a:solidFill>
              </a:rPr>
              <a:t>    </a:t>
            </a:r>
            <a:r>
              <a:rPr lang="en-US" sz="1200" b="1" i="1" dirty="0" smtClean="0">
                <a:solidFill>
                  <a:srgbClr val="0000FF"/>
                </a:solidFill>
              </a:rPr>
              <a:t># 6 - draw the screen elements</a:t>
            </a:r>
            <a:r>
              <a:rPr lang="en-US" sz="1200" b="1" i="1" dirty="0" smtClean="0"/>
              <a:t/>
            </a:r>
            <a:br>
              <a:rPr lang="en-US" sz="1200" b="1" i="1" dirty="0" smtClean="0"/>
            </a:br>
            <a:r>
              <a:rPr lang="en-US" sz="1200" b="1" i="1" dirty="0" smtClean="0"/>
              <a:t>    </a:t>
            </a:r>
            <a:r>
              <a:rPr lang="en-US" sz="1200" b="1" dirty="0" err="1" smtClean="0"/>
              <a:t>screen.blit</a:t>
            </a:r>
            <a:r>
              <a:rPr lang="en-US" sz="1200" b="1" dirty="0" smtClean="0"/>
              <a:t>(player, (100,100))             </a:t>
            </a:r>
            <a:r>
              <a:rPr lang="en-US" sz="1200" b="1" dirty="0" smtClean="0">
                <a:solidFill>
                  <a:srgbClr val="0000FF"/>
                </a:solidFill>
              </a:rPr>
              <a:t>#draw one image onto another</a:t>
            </a:r>
            <a:br>
              <a:rPr lang="en-US" sz="1200" b="1" dirty="0" smtClean="0">
                <a:solidFill>
                  <a:srgbClr val="0000FF"/>
                </a:solidFill>
              </a:rPr>
            </a:br>
            <a:r>
              <a:rPr lang="en-US" sz="1200" b="1" dirty="0" smtClean="0">
                <a:solidFill>
                  <a:srgbClr val="0000FF"/>
                </a:solidFill>
              </a:rPr>
              <a:t>    </a:t>
            </a:r>
            <a:r>
              <a:rPr lang="en-US" sz="1200" b="1" i="1" dirty="0" smtClean="0">
                <a:solidFill>
                  <a:srgbClr val="0000FF"/>
                </a:solidFill>
              </a:rPr>
              <a:t># 7 - update the full display surface to the screen</a:t>
            </a:r>
            <a:r>
              <a:rPr lang="en-US" sz="1200" b="1" i="1" dirty="0" smtClean="0"/>
              <a:t/>
            </a:r>
            <a:br>
              <a:rPr lang="en-US" sz="1200" b="1" i="1" dirty="0" smtClean="0"/>
            </a:br>
            <a:r>
              <a:rPr lang="en-US" sz="1200" b="1" i="1" dirty="0" smtClean="0"/>
              <a:t>    </a:t>
            </a:r>
            <a:r>
              <a:rPr lang="en-US" sz="1200" b="1" dirty="0" err="1" smtClean="0"/>
              <a:t>pygame.display.flip</a:t>
            </a:r>
            <a:r>
              <a:rPr lang="en-US" sz="1200" b="1" dirty="0" smtClean="0"/>
              <a:t>()</a:t>
            </a:r>
            <a:br>
              <a:rPr lang="en-US" sz="1200" b="1" dirty="0" smtClean="0"/>
            </a:br>
            <a:r>
              <a:rPr lang="en-US" sz="1200" b="1" dirty="0" smtClean="0">
                <a:solidFill>
                  <a:srgbClr val="0000FF"/>
                </a:solidFill>
              </a:rPr>
              <a:t>    </a:t>
            </a:r>
            <a:r>
              <a:rPr lang="en-US" sz="1200" b="1" i="1" dirty="0" smtClean="0">
                <a:solidFill>
                  <a:srgbClr val="0000FF"/>
                </a:solidFill>
              </a:rPr>
              <a:t># 8 - loop through the events</a:t>
            </a:r>
            <a:br>
              <a:rPr lang="en-US" sz="1200" b="1" i="1" dirty="0" smtClean="0">
                <a:solidFill>
                  <a:srgbClr val="0000FF"/>
                </a:solidFill>
              </a:rPr>
            </a:br>
            <a:r>
              <a:rPr lang="en-US" sz="1200" b="1" i="1" dirty="0" smtClean="0"/>
              <a:t>    </a:t>
            </a:r>
            <a:r>
              <a:rPr lang="en-US" sz="1200" b="1" dirty="0" smtClean="0"/>
              <a:t>for event in </a:t>
            </a:r>
            <a:r>
              <a:rPr lang="en-US" sz="1200" b="1" dirty="0" err="1" smtClean="0"/>
              <a:t>pygame.event.get</a:t>
            </a:r>
            <a:r>
              <a:rPr lang="en-US" sz="1200" b="1" dirty="0" smtClean="0"/>
              <a:t>():</a:t>
            </a:r>
            <a:br>
              <a:rPr lang="en-US" sz="1200" b="1" dirty="0" smtClean="0"/>
            </a:br>
            <a:r>
              <a:rPr lang="en-US" sz="1200" b="1" dirty="0" smtClean="0"/>
              <a:t>       </a:t>
            </a:r>
            <a:r>
              <a:rPr lang="en-US" sz="1200" b="1" dirty="0" smtClean="0">
                <a:solidFill>
                  <a:srgbClr val="0000FF"/>
                </a:solidFill>
              </a:rPr>
              <a:t> </a:t>
            </a:r>
            <a:r>
              <a:rPr lang="en-US" sz="1200" b="1" i="1" dirty="0" smtClean="0">
                <a:solidFill>
                  <a:srgbClr val="0000FF"/>
                </a:solidFill>
              </a:rPr>
              <a:t># check if the event is the X button</a:t>
            </a:r>
            <a:br>
              <a:rPr lang="en-US" sz="1200" b="1" i="1" dirty="0" smtClean="0">
                <a:solidFill>
                  <a:srgbClr val="0000FF"/>
                </a:solidFill>
              </a:rPr>
            </a:br>
            <a:r>
              <a:rPr lang="en-US" sz="1200" b="1" i="1" dirty="0" smtClean="0"/>
              <a:t>        </a:t>
            </a:r>
            <a:r>
              <a:rPr lang="en-US" sz="1200" b="1" dirty="0" smtClean="0"/>
              <a:t>if </a:t>
            </a:r>
            <a:r>
              <a:rPr lang="en-US" sz="1200" b="1" dirty="0" err="1" smtClean="0"/>
              <a:t>event.type</a:t>
            </a:r>
            <a:r>
              <a:rPr lang="en-US" sz="1200" b="1" dirty="0" smtClean="0"/>
              <a:t>==</a:t>
            </a:r>
            <a:r>
              <a:rPr lang="en-US" sz="1200" b="1" dirty="0" err="1" smtClean="0"/>
              <a:t>pygame.QUIT</a:t>
            </a:r>
            <a:r>
              <a:rPr lang="en-US" sz="1200" b="1" dirty="0" smtClean="0"/>
              <a:t>:</a:t>
            </a:r>
            <a:br>
              <a:rPr lang="en-US" sz="1200" b="1" dirty="0" smtClean="0"/>
            </a:br>
            <a:r>
              <a:rPr lang="en-US" sz="1200" b="1" dirty="0" smtClean="0"/>
              <a:t>           </a:t>
            </a:r>
            <a:r>
              <a:rPr lang="en-US" sz="1200" b="1" dirty="0" smtClean="0">
                <a:solidFill>
                  <a:srgbClr val="0000FF"/>
                </a:solidFill>
              </a:rPr>
              <a:t> </a:t>
            </a:r>
            <a:r>
              <a:rPr lang="en-US" sz="1200" b="1" i="1" dirty="0" smtClean="0">
                <a:solidFill>
                  <a:srgbClr val="0000FF"/>
                </a:solidFill>
              </a:rPr>
              <a:t># if it is quit the game</a:t>
            </a:r>
            <a:br>
              <a:rPr lang="en-US" sz="1200" b="1" i="1" dirty="0" smtClean="0">
                <a:solidFill>
                  <a:srgbClr val="0000FF"/>
                </a:solidFill>
              </a:rPr>
            </a:br>
            <a:r>
              <a:rPr lang="en-US" sz="1200" b="1" i="1" dirty="0" smtClean="0"/>
              <a:t>            </a:t>
            </a:r>
            <a:r>
              <a:rPr lang="en-US" sz="1200" b="1" dirty="0" err="1" smtClean="0"/>
              <a:t>pygame.quit</a:t>
            </a:r>
            <a:r>
              <a:rPr lang="en-US" sz="1200" b="1" dirty="0" smtClean="0"/>
              <a:t>()</a:t>
            </a:r>
            <a:br>
              <a:rPr lang="en-US" sz="1200" b="1" dirty="0" smtClean="0"/>
            </a:br>
            <a:r>
              <a:rPr lang="en-US" sz="1200" b="1" dirty="0" smtClean="0"/>
              <a:t>            exit(0)</a:t>
            </a:r>
            <a:endParaRPr lang="ko-KR" altLang="en-US" sz="1200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46187" y="1605516"/>
            <a:ext cx="3913060" cy="303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2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Add Scenery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234327" y="1034116"/>
            <a:ext cx="794210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00"/>
              </a:lnSpc>
            </a:pPr>
            <a:r>
              <a:rPr lang="en-US" sz="1400" i="1" dirty="0" smtClean="0">
                <a:solidFill>
                  <a:srgbClr val="0000FF"/>
                </a:solidFill>
                <a:latin typeface="+mn-ea"/>
              </a:rPr>
              <a:t>#3</a:t>
            </a:r>
            <a:r>
              <a:rPr lang="ko-KR" altLang="en-US" sz="1400" i="1" dirty="0" smtClean="0">
                <a:solidFill>
                  <a:srgbClr val="0000FF"/>
                </a:solidFill>
                <a:latin typeface="+mn-ea"/>
              </a:rPr>
              <a:t>의 마지막에 아래 코드 삽입</a:t>
            </a:r>
            <a:endParaRPr lang="en-US" altLang="ko-KR" sz="14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2100"/>
              </a:lnSpc>
            </a:pPr>
            <a:r>
              <a:rPr lang="en-US" sz="1400" dirty="0" smtClean="0">
                <a:latin typeface="+mn-ea"/>
              </a:rPr>
              <a:t>grass = </a:t>
            </a:r>
            <a:r>
              <a:rPr lang="en-US" sz="1400" dirty="0" err="1" smtClean="0">
                <a:latin typeface="+mn-ea"/>
              </a:rPr>
              <a:t>pygame.image.load</a:t>
            </a:r>
            <a:r>
              <a:rPr lang="en-US" sz="1400" dirty="0" smtClean="0">
                <a:latin typeface="+mn-ea"/>
              </a:rPr>
              <a:t>("resources/images/grass.png")        </a:t>
            </a:r>
            <a:r>
              <a:rPr lang="en-US" sz="1400" i="1" dirty="0" smtClean="0">
                <a:solidFill>
                  <a:srgbClr val="0000FF"/>
                </a:solidFill>
                <a:latin typeface="+mn-ea"/>
              </a:rPr>
              <a:t> # 100x100pixel</a:t>
            </a:r>
          </a:p>
          <a:p>
            <a:pPr>
              <a:lnSpc>
                <a:spcPts val="2100"/>
              </a:lnSpc>
            </a:pPr>
            <a:r>
              <a:rPr lang="en-US" sz="1400" dirty="0" smtClean="0">
                <a:latin typeface="+mn-ea"/>
              </a:rPr>
              <a:t>castle = </a:t>
            </a:r>
            <a:r>
              <a:rPr lang="en-US" sz="1400" dirty="0" err="1" smtClean="0">
                <a:latin typeface="+mn-ea"/>
              </a:rPr>
              <a:t>pygame.image.load</a:t>
            </a:r>
            <a:r>
              <a:rPr lang="en-US" sz="1400" dirty="0" smtClean="0">
                <a:latin typeface="+mn-ea"/>
              </a:rPr>
              <a:t>("resources/images/castle.png")</a:t>
            </a:r>
          </a:p>
          <a:p>
            <a:pPr>
              <a:lnSpc>
                <a:spcPts val="2100"/>
              </a:lnSpc>
            </a:pPr>
            <a:endParaRPr lang="en-US" altLang="ko-KR" sz="1400" i="1" dirty="0" smtClean="0">
              <a:latin typeface="+mn-ea"/>
            </a:endParaRPr>
          </a:p>
          <a:p>
            <a:pPr>
              <a:lnSpc>
                <a:spcPts val="2100"/>
              </a:lnSpc>
            </a:pPr>
            <a:r>
              <a:rPr lang="en-US" sz="1400" i="1" dirty="0" smtClean="0">
                <a:solidFill>
                  <a:srgbClr val="0000FF"/>
                </a:solidFill>
                <a:latin typeface="+mn-ea"/>
              </a:rPr>
              <a:t>#6</a:t>
            </a:r>
            <a:r>
              <a:rPr lang="ko-KR" altLang="en-US" sz="1400" i="1" dirty="0" smtClean="0">
                <a:solidFill>
                  <a:srgbClr val="0000FF"/>
                </a:solidFill>
                <a:latin typeface="+mn-ea"/>
              </a:rPr>
              <a:t>의</a:t>
            </a:r>
            <a:r>
              <a:rPr lang="en-US" sz="14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400" i="1" dirty="0" smtClean="0">
                <a:solidFill>
                  <a:srgbClr val="0000FF"/>
                </a:solidFill>
                <a:latin typeface="+mn-ea"/>
              </a:rPr>
              <a:t>첫 부분에 아래 코드 삽입</a:t>
            </a:r>
            <a:r>
              <a:rPr lang="en-US" altLang="ko-KR" sz="1400" i="1" dirty="0" smtClean="0">
                <a:solidFill>
                  <a:srgbClr val="0000FF"/>
                </a:solidFill>
                <a:latin typeface="+mn-ea"/>
              </a:rPr>
              <a:t>, </a:t>
            </a:r>
            <a:r>
              <a:rPr lang="en-US" sz="1400" i="1" dirty="0" smtClean="0">
                <a:solidFill>
                  <a:srgbClr val="0000FF"/>
                </a:solidFill>
              </a:rPr>
              <a:t># 6 - draw the screen elements </a:t>
            </a:r>
            <a:r>
              <a:rPr lang="ko-KR" altLang="en-US" sz="1400" i="1" dirty="0" smtClean="0">
                <a:solidFill>
                  <a:srgbClr val="0000FF"/>
                </a:solidFill>
              </a:rPr>
              <a:t>이 주석 다음줄에 삽입</a:t>
            </a:r>
            <a:endParaRPr lang="en-US" altLang="ko-KR" sz="14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2100"/>
              </a:lnSpc>
            </a:pPr>
            <a:r>
              <a:rPr lang="en-US" sz="1400" b="1" dirty="0" smtClean="0"/>
              <a:t>for </a:t>
            </a:r>
            <a:r>
              <a:rPr lang="en-US" sz="1400" dirty="0" smtClean="0"/>
              <a:t>x </a:t>
            </a:r>
            <a:r>
              <a:rPr lang="en-US" sz="1400" b="1" smtClean="0"/>
              <a:t>in </a:t>
            </a:r>
            <a:r>
              <a:rPr lang="en-US" sz="1400" smtClean="0"/>
              <a:t>range(width // grass.get_width() </a:t>
            </a:r>
            <a:r>
              <a:rPr lang="en-US" sz="1400" dirty="0" smtClean="0"/>
              <a:t>+ 1):              </a:t>
            </a:r>
            <a:br>
              <a:rPr lang="en-US" sz="1400" dirty="0" smtClean="0"/>
            </a:br>
            <a:r>
              <a:rPr lang="en-US" sz="1400" dirty="0" smtClean="0"/>
              <a:t>    </a:t>
            </a:r>
            <a:r>
              <a:rPr lang="en-US" sz="1400" b="1" dirty="0" smtClean="0"/>
              <a:t>for </a:t>
            </a:r>
            <a:r>
              <a:rPr lang="en-US" sz="1400" dirty="0" smtClean="0"/>
              <a:t>y </a:t>
            </a:r>
            <a:r>
              <a:rPr lang="en-US" sz="1400" b="1" smtClean="0"/>
              <a:t>in </a:t>
            </a:r>
            <a:r>
              <a:rPr lang="en-US" sz="1400" smtClean="0"/>
              <a:t>range(height // grass.get_height() </a:t>
            </a:r>
            <a:r>
              <a:rPr lang="en-US" sz="1400" dirty="0" smtClean="0"/>
              <a:t>+ 1):</a:t>
            </a:r>
            <a:br>
              <a:rPr lang="en-US" sz="1400" dirty="0" smtClean="0"/>
            </a:br>
            <a:r>
              <a:rPr lang="en-US" sz="1400" dirty="0" smtClean="0"/>
              <a:t>        </a:t>
            </a:r>
            <a:r>
              <a:rPr lang="en-US" sz="1400" dirty="0" err="1" smtClean="0"/>
              <a:t>screen.blit</a:t>
            </a:r>
            <a:r>
              <a:rPr lang="en-US" sz="1400" dirty="0" smtClean="0"/>
              <a:t>(grass, (x * 100, y * 100))</a:t>
            </a:r>
            <a:br>
              <a:rPr lang="en-US" sz="1400" dirty="0" smtClean="0"/>
            </a:br>
            <a:r>
              <a:rPr lang="en-US" sz="1400" dirty="0" err="1" smtClean="0"/>
              <a:t>screen.blit</a:t>
            </a:r>
            <a:r>
              <a:rPr lang="en-US" sz="1400" dirty="0" smtClean="0"/>
              <a:t>(castle, (0, 30))</a:t>
            </a:r>
            <a:br>
              <a:rPr lang="en-US" sz="1400" dirty="0" smtClean="0"/>
            </a:br>
            <a:r>
              <a:rPr lang="en-US" sz="1400" dirty="0" err="1" smtClean="0"/>
              <a:t>screen.blit</a:t>
            </a:r>
            <a:r>
              <a:rPr lang="en-US" sz="1400" dirty="0" smtClean="0"/>
              <a:t>(castle, (0, 135))</a:t>
            </a:r>
            <a:br>
              <a:rPr lang="en-US" sz="1400" dirty="0" smtClean="0"/>
            </a:br>
            <a:r>
              <a:rPr lang="en-US" sz="1400" dirty="0" err="1" smtClean="0"/>
              <a:t>screen.blit</a:t>
            </a:r>
            <a:r>
              <a:rPr lang="en-US" sz="1400" dirty="0" smtClean="0"/>
              <a:t>(castle, (0, 240))</a:t>
            </a:r>
            <a:br>
              <a:rPr lang="en-US" sz="1400" dirty="0" smtClean="0"/>
            </a:br>
            <a:r>
              <a:rPr lang="en-US" sz="1400" dirty="0" err="1" smtClean="0"/>
              <a:t>screen.blit</a:t>
            </a:r>
            <a:r>
              <a:rPr lang="en-US" sz="1400" dirty="0" smtClean="0"/>
              <a:t>(castle, (0, 345))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1249" y="2955851"/>
            <a:ext cx="4664657" cy="3666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3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Make the Bunny Move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541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#2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의 마지막에 아래 코드 삽입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200" dirty="0" smtClean="0"/>
              <a:t>keys = [False, False, False, False]       </a:t>
            </a:r>
            <a:r>
              <a:rPr lang="en-US" sz="1200" i="1" dirty="0" smtClean="0">
                <a:solidFill>
                  <a:srgbClr val="0000FF"/>
                </a:solidFill>
              </a:rPr>
              <a:t> # key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입력 </a:t>
            </a:r>
            <a:r>
              <a:rPr lang="en-US" altLang="ko-KR" sz="1200" i="1" dirty="0" smtClean="0">
                <a:solidFill>
                  <a:srgbClr val="0000FF"/>
                </a:solidFill>
              </a:rPr>
              <a:t>check , WASD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순서</a:t>
            </a:r>
            <a:endParaRPr lang="en-US" sz="1200" i="1" dirty="0" smtClean="0">
              <a:solidFill>
                <a:srgbClr val="0000FF"/>
              </a:solidFill>
            </a:endParaRPr>
          </a:p>
          <a:p>
            <a:pPr>
              <a:lnSpc>
                <a:spcPts val="1600"/>
              </a:lnSpc>
            </a:pPr>
            <a:r>
              <a:rPr lang="en-US" sz="1200" dirty="0" smtClean="0"/>
              <a:t>playerpos=[100,100]                           </a:t>
            </a:r>
            <a:r>
              <a:rPr lang="en-US" sz="1200" i="1" dirty="0" smtClean="0">
                <a:solidFill>
                  <a:srgbClr val="0000FF"/>
                </a:solidFill>
              </a:rPr>
              <a:t> # Player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위치</a:t>
            </a:r>
            <a:endParaRPr lang="en-US" sz="1200" i="1" dirty="0" smtClean="0">
              <a:solidFill>
                <a:srgbClr val="0000FF"/>
              </a:solidFill>
            </a:endParaRPr>
          </a:p>
          <a:p>
            <a:pPr>
              <a:lnSpc>
                <a:spcPts val="16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#6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에서 아래 코드를 수정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200" dirty="0" err="1" smtClean="0"/>
              <a:t>screen.blit</a:t>
            </a:r>
            <a:r>
              <a:rPr lang="en-US" sz="1200" dirty="0" smtClean="0"/>
              <a:t>(player, (100,100))    </a:t>
            </a:r>
            <a:r>
              <a:rPr lang="en-US" sz="1200" b="1" dirty="0" smtClean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sz="1200" dirty="0" smtClean="0">
                <a:sym typeface="Wingdings" pitchFamily="2" charset="2"/>
              </a:rPr>
              <a:t>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(player, playerpos)</a:t>
            </a:r>
          </a:p>
          <a:p>
            <a:pPr>
              <a:lnSpc>
                <a:spcPts val="16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#8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의 마지막에  아래 코드 삽입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,  </a:t>
            </a:r>
            <a:r>
              <a:rPr lang="en-US" sz="1200" b="1" u="sng" dirty="0" smtClean="0">
                <a:solidFill>
                  <a:srgbClr val="FF0000"/>
                </a:solidFill>
              </a:rPr>
              <a:t>if </a:t>
            </a:r>
            <a:r>
              <a:rPr lang="en-US" sz="1200" b="1" u="sng" dirty="0" err="1" smtClean="0">
                <a:solidFill>
                  <a:srgbClr val="FF0000"/>
                </a:solidFill>
              </a:rPr>
              <a:t>event.type</a:t>
            </a:r>
            <a:r>
              <a:rPr lang="en-US" sz="1200" b="1" u="sng" dirty="0" smtClean="0">
                <a:solidFill>
                  <a:srgbClr val="FF0000"/>
                </a:solidFill>
              </a:rPr>
              <a:t>==</a:t>
            </a:r>
            <a:r>
              <a:rPr lang="en-US" sz="1200" b="1" u="sng" dirty="0" err="1" smtClean="0">
                <a:solidFill>
                  <a:srgbClr val="FF0000"/>
                </a:solidFill>
              </a:rPr>
              <a:t>pygame.QUIT</a:t>
            </a:r>
            <a:r>
              <a:rPr lang="en-US" sz="1200" b="1" u="sng" dirty="0" smtClean="0">
                <a:solidFill>
                  <a:srgbClr val="FF0000"/>
                </a:solidFill>
              </a:rPr>
              <a:t>:  </a:t>
            </a:r>
            <a:r>
              <a:rPr lang="ko-KR" altLang="en-US" sz="1200" b="1" u="sng" dirty="0" smtClean="0">
                <a:solidFill>
                  <a:srgbClr val="FF0000"/>
                </a:solidFill>
              </a:rPr>
              <a:t>과 같은 띄워 쓰기 준수 </a:t>
            </a:r>
            <a:r>
              <a:rPr lang="en-US" altLang="ko-KR" sz="1200" b="1" u="sng" dirty="0" smtClean="0">
                <a:solidFill>
                  <a:srgbClr val="FF0000"/>
                </a:solidFill>
              </a:rPr>
              <a:t>, </a:t>
            </a:r>
            <a:r>
              <a:rPr lang="en-US" altLang="ko-KR" sz="1200" b="1" i="1" dirty="0" smtClean="0">
                <a:solidFill>
                  <a:srgbClr val="0000FF"/>
                </a:solidFill>
              </a:rPr>
              <a:t>key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가 눌러졌는지 검사</a:t>
            </a:r>
            <a:endParaRPr lang="en-US" altLang="ko-KR" sz="1200" b="1" i="1" dirty="0" smtClean="0">
              <a:solidFill>
                <a:srgbClr val="0000FF"/>
              </a:solidFill>
            </a:endParaRPr>
          </a:p>
          <a:p>
            <a:pPr>
              <a:lnSpc>
                <a:spcPts val="1600"/>
              </a:lnSpc>
            </a:pPr>
            <a:r>
              <a:rPr lang="en-US" sz="1200" b="1" dirty="0" smtClean="0"/>
              <a:t>if </a:t>
            </a:r>
            <a:r>
              <a:rPr lang="en-US" sz="1200" dirty="0" err="1" smtClean="0"/>
              <a:t>event.type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pygame.KEYDOWN</a:t>
            </a:r>
            <a:r>
              <a:rPr lang="en-US" sz="1200" dirty="0" smtClean="0"/>
              <a:t>:     </a:t>
            </a:r>
            <a:r>
              <a:rPr lang="en-US" sz="1200" i="1" dirty="0" smtClean="0">
                <a:solidFill>
                  <a:srgbClr val="0000FF"/>
                </a:solidFill>
              </a:rPr>
              <a:t># key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를 누르면</a:t>
            </a:r>
            <a:r>
              <a:rPr lang="ko-KR" altLang="en-US" sz="1200" i="1" dirty="0" smtClean="0"/>
              <a:t/>
            </a:r>
            <a:br>
              <a:rPr lang="ko-KR" altLang="en-US" sz="1200" i="1" dirty="0" smtClean="0"/>
            </a:br>
            <a:r>
              <a:rPr lang="ko-KR" altLang="en-US" sz="1200" i="1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</a:t>
            </a:r>
            <a:r>
              <a:rPr lang="en-US" sz="1200" dirty="0" err="1" smtClean="0"/>
              <a:t>K_w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keys[0] = </a:t>
            </a:r>
            <a:r>
              <a:rPr lang="en-US" sz="1200" b="1" dirty="0" smtClean="0"/>
              <a:t>True</a:t>
            </a:r>
            <a:br>
              <a:rPr lang="en-US" sz="1200" b="1" dirty="0" smtClean="0"/>
            </a:br>
            <a:r>
              <a:rPr lang="en-US" sz="1200" b="1" dirty="0" smtClean="0"/>
              <a:t>    </a:t>
            </a: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</a:t>
            </a:r>
            <a:r>
              <a:rPr lang="en-US" sz="1200" dirty="0" err="1" smtClean="0"/>
              <a:t>K_a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keys[1] = </a:t>
            </a:r>
            <a:r>
              <a:rPr lang="en-US" sz="1200" b="1" dirty="0" smtClean="0"/>
              <a:t>True</a:t>
            </a:r>
            <a:br>
              <a:rPr lang="en-US" sz="1200" b="1" dirty="0" smtClean="0"/>
            </a:br>
            <a:r>
              <a:rPr lang="en-US" sz="1200" b="1" dirty="0" smtClean="0"/>
              <a:t>    </a:t>
            </a: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K_s:</a:t>
            </a:r>
            <a:br>
              <a:rPr lang="en-US" sz="1200" dirty="0" smtClean="0"/>
            </a:br>
            <a:r>
              <a:rPr lang="en-US" sz="1200" dirty="0" smtClean="0"/>
              <a:t>        keys[2] = </a:t>
            </a:r>
            <a:r>
              <a:rPr lang="en-US" sz="1200" b="1" dirty="0" smtClean="0"/>
              <a:t>True</a:t>
            </a:r>
            <a:br>
              <a:rPr lang="en-US" sz="1200" b="1" dirty="0" smtClean="0"/>
            </a:br>
            <a:r>
              <a:rPr lang="en-US" sz="1200" b="1" dirty="0" smtClean="0"/>
              <a:t>    </a:t>
            </a: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</a:t>
            </a:r>
            <a:r>
              <a:rPr lang="en-US" sz="1200" dirty="0" err="1" smtClean="0"/>
              <a:t>K_d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keys[3] = </a:t>
            </a:r>
            <a:r>
              <a:rPr lang="en-US" sz="1200" b="1" dirty="0" smtClean="0"/>
              <a:t>True</a:t>
            </a:r>
            <a:br>
              <a:rPr lang="en-US" sz="1200" b="1" dirty="0" smtClean="0"/>
            </a:br>
            <a:r>
              <a:rPr lang="en-US" sz="1200" b="1" dirty="0" smtClean="0"/>
              <a:t>if </a:t>
            </a:r>
            <a:r>
              <a:rPr lang="en-US" sz="1200" dirty="0" err="1" smtClean="0"/>
              <a:t>event.type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pygame.KEYUP</a:t>
            </a:r>
            <a:r>
              <a:rPr lang="en-US" sz="1200" dirty="0" smtClean="0"/>
              <a:t>:          </a:t>
            </a:r>
            <a:r>
              <a:rPr lang="en-US" sz="1200" i="1" dirty="0" smtClean="0">
                <a:solidFill>
                  <a:srgbClr val="0000FF"/>
                </a:solidFill>
              </a:rPr>
              <a:t># key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를 떼면</a:t>
            </a:r>
            <a:r>
              <a:rPr lang="ko-KR" altLang="en-US" sz="1200" i="1" dirty="0" smtClean="0"/>
              <a:t/>
            </a:r>
            <a:br>
              <a:rPr lang="ko-KR" altLang="en-US" sz="1200" i="1" dirty="0" smtClean="0"/>
            </a:br>
            <a:r>
              <a:rPr lang="ko-KR" altLang="en-US" sz="1200" i="1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pygame.K_w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keys[0] = </a:t>
            </a:r>
            <a:r>
              <a:rPr lang="en-US" sz="1200" b="1" dirty="0" smtClean="0"/>
              <a:t>False</a:t>
            </a:r>
            <a:br>
              <a:rPr lang="en-US" sz="1200" b="1" dirty="0" smtClean="0"/>
            </a:br>
            <a:r>
              <a:rPr lang="en-US" sz="1200" b="1" dirty="0" smtClean="0"/>
              <a:t>    </a:t>
            </a: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pygame.K_a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keys[1] = </a:t>
            </a:r>
            <a:r>
              <a:rPr lang="en-US" sz="1200" b="1" dirty="0" smtClean="0"/>
              <a:t>False</a:t>
            </a:r>
            <a:br>
              <a:rPr lang="en-US" sz="1200" b="1" dirty="0" smtClean="0"/>
            </a:br>
            <a:r>
              <a:rPr lang="en-US" sz="1200" b="1" dirty="0" smtClean="0"/>
              <a:t>    </a:t>
            </a: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pygame.K_s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keys[2] = </a:t>
            </a:r>
            <a:r>
              <a:rPr lang="en-US" sz="1200" b="1" dirty="0" smtClean="0"/>
              <a:t>False</a:t>
            </a:r>
            <a:br>
              <a:rPr lang="en-US" sz="1200" b="1" dirty="0" smtClean="0"/>
            </a:br>
            <a:r>
              <a:rPr lang="en-US" sz="1200" b="1" dirty="0" smtClean="0"/>
              <a:t>    </a:t>
            </a: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err="1" smtClean="0"/>
              <a:t>event.key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pygame.K_d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keys[3] = </a:t>
            </a:r>
            <a:r>
              <a:rPr lang="en-US" sz="1200" b="1" dirty="0" smtClean="0"/>
              <a:t>False</a:t>
            </a:r>
            <a:endParaRPr lang="en-US" altLang="ko-KR" sz="12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3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Make the Bunny Move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# key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가 눌러진것을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playerpos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변수에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update </a:t>
            </a:r>
          </a:p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코드 마지막에 아래 소스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200" i="1" dirty="0" smtClean="0"/>
              <a:t># 9 - Move player</a:t>
            </a:r>
            <a:br>
              <a:rPr lang="en-US" sz="1200" i="1" dirty="0" smtClean="0"/>
            </a:br>
            <a:r>
              <a:rPr lang="en-US" sz="1200" b="1" dirty="0" smtClean="0"/>
              <a:t>if </a:t>
            </a:r>
            <a:r>
              <a:rPr lang="en-US" sz="1200" dirty="0" smtClean="0"/>
              <a:t>keys[0]: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playerpos</a:t>
            </a:r>
            <a:r>
              <a:rPr lang="en-US" sz="1200" dirty="0" smtClean="0"/>
              <a:t>[1] -= 5</a:t>
            </a:r>
            <a:br>
              <a:rPr lang="en-US" sz="1200" dirty="0" smtClean="0"/>
            </a:b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smtClean="0"/>
              <a:t>keys[2]: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playerpos</a:t>
            </a:r>
            <a:r>
              <a:rPr lang="en-US" sz="1200" dirty="0" smtClean="0"/>
              <a:t>[1] += 5</a:t>
            </a:r>
            <a:br>
              <a:rPr lang="en-US" sz="1200" dirty="0" smtClean="0"/>
            </a:br>
            <a:r>
              <a:rPr lang="en-US" sz="1200" b="1" dirty="0" smtClean="0"/>
              <a:t>if </a:t>
            </a:r>
            <a:r>
              <a:rPr lang="en-US" sz="1200" dirty="0" smtClean="0"/>
              <a:t>keys[1]: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playerpos</a:t>
            </a:r>
            <a:r>
              <a:rPr lang="en-US" sz="1200" dirty="0" smtClean="0"/>
              <a:t>[0] -= 5</a:t>
            </a:r>
            <a:br>
              <a:rPr lang="en-US" sz="1200" dirty="0" smtClean="0"/>
            </a:br>
            <a:r>
              <a:rPr lang="en-US" sz="1200" b="1" dirty="0" err="1" smtClean="0"/>
              <a:t>elif</a:t>
            </a:r>
            <a:r>
              <a:rPr lang="en-US" sz="1200" b="1" dirty="0" smtClean="0"/>
              <a:t> </a:t>
            </a:r>
            <a:r>
              <a:rPr lang="en-US" sz="1200" dirty="0" smtClean="0"/>
              <a:t>keys[3]: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playerpos</a:t>
            </a:r>
            <a:r>
              <a:rPr lang="en-US" sz="1200" dirty="0" smtClean="0"/>
              <a:t>[0] += 5</a:t>
            </a:r>
            <a:endParaRPr lang="en-US" altLang="ko-KR" sz="1200" dirty="0" smtClean="0"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7552" y="2147776"/>
            <a:ext cx="3935063" cy="3072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625703" y="5263117"/>
            <a:ext cx="181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 smtClean="0">
                <a:solidFill>
                  <a:srgbClr val="0000FF"/>
                </a:solidFill>
              </a:rPr>
              <a:t>WASD 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키로 움직임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4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Turning the Bunny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마우스로 토끼 방향 돌리기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1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의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마지막에 아래 코드 삽입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altLang="ko-KR" sz="1200" b="1" dirty="0" smtClean="0">
                <a:latin typeface="+mn-ea"/>
              </a:rPr>
              <a:t>Import math</a:t>
            </a:r>
          </a:p>
          <a:p>
            <a:pPr>
              <a:lnSpc>
                <a:spcPts val="16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2781" y="2394790"/>
            <a:ext cx="36385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6"/>
          <p:cNvSpPr txBox="1"/>
          <p:nvPr/>
        </p:nvSpPr>
        <p:spPr>
          <a:xfrm>
            <a:off x="871869" y="2158437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>
                <a:solidFill>
                  <a:srgbClr val="C00000"/>
                </a:solidFill>
              </a:rPr>
              <a:t>토끼 위치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3884427" y="3746232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>
                <a:solidFill>
                  <a:srgbClr val="C00000"/>
                </a:solidFill>
              </a:rPr>
              <a:t>마우스 현재 위치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2115879" y="5167452"/>
            <a:ext cx="2550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ko-KR" sz="1400" dirty="0" smtClean="0">
                <a:solidFill>
                  <a:srgbClr val="C00000"/>
                </a:solidFill>
              </a:rPr>
              <a:t> atan2 </a:t>
            </a:r>
            <a:r>
              <a:rPr lang="ko-KR" altLang="en-US" sz="1400" dirty="0" smtClean="0">
                <a:solidFill>
                  <a:srgbClr val="C00000"/>
                </a:solidFill>
              </a:rPr>
              <a:t>함수로 회전각도 </a:t>
            </a:r>
            <a:r>
              <a:rPr lang="en-US" altLang="ko-KR" sz="1400" dirty="0" smtClean="0">
                <a:solidFill>
                  <a:srgbClr val="C00000"/>
                </a:solidFill>
              </a:rPr>
              <a:t>z </a:t>
            </a:r>
            <a:r>
              <a:rPr lang="ko-KR" altLang="en-US" sz="1400" dirty="0" smtClean="0">
                <a:solidFill>
                  <a:srgbClr val="C00000"/>
                </a:solidFill>
              </a:rPr>
              <a:t>산출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4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Turning the Bunny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4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400" i="1" dirty="0" smtClean="0">
                <a:solidFill>
                  <a:srgbClr val="0000FF"/>
                </a:solidFill>
                <a:latin typeface="+mn-ea"/>
              </a:rPr>
              <a:t>#6</a:t>
            </a:r>
            <a:r>
              <a:rPr lang="ko-KR" altLang="en-US" sz="1400" i="1" dirty="0" smtClean="0">
                <a:solidFill>
                  <a:srgbClr val="0000FF"/>
                </a:solidFill>
                <a:latin typeface="+mn-ea"/>
              </a:rPr>
              <a:t>의</a:t>
            </a:r>
            <a:r>
              <a:rPr lang="en-US" altLang="ko-KR" sz="14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400" i="1" dirty="0" smtClean="0">
                <a:solidFill>
                  <a:srgbClr val="0000FF"/>
                </a:solidFill>
                <a:latin typeface="+mn-ea"/>
              </a:rPr>
              <a:t>코드를 아래 코드로 수정</a:t>
            </a:r>
            <a:endParaRPr lang="en-US" altLang="ko-KR" sz="14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endParaRPr lang="en-US" altLang="ko-KR" sz="14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400" dirty="0" err="1" smtClean="0"/>
              <a:t>screen.blit</a:t>
            </a:r>
            <a:r>
              <a:rPr lang="en-US" sz="1400" dirty="0" smtClean="0"/>
              <a:t>(player, playerpos)   </a:t>
            </a:r>
            <a:r>
              <a:rPr lang="en-US" sz="1400" dirty="0" smtClean="0">
                <a:sym typeface="Wingdings" pitchFamily="2" charset="2"/>
              </a:rPr>
              <a:t></a:t>
            </a:r>
          </a:p>
          <a:p>
            <a:pPr>
              <a:lnSpc>
                <a:spcPts val="1900"/>
              </a:lnSpc>
            </a:pPr>
            <a:endParaRPr lang="en-US" sz="1400" dirty="0" smtClean="0">
              <a:sym typeface="Wingdings" pitchFamily="2" charset="2"/>
            </a:endParaRPr>
          </a:p>
          <a:p>
            <a:pPr>
              <a:lnSpc>
                <a:spcPts val="1900"/>
              </a:lnSpc>
            </a:pPr>
            <a:r>
              <a:rPr lang="en-US" sz="1400" i="1" dirty="0" smtClean="0">
                <a:solidFill>
                  <a:srgbClr val="0000FF"/>
                </a:solidFill>
              </a:rPr>
              <a:t># 6.1 - Set player position and rotation</a:t>
            </a:r>
            <a:r>
              <a:rPr lang="en-US" sz="1400" i="1" dirty="0" smtClean="0"/>
              <a:t/>
            </a:r>
            <a:br>
              <a:rPr lang="en-US" sz="1400" i="1" dirty="0" smtClean="0"/>
            </a:br>
            <a:r>
              <a:rPr lang="en-US" sz="1400" dirty="0" smtClean="0"/>
              <a:t>position = </a:t>
            </a:r>
            <a:r>
              <a:rPr lang="en-US" sz="1400" dirty="0" err="1" smtClean="0"/>
              <a:t>pygame.mouse.get_pos</a:t>
            </a:r>
            <a:r>
              <a:rPr lang="en-US" sz="1400" dirty="0" smtClean="0"/>
              <a:t>()        </a:t>
            </a:r>
            <a:br>
              <a:rPr lang="en-US" sz="1400" dirty="0" smtClean="0"/>
            </a:br>
            <a:r>
              <a:rPr lang="en-US" sz="1400" dirty="0" smtClean="0"/>
              <a:t>angle = math.atan2(position[1] - (</a:t>
            </a:r>
            <a:r>
              <a:rPr lang="en-US" sz="1400" dirty="0" err="1" smtClean="0"/>
              <a:t>playerpos</a:t>
            </a:r>
            <a:r>
              <a:rPr lang="en-US" sz="1400" dirty="0" smtClean="0"/>
              <a:t>[1] + 32), position[0] - (</a:t>
            </a:r>
            <a:r>
              <a:rPr lang="en-US" sz="1400" dirty="0" err="1" smtClean="0"/>
              <a:t>playerpos</a:t>
            </a:r>
            <a:r>
              <a:rPr lang="en-US" sz="1400" dirty="0" smtClean="0"/>
              <a:t>[0] + 26))</a:t>
            </a:r>
            <a:br>
              <a:rPr lang="en-US" sz="1400" dirty="0" smtClean="0"/>
            </a:br>
            <a:r>
              <a:rPr lang="en-US" sz="1400" dirty="0" err="1" smtClean="0"/>
              <a:t>playerrot</a:t>
            </a:r>
            <a:r>
              <a:rPr lang="en-US" sz="1400" dirty="0" smtClean="0"/>
              <a:t> = </a:t>
            </a:r>
            <a:r>
              <a:rPr lang="en-US" sz="1400" dirty="0" err="1" smtClean="0"/>
              <a:t>pygame.transform.rotate</a:t>
            </a:r>
            <a:r>
              <a:rPr lang="en-US" sz="1400" dirty="0" smtClean="0"/>
              <a:t>(player, 360 - angle * 57.29)</a:t>
            </a:r>
            <a:br>
              <a:rPr lang="en-US" sz="1400" dirty="0" smtClean="0"/>
            </a:br>
            <a:r>
              <a:rPr lang="en-US" sz="1400" dirty="0" smtClean="0"/>
              <a:t>playerpos1 = (</a:t>
            </a:r>
            <a:r>
              <a:rPr lang="en-US" sz="1400" dirty="0" err="1" smtClean="0"/>
              <a:t>playerpos</a:t>
            </a:r>
            <a:r>
              <a:rPr lang="en-US" sz="1400" dirty="0" smtClean="0"/>
              <a:t>[0] - </a:t>
            </a:r>
            <a:r>
              <a:rPr lang="en-US" sz="1400" dirty="0" err="1" smtClean="0"/>
              <a:t>playerrot.get_rect</a:t>
            </a:r>
            <a:r>
              <a:rPr lang="en-US" sz="1400" dirty="0" smtClean="0"/>
              <a:t>().width / 2, </a:t>
            </a:r>
            <a:r>
              <a:rPr lang="en-US" sz="1400" dirty="0" err="1" smtClean="0"/>
              <a:t>playerpos</a:t>
            </a:r>
            <a:r>
              <a:rPr lang="en-US" sz="1400" dirty="0" smtClean="0"/>
              <a:t>[1] - </a:t>
            </a:r>
            <a:r>
              <a:rPr lang="en-US" sz="1400" dirty="0" err="1" smtClean="0"/>
              <a:t>playerrot.get_rect</a:t>
            </a:r>
            <a:r>
              <a:rPr lang="en-US" sz="1400" dirty="0" smtClean="0"/>
              <a:t>().height / 2)</a:t>
            </a:r>
            <a:br>
              <a:rPr lang="en-US" sz="1400" dirty="0" smtClean="0"/>
            </a:br>
            <a:r>
              <a:rPr lang="en-US" sz="1400" dirty="0" err="1" smtClean="0"/>
              <a:t>screen.blit</a:t>
            </a:r>
            <a:r>
              <a:rPr lang="en-US" sz="1400" dirty="0" smtClean="0"/>
              <a:t>(</a:t>
            </a:r>
            <a:r>
              <a:rPr lang="en-US" sz="1400" dirty="0" err="1" smtClean="0"/>
              <a:t>playerrot</a:t>
            </a:r>
            <a:r>
              <a:rPr lang="en-US" sz="1400" dirty="0" smtClean="0"/>
              <a:t>, playerpos1)</a:t>
            </a:r>
            <a:r>
              <a:rPr lang="en-US" sz="1400" dirty="0" smtClean="0">
                <a:sym typeface="Wingdings" pitchFamily="2" charset="2"/>
              </a:rPr>
              <a:t> </a:t>
            </a:r>
            <a:endParaRPr lang="en-US" altLang="ko-KR" sz="14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3465" y="3604437"/>
            <a:ext cx="3749501" cy="29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10"/>
          <p:cNvSpPr txBox="1"/>
          <p:nvPr/>
        </p:nvSpPr>
        <p:spPr>
          <a:xfrm>
            <a:off x="6145619" y="5752214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FF"/>
                </a:solidFill>
              </a:rPr>
              <a:t>Mouse</a:t>
            </a:r>
            <a:r>
              <a:rPr lang="ko-KR" altLang="en-US" dirty="0" smtClean="0">
                <a:solidFill>
                  <a:srgbClr val="0000FF"/>
                </a:solidFill>
              </a:rPr>
              <a:t>로 토끼 회전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5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Shoot, Bunny, Shoot!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토끼가 화살을 발사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모든 화살을 추적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, update,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화면에서 벗어날 때 삭제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2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에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dirty="0" smtClean="0"/>
              <a:t>acc=[0,0]   </a:t>
            </a:r>
            <a:r>
              <a:rPr lang="en-US" altLang="ko-KR" sz="1200" i="1" dirty="0" smtClean="0"/>
              <a:t># </a:t>
            </a:r>
            <a:r>
              <a:rPr lang="ko-KR" altLang="en-US" sz="1200" i="1" dirty="0" smtClean="0"/>
              <a:t>적을 맞힌 횟수</a:t>
            </a:r>
            <a:r>
              <a:rPr lang="en-US" altLang="ko-KR" sz="1200" i="1" dirty="0" smtClean="0"/>
              <a:t>, </a:t>
            </a:r>
            <a:r>
              <a:rPr lang="ko-KR" altLang="en-US" sz="1200" i="1" dirty="0" smtClean="0"/>
              <a:t>화살 발사 횟수</a:t>
            </a:r>
            <a:br>
              <a:rPr lang="ko-KR" altLang="en-US" sz="1200" i="1" dirty="0" smtClean="0"/>
            </a:br>
            <a:r>
              <a:rPr lang="en-US" altLang="ko-KR" sz="1200" dirty="0" smtClean="0"/>
              <a:t>arrows=[]   </a:t>
            </a:r>
            <a:r>
              <a:rPr lang="en-US" altLang="ko-KR" sz="1200" i="1" dirty="0" smtClean="0"/>
              <a:t># </a:t>
            </a:r>
            <a:r>
              <a:rPr lang="ko-KR" altLang="en-US" sz="1200" i="1" dirty="0" smtClean="0"/>
              <a:t>화살 좌표</a:t>
            </a:r>
            <a:endParaRPr lang="en-US" altLang="ko-KR" sz="1200" i="1" dirty="0" smtClean="0"/>
          </a:p>
          <a:p>
            <a:pPr>
              <a:lnSpc>
                <a:spcPts val="19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3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의  끝에 화살 이미지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dirty="0" smtClean="0"/>
              <a:t>arrow = </a:t>
            </a:r>
            <a:r>
              <a:rPr lang="en-US" sz="1200" dirty="0" err="1" smtClean="0"/>
              <a:t>pygame.image.load</a:t>
            </a:r>
            <a:r>
              <a:rPr lang="en-US" sz="1200" dirty="0" smtClean="0"/>
              <a:t>("resources/images/bullet.png")</a:t>
            </a:r>
          </a:p>
          <a:p>
            <a:pPr>
              <a:lnSpc>
                <a:spcPts val="19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8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의  끝에 아래 이벤트 핸들러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b="1" dirty="0" smtClean="0"/>
              <a:t>if </a:t>
            </a:r>
            <a:r>
              <a:rPr lang="en-US" sz="1200" dirty="0" err="1" smtClean="0"/>
              <a:t>event.type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pygame.MOUSEBUTTONDOWN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position = </a:t>
            </a:r>
            <a:r>
              <a:rPr lang="en-US" sz="1200" dirty="0" err="1" smtClean="0"/>
              <a:t>pygame.mouse.get_pos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smtClean="0"/>
              <a:t>    acc[1] += 1       </a:t>
            </a: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화살발사횟수 증가</a:t>
            </a:r>
            <a:br>
              <a:rPr lang="ko-KR" altLang="en-US" sz="1200" i="1" dirty="0" smtClean="0">
                <a:solidFill>
                  <a:srgbClr val="0000FF"/>
                </a:solidFill>
              </a:rPr>
            </a:br>
            <a:r>
              <a:rPr lang="ko-KR" altLang="en-US" sz="1200" i="1" dirty="0" smtClean="0">
                <a:solidFill>
                  <a:srgbClr val="0000FF"/>
                </a:solidFill>
              </a:rPr>
              <a:t>     </a:t>
            </a:r>
            <a:r>
              <a:rPr lang="en-US" altLang="ko-KR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마우스 위치와 회전된 토끼 위치를 계산하여 화살표 좌표 산출</a:t>
            </a:r>
            <a:r>
              <a:rPr lang="ko-KR" altLang="en-US" sz="1200" i="1" dirty="0" smtClean="0"/>
              <a:t/>
            </a:r>
            <a:br>
              <a:rPr lang="ko-KR" altLang="en-US" sz="1200" i="1" dirty="0" smtClean="0"/>
            </a:br>
            <a:r>
              <a:rPr lang="ko-KR" altLang="en-US" sz="1200" i="1" dirty="0" smtClean="0"/>
              <a:t>    </a:t>
            </a:r>
            <a:r>
              <a:rPr lang="en-US" sz="1200" dirty="0" err="1" smtClean="0"/>
              <a:t>arrows.append</a:t>
            </a:r>
            <a:r>
              <a:rPr lang="en-US" sz="1200" dirty="0" smtClean="0"/>
              <a:t>([math.atan2(position[1] - (playerpos1[1] + 32), position[0] - (playerpos1[0] + 26)), playerpos1[0] + 32,</a:t>
            </a:r>
            <a:br>
              <a:rPr lang="en-US" sz="1200" dirty="0" smtClean="0"/>
            </a:br>
            <a:r>
              <a:rPr lang="en-US" sz="1200" dirty="0" smtClean="0"/>
              <a:t>         playerpos1[1] + 32])</a:t>
            </a:r>
          </a:p>
          <a:p>
            <a:pPr>
              <a:lnSpc>
                <a:spcPts val="19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5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Shoot, Bunny, Shoot!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399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6.1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다음에 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실제 화살을 그려주기 위한 코드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/>
              <a:t># 6.2 - Draw arrows</a:t>
            </a:r>
            <a:br>
              <a:rPr lang="en-US" sz="1200" i="1" dirty="0" smtClean="0"/>
            </a:br>
            <a:r>
              <a:rPr lang="en-US" sz="1200" b="1" dirty="0" smtClean="0"/>
              <a:t>for </a:t>
            </a:r>
            <a:r>
              <a:rPr lang="en-US" sz="1200" dirty="0" smtClean="0"/>
              <a:t>bullet </a:t>
            </a:r>
            <a:r>
              <a:rPr lang="en-US" sz="1200" b="1" dirty="0" smtClean="0"/>
              <a:t>in </a:t>
            </a:r>
            <a:r>
              <a:rPr lang="en-US" sz="1200" dirty="0" smtClean="0"/>
              <a:t>arrows:</a:t>
            </a:r>
            <a:br>
              <a:rPr lang="en-US" sz="1200" dirty="0" smtClean="0"/>
            </a:br>
            <a:r>
              <a:rPr lang="en-US" sz="1200" dirty="0" smtClean="0"/>
              <a:t>    index = 0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velx</a:t>
            </a:r>
            <a:r>
              <a:rPr lang="en-US" sz="1200" dirty="0" smtClean="0"/>
              <a:t> = math.cos(bullet[0]) * 10            </a:t>
            </a:r>
            <a:r>
              <a:rPr lang="en-US" sz="1200" b="1" i="1" dirty="0" smtClean="0">
                <a:solidFill>
                  <a:srgbClr val="0000FF"/>
                </a:solidFill>
              </a:rPr>
              <a:t># 10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은</a:t>
            </a:r>
            <a:r>
              <a:rPr lang="en-US" sz="1200" b="1" i="1" dirty="0" smtClean="0">
                <a:solidFill>
                  <a:srgbClr val="0000FF"/>
                </a:solidFill>
              </a:rPr>
              <a:t>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화살 속도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vely</a:t>
            </a:r>
            <a:r>
              <a:rPr lang="en-US" sz="1200" dirty="0" smtClean="0"/>
              <a:t> = math.sin(bullet[0]) * 10</a:t>
            </a:r>
            <a:br>
              <a:rPr lang="en-US" sz="1200" dirty="0" smtClean="0"/>
            </a:br>
            <a:r>
              <a:rPr lang="en-US" sz="1200" dirty="0" smtClean="0"/>
              <a:t>    bullet[1] += </a:t>
            </a:r>
            <a:r>
              <a:rPr lang="en-US" sz="1200" dirty="0" err="1" smtClean="0"/>
              <a:t>velx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bullet[2] += </a:t>
            </a:r>
            <a:r>
              <a:rPr lang="en-US" sz="1200" dirty="0" err="1" smtClean="0"/>
              <a:t>vely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smtClean="0"/>
              <a:t>bullet[1] &lt; -64 </a:t>
            </a:r>
            <a:r>
              <a:rPr lang="en-US" sz="1200" b="1" dirty="0" smtClean="0"/>
              <a:t>or </a:t>
            </a:r>
            <a:r>
              <a:rPr lang="en-US" sz="1200" dirty="0" smtClean="0"/>
              <a:t>bullet[1] &gt; 640 </a:t>
            </a:r>
            <a:r>
              <a:rPr lang="en-US" sz="1200" b="1" dirty="0" smtClean="0"/>
              <a:t>or </a:t>
            </a:r>
            <a:r>
              <a:rPr lang="en-US" sz="1200" dirty="0" smtClean="0"/>
              <a:t>bullet[2] &lt; -64 </a:t>
            </a:r>
            <a:r>
              <a:rPr lang="en-US" sz="1200" b="1" dirty="0" smtClean="0"/>
              <a:t>or </a:t>
            </a:r>
            <a:r>
              <a:rPr lang="en-US" sz="1200" dirty="0" smtClean="0"/>
              <a:t>bullet[2] &gt; 480:       </a:t>
            </a:r>
            <a:r>
              <a:rPr lang="en-US" sz="1200" b="1" i="1" dirty="0" smtClean="0">
                <a:solidFill>
                  <a:srgbClr val="0000FF"/>
                </a:solidFill>
              </a:rPr>
              <a:t> #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화면 밖으로 화살이 나가면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    arrows.pop(index)                                                                                                </a:t>
            </a:r>
            <a:r>
              <a:rPr lang="en-US" sz="1200" b="1" i="1" dirty="0" smtClean="0">
                <a:solidFill>
                  <a:srgbClr val="0000FF"/>
                </a:solidFill>
              </a:rPr>
              <a:t># 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화살 제거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index += 1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for </a:t>
            </a:r>
            <a:r>
              <a:rPr lang="en-US" sz="1200" dirty="0" smtClean="0"/>
              <a:t>projectile </a:t>
            </a:r>
            <a:r>
              <a:rPr lang="en-US" sz="1200" b="1" dirty="0" smtClean="0"/>
              <a:t>in </a:t>
            </a:r>
            <a:r>
              <a:rPr lang="en-US" sz="1200" dirty="0" smtClean="0"/>
              <a:t>arrows:</a:t>
            </a:r>
            <a:br>
              <a:rPr lang="en-US" sz="1200" dirty="0" smtClean="0"/>
            </a:br>
            <a:r>
              <a:rPr lang="en-US" sz="1200" dirty="0" smtClean="0"/>
              <a:t>        arrow1 = </a:t>
            </a:r>
            <a:r>
              <a:rPr lang="en-US" sz="1200" dirty="0" err="1" smtClean="0"/>
              <a:t>pygame.transform.rotate</a:t>
            </a:r>
            <a:r>
              <a:rPr lang="en-US" sz="1200" dirty="0" smtClean="0"/>
              <a:t>(arrow, 360 - projectile[0] * 57.29)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(arrow1, (projectile[1], projectile[2]))</a:t>
            </a: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6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Take Up Arms! Badgers!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159899" y="938418"/>
            <a:ext cx="7942109" cy="3326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오소리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적들을 만들자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 fontAlgn="base"/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1. </a:t>
            </a:r>
            <a:r>
              <a:rPr lang="en-US" sz="1200" dirty="0" smtClean="0">
                <a:solidFill>
                  <a:srgbClr val="0000FF"/>
                </a:solidFill>
              </a:rPr>
              <a:t>Add bad guys to a list an array.</a:t>
            </a:r>
          </a:p>
          <a:p>
            <a:pPr fontAlgn="base"/>
            <a:r>
              <a:rPr lang="en-US" sz="1200" dirty="0" smtClean="0">
                <a:solidFill>
                  <a:srgbClr val="0000FF"/>
                </a:solidFill>
              </a:rPr>
              <a:t> #  2. Update the bad guy array each frame and check if they are off screen.</a:t>
            </a:r>
          </a:p>
          <a:p>
            <a:pPr fontAlgn="base"/>
            <a:r>
              <a:rPr lang="en-US" sz="1200" dirty="0" smtClean="0">
                <a:solidFill>
                  <a:srgbClr val="0000FF"/>
                </a:solidFill>
              </a:rPr>
              <a:t> #  3. Show the bad guys.</a:t>
            </a: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#2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마지막에 아래 코드 삽입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dirty="0" err="1" smtClean="0"/>
              <a:t>badtimer</a:t>
            </a:r>
            <a:r>
              <a:rPr lang="en-US" altLang="ko-KR" sz="1200" dirty="0" smtClean="0"/>
              <a:t>=100   </a:t>
            </a:r>
            <a:r>
              <a:rPr lang="en-US" altLang="ko-KR" sz="1200" i="1" dirty="0" smtClean="0"/>
              <a:t># </a:t>
            </a:r>
            <a:r>
              <a:rPr lang="ko-KR" altLang="en-US" sz="1200" i="1" dirty="0" smtClean="0"/>
              <a:t>적 출현 시간</a:t>
            </a:r>
            <a:br>
              <a:rPr lang="ko-KR" altLang="en-US" sz="1200" i="1" dirty="0" smtClean="0"/>
            </a:br>
            <a:r>
              <a:rPr lang="en-US" altLang="ko-KR" sz="1200" dirty="0" smtClean="0"/>
              <a:t>badtimer1=0    </a:t>
            </a:r>
            <a:r>
              <a:rPr lang="en-US" altLang="ko-KR" sz="1200" i="1" dirty="0" smtClean="0"/>
              <a:t>#</a:t>
            </a:r>
            <a:br>
              <a:rPr lang="en-US" altLang="ko-KR" sz="1200" i="1" dirty="0" smtClean="0"/>
            </a:br>
            <a:r>
              <a:rPr lang="en-US" altLang="ko-KR" sz="1200" dirty="0" err="1" smtClean="0"/>
              <a:t>badguys</a:t>
            </a:r>
            <a:r>
              <a:rPr lang="en-US" altLang="ko-KR" sz="1200" dirty="0" smtClean="0"/>
              <a:t>=[[640,100]]   </a:t>
            </a:r>
            <a:r>
              <a:rPr lang="en-US" altLang="ko-KR" sz="1200" i="1" dirty="0" smtClean="0"/>
              <a:t># </a:t>
            </a:r>
            <a:r>
              <a:rPr lang="ko-KR" altLang="en-US" sz="1200" i="1" dirty="0" smtClean="0"/>
              <a:t>적 좌표</a:t>
            </a:r>
            <a:br>
              <a:rPr lang="ko-KR" altLang="en-US" sz="1200" i="1" dirty="0" smtClean="0"/>
            </a:br>
            <a:r>
              <a:rPr lang="en-US" altLang="ko-KR" sz="1200" dirty="0" err="1" smtClean="0"/>
              <a:t>healthvalue</a:t>
            </a:r>
            <a:r>
              <a:rPr lang="en-US" altLang="ko-KR" sz="1200" dirty="0" smtClean="0"/>
              <a:t>=194       </a:t>
            </a:r>
            <a:r>
              <a:rPr lang="en-US" altLang="ko-KR" sz="1200" i="1" dirty="0" smtClean="0"/>
              <a:t># </a:t>
            </a:r>
            <a:r>
              <a:rPr lang="ko-KR" altLang="en-US" sz="1200" i="1" dirty="0" smtClean="0"/>
              <a:t>적 상태</a:t>
            </a:r>
            <a:endParaRPr lang="en-US" altLang="ko-KR" sz="1200" i="1" dirty="0" smtClean="0"/>
          </a:p>
          <a:p>
            <a:pPr>
              <a:lnSpc>
                <a:spcPts val="19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#3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마지막에 아래 코드 삽입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dirty="0" smtClean="0"/>
              <a:t>badguyimg1 = </a:t>
            </a:r>
            <a:r>
              <a:rPr lang="en-US" sz="1200" dirty="0" err="1" smtClean="0"/>
              <a:t>pygame.image.load</a:t>
            </a:r>
            <a:r>
              <a:rPr lang="en-US" sz="1200" dirty="0" smtClean="0"/>
              <a:t>(</a:t>
            </a:r>
            <a:r>
              <a:rPr lang="en-US" sz="1200" b="1" dirty="0" smtClean="0"/>
              <a:t>"resources/images/badguy.png"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err="1" smtClean="0"/>
              <a:t>badguyimg</a:t>
            </a:r>
            <a:r>
              <a:rPr lang="en-US" sz="1200" dirty="0" smtClean="0"/>
              <a:t>=badguyimg1</a:t>
            </a: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6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Take Up Arms! Badgers!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472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악당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update, random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모듈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dirty="0" smtClean="0"/>
              <a:t>import random   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#  #6.2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다음에</a:t>
            </a: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/>
              <a:t># 6.3 - Draw badgers</a:t>
            </a:r>
            <a:br>
              <a:rPr lang="en-US" sz="1200" i="1" dirty="0" smtClean="0"/>
            </a:br>
            <a:r>
              <a:rPr lang="en-US" sz="1200" b="1" dirty="0" smtClean="0"/>
              <a:t>if </a:t>
            </a:r>
            <a:r>
              <a:rPr lang="en-US" sz="1200" dirty="0" err="1" smtClean="0"/>
              <a:t>badtimer</a:t>
            </a:r>
            <a:r>
              <a:rPr lang="en-US" sz="1200" dirty="0" smtClean="0"/>
              <a:t> == 0:        </a:t>
            </a: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적을 생성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badguys.append</a:t>
            </a:r>
            <a:r>
              <a:rPr lang="en-US" sz="1200" dirty="0" smtClean="0"/>
              <a:t>([640, </a:t>
            </a:r>
            <a:r>
              <a:rPr lang="en-US" sz="1200" dirty="0" err="1" smtClean="0"/>
              <a:t>random.randint</a:t>
            </a:r>
            <a:r>
              <a:rPr lang="en-US" sz="1200" dirty="0" smtClean="0"/>
              <a:t>(50, 430)])        </a:t>
            </a:r>
            <a:r>
              <a:rPr lang="en-US" sz="1200" b="1" i="1" dirty="0" smtClean="0">
                <a:solidFill>
                  <a:srgbClr val="0000FF"/>
                </a:solidFill>
              </a:rPr>
              <a:t> #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적 생성 좌표 추가</a:t>
            </a:r>
            <a:r>
              <a:rPr lang="en-US" altLang="ko-KR" sz="1200" b="1" i="1" dirty="0" smtClean="0">
                <a:solidFill>
                  <a:srgbClr val="0000FF"/>
                </a:solidFill>
              </a:rPr>
              <a:t>, 50~430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사의 </a:t>
            </a:r>
            <a:r>
              <a:rPr lang="en-US" altLang="ko-KR" sz="1200" b="1" i="1" dirty="0" smtClean="0">
                <a:solidFill>
                  <a:srgbClr val="0000FF"/>
                </a:solidFill>
              </a:rPr>
              <a:t>random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정수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badtimer</a:t>
            </a:r>
            <a:r>
              <a:rPr lang="en-US" sz="1200" dirty="0" smtClean="0"/>
              <a:t> = 100 - (badtimer1 * 2)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smtClean="0"/>
              <a:t>badtimer1 &gt;= 35:</a:t>
            </a:r>
            <a:br>
              <a:rPr lang="en-US" sz="1200" dirty="0" smtClean="0"/>
            </a:br>
            <a:r>
              <a:rPr lang="en-US" sz="1200" dirty="0" smtClean="0"/>
              <a:t>        badtimer1 = 35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else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badtimer1 += 5</a:t>
            </a:r>
            <a:br>
              <a:rPr lang="en-US" sz="1200" dirty="0" smtClean="0"/>
            </a:br>
            <a:r>
              <a:rPr lang="en-US" sz="1200" dirty="0" smtClean="0"/>
              <a:t>index = 0</a:t>
            </a:r>
            <a:br>
              <a:rPr lang="en-US" sz="1200" dirty="0" smtClean="0"/>
            </a:br>
            <a:r>
              <a:rPr lang="en-US" sz="1200" b="1" dirty="0" smtClean="0"/>
              <a:t>for </a:t>
            </a:r>
            <a:r>
              <a:rPr lang="en-US" sz="1200" dirty="0" err="1" smtClean="0"/>
              <a:t>badguy</a:t>
            </a:r>
            <a:r>
              <a:rPr lang="en-US" sz="1200" dirty="0" smtClean="0"/>
              <a:t> </a:t>
            </a:r>
            <a:r>
              <a:rPr lang="en-US" sz="1200" b="1" dirty="0" smtClean="0"/>
              <a:t>in </a:t>
            </a:r>
            <a:r>
              <a:rPr lang="en-US" sz="1200" dirty="0" err="1" smtClean="0"/>
              <a:t>badguys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err="1" smtClean="0"/>
              <a:t>badguy</a:t>
            </a:r>
            <a:r>
              <a:rPr lang="en-US" sz="1200" dirty="0" smtClean="0"/>
              <a:t>[0] &lt; -64:           </a:t>
            </a: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오소리 </a:t>
            </a:r>
            <a:r>
              <a:rPr lang="en-US" altLang="ko-KR" sz="1200" i="1" dirty="0" smtClean="0">
                <a:solidFill>
                  <a:srgbClr val="0000FF"/>
                </a:solidFill>
              </a:rPr>
              <a:t>x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위치 업데이트</a:t>
            </a:r>
            <a:r>
              <a:rPr lang="en-US" altLang="ko-KR" sz="1200" i="1" dirty="0" smtClean="0">
                <a:solidFill>
                  <a:srgbClr val="0000FF"/>
                </a:solidFill>
              </a:rPr>
              <a:t>,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화면에서 벗어나면 삭제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    badguys.pop(index)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badguy</a:t>
            </a:r>
            <a:r>
              <a:rPr lang="en-US" sz="1200" dirty="0" smtClean="0"/>
              <a:t>[0] -= 7</a:t>
            </a:r>
            <a:br>
              <a:rPr lang="en-US" sz="1200" dirty="0" smtClean="0"/>
            </a:br>
            <a:r>
              <a:rPr lang="en-US" sz="1200" dirty="0" smtClean="0"/>
              <a:t>    index += 1</a:t>
            </a:r>
            <a:br>
              <a:rPr lang="en-US" sz="1200" dirty="0" smtClean="0"/>
            </a:br>
            <a:r>
              <a:rPr lang="en-US" sz="1200" b="1" dirty="0" smtClean="0"/>
              <a:t>for </a:t>
            </a:r>
            <a:r>
              <a:rPr lang="en-US" sz="1200" dirty="0" err="1" smtClean="0"/>
              <a:t>badguy</a:t>
            </a:r>
            <a:r>
              <a:rPr lang="en-US" sz="1200" dirty="0" smtClean="0"/>
              <a:t> </a:t>
            </a:r>
            <a:r>
              <a:rPr lang="en-US" sz="1200" b="1" dirty="0" smtClean="0"/>
              <a:t>in </a:t>
            </a:r>
            <a:r>
              <a:rPr lang="en-US" sz="1200" dirty="0" err="1" smtClean="0"/>
              <a:t>badguys</a:t>
            </a:r>
            <a:r>
              <a:rPr lang="en-US" sz="1200" dirty="0" smtClean="0"/>
              <a:t>:       </a:t>
            </a: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모든 오소리 표시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</a:t>
            </a:r>
            <a:r>
              <a:rPr lang="en-US" sz="1200" dirty="0" err="1" smtClean="0"/>
              <a:t>badguyimg</a:t>
            </a:r>
            <a:r>
              <a:rPr lang="en-US" sz="1200" dirty="0" smtClean="0"/>
              <a:t>, </a:t>
            </a:r>
            <a:r>
              <a:rPr lang="en-US" sz="1200" dirty="0" err="1" smtClean="0"/>
              <a:t>badguy</a:t>
            </a:r>
            <a:r>
              <a:rPr lang="en-US" sz="1200" dirty="0" smtClean="0"/>
              <a:t>)</a:t>
            </a: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6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Take Up Arms! Badgers!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0374" y="1174897"/>
            <a:ext cx="7942109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매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frame </a:t>
            </a:r>
            <a:r>
              <a:rPr lang="en-US" altLang="ko-KR" sz="1200" i="1" dirty="0" err="1" smtClean="0">
                <a:solidFill>
                  <a:srgbClr val="0000FF"/>
                </a:solidFill>
                <a:latin typeface="+mn-ea"/>
              </a:rPr>
              <a:t>badtimer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값을 감소시켜 주기 위하여 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9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마지막 줄 다음 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sz="1200" dirty="0" err="1" smtClean="0"/>
              <a:t>badtimer</a:t>
            </a:r>
            <a:r>
              <a:rPr lang="en-US" sz="1200" dirty="0" smtClean="0"/>
              <a:t>-=1</a:t>
            </a:r>
          </a:p>
          <a:p>
            <a:pPr>
              <a:lnSpc>
                <a:spcPts val="19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오소리들이 성을 공격하도록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#6.3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index+=1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전에  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</a:rPr>
              <a:t># 6.3.1 - Attack castle</a:t>
            </a:r>
            <a:r>
              <a:rPr lang="en-US" sz="1200" i="1" dirty="0" smtClean="0"/>
              <a:t/>
            </a:r>
            <a:br>
              <a:rPr lang="en-US" sz="1200" i="1" dirty="0" smtClean="0"/>
            </a:br>
            <a:r>
              <a:rPr lang="en-US" sz="1200" dirty="0" err="1" smtClean="0"/>
              <a:t>badrect</a:t>
            </a:r>
            <a:r>
              <a:rPr lang="en-US" sz="1200" dirty="0" smtClean="0"/>
              <a:t> = </a:t>
            </a:r>
            <a:r>
              <a:rPr lang="en-US" sz="1200" dirty="0" err="1" smtClean="0"/>
              <a:t>pygame.Rect</a:t>
            </a:r>
            <a:r>
              <a:rPr lang="en-US" sz="1200" dirty="0" smtClean="0"/>
              <a:t>(</a:t>
            </a:r>
            <a:r>
              <a:rPr lang="en-US" sz="1200" dirty="0" err="1" smtClean="0"/>
              <a:t>badguyimg.get_rect</a:t>
            </a:r>
            <a:r>
              <a:rPr lang="en-US" sz="1200" dirty="0" smtClean="0"/>
              <a:t>())</a:t>
            </a:r>
            <a:br>
              <a:rPr lang="en-US" sz="1200" dirty="0" smtClean="0"/>
            </a:br>
            <a:r>
              <a:rPr lang="en-US" sz="1200" dirty="0" err="1" smtClean="0"/>
              <a:t>badrect.top</a:t>
            </a:r>
            <a:r>
              <a:rPr lang="en-US" sz="1200" dirty="0" smtClean="0"/>
              <a:t> = </a:t>
            </a:r>
            <a:r>
              <a:rPr lang="en-US" sz="1200" dirty="0" err="1" smtClean="0"/>
              <a:t>badguy</a:t>
            </a:r>
            <a:r>
              <a:rPr lang="en-US" sz="1200" dirty="0" smtClean="0"/>
              <a:t>[1]</a:t>
            </a:r>
            <a:br>
              <a:rPr lang="en-US" sz="1200" dirty="0" smtClean="0"/>
            </a:br>
            <a:r>
              <a:rPr lang="en-US" sz="1200" dirty="0" err="1" smtClean="0"/>
              <a:t>badrect.left</a:t>
            </a:r>
            <a:r>
              <a:rPr lang="en-US" sz="1200" dirty="0" smtClean="0"/>
              <a:t> = </a:t>
            </a:r>
            <a:r>
              <a:rPr lang="en-US" sz="1200" dirty="0" err="1" smtClean="0"/>
              <a:t>badguy</a:t>
            </a:r>
            <a:r>
              <a:rPr lang="en-US" sz="1200" dirty="0" smtClean="0"/>
              <a:t>[0]</a:t>
            </a:r>
            <a:br>
              <a:rPr lang="en-US" sz="1200" dirty="0" smtClean="0"/>
            </a:br>
            <a:r>
              <a:rPr lang="en-US" sz="1200" b="1" dirty="0" smtClean="0"/>
              <a:t>if </a:t>
            </a:r>
            <a:r>
              <a:rPr lang="en-US" sz="1200" dirty="0" err="1" smtClean="0"/>
              <a:t>badrect.left</a:t>
            </a:r>
            <a:r>
              <a:rPr lang="en-US" sz="1200" dirty="0" smtClean="0"/>
              <a:t> &lt; 64:                                           </a:t>
            </a:r>
            <a:r>
              <a:rPr lang="en-US" sz="1200" dirty="0" smtClean="0">
                <a:solidFill>
                  <a:srgbClr val="0000FF"/>
                </a:solidFill>
              </a:rPr>
              <a:t>#</a:t>
            </a:r>
            <a:r>
              <a:rPr lang="ko-KR" altLang="en-US" sz="1200" dirty="0" smtClean="0">
                <a:solidFill>
                  <a:srgbClr val="0000FF"/>
                </a:solidFill>
              </a:rPr>
              <a:t>오소리가 성에 </a:t>
            </a:r>
            <a:r>
              <a:rPr lang="ko-KR" altLang="en-US" sz="1200" dirty="0" err="1" smtClean="0">
                <a:solidFill>
                  <a:srgbClr val="0000FF"/>
                </a:solidFill>
              </a:rPr>
              <a:t>부딛히면</a:t>
            </a:r>
            <a:r>
              <a:rPr lang="en-US" altLang="ko-KR" sz="1200" dirty="0" smtClean="0">
                <a:solidFill>
                  <a:srgbClr val="0000FF"/>
                </a:solidFill>
              </a:rPr>
              <a:t>,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healthvalue</a:t>
            </a:r>
            <a:r>
              <a:rPr lang="en-US" sz="1200" dirty="0" smtClean="0"/>
              <a:t> -= </a:t>
            </a:r>
            <a:r>
              <a:rPr lang="en-US" sz="1200" dirty="0" err="1" smtClean="0"/>
              <a:t>random.randint</a:t>
            </a:r>
            <a:r>
              <a:rPr lang="en-US" sz="1200" dirty="0" smtClean="0"/>
              <a:t>(5, 20)       </a:t>
            </a:r>
            <a:r>
              <a:rPr lang="en-US" sz="1200" dirty="0" smtClean="0">
                <a:solidFill>
                  <a:srgbClr val="0000FF"/>
                </a:solidFill>
              </a:rPr>
              <a:t># </a:t>
            </a:r>
            <a:r>
              <a:rPr lang="ko-KR" altLang="en-US" sz="1200" dirty="0" smtClean="0">
                <a:solidFill>
                  <a:srgbClr val="0000FF"/>
                </a:solidFill>
              </a:rPr>
              <a:t>성의 </a:t>
            </a:r>
            <a:r>
              <a:rPr lang="ko-KR" altLang="en-US" sz="1200" dirty="0" err="1" smtClean="0">
                <a:solidFill>
                  <a:srgbClr val="0000FF"/>
                </a:solidFill>
              </a:rPr>
              <a:t>상태값</a:t>
            </a:r>
            <a:r>
              <a:rPr lang="ko-KR" altLang="en-US" sz="1200" dirty="0" smtClean="0">
                <a:solidFill>
                  <a:srgbClr val="0000FF"/>
                </a:solidFill>
              </a:rPr>
              <a:t> 감소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badguys.pop(index)                                      </a:t>
            </a:r>
            <a:r>
              <a:rPr lang="en-US" sz="1200" dirty="0" smtClean="0">
                <a:solidFill>
                  <a:srgbClr val="0000FF"/>
                </a:solidFill>
              </a:rPr>
              <a:t># </a:t>
            </a:r>
            <a:r>
              <a:rPr lang="ko-KR" altLang="en-US" sz="1200" dirty="0" smtClean="0">
                <a:solidFill>
                  <a:srgbClr val="0000FF"/>
                </a:solidFill>
              </a:rPr>
              <a:t>오소리 삭제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i="1" dirty="0" smtClean="0"/>
              <a:t># 6.3.3 - Next bad guy</a:t>
            </a: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7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Collisions with Badgers and Arrows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325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화살로 오소리 잡기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#  #6.3.1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다음에 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/>
              <a:t># 6.3.2 - Check for collisions</a:t>
            </a:r>
            <a:br>
              <a:rPr lang="en-US" sz="1200" i="1" dirty="0" smtClean="0"/>
            </a:br>
            <a:r>
              <a:rPr lang="en-US" sz="1200" dirty="0" smtClean="0"/>
              <a:t>index1 = 0</a:t>
            </a:r>
            <a:br>
              <a:rPr lang="en-US" sz="1200" dirty="0" smtClean="0"/>
            </a:br>
            <a:r>
              <a:rPr lang="en-US" sz="1200" b="1" dirty="0" smtClean="0"/>
              <a:t>for </a:t>
            </a:r>
            <a:r>
              <a:rPr lang="en-US" sz="1200" dirty="0" smtClean="0"/>
              <a:t>bullet </a:t>
            </a:r>
            <a:r>
              <a:rPr lang="en-US" sz="1200" b="1" dirty="0" smtClean="0"/>
              <a:t>in </a:t>
            </a:r>
            <a:r>
              <a:rPr lang="en-US" sz="1200" dirty="0" smtClean="0"/>
              <a:t>arrows: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bullrect</a:t>
            </a:r>
            <a:r>
              <a:rPr lang="en-US" sz="1200" dirty="0" smtClean="0"/>
              <a:t> = </a:t>
            </a:r>
            <a:r>
              <a:rPr lang="en-US" sz="1200" dirty="0" err="1" smtClean="0"/>
              <a:t>pygame.Rect</a:t>
            </a:r>
            <a:r>
              <a:rPr lang="en-US" sz="1200" dirty="0" smtClean="0"/>
              <a:t>(</a:t>
            </a:r>
            <a:r>
              <a:rPr lang="en-US" sz="1200" dirty="0" err="1" smtClean="0"/>
              <a:t>arrow.get_rect</a:t>
            </a:r>
            <a:r>
              <a:rPr lang="en-US" sz="1200" dirty="0" smtClean="0"/>
              <a:t>())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bullrect.left</a:t>
            </a:r>
            <a:r>
              <a:rPr lang="en-US" sz="1200" dirty="0" smtClean="0"/>
              <a:t> = bullet[1]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bullrect.top</a:t>
            </a:r>
            <a:r>
              <a:rPr lang="en-US" sz="1200" dirty="0" smtClean="0"/>
              <a:t> = bullet[2]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err="1" smtClean="0"/>
              <a:t>badrect.colliderect</a:t>
            </a:r>
            <a:r>
              <a:rPr lang="en-US" sz="1200" dirty="0" smtClean="0"/>
              <a:t>(</a:t>
            </a:r>
            <a:r>
              <a:rPr lang="en-US" sz="1200" dirty="0" err="1" smtClean="0"/>
              <a:t>bullrect</a:t>
            </a:r>
            <a:r>
              <a:rPr lang="en-US" sz="1200" dirty="0" smtClean="0"/>
              <a:t>):          </a:t>
            </a:r>
            <a:r>
              <a:rPr lang="en-US" sz="1200" b="1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b="1" i="1" dirty="0" err="1" smtClean="0">
                <a:solidFill>
                  <a:srgbClr val="0000FF"/>
                </a:solidFill>
              </a:rPr>
              <a:t>두개의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 이미지가 교차하는지 검사하는 내장 </a:t>
            </a:r>
            <a:r>
              <a:rPr lang="en-US" altLang="ko-KR" sz="1200" b="1" i="1" dirty="0" err="1" smtClean="0">
                <a:solidFill>
                  <a:srgbClr val="0000FF"/>
                </a:solidFill>
              </a:rPr>
              <a:t>pygame</a:t>
            </a:r>
            <a:r>
              <a:rPr lang="en-US" altLang="ko-KR" sz="1200" b="1" i="1" dirty="0" smtClean="0">
                <a:solidFill>
                  <a:srgbClr val="0000FF"/>
                </a:solidFill>
              </a:rPr>
              <a:t> </a:t>
            </a:r>
            <a:r>
              <a:rPr lang="ko-KR" altLang="en-US" sz="1200" b="1" i="1" dirty="0" smtClean="0">
                <a:solidFill>
                  <a:srgbClr val="0000FF"/>
                </a:solidFill>
              </a:rPr>
              <a:t>함수</a:t>
            </a:r>
            <a:r>
              <a:rPr lang="en-US" sz="1200" b="1" i="1" dirty="0" smtClean="0">
                <a:solidFill>
                  <a:srgbClr val="0000FF"/>
                </a:solidFill>
              </a:rPr>
              <a:t/>
            </a:r>
            <a:br>
              <a:rPr lang="en-US" sz="1200" b="1" i="1" dirty="0" smtClean="0">
                <a:solidFill>
                  <a:srgbClr val="0000FF"/>
                </a:solidFill>
              </a:rPr>
            </a:br>
            <a:r>
              <a:rPr lang="en-US" sz="1200" dirty="0" smtClean="0"/>
              <a:t>        acc[0] += 1</a:t>
            </a:r>
            <a:br>
              <a:rPr lang="en-US" sz="1200" dirty="0" smtClean="0"/>
            </a:br>
            <a:r>
              <a:rPr lang="en-US" sz="1200" dirty="0" smtClean="0"/>
              <a:t>        badguys.pop(index)</a:t>
            </a:r>
            <a:br>
              <a:rPr lang="en-US" sz="1200" dirty="0" smtClean="0"/>
            </a:br>
            <a:r>
              <a:rPr lang="en-US" sz="1200" dirty="0" smtClean="0"/>
              <a:t>        arrows.pop(index1)</a:t>
            </a:r>
            <a:br>
              <a:rPr lang="en-US" sz="1200" dirty="0" smtClean="0"/>
            </a:br>
            <a:r>
              <a:rPr lang="en-US" sz="1200" dirty="0" smtClean="0"/>
              <a:t>    index1 += 1</a:t>
            </a: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8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en-US" sz="2400" b="1" dirty="0" smtClean="0">
                <a:solidFill>
                  <a:schemeClr val="tx1"/>
                </a:solidFill>
              </a:rPr>
              <a:t>Add a HUD with Health Meter and Clock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399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게임 정보 표시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: HUD(Heads Up Display)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# 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시계 추가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, #7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의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시작 부분 바로 앞에 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/>
              <a:t># 6.4 - Draw clock</a:t>
            </a:r>
            <a:br>
              <a:rPr lang="en-US" sz="1200" i="1" dirty="0" smtClean="0"/>
            </a:br>
            <a:r>
              <a:rPr lang="en-US" sz="1200" dirty="0" smtClean="0"/>
              <a:t>font = </a:t>
            </a:r>
            <a:r>
              <a:rPr lang="en-US" sz="1200" dirty="0" err="1" smtClean="0"/>
              <a:t>pygame.font.Font</a:t>
            </a:r>
            <a:r>
              <a:rPr lang="en-US" sz="1200" dirty="0" smtClean="0"/>
              <a:t>(</a:t>
            </a:r>
            <a:r>
              <a:rPr lang="en-US" sz="1200" b="1" dirty="0" smtClean="0"/>
              <a:t>None</a:t>
            </a:r>
            <a:r>
              <a:rPr lang="en-US" sz="1200" dirty="0" smtClean="0"/>
              <a:t>, 24)</a:t>
            </a:r>
            <a:br>
              <a:rPr lang="en-US" sz="1200" dirty="0" smtClean="0"/>
            </a:br>
            <a:r>
              <a:rPr lang="en-US" sz="1200" dirty="0" err="1" smtClean="0"/>
              <a:t>survivedtext</a:t>
            </a:r>
            <a:r>
              <a:rPr lang="en-US" sz="1200" dirty="0" smtClean="0"/>
              <a:t> = </a:t>
            </a:r>
            <a:r>
              <a:rPr lang="en-US" sz="1200" dirty="0" err="1" smtClean="0"/>
              <a:t>font.render</a:t>
            </a:r>
            <a:r>
              <a:rPr lang="en-US" sz="1200" dirty="0" smtClean="0"/>
              <a:t>(</a:t>
            </a:r>
            <a:r>
              <a:rPr lang="en-US" sz="1200" dirty="0" err="1" smtClean="0"/>
              <a:t>str</a:t>
            </a:r>
            <a:r>
              <a:rPr lang="en-US" sz="1200" dirty="0" smtClean="0"/>
              <a:t>((90000 - </a:t>
            </a:r>
            <a:r>
              <a:rPr lang="en-US" sz="1200" dirty="0" err="1" smtClean="0"/>
              <a:t>pygame.time.get_ticks</a:t>
            </a:r>
            <a:r>
              <a:rPr lang="en-US" sz="1200" dirty="0" smtClean="0"/>
              <a:t>()) // 60000) + </a:t>
            </a:r>
            <a:r>
              <a:rPr lang="en-US" sz="1200" b="1" dirty="0" smtClean="0"/>
              <a:t>":" </a:t>
            </a:r>
            <a:r>
              <a:rPr lang="en-US" sz="1200" dirty="0" smtClean="0"/>
              <a:t>+ </a:t>
            </a:r>
            <a:r>
              <a:rPr lang="en-US" sz="1200" dirty="0" err="1" smtClean="0"/>
              <a:t>str</a:t>
            </a:r>
            <a:r>
              <a:rPr lang="en-US" sz="1200" dirty="0" smtClean="0"/>
              <a:t>(</a:t>
            </a:r>
            <a:br>
              <a:rPr lang="en-US" sz="1200" dirty="0" smtClean="0"/>
            </a:br>
            <a:r>
              <a:rPr lang="en-US" sz="1200" dirty="0" smtClean="0"/>
              <a:t>    (90000 - </a:t>
            </a:r>
            <a:r>
              <a:rPr lang="en-US" sz="1200" dirty="0" err="1" smtClean="0"/>
              <a:t>pygame.time.get_ticks</a:t>
            </a:r>
            <a:r>
              <a:rPr lang="en-US" sz="1200" dirty="0" smtClean="0"/>
              <a:t>()) // 1000 % 60).</a:t>
            </a:r>
            <a:r>
              <a:rPr lang="en-US" sz="1200" dirty="0" err="1" smtClean="0"/>
              <a:t>zfill</a:t>
            </a:r>
            <a:r>
              <a:rPr lang="en-US" sz="1200" dirty="0" smtClean="0"/>
              <a:t>(2), </a:t>
            </a:r>
            <a:r>
              <a:rPr lang="en-US" sz="1200" b="1" dirty="0" smtClean="0"/>
              <a:t>True</a:t>
            </a:r>
            <a:r>
              <a:rPr lang="en-US" sz="1200" dirty="0" smtClean="0"/>
              <a:t>, (0, 0, 0))</a:t>
            </a:r>
            <a:br>
              <a:rPr lang="en-US" sz="1200" dirty="0" smtClean="0"/>
            </a:br>
            <a:r>
              <a:rPr lang="en-US" sz="1200" dirty="0" err="1" smtClean="0"/>
              <a:t>textRect</a:t>
            </a:r>
            <a:r>
              <a:rPr lang="en-US" sz="1200" dirty="0" smtClean="0"/>
              <a:t> = </a:t>
            </a:r>
            <a:r>
              <a:rPr lang="en-US" sz="1200" dirty="0" err="1" smtClean="0"/>
              <a:t>survivedtext.get_rect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err="1" smtClean="0"/>
              <a:t>textRect.topright</a:t>
            </a:r>
            <a:r>
              <a:rPr lang="en-US" sz="1200" dirty="0" smtClean="0"/>
              <a:t> = [635, 5]</a:t>
            </a:r>
            <a:br>
              <a:rPr lang="en-US" sz="1200" dirty="0" smtClean="0"/>
            </a:br>
            <a:r>
              <a:rPr lang="en-US" sz="1200" dirty="0" err="1" smtClean="0"/>
              <a:t>screen.blit</a:t>
            </a:r>
            <a:r>
              <a:rPr lang="en-US" sz="1200" dirty="0" smtClean="0"/>
              <a:t>(</a:t>
            </a:r>
            <a:r>
              <a:rPr lang="en-US" sz="1200" dirty="0" err="1" smtClean="0"/>
              <a:t>survivedtext</a:t>
            </a:r>
            <a:r>
              <a:rPr lang="en-US" sz="1200" dirty="0" smtClean="0"/>
              <a:t>, </a:t>
            </a:r>
            <a:r>
              <a:rPr lang="en-US" sz="1200" dirty="0" err="1" smtClean="0"/>
              <a:t>textRect</a:t>
            </a:r>
            <a:r>
              <a:rPr lang="en-US" sz="1200" dirty="0" smtClean="0"/>
              <a:t>)</a:t>
            </a:r>
          </a:p>
          <a:p>
            <a:pPr>
              <a:lnSpc>
                <a:spcPts val="1900"/>
              </a:lnSpc>
            </a:pPr>
            <a:endParaRPr lang="en-US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# 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health bar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생성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#6.4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의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끝부분에 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/>
              <a:t># 6.5 - Draw health bar</a:t>
            </a:r>
            <a:br>
              <a:rPr lang="en-US" sz="1200" i="1" dirty="0" smtClean="0"/>
            </a:br>
            <a:r>
              <a:rPr lang="en-US" sz="1200" dirty="0" err="1" smtClean="0"/>
              <a:t>screen.blit</a:t>
            </a:r>
            <a:r>
              <a:rPr lang="en-US" sz="1200" dirty="0" smtClean="0"/>
              <a:t>(</a:t>
            </a:r>
            <a:r>
              <a:rPr lang="en-US" sz="1200" dirty="0" err="1" smtClean="0"/>
              <a:t>healthbar</a:t>
            </a:r>
            <a:r>
              <a:rPr lang="en-US" sz="1200" dirty="0" smtClean="0"/>
              <a:t>, (5, 5))</a:t>
            </a:r>
            <a:br>
              <a:rPr lang="en-US" sz="1200" dirty="0" smtClean="0"/>
            </a:br>
            <a:r>
              <a:rPr lang="en-US" sz="1200" b="1" dirty="0" smtClean="0"/>
              <a:t>for </a:t>
            </a:r>
            <a:r>
              <a:rPr lang="en-US" sz="1200" dirty="0" smtClean="0"/>
              <a:t>health1 </a:t>
            </a:r>
            <a:r>
              <a:rPr lang="en-US" sz="1200" b="1" dirty="0" smtClean="0"/>
              <a:t>in </a:t>
            </a:r>
            <a:r>
              <a:rPr lang="en-US" sz="1200" dirty="0" smtClean="0"/>
              <a:t>range(</a:t>
            </a:r>
            <a:r>
              <a:rPr lang="en-US" sz="1200" dirty="0" err="1" smtClean="0"/>
              <a:t>healthvalue</a:t>
            </a:r>
            <a:r>
              <a:rPr lang="en-US" sz="1200" dirty="0" smtClean="0"/>
              <a:t>):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(health, (health1 + 8, 8))</a:t>
            </a:r>
            <a:endParaRPr lang="en-US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9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Win or Lose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159899" y="938418"/>
            <a:ext cx="7942109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200" i="1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 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게임 승패 결정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 # </a:t>
            </a:r>
            <a:r>
              <a:rPr lang="ko-KR" altLang="en-US" sz="1200" i="1" dirty="0" smtClean="0">
                <a:solidFill>
                  <a:srgbClr val="0000FF"/>
                </a:solidFill>
                <a:latin typeface="+mn-ea"/>
              </a:rPr>
              <a:t>게임 마지막에 아래 코드 추가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900"/>
              </a:lnSpc>
            </a:pPr>
            <a:r>
              <a:rPr lang="en-US" sz="1200" i="1" dirty="0" smtClean="0"/>
              <a:t># 10 - Win/Lose check</a:t>
            </a:r>
            <a:br>
              <a:rPr lang="en-US" sz="1200" i="1" dirty="0" smtClean="0"/>
            </a:br>
            <a:r>
              <a:rPr lang="en-US" sz="1200" i="1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err="1" smtClean="0"/>
              <a:t>pygame.time.get_ticks</a:t>
            </a:r>
            <a:r>
              <a:rPr lang="en-US" sz="1200" dirty="0" smtClean="0"/>
              <a:t>() &gt;= 90000:</a:t>
            </a:r>
            <a:br>
              <a:rPr lang="en-US" sz="1200" dirty="0" smtClean="0"/>
            </a:br>
            <a:r>
              <a:rPr lang="en-US" sz="1200" dirty="0" smtClean="0"/>
              <a:t>        running = 0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exitcode</a:t>
            </a:r>
            <a:r>
              <a:rPr lang="en-US" sz="1200" dirty="0" smtClean="0"/>
              <a:t> = 1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err="1" smtClean="0"/>
              <a:t>healthvalue</a:t>
            </a:r>
            <a:r>
              <a:rPr lang="en-US" sz="1200" dirty="0" smtClean="0"/>
              <a:t> &lt;= 0:</a:t>
            </a:r>
            <a:br>
              <a:rPr lang="en-US" sz="1200" dirty="0" smtClean="0"/>
            </a:br>
            <a:r>
              <a:rPr lang="en-US" sz="1200" dirty="0" smtClean="0"/>
              <a:t>        running = 0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dirty="0" err="1" smtClean="0"/>
              <a:t>exitcode</a:t>
            </a:r>
            <a:r>
              <a:rPr lang="en-US" sz="1200" dirty="0" smtClean="0"/>
              <a:t> = 0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if </a:t>
            </a:r>
            <a:r>
              <a:rPr lang="en-US" sz="1200" dirty="0" smtClean="0"/>
              <a:t>acc[1] != 0:</a:t>
            </a:r>
            <a:br>
              <a:rPr lang="en-US" sz="1200" dirty="0" smtClean="0"/>
            </a:br>
            <a:r>
              <a:rPr lang="en-US" sz="1200" dirty="0" smtClean="0"/>
              <a:t>        accuracy = acc[0] * 1.0 / acc[1] * 100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else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    accuracy = 0</a:t>
            </a:r>
            <a:br>
              <a:rPr lang="en-US" sz="1200" dirty="0" smtClean="0"/>
            </a:br>
            <a:r>
              <a:rPr lang="en-US" sz="1200" dirty="0" smtClean="0"/>
              <a:t/>
            </a:r>
            <a:br>
              <a:rPr lang="en-US" sz="1200" dirty="0" smtClean="0"/>
            </a:b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298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9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Win or Lose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40716"/>
            <a:ext cx="7942109" cy="581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i="1" dirty="0" smtClean="0"/>
              <a:t># 11 - Win/lose display</a:t>
            </a:r>
            <a:br>
              <a:rPr lang="en-US" sz="1200" i="1" dirty="0" smtClean="0"/>
            </a:br>
            <a:r>
              <a:rPr lang="en-US" sz="1200" b="1" dirty="0" smtClean="0"/>
              <a:t>if </a:t>
            </a:r>
            <a:r>
              <a:rPr lang="en-US" sz="1200" dirty="0" err="1" smtClean="0"/>
              <a:t>exitcode</a:t>
            </a:r>
            <a:r>
              <a:rPr lang="en-US" sz="1200" dirty="0" smtClean="0"/>
              <a:t> == 0: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pygame.font.init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smtClean="0"/>
              <a:t>    font = </a:t>
            </a:r>
            <a:r>
              <a:rPr lang="en-US" sz="1200" dirty="0" err="1" smtClean="0"/>
              <a:t>pygame.font.Font</a:t>
            </a:r>
            <a:r>
              <a:rPr lang="en-US" sz="1200" dirty="0" smtClean="0"/>
              <a:t>(</a:t>
            </a:r>
            <a:r>
              <a:rPr lang="en-US" sz="1200" b="1" dirty="0" smtClean="0"/>
              <a:t>None</a:t>
            </a:r>
            <a:r>
              <a:rPr lang="en-US" sz="1200" dirty="0" smtClean="0"/>
              <a:t>, 24)</a:t>
            </a:r>
            <a:br>
              <a:rPr lang="en-US" sz="1200" dirty="0" smtClean="0"/>
            </a:br>
            <a:r>
              <a:rPr lang="en-US" sz="1200" dirty="0" smtClean="0"/>
              <a:t>    text = </a:t>
            </a:r>
            <a:r>
              <a:rPr lang="en-US" sz="1200" dirty="0" err="1" smtClean="0"/>
              <a:t>font.render</a:t>
            </a:r>
            <a:r>
              <a:rPr lang="en-US" sz="1200" dirty="0" smtClean="0"/>
              <a:t>(</a:t>
            </a:r>
            <a:r>
              <a:rPr lang="en-US" sz="1200" b="1" dirty="0" smtClean="0"/>
              <a:t>"Accuracy: " </a:t>
            </a:r>
            <a:r>
              <a:rPr lang="en-US" sz="1200" dirty="0" smtClean="0"/>
              <a:t>+ </a:t>
            </a:r>
            <a:r>
              <a:rPr lang="en-US" sz="1200" dirty="0" err="1" smtClean="0"/>
              <a:t>str</a:t>
            </a:r>
            <a:r>
              <a:rPr lang="en-US" sz="1200" dirty="0" smtClean="0"/>
              <a:t>(accuracy) + </a:t>
            </a:r>
            <a:r>
              <a:rPr lang="en-US" sz="1200" b="1" dirty="0" smtClean="0"/>
              <a:t>"%"</a:t>
            </a:r>
            <a:r>
              <a:rPr lang="en-US" sz="1200" dirty="0" smtClean="0"/>
              <a:t>, </a:t>
            </a:r>
            <a:r>
              <a:rPr lang="en-US" sz="1200" b="1" dirty="0" smtClean="0"/>
              <a:t>True</a:t>
            </a:r>
            <a:r>
              <a:rPr lang="en-US" sz="1200" dirty="0" smtClean="0"/>
              <a:t>, (255, 0, 0))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textRect</a:t>
            </a:r>
            <a:r>
              <a:rPr lang="en-US" sz="1200" dirty="0" smtClean="0"/>
              <a:t> = </a:t>
            </a:r>
            <a:r>
              <a:rPr lang="en-US" sz="1200" dirty="0" err="1" smtClean="0"/>
              <a:t>text.get_rect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textRect.centerx</a:t>
            </a:r>
            <a:r>
              <a:rPr lang="en-US" sz="1200" dirty="0" smtClean="0"/>
              <a:t> = </a:t>
            </a:r>
            <a:r>
              <a:rPr lang="en-US" sz="1200" dirty="0" err="1" smtClean="0"/>
              <a:t>screen.get_rect</a:t>
            </a:r>
            <a:r>
              <a:rPr lang="en-US" sz="1200" dirty="0" smtClean="0"/>
              <a:t>().</a:t>
            </a:r>
            <a:r>
              <a:rPr lang="en-US" sz="1200" dirty="0" err="1" smtClean="0"/>
              <a:t>centerx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textRect.centery</a:t>
            </a:r>
            <a:r>
              <a:rPr lang="en-US" sz="1200" dirty="0" smtClean="0"/>
              <a:t> = </a:t>
            </a:r>
            <a:r>
              <a:rPr lang="en-US" sz="1200" dirty="0" err="1" smtClean="0"/>
              <a:t>screen.get_rect</a:t>
            </a:r>
            <a:r>
              <a:rPr lang="en-US" sz="1200" dirty="0" smtClean="0"/>
              <a:t>().</a:t>
            </a:r>
            <a:r>
              <a:rPr lang="en-US" sz="1200" dirty="0" err="1" smtClean="0"/>
              <a:t>centery</a:t>
            </a:r>
            <a:r>
              <a:rPr lang="en-US" sz="1200" dirty="0" smtClean="0"/>
              <a:t> + 24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</a:t>
            </a:r>
            <a:r>
              <a:rPr lang="en-US" sz="1200" dirty="0" err="1" smtClean="0"/>
              <a:t>gameover</a:t>
            </a:r>
            <a:r>
              <a:rPr lang="en-US" sz="1200" dirty="0" smtClean="0"/>
              <a:t>, (0, 0))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(text, </a:t>
            </a:r>
            <a:r>
              <a:rPr lang="en-US" sz="1200" dirty="0" err="1" smtClean="0"/>
              <a:t>textRect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b="1" dirty="0" smtClean="0"/>
              <a:t>else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pygame.font.init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smtClean="0"/>
              <a:t>    font = </a:t>
            </a:r>
            <a:r>
              <a:rPr lang="en-US" sz="1200" dirty="0" err="1" smtClean="0"/>
              <a:t>pygame.font.Font</a:t>
            </a:r>
            <a:r>
              <a:rPr lang="en-US" sz="1200" dirty="0" smtClean="0"/>
              <a:t>(</a:t>
            </a:r>
            <a:r>
              <a:rPr lang="en-US" sz="1200" b="1" dirty="0" smtClean="0"/>
              <a:t>None</a:t>
            </a:r>
            <a:r>
              <a:rPr lang="en-US" sz="1200" dirty="0" smtClean="0"/>
              <a:t>, 24)</a:t>
            </a:r>
            <a:br>
              <a:rPr lang="en-US" sz="1200" dirty="0" smtClean="0"/>
            </a:br>
            <a:r>
              <a:rPr lang="en-US" sz="1200" dirty="0" smtClean="0"/>
              <a:t>    text = </a:t>
            </a:r>
            <a:r>
              <a:rPr lang="en-US" sz="1200" dirty="0" err="1" smtClean="0"/>
              <a:t>font.render</a:t>
            </a:r>
            <a:r>
              <a:rPr lang="en-US" sz="1200" dirty="0" smtClean="0"/>
              <a:t>(</a:t>
            </a:r>
            <a:r>
              <a:rPr lang="en-US" sz="1200" b="1" dirty="0" smtClean="0"/>
              <a:t>"Accuracy: " </a:t>
            </a:r>
            <a:r>
              <a:rPr lang="en-US" sz="1200" dirty="0" smtClean="0"/>
              <a:t>+ </a:t>
            </a:r>
            <a:r>
              <a:rPr lang="en-US" sz="1200" dirty="0" err="1" smtClean="0"/>
              <a:t>str</a:t>
            </a:r>
            <a:r>
              <a:rPr lang="en-US" sz="1200" dirty="0" smtClean="0"/>
              <a:t>(accuracy) + </a:t>
            </a:r>
            <a:r>
              <a:rPr lang="en-US" sz="1200" b="1" dirty="0" smtClean="0"/>
              <a:t>"%"</a:t>
            </a:r>
            <a:r>
              <a:rPr lang="en-US" sz="1200" dirty="0" smtClean="0"/>
              <a:t>, </a:t>
            </a:r>
            <a:r>
              <a:rPr lang="en-US" sz="1200" b="1" dirty="0" smtClean="0"/>
              <a:t>True</a:t>
            </a:r>
            <a:r>
              <a:rPr lang="en-US" sz="1200" dirty="0" smtClean="0"/>
              <a:t>, (0, 255, 0))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textRect</a:t>
            </a:r>
            <a:r>
              <a:rPr lang="en-US" sz="1200" dirty="0" smtClean="0"/>
              <a:t> = </a:t>
            </a:r>
            <a:r>
              <a:rPr lang="en-US" sz="1200" dirty="0" err="1" smtClean="0"/>
              <a:t>text.get_rect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textRect.centerx</a:t>
            </a:r>
            <a:r>
              <a:rPr lang="en-US" sz="1200" dirty="0" smtClean="0"/>
              <a:t> = </a:t>
            </a:r>
            <a:r>
              <a:rPr lang="en-US" sz="1200" dirty="0" err="1" smtClean="0"/>
              <a:t>screen.get_rect</a:t>
            </a:r>
            <a:r>
              <a:rPr lang="en-US" sz="1200" dirty="0" smtClean="0"/>
              <a:t>().</a:t>
            </a:r>
            <a:r>
              <a:rPr lang="en-US" sz="1200" dirty="0" err="1" smtClean="0"/>
              <a:t>centerx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textRect.centery</a:t>
            </a:r>
            <a:r>
              <a:rPr lang="en-US" sz="1200" dirty="0" smtClean="0"/>
              <a:t> = </a:t>
            </a:r>
            <a:r>
              <a:rPr lang="en-US" sz="1200" dirty="0" err="1" smtClean="0"/>
              <a:t>screen.get_rect</a:t>
            </a:r>
            <a:r>
              <a:rPr lang="en-US" sz="1200" dirty="0" smtClean="0"/>
              <a:t>().</a:t>
            </a:r>
            <a:r>
              <a:rPr lang="en-US" sz="1200" dirty="0" err="1" smtClean="0"/>
              <a:t>centery</a:t>
            </a:r>
            <a:r>
              <a:rPr lang="en-US" sz="1200" dirty="0" smtClean="0"/>
              <a:t> + 24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</a:t>
            </a:r>
            <a:r>
              <a:rPr lang="en-US" sz="1200" dirty="0" err="1" smtClean="0"/>
              <a:t>youwin</a:t>
            </a:r>
            <a:r>
              <a:rPr lang="en-US" sz="1200" dirty="0" smtClean="0"/>
              <a:t>, (0, 0))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screen.blit</a:t>
            </a:r>
            <a:r>
              <a:rPr lang="en-US" sz="1200" dirty="0" smtClean="0"/>
              <a:t>(text, </a:t>
            </a:r>
            <a:r>
              <a:rPr lang="en-US" sz="1200" dirty="0" err="1" smtClean="0"/>
              <a:t>textRect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b="1" dirty="0" smtClean="0"/>
              <a:t>while </a:t>
            </a:r>
            <a:r>
              <a:rPr lang="en-US" sz="1200" dirty="0" smtClean="0"/>
              <a:t>1: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b="1" dirty="0" smtClean="0"/>
              <a:t>for </a:t>
            </a:r>
            <a:r>
              <a:rPr lang="en-US" sz="1200" dirty="0" smtClean="0"/>
              <a:t>event </a:t>
            </a:r>
            <a:r>
              <a:rPr lang="en-US" sz="1200" b="1" dirty="0" smtClean="0"/>
              <a:t>in </a:t>
            </a:r>
            <a:r>
              <a:rPr lang="en-US" sz="1200" dirty="0" err="1" smtClean="0"/>
              <a:t>pygame.event.get</a:t>
            </a:r>
            <a:r>
              <a:rPr lang="en-US" sz="1200" dirty="0" smtClean="0"/>
              <a:t>():</a:t>
            </a:r>
            <a:br>
              <a:rPr lang="en-US" sz="1200" dirty="0" smtClean="0"/>
            </a:br>
            <a:r>
              <a:rPr lang="en-US" sz="1200" dirty="0" smtClean="0"/>
              <a:t>        </a:t>
            </a:r>
            <a:r>
              <a:rPr lang="en-US" sz="1200" b="1" dirty="0" smtClean="0"/>
              <a:t>if </a:t>
            </a:r>
            <a:r>
              <a:rPr lang="en-US" sz="1200" dirty="0" err="1" smtClean="0"/>
              <a:t>event.type</a:t>
            </a:r>
            <a:r>
              <a:rPr lang="en-US" sz="1200" dirty="0" smtClean="0"/>
              <a:t> == QUIT:</a:t>
            </a:r>
            <a:br>
              <a:rPr lang="en-US" sz="1200" dirty="0" smtClean="0"/>
            </a:br>
            <a:r>
              <a:rPr lang="en-US" sz="1200" dirty="0" smtClean="0"/>
              <a:t>            </a:t>
            </a:r>
            <a:r>
              <a:rPr lang="en-US" sz="1200" dirty="0" err="1" smtClean="0"/>
              <a:t>pygame.quit</a:t>
            </a:r>
            <a:r>
              <a:rPr lang="en-US" sz="1200" dirty="0" smtClean="0"/>
              <a:t>()</a:t>
            </a:r>
            <a:br>
              <a:rPr lang="en-US" sz="1200" dirty="0" smtClean="0"/>
            </a:br>
            <a:r>
              <a:rPr lang="en-US" sz="1200" dirty="0" smtClean="0"/>
              <a:t>            exit(0)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pygame.display.flip</a:t>
            </a:r>
            <a:r>
              <a:rPr lang="en-US" sz="1200" dirty="0" smtClean="0"/>
              <a:t>() </a:t>
            </a:r>
            <a:br>
              <a:rPr lang="en-US" sz="1200" dirty="0" smtClean="0"/>
            </a:br>
            <a:r>
              <a:rPr lang="en-US" sz="1200" dirty="0" smtClean="0"/>
              <a:t/>
            </a:r>
            <a:br>
              <a:rPr lang="en-US" sz="1200" dirty="0" smtClean="0"/>
            </a:b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9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Win or Lose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 게임 종료 이미지 추가</a:t>
            </a:r>
            <a:endParaRPr lang="en-US" altLang="ko-KR" sz="1200" i="1" dirty="0" smtClean="0">
              <a:solidFill>
                <a:srgbClr val="0000FF"/>
              </a:solidFill>
            </a:endParaRPr>
          </a:p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</a:rPr>
              <a:t>#  3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의 끝에 다음 코드 추가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 </a:t>
            </a:r>
            <a:r>
              <a:rPr lang="en-US" sz="1200" dirty="0" err="1" smtClean="0"/>
              <a:t>gameover</a:t>
            </a:r>
            <a:r>
              <a:rPr lang="en-US" sz="1200" dirty="0" smtClean="0"/>
              <a:t> = </a:t>
            </a:r>
            <a:r>
              <a:rPr lang="en-US" sz="1200" dirty="0" err="1" smtClean="0"/>
              <a:t>pygame.image.load</a:t>
            </a:r>
            <a:r>
              <a:rPr lang="en-US" sz="1200" dirty="0" smtClean="0"/>
              <a:t>(</a:t>
            </a:r>
            <a:r>
              <a:rPr lang="en-US" sz="1200" b="1" dirty="0" smtClean="0"/>
              <a:t>"resources/images/gameover.png"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err="1" smtClean="0"/>
              <a:t>youwin</a:t>
            </a:r>
            <a:r>
              <a:rPr lang="en-US" sz="1200" dirty="0" smtClean="0"/>
              <a:t> = </a:t>
            </a:r>
            <a:r>
              <a:rPr lang="en-US" sz="1200" dirty="0" err="1" smtClean="0"/>
              <a:t>pygame.image.load</a:t>
            </a:r>
            <a:r>
              <a:rPr lang="en-US" sz="1200" dirty="0" smtClean="0"/>
              <a:t>(</a:t>
            </a:r>
            <a:r>
              <a:rPr lang="en-US" sz="1200" b="1" dirty="0" smtClean="0"/>
              <a:t>"resources/images/youwin.png"</a:t>
            </a:r>
            <a:r>
              <a:rPr lang="en-US" sz="1200" dirty="0" smtClean="0"/>
              <a:t>) </a:t>
            </a:r>
          </a:p>
          <a:p>
            <a:pPr>
              <a:lnSpc>
                <a:spcPts val="1600"/>
              </a:lnSpc>
            </a:pPr>
            <a:endParaRPr lang="en-US" sz="1200" dirty="0" smtClean="0"/>
          </a:p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 게임 종료를 위해  </a:t>
            </a:r>
            <a:r>
              <a:rPr lang="en-US" altLang="ko-KR" sz="1200" i="1" dirty="0" smtClean="0">
                <a:solidFill>
                  <a:srgbClr val="0000FF"/>
                </a:solidFill>
              </a:rPr>
              <a:t>#4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를 아래와 같이 수정</a:t>
            </a:r>
            <a:endParaRPr lang="en-US" altLang="ko-KR" sz="1200" i="1" dirty="0" smtClean="0">
              <a:solidFill>
                <a:srgbClr val="0000FF"/>
              </a:solidFill>
            </a:endParaRPr>
          </a:p>
          <a:p>
            <a:pPr>
              <a:lnSpc>
                <a:spcPts val="1600"/>
              </a:lnSpc>
            </a:pPr>
            <a:r>
              <a:rPr lang="en-US" sz="1200" i="1" dirty="0" smtClean="0"/>
              <a:t># 4 - keep looping through</a:t>
            </a:r>
            <a:br>
              <a:rPr lang="en-US" sz="1200" i="1" dirty="0" smtClean="0"/>
            </a:br>
            <a:r>
              <a:rPr lang="en-US" sz="1200" dirty="0" smtClean="0"/>
              <a:t>running = 1</a:t>
            </a:r>
            <a:br>
              <a:rPr lang="en-US" sz="1200" dirty="0" smtClean="0"/>
            </a:br>
            <a:r>
              <a:rPr lang="en-US" sz="1200" dirty="0" err="1" smtClean="0"/>
              <a:t>exitcode</a:t>
            </a:r>
            <a:r>
              <a:rPr lang="en-US" sz="1200" dirty="0" smtClean="0"/>
              <a:t> = 0</a:t>
            </a:r>
            <a:br>
              <a:rPr lang="en-US" sz="1200" dirty="0" smtClean="0"/>
            </a:br>
            <a:r>
              <a:rPr lang="en-US" sz="1200" b="1" dirty="0" smtClean="0"/>
              <a:t>while </a:t>
            </a:r>
            <a:r>
              <a:rPr lang="en-US" sz="1200" dirty="0" smtClean="0"/>
              <a:t>running: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 Game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만들기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:  10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en-US" sz="2400" b="1" dirty="0" smtClean="0">
                <a:solidFill>
                  <a:schemeClr val="tx1"/>
                </a:solidFill>
              </a:rPr>
              <a:t>Gratuitous Music and Sound Effects!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59899" y="938418"/>
            <a:ext cx="794210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 효과음 추가</a:t>
            </a:r>
            <a:endParaRPr lang="en-US" altLang="ko-KR" sz="1200" i="1" dirty="0" smtClean="0">
              <a:solidFill>
                <a:srgbClr val="0000FF"/>
              </a:solidFill>
            </a:endParaRPr>
          </a:p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</a:rPr>
              <a:t>#  3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의 끝에 다음 코드 추가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i="1" dirty="0" smtClean="0"/>
              <a:t># 3.1 - Load audio</a:t>
            </a:r>
            <a:br>
              <a:rPr lang="en-US" sz="1200" i="1" dirty="0" smtClean="0"/>
            </a:br>
            <a:r>
              <a:rPr lang="en-US" sz="1200" dirty="0" smtClean="0"/>
              <a:t>hit = </a:t>
            </a:r>
            <a:r>
              <a:rPr lang="en-US" sz="1200" dirty="0" err="1" smtClean="0"/>
              <a:t>pygame.mixer.Sound</a:t>
            </a:r>
            <a:r>
              <a:rPr lang="en-US" sz="1200" dirty="0" smtClean="0"/>
              <a:t>(</a:t>
            </a:r>
            <a:r>
              <a:rPr lang="en-US" sz="1200" b="1" dirty="0" smtClean="0"/>
              <a:t>"resources/audio/explode.wav"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smtClean="0"/>
              <a:t>enemy = </a:t>
            </a:r>
            <a:r>
              <a:rPr lang="en-US" sz="1200" dirty="0" err="1" smtClean="0"/>
              <a:t>pygame.mixer.Sound</a:t>
            </a:r>
            <a:r>
              <a:rPr lang="en-US" sz="1200" dirty="0" smtClean="0"/>
              <a:t>(</a:t>
            </a:r>
            <a:r>
              <a:rPr lang="en-US" sz="1200" b="1" dirty="0" smtClean="0"/>
              <a:t>"resources/audio/enemy.wav"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smtClean="0"/>
              <a:t>shoot = </a:t>
            </a:r>
            <a:r>
              <a:rPr lang="en-US" sz="1200" dirty="0" err="1" smtClean="0"/>
              <a:t>pygame.mixer.Sound</a:t>
            </a:r>
            <a:r>
              <a:rPr lang="en-US" sz="1200" dirty="0" smtClean="0"/>
              <a:t>(</a:t>
            </a:r>
            <a:r>
              <a:rPr lang="en-US" sz="1200" b="1" dirty="0" smtClean="0"/>
              <a:t>"resources/audio/shoot.wav"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err="1" smtClean="0"/>
              <a:t>hit.set_volume</a:t>
            </a:r>
            <a:r>
              <a:rPr lang="en-US" sz="1200" dirty="0" smtClean="0"/>
              <a:t>(0.05)</a:t>
            </a:r>
            <a:br>
              <a:rPr lang="en-US" sz="1200" dirty="0" smtClean="0"/>
            </a:br>
            <a:r>
              <a:rPr lang="en-US" sz="1200" dirty="0" err="1" smtClean="0"/>
              <a:t>enemy.set_volume</a:t>
            </a:r>
            <a:r>
              <a:rPr lang="en-US" sz="1200" dirty="0" smtClean="0"/>
              <a:t>(0.05)</a:t>
            </a:r>
            <a:br>
              <a:rPr lang="en-US" sz="1200" dirty="0" smtClean="0"/>
            </a:br>
            <a:r>
              <a:rPr lang="en-US" sz="1200" dirty="0" err="1" smtClean="0"/>
              <a:t>shoot.set_volume</a:t>
            </a:r>
            <a:r>
              <a:rPr lang="en-US" sz="1200" dirty="0" smtClean="0"/>
              <a:t>(0.05)</a:t>
            </a:r>
            <a:br>
              <a:rPr lang="en-US" sz="1200" dirty="0" smtClean="0"/>
            </a:br>
            <a:r>
              <a:rPr lang="en-US" sz="1200" dirty="0" err="1" smtClean="0"/>
              <a:t>pygame.mixer.music.load</a:t>
            </a:r>
            <a:r>
              <a:rPr lang="en-US" sz="1200" dirty="0" smtClean="0"/>
              <a:t>(</a:t>
            </a:r>
            <a:r>
              <a:rPr lang="en-US" sz="1200" b="1" dirty="0" smtClean="0"/>
              <a:t>'resources/audio/moonlight.wav'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err="1" smtClean="0"/>
              <a:t>pygame.mixer.music.play</a:t>
            </a:r>
            <a:r>
              <a:rPr lang="en-US" sz="1200" dirty="0" smtClean="0"/>
              <a:t>(-1, 0.0)</a:t>
            </a:r>
            <a:br>
              <a:rPr lang="en-US" sz="1200" dirty="0" smtClean="0"/>
            </a:br>
            <a:r>
              <a:rPr lang="en-US" sz="1200" dirty="0" err="1" smtClean="0"/>
              <a:t>pygame.mixer.music.set_volume</a:t>
            </a:r>
            <a:r>
              <a:rPr lang="en-US" sz="1200" dirty="0" smtClean="0"/>
              <a:t>(0.25)</a:t>
            </a:r>
          </a:p>
          <a:p>
            <a:pPr>
              <a:lnSpc>
                <a:spcPts val="16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200" i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i="1" dirty="0" smtClean="0">
                <a:solidFill>
                  <a:srgbClr val="0000FF"/>
                </a:solidFill>
              </a:rPr>
              <a:t> 오디오 효과</a:t>
            </a:r>
            <a:endParaRPr lang="en-US" altLang="ko-KR" sz="1200" i="1" dirty="0" smtClean="0">
              <a:solidFill>
                <a:srgbClr val="0000FF"/>
              </a:solidFill>
            </a:endParaRPr>
          </a:p>
          <a:p>
            <a:pPr>
              <a:lnSpc>
                <a:spcPts val="16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#6.3.1</a:t>
            </a:r>
          </a:p>
          <a:p>
            <a:pPr>
              <a:lnSpc>
                <a:spcPts val="1600"/>
              </a:lnSpc>
            </a:pPr>
            <a:r>
              <a:rPr lang="en-US" sz="1200" b="1" dirty="0" smtClean="0"/>
              <a:t>if </a:t>
            </a:r>
            <a:r>
              <a:rPr lang="en-US" sz="1200" dirty="0" err="1" smtClean="0"/>
              <a:t>badrect.left</a:t>
            </a:r>
            <a:r>
              <a:rPr lang="en-US" sz="1200" dirty="0" smtClean="0"/>
              <a:t> &lt; 64: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hit.play</a:t>
            </a:r>
            <a:r>
              <a:rPr lang="en-US" sz="1200" dirty="0" smtClean="0"/>
              <a:t>()         </a:t>
            </a:r>
            <a:r>
              <a:rPr lang="en-US" sz="1200" i="1" dirty="0" smtClean="0"/>
              <a:t># </a:t>
            </a:r>
            <a:r>
              <a:rPr lang="ko-KR" altLang="en-US" sz="1200" i="1" dirty="0" smtClean="0"/>
              <a:t>성 </a:t>
            </a:r>
            <a:r>
              <a:rPr lang="ko-KR" altLang="en-US" sz="1200" i="1" dirty="0" err="1" smtClean="0"/>
              <a:t>공격당함</a:t>
            </a:r>
            <a:endParaRPr lang="en-US" altLang="ko-KR" sz="1200" i="1" dirty="0" smtClean="0"/>
          </a:p>
          <a:p>
            <a:pPr>
              <a:lnSpc>
                <a:spcPts val="16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sz="1200" b="1" dirty="0" smtClean="0"/>
              <a:t>if </a:t>
            </a:r>
            <a:r>
              <a:rPr lang="en-US" sz="1200" dirty="0" err="1" smtClean="0"/>
              <a:t>badrect.colliderect</a:t>
            </a:r>
            <a:r>
              <a:rPr lang="en-US" sz="1200" dirty="0" smtClean="0"/>
              <a:t>(</a:t>
            </a:r>
            <a:r>
              <a:rPr lang="en-US" sz="1200" dirty="0" err="1" smtClean="0"/>
              <a:t>bullrect</a:t>
            </a:r>
            <a:r>
              <a:rPr lang="en-US" sz="1200" dirty="0" smtClean="0"/>
              <a:t>):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enemy.play</a:t>
            </a:r>
            <a:r>
              <a:rPr lang="en-US" sz="1200" dirty="0" smtClean="0"/>
              <a:t>()     </a:t>
            </a:r>
            <a:r>
              <a:rPr lang="en-US" sz="1200" i="1" dirty="0" smtClean="0"/>
              <a:t># </a:t>
            </a:r>
            <a:r>
              <a:rPr lang="ko-KR" altLang="en-US" sz="1200" i="1" dirty="0" smtClean="0"/>
              <a:t>악당 제거</a:t>
            </a:r>
            <a:endParaRPr lang="en-US" altLang="ko-KR" sz="1200" i="1" dirty="0" smtClean="0"/>
          </a:p>
          <a:p>
            <a:pPr>
              <a:lnSpc>
                <a:spcPts val="1600"/>
              </a:lnSpc>
            </a:pP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altLang="ko-KR" sz="1200" i="1" dirty="0" smtClean="0">
                <a:solidFill>
                  <a:srgbClr val="0000FF"/>
                </a:solidFill>
                <a:latin typeface="+mn-ea"/>
              </a:rPr>
              <a:t>#8</a:t>
            </a:r>
          </a:p>
          <a:p>
            <a:pPr>
              <a:lnSpc>
                <a:spcPts val="1600"/>
              </a:lnSpc>
            </a:pPr>
            <a:r>
              <a:rPr lang="en-US" sz="1200" b="1" dirty="0" smtClean="0"/>
              <a:t>if </a:t>
            </a:r>
            <a:r>
              <a:rPr lang="en-US" sz="1200" dirty="0" err="1" smtClean="0"/>
              <a:t>event.type</a:t>
            </a:r>
            <a:r>
              <a:rPr lang="en-US" sz="1200" dirty="0" smtClean="0"/>
              <a:t> == </a:t>
            </a:r>
            <a:r>
              <a:rPr lang="en-US" sz="1200" dirty="0" err="1" smtClean="0"/>
              <a:t>pygame.MOUSEBUTTONDOWN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    </a:t>
            </a:r>
            <a:r>
              <a:rPr lang="en-US" sz="1200" dirty="0" err="1" smtClean="0"/>
              <a:t>shoot.play</a:t>
            </a:r>
            <a:r>
              <a:rPr lang="en-US" sz="1200" dirty="0" smtClean="0"/>
              <a:t>()      </a:t>
            </a:r>
            <a:r>
              <a:rPr lang="en-US" sz="1200" i="1" dirty="0" smtClean="0"/>
              <a:t># </a:t>
            </a:r>
            <a:r>
              <a:rPr lang="ko-KR" altLang="en-US" sz="1200" i="1" dirty="0" smtClean="0"/>
              <a:t>화살 발사</a:t>
            </a:r>
            <a:endParaRPr lang="en-US" altLang="ko-KR" sz="1200" i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990725"/>
            <a:ext cx="9144000" cy="2009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b="1" dirty="0" err="1" smtClean="0">
                <a:solidFill>
                  <a:srgbClr val="0000FF"/>
                </a:solidFill>
              </a:rPr>
              <a:t>pyQt</a:t>
            </a:r>
            <a:r>
              <a:rPr lang="en-US" altLang="ko-KR" sz="6000" b="1" dirty="0" smtClean="0">
                <a:solidFill>
                  <a:srgbClr val="0000FF"/>
                </a:solidFill>
              </a:rPr>
              <a:t> &amp; Designer</a:t>
            </a:r>
            <a:endParaRPr lang="ko-KR" altLang="en-US" sz="6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pyQt5 &amp; Tools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2952" y="85413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1" smtClean="0">
                <a:solidFill>
                  <a:srgbClr val="0000FF"/>
                </a:solidFill>
              </a:rPr>
              <a:t>Window</a:t>
            </a:r>
            <a:r>
              <a:rPr lang="ko-KR" altLang="en-US" b="1" smtClean="0">
                <a:solidFill>
                  <a:srgbClr val="0000FF"/>
                </a:solidFill>
              </a:rPr>
              <a:t>에서 </a:t>
            </a:r>
            <a:r>
              <a:rPr lang="en-US" altLang="ko-KR" b="1" smtClean="0">
                <a:solidFill>
                  <a:srgbClr val="0000FF"/>
                </a:solidFill>
              </a:rPr>
              <a:t>pyQt </a:t>
            </a:r>
            <a:r>
              <a:rPr lang="ko-KR" altLang="en-US" b="1" smtClean="0">
                <a:solidFill>
                  <a:srgbClr val="0000FF"/>
                </a:solidFill>
              </a:rPr>
              <a:t>설치하기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12" name="TextBox 5"/>
          <p:cNvSpPr txBox="1"/>
          <p:nvPr/>
        </p:nvSpPr>
        <p:spPr>
          <a:xfrm>
            <a:off x="588976" y="1214170"/>
            <a:ext cx="26373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atin typeface="+mn-ea"/>
              </a:rPr>
              <a:t>pip install pyqt5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atin typeface="+mn-ea"/>
              </a:rPr>
              <a:t>pip install pyqt5-tools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6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2952" y="1862242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smtClean="0">
                <a:solidFill>
                  <a:srgbClr val="C00000"/>
                </a:solidFill>
              </a:rPr>
              <a:t>설치 파일 확인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32992" y="2222282"/>
            <a:ext cx="5125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 smtClean="0">
                <a:solidFill>
                  <a:srgbClr val="0000FF"/>
                </a:solidFill>
              </a:rPr>
              <a:t>C:\Python36-32\Lib\site-packages\pyqt5-tools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1024" y="2654330"/>
            <a:ext cx="6722442" cy="136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직사각형 15"/>
          <p:cNvSpPr/>
          <p:nvPr/>
        </p:nvSpPr>
        <p:spPr>
          <a:xfrm>
            <a:off x="732992" y="4382522"/>
            <a:ext cx="26516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 smtClean="0">
                <a:solidFill>
                  <a:srgbClr val="0000FF"/>
                </a:solidFill>
              </a:rPr>
              <a:t>C:\Python36-32\Scripts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9016" y="4851901"/>
            <a:ext cx="569595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300944" y="6398746"/>
            <a:ext cx="5320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smtClean="0">
                <a:solidFill>
                  <a:srgbClr val="C00000"/>
                </a:solidFill>
              </a:rPr>
              <a:t>폴더는 파이썬 버전과 설치 위치에 따라 달라짐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65040" y="5750674"/>
            <a:ext cx="3090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mtClean="0"/>
              <a:t>pyuic5 -x hello.ui  -o  hello.py</a:t>
            </a:r>
            <a:endParaRPr lang="ko-KR" altLang="en-US" sz="1600" b="1"/>
          </a:p>
        </p:txBody>
      </p:sp>
      <p:sp>
        <p:nvSpPr>
          <p:cNvPr id="20" name="TextBox 19"/>
          <p:cNvSpPr txBox="1"/>
          <p:nvPr/>
        </p:nvSpPr>
        <p:spPr>
          <a:xfrm>
            <a:off x="949016" y="538134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1" smtClean="0">
                <a:solidFill>
                  <a:srgbClr val="0000FF"/>
                </a:solidFill>
              </a:rPr>
              <a:t>.ui </a:t>
            </a:r>
            <a:r>
              <a:rPr lang="ko-KR" altLang="en-US" b="1" smtClean="0">
                <a:solidFill>
                  <a:srgbClr val="0000FF"/>
                </a:solidFill>
              </a:rPr>
              <a:t>파일을 </a:t>
            </a:r>
            <a:r>
              <a:rPr lang="en-US" altLang="ko-KR" b="1" smtClean="0">
                <a:solidFill>
                  <a:srgbClr val="0000FF"/>
                </a:solidFill>
              </a:rPr>
              <a:t>.py </a:t>
            </a:r>
            <a:r>
              <a:rPr lang="ko-KR" altLang="en-US" b="1" smtClean="0">
                <a:solidFill>
                  <a:srgbClr val="0000FF"/>
                </a:solidFill>
              </a:rPr>
              <a:t>로 변환</a:t>
            </a:r>
            <a:endParaRPr lang="ko-KR" altLang="en-US" b="1">
              <a:solidFill>
                <a:srgbClr val="0000FF"/>
              </a:solidFill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V="1">
            <a:off x="156928" y="1846217"/>
            <a:ext cx="8673563" cy="16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156928" y="4310514"/>
            <a:ext cx="8621312" cy="61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56928" y="6254730"/>
            <a:ext cx="8630021" cy="41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Basic winow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06" y="1210491"/>
            <a:ext cx="2791877" cy="249568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22069" y="1013770"/>
            <a:ext cx="54820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import sys</a:t>
            </a:r>
          </a:p>
          <a:p>
            <a:r>
              <a:rPr lang="ko-KR" altLang="en-US"/>
              <a:t>from PyQt5 import QtCore, QtGui, QtWidgets</a:t>
            </a:r>
          </a:p>
          <a:p>
            <a:endParaRPr lang="ko-KR" altLang="en-US"/>
          </a:p>
          <a:p>
            <a:r>
              <a:rPr lang="ko-KR" altLang="en-US"/>
              <a:t>app = QtWidgets.QApplication(sys.argv)</a:t>
            </a:r>
          </a:p>
          <a:p>
            <a:endParaRPr lang="ko-KR" altLang="en-US"/>
          </a:p>
          <a:p>
            <a:r>
              <a:rPr lang="ko-KR" altLang="en-US"/>
              <a:t>window = QtWidgets.QWidget()</a:t>
            </a:r>
          </a:p>
          <a:p>
            <a:r>
              <a:rPr lang="ko-KR" altLang="en-US"/>
              <a:t>window.setGeometry(0,0,300,300)</a:t>
            </a:r>
          </a:p>
          <a:p>
            <a:r>
              <a:rPr lang="ko-KR" altLang="en-US"/>
              <a:t>window.setWindowTitle('PyQt Window')</a:t>
            </a:r>
          </a:p>
          <a:p>
            <a:r>
              <a:rPr lang="ko-KR" altLang="en-US"/>
              <a:t>window.show()</a:t>
            </a:r>
          </a:p>
          <a:p>
            <a:r>
              <a:rPr lang="ko-KR" altLang="en-US"/>
              <a:t>sys.exit(app.exec_())</a:t>
            </a:r>
          </a:p>
        </p:txBody>
      </p:sp>
    </p:spTree>
    <p:extLst>
      <p:ext uri="{BB962C8B-B14F-4D97-AF65-F5344CB8AC3E}">
        <p14:creationId xmlns:p14="http://schemas.microsoft.com/office/powerpoint/2010/main" val="40262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Class Basic winow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86" y="903379"/>
            <a:ext cx="2309132" cy="253087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04949" y="966546"/>
            <a:ext cx="631806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import sys</a:t>
            </a:r>
          </a:p>
          <a:p>
            <a:r>
              <a:rPr lang="ko-KR" altLang="en-US"/>
              <a:t>from PyQt5 import QtCore, QtGui, QtWidgets</a:t>
            </a:r>
          </a:p>
          <a:p>
            <a:endParaRPr lang="ko-KR" altLang="en-US"/>
          </a:p>
          <a:p>
            <a:r>
              <a:rPr lang="ko-KR" altLang="en-US"/>
              <a:t>class Window(QtWidgets.QMainWindow):</a:t>
            </a:r>
          </a:p>
          <a:p>
            <a:endParaRPr lang="ko-KR" altLang="en-US"/>
          </a:p>
          <a:p>
            <a:r>
              <a:rPr lang="ko-KR" altLang="en-US"/>
              <a:t>    def __init__(self):</a:t>
            </a:r>
          </a:p>
          <a:p>
            <a:r>
              <a:rPr lang="ko-KR" altLang="en-US"/>
              <a:t>        super(Window, self).__init__()</a:t>
            </a:r>
          </a:p>
          <a:p>
            <a:r>
              <a:rPr lang="ko-KR" altLang="en-US"/>
              <a:t>	self.setGeometry(50, 50, 300, 300)</a:t>
            </a:r>
          </a:p>
          <a:p>
            <a:r>
              <a:rPr lang="ko-KR" altLang="en-US"/>
              <a:t>	self.setWindowTitle('PyQt5')</a:t>
            </a:r>
          </a:p>
          <a:p>
            <a:r>
              <a:rPr lang="ko-KR" altLang="en-US"/>
              <a:t>	self.setWindowIcon(QtGui.QIcon('image/bird.png'))</a:t>
            </a:r>
          </a:p>
          <a:p>
            <a:r>
              <a:rPr lang="ko-KR" altLang="en-US"/>
              <a:t>	self.show()</a:t>
            </a:r>
          </a:p>
          <a:p>
            <a:endParaRPr lang="ko-KR" altLang="en-US"/>
          </a:p>
          <a:p>
            <a:r>
              <a:rPr lang="ko-KR" altLang="en-US"/>
              <a:t>app=QtWidgets.QApplication(sys.argv)</a:t>
            </a:r>
          </a:p>
          <a:p>
            <a:r>
              <a:rPr lang="ko-KR" altLang="en-US"/>
              <a:t>GUI = Window()</a:t>
            </a:r>
          </a:p>
          <a:p>
            <a:r>
              <a:rPr lang="ko-KR" altLang="en-US"/>
              <a:t>sys.exit(app.exec_())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305006" y="844731"/>
            <a:ext cx="914400" cy="365760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15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Class Basic winow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338" y="924741"/>
            <a:ext cx="1917047" cy="248901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82880" y="671691"/>
            <a:ext cx="6588034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/>
              <a:t>import sys</a:t>
            </a:r>
          </a:p>
          <a:p>
            <a:r>
              <a:rPr lang="ko-KR" altLang="en-US" sz="1600"/>
              <a:t>from PyQt5 import QtCore, QtGui, QtWidgets</a:t>
            </a:r>
          </a:p>
          <a:p>
            <a:endParaRPr lang="ko-KR" altLang="en-US" sz="1600"/>
          </a:p>
          <a:p>
            <a:r>
              <a:rPr lang="ko-KR" altLang="en-US" sz="1600"/>
              <a:t>class Window(QtWidgets.QMainWindow):</a:t>
            </a:r>
          </a:p>
          <a:p>
            <a:endParaRPr lang="ko-KR" altLang="en-US" sz="1600"/>
          </a:p>
          <a:p>
            <a:r>
              <a:rPr lang="ko-KR" altLang="en-US" sz="1600"/>
              <a:t>    def __init__(self):</a:t>
            </a:r>
          </a:p>
          <a:p>
            <a:r>
              <a:rPr lang="ko-KR" altLang="en-US" sz="1600"/>
              <a:t>        super(Window, self).__init__()</a:t>
            </a:r>
          </a:p>
          <a:p>
            <a:r>
              <a:rPr lang="ko-KR" altLang="en-US" sz="1600"/>
              <a:t>        self.setGeometry(50, 50, 300, 300)</a:t>
            </a:r>
          </a:p>
          <a:p>
            <a:r>
              <a:rPr lang="ko-KR" altLang="en-US" sz="1600"/>
              <a:t>        self.setWindowTitle('PyQt5')</a:t>
            </a:r>
          </a:p>
          <a:p>
            <a:r>
              <a:rPr lang="ko-KR" altLang="en-US" sz="1600"/>
              <a:t>        self.setWindowIcon(QtGui.QIcon('image/bird.png'))</a:t>
            </a:r>
          </a:p>
          <a:p>
            <a:r>
              <a:rPr lang="ko-KR" altLang="en-US" sz="1600"/>
              <a:t>        self.home</a:t>
            </a:r>
            <a:r>
              <a:rPr lang="ko-KR" altLang="en-US" sz="1600" smtClean="0"/>
              <a:t>()</a:t>
            </a:r>
            <a:endParaRPr lang="ko-KR" altLang="en-US" sz="1600"/>
          </a:p>
          <a:p>
            <a:r>
              <a:rPr lang="ko-KR" altLang="en-US" sz="1600"/>
              <a:t>    def home(self):</a:t>
            </a:r>
          </a:p>
          <a:p>
            <a:r>
              <a:rPr lang="ko-KR" altLang="en-US" sz="1600"/>
              <a:t>        btn=QtWidgets.QPushButton('Quit', self)</a:t>
            </a:r>
          </a:p>
          <a:p>
            <a:r>
              <a:rPr lang="ko-KR" altLang="en-US" sz="1600"/>
              <a:t>        btn.clicked.connect(self.dodo)</a:t>
            </a:r>
          </a:p>
          <a:p>
            <a:r>
              <a:rPr lang="ko-KR" altLang="en-US" sz="1600"/>
              <a:t>        btn.resize(100, 100)</a:t>
            </a:r>
          </a:p>
          <a:p>
            <a:r>
              <a:rPr lang="ko-KR" altLang="en-US" sz="1600"/>
              <a:t>        btn.move(100, 100)</a:t>
            </a:r>
          </a:p>
          <a:p>
            <a:r>
              <a:rPr lang="ko-KR" altLang="en-US" sz="1600"/>
              <a:t>        self.show()</a:t>
            </a:r>
          </a:p>
          <a:p>
            <a:r>
              <a:rPr lang="ko-KR" altLang="en-US" sz="1600"/>
              <a:t>    def dodo(self):</a:t>
            </a:r>
          </a:p>
          <a:p>
            <a:r>
              <a:rPr lang="ko-KR" altLang="en-US" sz="1600"/>
              <a:t>        print('clicked button')</a:t>
            </a:r>
          </a:p>
          <a:p>
            <a:endParaRPr lang="ko-KR" altLang="en-US" sz="1600"/>
          </a:p>
          <a:p>
            <a:r>
              <a:rPr lang="ko-KR" altLang="en-US" sz="1600"/>
              <a:t>app=QtWidgets.QApplication(sys.argv)</a:t>
            </a:r>
          </a:p>
          <a:p>
            <a:r>
              <a:rPr lang="ko-KR" altLang="en-US" sz="1600"/>
              <a:t>GUI = Window()</a:t>
            </a:r>
          </a:p>
          <a:p>
            <a:r>
              <a:rPr lang="ko-KR" altLang="en-US" sz="1600"/>
              <a:t>sys.exit(app.exec_())</a:t>
            </a:r>
          </a:p>
        </p:txBody>
      </p:sp>
    </p:spTree>
    <p:extLst>
      <p:ext uri="{BB962C8B-B14F-4D97-AF65-F5344CB8AC3E}">
        <p14:creationId xmlns:p14="http://schemas.microsoft.com/office/powerpoint/2010/main" val="53879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Menu 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02" y="958895"/>
            <a:ext cx="1602105" cy="17365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56754" y="790413"/>
            <a:ext cx="7672251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import sys</a:t>
            </a:r>
          </a:p>
          <a:p>
            <a:r>
              <a:rPr lang="ko-KR" altLang="en-US" sz="1200"/>
              <a:t>from PyQt5 import QtCore, QtGui, QtWidgets</a:t>
            </a:r>
          </a:p>
          <a:p>
            <a:endParaRPr lang="ko-KR" altLang="en-US" sz="1200"/>
          </a:p>
          <a:p>
            <a:r>
              <a:rPr lang="ko-KR" altLang="en-US" sz="1200"/>
              <a:t>class Window(QtWidgets.QMainWindow</a:t>
            </a:r>
            <a:r>
              <a:rPr lang="ko-KR" altLang="en-US" sz="1200" smtClean="0"/>
              <a:t>):</a:t>
            </a:r>
            <a:endParaRPr lang="ko-KR" altLang="en-US" sz="1200"/>
          </a:p>
          <a:p>
            <a:r>
              <a:rPr lang="ko-KR" altLang="en-US" sz="1200"/>
              <a:t>    def __init__(self):</a:t>
            </a:r>
          </a:p>
          <a:p>
            <a:r>
              <a:rPr lang="ko-KR" altLang="en-US" sz="1200"/>
              <a:t>        super(Window, self).__init__()</a:t>
            </a:r>
          </a:p>
          <a:p>
            <a:r>
              <a:rPr lang="ko-KR" altLang="en-US" sz="1200"/>
              <a:t>        self.setGeometry(50, 50, 300, 300)</a:t>
            </a:r>
          </a:p>
          <a:p>
            <a:r>
              <a:rPr lang="ko-KR" altLang="en-US" sz="1200"/>
              <a:t>        self.setWindowTitle('PyQt5')</a:t>
            </a:r>
          </a:p>
          <a:p>
            <a:r>
              <a:rPr lang="ko-KR" altLang="en-US" sz="1200"/>
              <a:t>        self.setWindowIcon(QtGui.QIcon('image/bird.png</a:t>
            </a:r>
            <a:r>
              <a:rPr lang="ko-KR" altLang="en-US" sz="1200" smtClean="0"/>
              <a:t>'))</a:t>
            </a:r>
            <a:endParaRPr lang="ko-KR" altLang="en-US" sz="1200"/>
          </a:p>
          <a:p>
            <a:r>
              <a:rPr lang="ko-KR" altLang="en-US" sz="1200"/>
              <a:t>        extractAction = QtWidgets.QAction("&amp;CLOSE", self)</a:t>
            </a:r>
          </a:p>
          <a:p>
            <a:r>
              <a:rPr lang="ko-KR" altLang="en-US" sz="1200"/>
              <a:t>        extractAction.setShortcut("Ctrl+Q")</a:t>
            </a:r>
          </a:p>
          <a:p>
            <a:r>
              <a:rPr lang="ko-KR" altLang="en-US" sz="1200"/>
              <a:t>        extractAction.setStatusTip('Leave the App')</a:t>
            </a:r>
          </a:p>
          <a:p>
            <a:r>
              <a:rPr lang="ko-KR" altLang="en-US" sz="1200"/>
              <a:t>        extractAction.triggered.connect(self.close_app)</a:t>
            </a:r>
          </a:p>
          <a:p>
            <a:r>
              <a:rPr lang="ko-KR" altLang="en-US" sz="1200"/>
              <a:t>        self.statusBar()</a:t>
            </a:r>
          </a:p>
          <a:p>
            <a:r>
              <a:rPr lang="ko-KR" altLang="en-US" sz="1200"/>
              <a:t>        mainMenu = self.menuBar()</a:t>
            </a:r>
          </a:p>
          <a:p>
            <a:r>
              <a:rPr lang="ko-KR" altLang="en-US" sz="1200"/>
              <a:t>        fileMenu=mainMenu.addMenu('&amp;File')</a:t>
            </a:r>
          </a:p>
          <a:p>
            <a:r>
              <a:rPr lang="ko-KR" altLang="en-US" sz="1200"/>
              <a:t>        fileMenu.addAction(extractAction</a:t>
            </a:r>
            <a:r>
              <a:rPr lang="ko-KR" altLang="en-US" sz="1200" smtClean="0"/>
              <a:t>)        </a:t>
            </a:r>
            <a:endParaRPr lang="ko-KR" altLang="en-US" sz="1200"/>
          </a:p>
          <a:p>
            <a:r>
              <a:rPr lang="ko-KR" altLang="en-US" sz="1200"/>
              <a:t>        self.home</a:t>
            </a:r>
            <a:r>
              <a:rPr lang="ko-KR" altLang="en-US" sz="1200" smtClean="0"/>
              <a:t>()</a:t>
            </a:r>
            <a:endParaRPr lang="ko-KR" altLang="en-US" sz="1200"/>
          </a:p>
          <a:p>
            <a:r>
              <a:rPr lang="ko-KR" altLang="en-US" sz="1200"/>
              <a:t>    def home(self):</a:t>
            </a:r>
          </a:p>
          <a:p>
            <a:r>
              <a:rPr lang="ko-KR" altLang="en-US" sz="1200"/>
              <a:t>        btn=QtWidgets.QPushButton('Quit', self)</a:t>
            </a:r>
          </a:p>
          <a:p>
            <a:r>
              <a:rPr lang="ko-KR" altLang="en-US" sz="1200"/>
              <a:t>        btn.clicked.connect(self.close_app)</a:t>
            </a:r>
          </a:p>
          <a:p>
            <a:r>
              <a:rPr lang="ko-KR" altLang="en-US" sz="1200"/>
              <a:t>        btn.resize(btn.sizeHint())</a:t>
            </a:r>
          </a:p>
          <a:p>
            <a:r>
              <a:rPr lang="ko-KR" altLang="en-US" sz="1200"/>
              <a:t>        btn.move(100, 100)</a:t>
            </a:r>
          </a:p>
          <a:p>
            <a:r>
              <a:rPr lang="ko-KR" altLang="en-US" sz="1200"/>
              <a:t>        self.show</a:t>
            </a:r>
            <a:r>
              <a:rPr lang="ko-KR" altLang="en-US" sz="1200" smtClean="0"/>
              <a:t>()        </a:t>
            </a:r>
            <a:endParaRPr lang="ko-KR" altLang="en-US" sz="1200"/>
          </a:p>
          <a:p>
            <a:r>
              <a:rPr lang="ko-KR" altLang="en-US" sz="1200"/>
              <a:t>    def close_app(self):</a:t>
            </a:r>
          </a:p>
          <a:p>
            <a:r>
              <a:rPr lang="ko-KR" altLang="en-US" sz="1200"/>
              <a:t>        print('close application')</a:t>
            </a:r>
          </a:p>
          <a:p>
            <a:r>
              <a:rPr lang="ko-KR" altLang="en-US" sz="1200"/>
              <a:t>        sys.exit()</a:t>
            </a:r>
          </a:p>
          <a:p>
            <a:endParaRPr lang="ko-KR" altLang="en-US" sz="1200"/>
          </a:p>
          <a:p>
            <a:r>
              <a:rPr lang="ko-KR" altLang="en-US" sz="1200"/>
              <a:t>app=QtWidgets.QApplication(sys.argv)</a:t>
            </a:r>
          </a:p>
          <a:p>
            <a:r>
              <a:rPr lang="ko-KR" altLang="en-US" sz="1200"/>
              <a:t>GUI = Window()</a:t>
            </a:r>
          </a:p>
          <a:p>
            <a:r>
              <a:rPr lang="ko-KR" altLang="en-US" sz="1200"/>
              <a:t>sys.exit(app.exec_())</a:t>
            </a:r>
          </a:p>
        </p:txBody>
      </p:sp>
    </p:spTree>
    <p:extLst>
      <p:ext uri="{BB962C8B-B14F-4D97-AF65-F5344CB8AC3E}">
        <p14:creationId xmlns:p14="http://schemas.microsoft.com/office/powerpoint/2010/main" val="221361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Toolbar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792" y="4485730"/>
            <a:ext cx="2314575" cy="196215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91588" y="1245220"/>
            <a:ext cx="876082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>
                <a:solidFill>
                  <a:srgbClr val="0000FF"/>
                </a:solidFill>
              </a:rPr>
              <a:t>def home(self):</a:t>
            </a:r>
          </a:p>
          <a:p>
            <a:r>
              <a:rPr lang="ko-KR" altLang="en-US"/>
              <a:t>        btn=QtWidgets.QPushButton('Quit', self)</a:t>
            </a:r>
          </a:p>
          <a:p>
            <a:r>
              <a:rPr lang="ko-KR" altLang="en-US"/>
              <a:t>        btn.clicked.connect(self.close_app)</a:t>
            </a:r>
          </a:p>
          <a:p>
            <a:r>
              <a:rPr lang="ko-KR" altLang="en-US"/>
              <a:t>        btn.resize(btn.sizeHint())</a:t>
            </a:r>
          </a:p>
          <a:p>
            <a:r>
              <a:rPr lang="ko-KR" altLang="en-US"/>
              <a:t>        btn.move(100, 100)</a:t>
            </a:r>
          </a:p>
          <a:p>
            <a:endParaRPr lang="ko-KR" altLang="en-US"/>
          </a:p>
          <a:p>
            <a:r>
              <a:rPr lang="ko-KR" altLang="en-US"/>
              <a:t>        extractAction = QtWidgets.QAction(QtGui.QIcon('image/dog.png'), 'Flee the scene', self)</a:t>
            </a:r>
          </a:p>
          <a:p>
            <a:r>
              <a:rPr lang="ko-KR" altLang="en-US"/>
              <a:t>        extractAction.triggered.connect(self.close_app)</a:t>
            </a:r>
          </a:p>
          <a:p>
            <a:r>
              <a:rPr lang="ko-KR" altLang="en-US"/>
              <a:t>        self.toolbar = self.addToolBar('Extraction')</a:t>
            </a:r>
          </a:p>
          <a:p>
            <a:r>
              <a:rPr lang="ko-KR" altLang="en-US"/>
              <a:t>        self.toolbar.addAction(extractAction)</a:t>
            </a:r>
          </a:p>
          <a:p>
            <a:r>
              <a:rPr lang="ko-KR" altLang="en-US"/>
              <a:t>        </a:t>
            </a:r>
          </a:p>
          <a:p>
            <a:r>
              <a:rPr lang="ko-KR" altLang="en-US"/>
              <a:t>        self.show()</a:t>
            </a:r>
          </a:p>
          <a:p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637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MessageBox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4172" y="1085952"/>
            <a:ext cx="82992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rgbClr val="0000FF"/>
                </a:solidFill>
              </a:rPr>
              <a:t> def close_app(self):</a:t>
            </a:r>
          </a:p>
          <a:p>
            <a:r>
              <a:rPr lang="ko-KR" altLang="en-US" sz="1400"/>
              <a:t>        choice = QtWidgets.QMessageBox.question(self, 'Extract!',</a:t>
            </a:r>
          </a:p>
          <a:p>
            <a:r>
              <a:rPr lang="ko-KR" altLang="en-US" sz="1400"/>
              <a:t>                                                "종료하시겠습니까?", QtWidgets.QMessageBox.Yes | QtWidgets.QMessageBox.No)</a:t>
            </a:r>
          </a:p>
          <a:p>
            <a:r>
              <a:rPr lang="ko-KR" altLang="en-US" sz="1400"/>
              <a:t>        if choice==QtWidgets.QMessageBox.Yes:</a:t>
            </a:r>
          </a:p>
          <a:p>
            <a:r>
              <a:rPr lang="ko-KR" altLang="en-US" sz="1400"/>
              <a:t>            print ('exit')</a:t>
            </a:r>
          </a:p>
          <a:p>
            <a:r>
              <a:rPr lang="ko-KR" altLang="en-US" sz="1400"/>
              <a:t>            sys.exit()</a:t>
            </a:r>
          </a:p>
          <a:p>
            <a:endParaRPr lang="ko-KR" altLang="en-US" sz="1400"/>
          </a:p>
          <a:p>
            <a:r>
              <a:rPr lang="ko-KR" altLang="en-US" sz="1400"/>
              <a:t>        else:</a:t>
            </a:r>
          </a:p>
          <a:p>
            <a:r>
              <a:rPr lang="ko-KR" altLang="en-US" sz="1400"/>
              <a:t>            pass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322" y="3492138"/>
            <a:ext cx="2057441" cy="22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3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CheckBox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818" y="855073"/>
            <a:ext cx="1922008" cy="210596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74468" y="900230"/>
            <a:ext cx="82121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 </a:t>
            </a:r>
            <a:r>
              <a:rPr lang="en-US" altLang="ko-KR" smtClean="0"/>
              <a:t>   checkBox </a:t>
            </a:r>
            <a:r>
              <a:rPr lang="en-US" altLang="ko-KR"/>
              <a:t>= QtWidgets.QCheckBox('Enlarge Window', self)</a:t>
            </a:r>
          </a:p>
          <a:p>
            <a:r>
              <a:rPr lang="en-US" altLang="ko-KR"/>
              <a:t>    checkBox.move(100, 25)</a:t>
            </a:r>
          </a:p>
          <a:p>
            <a:r>
              <a:rPr lang="en-US" altLang="ko-KR"/>
              <a:t>    checkBox.stateChanged.connect(self.enlarge_Window)        </a:t>
            </a:r>
          </a:p>
          <a:p>
            <a:r>
              <a:rPr lang="en-US" altLang="ko-KR"/>
              <a:t>    self.show()</a:t>
            </a:r>
          </a:p>
          <a:p>
            <a:endParaRPr lang="en-US" altLang="ko-KR"/>
          </a:p>
          <a:p>
            <a:r>
              <a:rPr lang="en-US" altLang="ko-KR"/>
              <a:t>def enlarge_Window(self, state):</a:t>
            </a:r>
          </a:p>
          <a:p>
            <a:r>
              <a:rPr lang="en-US" altLang="ko-KR"/>
              <a:t>    print('check box')</a:t>
            </a:r>
          </a:p>
          <a:p>
            <a:r>
              <a:rPr lang="en-US" altLang="ko-KR"/>
              <a:t>    if state == QtCore.Qt.Checked:</a:t>
            </a:r>
          </a:p>
          <a:p>
            <a:r>
              <a:rPr lang="en-US" altLang="ko-KR"/>
              <a:t>        print ('checked')</a:t>
            </a:r>
          </a:p>
          <a:p>
            <a:r>
              <a:rPr lang="en-US" altLang="ko-KR"/>
              <a:t>	self.setGeometry(50, 50, 600, 600)</a:t>
            </a:r>
          </a:p>
          <a:p>
            <a:r>
              <a:rPr lang="en-US" altLang="ko-KR"/>
              <a:t>    else:</a:t>
            </a:r>
          </a:p>
          <a:p>
            <a:r>
              <a:rPr lang="en-US" altLang="ko-KR"/>
              <a:t>	print ('not checked')</a:t>
            </a:r>
          </a:p>
          <a:p>
            <a:r>
              <a:rPr lang="en-US" altLang="ko-KR"/>
              <a:t>	self.setGeometry(50, 50, 300, 300)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7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Progress Bar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337" y="4693920"/>
            <a:ext cx="3559775" cy="192323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61257" y="808953"/>
            <a:ext cx="83776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 </a:t>
            </a:r>
            <a:r>
              <a:rPr lang="ko-KR" altLang="en-US" smtClean="0"/>
              <a:t>   self.progress </a:t>
            </a:r>
            <a:r>
              <a:rPr lang="ko-KR" altLang="en-US"/>
              <a:t>= QtWidgets.QProgressBar(self)</a:t>
            </a:r>
          </a:p>
          <a:p>
            <a:r>
              <a:rPr lang="ko-KR" altLang="en-US"/>
              <a:t>    self.progress.setGeometry(200, 80, 250, 20)</a:t>
            </a:r>
          </a:p>
          <a:p>
            <a:endParaRPr lang="ko-KR" altLang="en-US"/>
          </a:p>
          <a:p>
            <a:r>
              <a:rPr lang="ko-KR" altLang="en-US"/>
              <a:t>    self.btn = QtWidgets.QPushButton("Download", self)</a:t>
            </a:r>
          </a:p>
          <a:p>
            <a:r>
              <a:rPr lang="ko-KR" altLang="en-US"/>
              <a:t>    self.btn.move(200, 120)</a:t>
            </a:r>
          </a:p>
          <a:p>
            <a:r>
              <a:rPr lang="ko-KR" altLang="en-US"/>
              <a:t>    self.btn.clicked.connect(self.download)</a:t>
            </a:r>
          </a:p>
          <a:p>
            <a:r>
              <a:rPr lang="ko-KR" altLang="en-US"/>
              <a:t>    self.show()</a:t>
            </a:r>
          </a:p>
          <a:p>
            <a:endParaRPr lang="ko-KR" altLang="en-US"/>
          </a:p>
          <a:p>
            <a:r>
              <a:rPr lang="ko-KR" altLang="en-US" b="1">
                <a:solidFill>
                  <a:srgbClr val="0000FF"/>
                </a:solidFill>
              </a:rPr>
              <a:t>def download(self):</a:t>
            </a:r>
          </a:p>
          <a:p>
            <a:r>
              <a:rPr lang="ko-KR" altLang="en-US"/>
              <a:t>    self.completed=0</a:t>
            </a:r>
          </a:p>
          <a:p>
            <a:endParaRPr lang="ko-KR" altLang="en-US"/>
          </a:p>
          <a:p>
            <a:r>
              <a:rPr lang="ko-KR" altLang="en-US"/>
              <a:t>    while self.completed &lt; 100:</a:t>
            </a:r>
          </a:p>
          <a:p>
            <a:r>
              <a:rPr lang="ko-KR" altLang="en-US"/>
              <a:t>	self.completed += 0.00001</a:t>
            </a:r>
          </a:p>
          <a:p>
            <a:r>
              <a:rPr lang="ko-KR" altLang="en-US"/>
              <a:t>	self.progress.setValue(self.completed)</a:t>
            </a:r>
          </a:p>
        </p:txBody>
      </p:sp>
    </p:spTree>
    <p:extLst>
      <p:ext uri="{BB962C8B-B14F-4D97-AF65-F5344CB8AC3E}">
        <p14:creationId xmlns:p14="http://schemas.microsoft.com/office/powerpoint/2010/main" val="190625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44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: ComboBox=DropDown Button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65760" y="935899"/>
            <a:ext cx="78377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 </a:t>
            </a:r>
            <a:r>
              <a:rPr lang="ko-KR" altLang="en-US" smtClean="0"/>
              <a:t>   self.styleChoice </a:t>
            </a:r>
            <a:r>
              <a:rPr lang="ko-KR" altLang="en-US"/>
              <a:t>= QtWidgets.QLabel("Ten", self)</a:t>
            </a:r>
          </a:p>
          <a:p>
            <a:r>
              <a:rPr lang="ko-KR" altLang="en-US"/>
              <a:t>    comboBox = QtWidgets.QComboBox(self)</a:t>
            </a:r>
          </a:p>
          <a:p>
            <a:r>
              <a:rPr lang="ko-KR" altLang="en-US"/>
              <a:t>    comboBox.addItem("one")</a:t>
            </a:r>
          </a:p>
          <a:p>
            <a:r>
              <a:rPr lang="ko-KR" altLang="en-US"/>
              <a:t>    comboBox.addItem("two")</a:t>
            </a:r>
          </a:p>
          <a:p>
            <a:r>
              <a:rPr lang="ko-KR" altLang="en-US"/>
              <a:t>    comboBox.addItem("three")</a:t>
            </a:r>
          </a:p>
          <a:p>
            <a:r>
              <a:rPr lang="ko-KR" altLang="en-US"/>
              <a:t>    comboBox.addItem("four")</a:t>
            </a:r>
          </a:p>
          <a:p>
            <a:r>
              <a:rPr lang="ko-KR" altLang="en-US"/>
              <a:t>    comboBox.addItem("five")</a:t>
            </a:r>
          </a:p>
          <a:p>
            <a:r>
              <a:rPr lang="ko-KR" altLang="en-US"/>
              <a:t>    comboBox.move(50, 250)</a:t>
            </a:r>
          </a:p>
          <a:p>
            <a:r>
              <a:rPr lang="ko-KR" altLang="en-US"/>
              <a:t>    self.styleChoice.move(50, 150)</a:t>
            </a:r>
          </a:p>
          <a:p>
            <a:r>
              <a:rPr lang="ko-KR" altLang="en-US"/>
              <a:t>    comboBox.activated[str].connect(self.style_choice)</a:t>
            </a:r>
          </a:p>
          <a:p>
            <a:endParaRPr lang="ko-KR" altLang="en-US"/>
          </a:p>
          <a:p>
            <a:r>
              <a:rPr lang="ko-KR" altLang="en-US"/>
              <a:t>    self.show()</a:t>
            </a:r>
          </a:p>
          <a:p>
            <a:r>
              <a:rPr lang="ko-KR" altLang="en-US"/>
              <a:t>    </a:t>
            </a:r>
          </a:p>
          <a:p>
            <a:r>
              <a:rPr lang="ko-KR" altLang="en-US"/>
              <a:t>def style_choice(self, text):</a:t>
            </a:r>
          </a:p>
          <a:p>
            <a:r>
              <a:rPr lang="ko-KR" altLang="en-US"/>
              <a:t>    self.styleChoice.setText(text)</a:t>
            </a:r>
          </a:p>
          <a:p>
            <a:r>
              <a:rPr lang="ko-KR" altLang="en-US"/>
              <a:t>    QtWidgets.QApplication.setStyle(QtWidgets.QStyleFactory.create(text))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527" y="923108"/>
            <a:ext cx="2857234" cy="253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실행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196233" y="264840"/>
            <a:ext cx="51095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="1" smtClean="0">
                <a:solidFill>
                  <a:srgbClr val="0000FF"/>
                </a:solidFill>
              </a:rPr>
              <a:t>C:\Python36-32\Lib\site-packages\pyqt5-tools</a:t>
            </a:r>
            <a:endParaRPr lang="ko-KR" altLang="en-US" sz="1800" b="1" dirty="0">
              <a:solidFill>
                <a:srgbClr val="0000FF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6" y="1052736"/>
            <a:ext cx="8556054" cy="549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6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Label &amp; Button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5" y="1071787"/>
            <a:ext cx="3600400" cy="224564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040" y="1287810"/>
            <a:ext cx="3031744" cy="1920999"/>
          </a:xfrm>
          <a:prstGeom prst="rect">
            <a:avLst/>
          </a:prstGeom>
        </p:spPr>
      </p:pic>
      <p:sp>
        <p:nvSpPr>
          <p:cNvPr id="10" name="오른쪽 화살표 9"/>
          <p:cNvSpPr/>
          <p:nvPr/>
        </p:nvSpPr>
        <p:spPr>
          <a:xfrm>
            <a:off x="4520952" y="2223914"/>
            <a:ext cx="576064" cy="144016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4488" y="1791866"/>
            <a:ext cx="504056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241032" y="1791866"/>
            <a:ext cx="504056" cy="17605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5393432" y="2047857"/>
            <a:ext cx="504056" cy="17605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712640" y="855762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Label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81192" y="8557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Line Edit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12" y="4096122"/>
            <a:ext cx="4306808" cy="2160240"/>
          </a:xfrm>
          <a:prstGeom prst="rect">
            <a:avLst/>
          </a:prstGeom>
        </p:spPr>
      </p:pic>
      <p:sp>
        <p:nvSpPr>
          <p:cNvPr id="18" name="모서리가 둥근 직사각형 17"/>
          <p:cNvSpPr/>
          <p:nvPr/>
        </p:nvSpPr>
        <p:spPr>
          <a:xfrm>
            <a:off x="488504" y="4744194"/>
            <a:ext cx="504056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856656" y="3736082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Push Button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20" name="오른쪽 화살표 19"/>
          <p:cNvSpPr/>
          <p:nvPr/>
        </p:nvSpPr>
        <p:spPr>
          <a:xfrm rot="7777388" flipV="1">
            <a:off x="4674297" y="3650313"/>
            <a:ext cx="576064" cy="108184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Label &amp; Button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034827"/>
            <a:ext cx="6415633" cy="4761287"/>
          </a:xfrm>
          <a:prstGeom prst="rect">
            <a:avLst/>
          </a:prstGeom>
        </p:spPr>
      </p:pic>
      <p:sp>
        <p:nvSpPr>
          <p:cNvPr id="22" name="모서리가 둥근 직사각형 21"/>
          <p:cNvSpPr/>
          <p:nvPr/>
        </p:nvSpPr>
        <p:spPr>
          <a:xfrm>
            <a:off x="2792760" y="1178843"/>
            <a:ext cx="216024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4016896" y="4203179"/>
            <a:ext cx="93610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5961112" y="3771131"/>
            <a:ext cx="720080" cy="1440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stCxn id="22" idx="2"/>
          </p:cNvCxnSpPr>
          <p:nvPr/>
        </p:nvCxnSpPr>
        <p:spPr>
          <a:xfrm>
            <a:off x="2900772" y="1610891"/>
            <a:ext cx="1116124" cy="1152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4088904" y="3123059"/>
            <a:ext cx="144016" cy="10801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endCxn id="24" idx="1"/>
          </p:cNvCxnSpPr>
          <p:nvPr/>
        </p:nvCxnSpPr>
        <p:spPr>
          <a:xfrm flipV="1">
            <a:off x="4953000" y="3843139"/>
            <a:ext cx="1008112" cy="5040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94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Label &amp; Button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043211"/>
            <a:ext cx="7200800" cy="5117809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2648744" y="1259235"/>
            <a:ext cx="216024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2864768" y="1619275"/>
            <a:ext cx="1872208" cy="13681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4376936" y="3923531"/>
            <a:ext cx="93610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6321152" y="3923531"/>
            <a:ext cx="720080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4736976" y="3203451"/>
            <a:ext cx="144016" cy="72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15" idx="3"/>
            <a:endCxn id="16" idx="1"/>
          </p:cNvCxnSpPr>
          <p:nvPr/>
        </p:nvCxnSpPr>
        <p:spPr>
          <a:xfrm>
            <a:off x="5313040" y="4031543"/>
            <a:ext cx="100811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2480" y="4283571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smtClean="0">
                <a:solidFill>
                  <a:srgbClr val="0000FF"/>
                </a:solidFill>
              </a:rPr>
              <a:t>Ctrl+R  </a:t>
            </a:r>
            <a:r>
              <a:rPr lang="ko-KR" altLang="en-US" sz="1400" b="1" smtClean="0">
                <a:solidFill>
                  <a:srgbClr val="0000FF"/>
                </a:solidFill>
              </a:rPr>
              <a:t>로 실행</a:t>
            </a:r>
            <a:endParaRPr lang="en-US" altLang="ko-KR" sz="1400" b="1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smtClean="0">
                <a:solidFill>
                  <a:srgbClr val="0000FF"/>
                </a:solidFill>
              </a:rPr>
              <a:t>저장</a:t>
            </a:r>
            <a:r>
              <a:rPr lang="en-US" altLang="ko-KR" sz="1400" b="1" smtClean="0">
                <a:solidFill>
                  <a:srgbClr val="0000FF"/>
                </a:solidFill>
              </a:rPr>
              <a:t>(.ui)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Label &amp; Button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8288" y="980728"/>
            <a:ext cx="2996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/>
              <a:t>.ui</a:t>
            </a:r>
            <a:r>
              <a:rPr lang="ko-KR" altLang="en-US" sz="1400" b="1" smtClean="0"/>
              <a:t>를 </a:t>
            </a:r>
            <a:r>
              <a:rPr lang="en-US" altLang="ko-KR" sz="1400" b="1" smtClean="0"/>
              <a:t>.py </a:t>
            </a:r>
            <a:r>
              <a:rPr lang="ko-KR" altLang="en-US" sz="1400" b="1" smtClean="0"/>
              <a:t>파일로 변경하여 실행하기</a:t>
            </a:r>
            <a:endParaRPr lang="ko-KR" altLang="en-US" sz="1400" b="1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1" y="1412776"/>
            <a:ext cx="8776270" cy="4933950"/>
          </a:xfrm>
          <a:prstGeom prst="rect">
            <a:avLst/>
          </a:prstGeom>
        </p:spPr>
      </p:pic>
      <p:sp>
        <p:nvSpPr>
          <p:cNvPr id="22" name="모서리가 둥근 직사각형 21"/>
          <p:cNvSpPr/>
          <p:nvPr/>
        </p:nvSpPr>
        <p:spPr>
          <a:xfrm>
            <a:off x="196280" y="2636912"/>
            <a:ext cx="3744416" cy="216024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2068488" y="3212976"/>
            <a:ext cx="2160240" cy="288032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348680" y="5229200"/>
            <a:ext cx="3744416" cy="216024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1996480" y="5949280"/>
            <a:ext cx="1296144" cy="288032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940696" y="960983"/>
            <a:ext cx="5737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pyuic5.bat </a:t>
            </a:r>
            <a:r>
              <a:rPr lang="ko-KR" altLang="en-US" sz="1400" b="1" smtClean="0">
                <a:solidFill>
                  <a:srgbClr val="0000FF"/>
                </a:solidFill>
              </a:rPr>
              <a:t>는  </a:t>
            </a:r>
            <a:r>
              <a:rPr lang="en-US" altLang="ko-KR" sz="1400" b="1" smtClean="0">
                <a:solidFill>
                  <a:srgbClr val="0000FF"/>
                </a:solidFill>
              </a:rPr>
              <a:t>C:\Python36-32\Lib\site-packages\pyqt5-tools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05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Layout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연습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4" y="980727"/>
            <a:ext cx="7632848" cy="5641777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85986" y="1844824"/>
            <a:ext cx="93610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5442570" y="5445224"/>
            <a:ext cx="237626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658" y="1988840"/>
            <a:ext cx="2668532" cy="2160240"/>
          </a:xfrm>
          <a:prstGeom prst="rect">
            <a:avLst/>
          </a:prstGeom>
        </p:spPr>
      </p:pic>
      <p:cxnSp>
        <p:nvCxnSpPr>
          <p:cNvPr id="16" name="직선 화살표 연결선 15"/>
          <p:cNvCxnSpPr>
            <a:endCxn id="15" idx="2"/>
          </p:cNvCxnSpPr>
          <p:nvPr/>
        </p:nvCxnSpPr>
        <p:spPr>
          <a:xfrm flipV="1">
            <a:off x="7314778" y="4149080"/>
            <a:ext cx="254146" cy="12961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53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Layout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연습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72" y="2060848"/>
            <a:ext cx="3419475" cy="3276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6496" y="908720"/>
            <a:ext cx="292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rgbClr val="0000FF"/>
                </a:solidFill>
              </a:rPr>
              <a:t>Ctrl + R  </a:t>
            </a:r>
            <a:r>
              <a:rPr lang="ko-KR" altLang="en-US" b="1" smtClean="0">
                <a:solidFill>
                  <a:srgbClr val="0000FF"/>
                </a:solidFill>
              </a:rPr>
              <a:t>로 미리보기 실행</a:t>
            </a:r>
            <a:endParaRPr lang="ko-KR" altLang="en-US" b="1">
              <a:solidFill>
                <a:srgbClr val="0000FF"/>
              </a:solidFill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97" y="2060848"/>
            <a:ext cx="4974704" cy="3228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496" y="1340768"/>
            <a:ext cx="4490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>
                <a:solidFill>
                  <a:srgbClr val="C00000"/>
                </a:solidFill>
              </a:rPr>
              <a:t>화면을 확장하거나 축소하면 버튼 크기가 함께 조절됨</a:t>
            </a:r>
            <a:endParaRPr lang="ko-KR" altLang="en-US" sz="1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4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Layout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연습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124744"/>
            <a:ext cx="7477125" cy="5038725"/>
          </a:xfrm>
          <a:prstGeom prst="rect">
            <a:avLst/>
          </a:prstGeom>
        </p:spPr>
      </p:pic>
      <p:sp>
        <p:nvSpPr>
          <p:cNvPr id="12" name="모서리가 둥근 직사각형 11"/>
          <p:cNvSpPr/>
          <p:nvPr/>
        </p:nvSpPr>
        <p:spPr>
          <a:xfrm>
            <a:off x="5529064" y="1700808"/>
            <a:ext cx="1296144" cy="79208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385048" y="836712"/>
            <a:ext cx="228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rgbClr val="0000FF"/>
                </a:solidFill>
              </a:rPr>
              <a:t>Layout </a:t>
            </a:r>
            <a:r>
              <a:rPr lang="ko-KR" altLang="en-US" b="1" smtClean="0">
                <a:solidFill>
                  <a:srgbClr val="0000FF"/>
                </a:solidFill>
              </a:rPr>
              <a:t>및 속성 편집</a:t>
            </a:r>
            <a:endParaRPr lang="ko-KR" altLang="en-US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2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Layout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연습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76" y="908720"/>
            <a:ext cx="742950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9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Layout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연습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63" y="908720"/>
            <a:ext cx="8708987" cy="5313585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552128" y="4437112"/>
            <a:ext cx="2845709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408112" y="4653136"/>
            <a:ext cx="1219589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25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Calculator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만들기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3" y="1628800"/>
            <a:ext cx="8734425" cy="4410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0663" y="908720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mtClean="0">
                <a:solidFill>
                  <a:srgbClr val="0000FF"/>
                </a:solidFill>
              </a:rPr>
              <a:t>mainwindow </a:t>
            </a:r>
            <a:r>
              <a:rPr lang="ko-KR" altLang="en-US" sz="1600" b="1" smtClean="0">
                <a:solidFill>
                  <a:srgbClr val="0000FF"/>
                </a:solidFill>
              </a:rPr>
              <a:t>생성</a:t>
            </a:r>
            <a:endParaRPr lang="en-US" altLang="ko-KR" sz="1600" b="1" smtClean="0">
              <a:solidFill>
                <a:srgbClr val="0000FF"/>
              </a:solidFill>
            </a:endParaRPr>
          </a:p>
          <a:p>
            <a:r>
              <a:rPr lang="en-US" altLang="ko-KR" sz="1600" b="1" smtClean="0">
                <a:solidFill>
                  <a:srgbClr val="0000FF"/>
                </a:solidFill>
              </a:rPr>
              <a:t>geometry : 400 x 200</a:t>
            </a:r>
            <a:endParaRPr lang="ko-KR" altLang="en-US" sz="16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0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Calculator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만들기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94" y="1340768"/>
            <a:ext cx="8086725" cy="4838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3646" y="908720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Line Edit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12" name="직선 화살표 연결선 11"/>
          <p:cNvCxnSpPr>
            <a:stCxn id="10" idx="2"/>
          </p:cNvCxnSpPr>
          <p:nvPr/>
        </p:nvCxnSpPr>
        <p:spPr>
          <a:xfrm>
            <a:off x="929861" y="1216497"/>
            <a:ext cx="263865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10" idx="2"/>
          </p:cNvCxnSpPr>
          <p:nvPr/>
        </p:nvCxnSpPr>
        <p:spPr>
          <a:xfrm>
            <a:off x="929861" y="1216497"/>
            <a:ext cx="1992057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0" idx="2"/>
          </p:cNvCxnSpPr>
          <p:nvPr/>
        </p:nvCxnSpPr>
        <p:spPr>
          <a:xfrm>
            <a:off x="929861" y="1216497"/>
            <a:ext cx="3072177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1798" y="908720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Combo Box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16" name="직선 화살표 연결선 15"/>
          <p:cNvCxnSpPr>
            <a:stCxn id="15" idx="2"/>
          </p:cNvCxnSpPr>
          <p:nvPr/>
        </p:nvCxnSpPr>
        <p:spPr>
          <a:xfrm flipH="1">
            <a:off x="2273846" y="1216497"/>
            <a:ext cx="147598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569990" y="1196752"/>
            <a:ext cx="72008" cy="129614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37942" y="908720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Label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28" y="3501008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</a:rPr>
              <a:t>Push button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20" name="직선 화살표 연결선 19"/>
          <p:cNvCxnSpPr>
            <a:stCxn id="19" idx="3"/>
          </p:cNvCxnSpPr>
          <p:nvPr/>
        </p:nvCxnSpPr>
        <p:spPr>
          <a:xfrm flipV="1">
            <a:off x="1238562" y="3356992"/>
            <a:ext cx="747252" cy="29790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/>
          <p:cNvSpPr/>
          <p:nvPr/>
        </p:nvSpPr>
        <p:spPr>
          <a:xfrm>
            <a:off x="5010150" y="4221088"/>
            <a:ext cx="3960440" cy="12961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 flipV="1">
            <a:off x="2849910" y="5013176"/>
            <a:ext cx="2160240" cy="21602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54166" y="5517232"/>
            <a:ext cx="1872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C00000"/>
                </a:solidFill>
              </a:rPr>
              <a:t>Clear </a:t>
            </a:r>
            <a:r>
              <a:rPr lang="ko-KR" altLang="en-US" sz="1400" b="1" smtClean="0">
                <a:solidFill>
                  <a:srgbClr val="C00000"/>
                </a:solidFill>
              </a:rPr>
              <a:t>버튼 기능 추가</a:t>
            </a:r>
            <a:endParaRPr lang="ko-KR" altLang="en-US" sz="1400" b="1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41998" y="6237312"/>
            <a:ext cx="379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rgbClr val="C00000"/>
                </a:solidFill>
              </a:rPr>
              <a:t>pyuic5 -x cal_gui.ui -o cal_gui.py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47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pyQt Exam : Calculator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만들기 </a:t>
            </a:r>
            <a:r>
              <a:rPr lang="en-US" altLang="ko-KR" sz="2800" b="1" smtClean="0">
                <a:solidFill>
                  <a:srgbClr val="C00000"/>
                </a:solidFill>
                <a:latin typeface="+mn-ea"/>
              </a:rPr>
              <a:t>cal.py </a:t>
            </a:r>
            <a:endParaRPr lang="ko-KR" altLang="en-US" sz="2800" b="1" dirty="0">
              <a:solidFill>
                <a:srgbClr val="C0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6446" y="908720"/>
            <a:ext cx="907300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smtClean="0"/>
              <a:t>from cal_gui import *</a:t>
            </a:r>
          </a:p>
          <a:p>
            <a:r>
              <a:rPr lang="ko-KR" altLang="en-US" sz="1400" b="1" smtClean="0"/>
              <a:t>def signals(self):</a:t>
            </a:r>
          </a:p>
          <a:p>
            <a:r>
              <a:rPr lang="ko-KR" altLang="en-US" sz="1400" b="1" smtClean="0"/>
              <a:t>    self.cal_button.clicked.connect(self.calc)</a:t>
            </a:r>
          </a:p>
          <a:p>
            <a:r>
              <a:rPr lang="ko-KR" altLang="en-US" sz="1400" b="1" smtClean="0"/>
              <a:t>def calc(self):</a:t>
            </a:r>
          </a:p>
          <a:p>
            <a:r>
              <a:rPr lang="ko-KR" altLang="en-US" sz="1400" b="1" smtClean="0"/>
              <a:t>    a = self.input1.text()</a:t>
            </a:r>
          </a:p>
          <a:p>
            <a:r>
              <a:rPr lang="ko-KR" altLang="en-US" sz="1400" b="1" smtClean="0"/>
              <a:t>    b = self.input2.text()</a:t>
            </a:r>
          </a:p>
          <a:p>
            <a:r>
              <a:rPr lang="ko-KR" altLang="en-US" sz="1400" b="1" smtClean="0"/>
              <a:t>    operator = self.comboBox.currentText()</a:t>
            </a:r>
          </a:p>
          <a:p>
            <a:endParaRPr lang="ko-KR" altLang="en-US" sz="1400" b="1" smtClean="0"/>
          </a:p>
          <a:p>
            <a:r>
              <a:rPr lang="ko-KR" altLang="en-US" sz="1400" b="1" smtClean="0"/>
              <a:t>    try:</a:t>
            </a:r>
          </a:p>
          <a:p>
            <a:r>
              <a:rPr lang="ko-KR" altLang="en-US" sz="1400" b="1" smtClean="0"/>
              <a:t>        c=eval(a + operator + b)</a:t>
            </a:r>
          </a:p>
          <a:p>
            <a:r>
              <a:rPr lang="ko-KR" altLang="en-US" sz="1400" b="1" smtClean="0"/>
              <a:t>        self.result.setText(str(c))</a:t>
            </a:r>
          </a:p>
          <a:p>
            <a:r>
              <a:rPr lang="ko-KR" altLang="en-US" sz="1400" b="1" smtClean="0"/>
              <a:t>    except:</a:t>
            </a:r>
          </a:p>
          <a:p>
            <a:r>
              <a:rPr lang="ko-KR" altLang="en-US" sz="1400" b="1" smtClean="0"/>
              <a:t>        Qtwidgets.QMessageBox.critical(MainWindow, 'Error', 'Invalid inputs!', </a:t>
            </a:r>
          </a:p>
          <a:p>
            <a:r>
              <a:rPr lang="ko-KR" altLang="en-US" sz="1400" b="1" smtClean="0"/>
              <a:t>            Qtwidgets.QMessageBox.Ok)</a:t>
            </a:r>
          </a:p>
          <a:p>
            <a:r>
              <a:rPr lang="ko-KR" altLang="en-US" sz="1400" b="1" smtClean="0"/>
              <a:t>Ui_Calculator.signals = signals</a:t>
            </a:r>
          </a:p>
          <a:p>
            <a:r>
              <a:rPr lang="ko-KR" altLang="en-US" sz="1400" b="1" smtClean="0"/>
              <a:t>Ui_Calculator.calc = calc</a:t>
            </a:r>
          </a:p>
          <a:p>
            <a:r>
              <a:rPr lang="ko-KR" altLang="en-US" sz="1400" b="1" smtClean="0"/>
              <a:t>if __name__=="__main__":</a:t>
            </a:r>
          </a:p>
          <a:p>
            <a:r>
              <a:rPr lang="ko-KR" altLang="en-US" sz="1400" b="1" smtClean="0"/>
              <a:t>    import sys</a:t>
            </a:r>
          </a:p>
          <a:p>
            <a:r>
              <a:rPr lang="ko-KR" altLang="en-US" sz="1400" b="1" smtClean="0"/>
              <a:t>    app = QtWidgets.QApplication(sys.argv)</a:t>
            </a:r>
          </a:p>
          <a:p>
            <a:endParaRPr lang="ko-KR" altLang="en-US" sz="1400" b="1" smtClean="0"/>
          </a:p>
          <a:p>
            <a:r>
              <a:rPr lang="ko-KR" altLang="en-US" sz="1400" b="1" smtClean="0"/>
              <a:t>    MainWindow = QtWidgets.QMainWindow()</a:t>
            </a:r>
          </a:p>
          <a:p>
            <a:r>
              <a:rPr lang="ko-KR" altLang="en-US" sz="1400" b="1" smtClean="0"/>
              <a:t>    ui = Ui_Calculator()</a:t>
            </a:r>
          </a:p>
          <a:p>
            <a:r>
              <a:rPr lang="ko-KR" altLang="en-US" sz="1400" b="1" smtClean="0"/>
              <a:t>    ui.setupUi(MainWindow)</a:t>
            </a:r>
          </a:p>
          <a:p>
            <a:r>
              <a:rPr lang="ko-KR" altLang="en-US" sz="1400" b="1" smtClean="0"/>
              <a:t>    ui.signals()</a:t>
            </a:r>
          </a:p>
          <a:p>
            <a:r>
              <a:rPr lang="ko-KR" altLang="en-US" sz="1400" b="1" smtClean="0"/>
              <a:t>    MainWindow.show()</a:t>
            </a:r>
          </a:p>
          <a:p>
            <a:r>
              <a:rPr lang="ko-KR" altLang="en-US" sz="1400" b="1" smtClean="0"/>
              <a:t>    sys.exit(app.exec_())</a:t>
            </a:r>
            <a:endParaRPr lang="ko-KR" altLang="en-US" sz="1400" b="1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102" y="1196752"/>
            <a:ext cx="2743535" cy="164337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10" y="4149080"/>
            <a:ext cx="2808312" cy="225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1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>
                <a:solidFill>
                  <a:srgbClr val="000099"/>
                </a:solidFill>
                <a:latin typeface="+mn-ea"/>
              </a:rPr>
              <a:t>pyQt Exam :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버튼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클릭하면 다른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Window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생성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5774" y="2043113"/>
            <a:ext cx="686752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16378" y="1045029"/>
            <a:ext cx="58707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 smtClean="0">
                <a:solidFill>
                  <a:srgbClr val="0000FF"/>
                </a:solidFill>
              </a:rPr>
              <a:t> Main window</a:t>
            </a:r>
            <a:r>
              <a:rPr lang="ko-KR" altLang="en-US" sz="1400" dirty="0" smtClean="0">
                <a:solidFill>
                  <a:srgbClr val="0000FF"/>
                </a:solidFill>
              </a:rPr>
              <a:t>와 </a:t>
            </a:r>
            <a:r>
              <a:rPr lang="en-US" altLang="ko-KR" sz="1400" dirty="0" smtClean="0">
                <a:solidFill>
                  <a:srgbClr val="0000FF"/>
                </a:solidFill>
              </a:rPr>
              <a:t> sub window </a:t>
            </a:r>
            <a:r>
              <a:rPr lang="ko-KR" altLang="en-US" sz="1400" dirty="0" smtClean="0">
                <a:solidFill>
                  <a:srgbClr val="0000FF"/>
                </a:solidFill>
              </a:rPr>
              <a:t>두 개의 </a:t>
            </a:r>
            <a:r>
              <a:rPr lang="en-US" altLang="ko-KR" sz="1400" dirty="0" err="1" smtClean="0">
                <a:solidFill>
                  <a:srgbClr val="0000FF"/>
                </a:solidFill>
              </a:rPr>
              <a:t>ui</a:t>
            </a:r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ko-KR" altLang="en-US" sz="1400" dirty="0" smtClean="0">
                <a:solidFill>
                  <a:srgbClr val="0000FF"/>
                </a:solidFill>
              </a:rPr>
              <a:t>파일을 만든다</a:t>
            </a:r>
            <a:endParaRPr lang="en-US" altLang="ko-KR" sz="1400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en-US" altLang="ko-KR" sz="1400" dirty="0" err="1" smtClean="0">
                <a:solidFill>
                  <a:srgbClr val="0000FF"/>
                </a:solidFill>
              </a:rPr>
              <a:t>ui</a:t>
            </a:r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ko-KR" altLang="en-US" sz="1400" dirty="0" smtClean="0">
                <a:solidFill>
                  <a:srgbClr val="0000FF"/>
                </a:solidFill>
              </a:rPr>
              <a:t>파일을 </a:t>
            </a:r>
            <a:r>
              <a:rPr lang="en-US" altLang="ko-KR" sz="1400" dirty="0" smtClean="0">
                <a:solidFill>
                  <a:srgbClr val="0000FF"/>
                </a:solidFill>
              </a:rPr>
              <a:t>.</a:t>
            </a:r>
            <a:r>
              <a:rPr lang="en-US" altLang="ko-KR" sz="1400" dirty="0" err="1" smtClean="0">
                <a:solidFill>
                  <a:srgbClr val="0000FF"/>
                </a:solidFill>
              </a:rPr>
              <a:t>py</a:t>
            </a:r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ko-KR" altLang="en-US" sz="1400" dirty="0" smtClean="0">
                <a:solidFill>
                  <a:srgbClr val="0000FF"/>
                </a:solidFill>
              </a:rPr>
              <a:t>파일로 변환 </a:t>
            </a:r>
            <a:r>
              <a:rPr lang="en-US" altLang="ko-KR" sz="1400" dirty="0" smtClean="0">
                <a:solidFill>
                  <a:srgbClr val="0000FF"/>
                </a:solidFill>
              </a:rPr>
              <a:t>:  pyuid5 –x </a:t>
            </a:r>
            <a:r>
              <a:rPr lang="en-US" altLang="ko-KR" sz="1400" dirty="0" err="1" smtClean="0">
                <a:solidFill>
                  <a:srgbClr val="0000FF"/>
                </a:solidFill>
              </a:rPr>
              <a:t>main_window.ui</a:t>
            </a:r>
            <a:r>
              <a:rPr lang="en-US" altLang="ko-KR" sz="1400" dirty="0" smtClean="0">
                <a:solidFill>
                  <a:srgbClr val="0000FF"/>
                </a:solidFill>
              </a:rPr>
              <a:t> –o main_window.py</a:t>
            </a:r>
          </a:p>
          <a:p>
            <a:r>
              <a:rPr lang="en-US" altLang="ko-KR" sz="1400" dirty="0" smtClean="0">
                <a:solidFill>
                  <a:srgbClr val="0000FF"/>
                </a:solidFill>
              </a:rPr>
              <a:t>                                                     :  pyuid5 –x </a:t>
            </a:r>
            <a:r>
              <a:rPr lang="en-US" altLang="ko-KR" sz="1400" dirty="0" err="1" smtClean="0">
                <a:solidFill>
                  <a:srgbClr val="0000FF"/>
                </a:solidFill>
              </a:rPr>
              <a:t>sub_window.ui</a:t>
            </a:r>
            <a:r>
              <a:rPr lang="en-US" altLang="ko-KR" sz="1400" dirty="0" smtClean="0">
                <a:solidFill>
                  <a:srgbClr val="0000FF"/>
                </a:solidFill>
              </a:rPr>
              <a:t> –o sub_window.py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64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>
                <a:solidFill>
                  <a:srgbClr val="000099"/>
                </a:solidFill>
                <a:latin typeface="+mn-ea"/>
              </a:rPr>
              <a:t>pyQt Exam : </a:t>
            </a:r>
            <a:r>
              <a:rPr lang="ko-KR" altLang="en-US" sz="2800" b="1" smtClean="0">
                <a:solidFill>
                  <a:srgbClr val="000099"/>
                </a:solidFill>
                <a:latin typeface="+mn-ea"/>
              </a:rPr>
              <a:t>버튼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클릭하면 다른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Window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생성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32708" y="1139710"/>
            <a:ext cx="68661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FF"/>
                </a:solidFill>
              </a:rPr>
              <a:t>from 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sub_window</a:t>
            </a:r>
            <a:r>
              <a:rPr lang="en-US" altLang="ko-KR" sz="1600" dirty="0" smtClean="0">
                <a:solidFill>
                  <a:srgbClr val="0000FF"/>
                </a:solidFill>
              </a:rPr>
              <a:t> import *</a:t>
            </a:r>
          </a:p>
          <a:p>
            <a:r>
              <a:rPr lang="en-US" altLang="ko-KR" sz="1600" dirty="0" smtClean="0"/>
              <a:t>class </a:t>
            </a:r>
            <a:r>
              <a:rPr lang="en-US" altLang="ko-KR" sz="1600" dirty="0" err="1" smtClean="0"/>
              <a:t>Ui_MainWindow</a:t>
            </a:r>
            <a:r>
              <a:rPr lang="en-US" altLang="ko-KR" sz="1600" dirty="0" smtClean="0"/>
              <a:t>(object):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>
                <a:solidFill>
                  <a:srgbClr val="0000FF"/>
                </a:solidFill>
              </a:rPr>
              <a:t>    def 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openWindow</a:t>
            </a:r>
            <a:r>
              <a:rPr lang="en-US" altLang="ko-KR" sz="1600" dirty="0" smtClean="0">
                <a:solidFill>
                  <a:srgbClr val="0000FF"/>
                </a:solidFill>
              </a:rPr>
              <a:t>(self):</a:t>
            </a:r>
          </a:p>
          <a:p>
            <a:r>
              <a:rPr lang="en-US" altLang="ko-KR" sz="1600" dirty="0" smtClean="0">
                <a:solidFill>
                  <a:srgbClr val="0000FF"/>
                </a:solidFill>
              </a:rPr>
              <a:t>        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self.window</a:t>
            </a:r>
            <a:r>
              <a:rPr lang="en-US" altLang="ko-KR" sz="1600" dirty="0" smtClean="0">
                <a:solidFill>
                  <a:srgbClr val="0000FF"/>
                </a:solidFill>
              </a:rPr>
              <a:t>=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QtWidgets.QMainWindow</a:t>
            </a:r>
            <a:r>
              <a:rPr lang="en-US" altLang="ko-KR" sz="1600" dirty="0" smtClean="0">
                <a:solidFill>
                  <a:srgbClr val="0000FF"/>
                </a:solidFill>
              </a:rPr>
              <a:t>()</a:t>
            </a:r>
          </a:p>
          <a:p>
            <a:r>
              <a:rPr lang="en-US" altLang="ko-KR" sz="1600" dirty="0" smtClean="0">
                <a:solidFill>
                  <a:srgbClr val="0000FF"/>
                </a:solidFill>
              </a:rPr>
              <a:t>        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self.ui</a:t>
            </a:r>
            <a:r>
              <a:rPr lang="en-US" altLang="ko-KR" sz="1600" dirty="0" smtClean="0">
                <a:solidFill>
                  <a:srgbClr val="0000FF"/>
                </a:solidFill>
              </a:rPr>
              <a:t>=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Ui_SubWindow</a:t>
            </a:r>
            <a:r>
              <a:rPr lang="en-US" altLang="ko-KR" sz="1600" dirty="0" smtClean="0">
                <a:solidFill>
                  <a:srgbClr val="0000FF"/>
                </a:solidFill>
              </a:rPr>
              <a:t>()</a:t>
            </a:r>
          </a:p>
          <a:p>
            <a:r>
              <a:rPr lang="en-US" altLang="ko-KR" sz="1600" dirty="0" smtClean="0">
                <a:solidFill>
                  <a:srgbClr val="0000FF"/>
                </a:solidFill>
              </a:rPr>
              <a:t>        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self.ui.setupUi</a:t>
            </a:r>
            <a:r>
              <a:rPr lang="en-US" altLang="ko-KR" sz="1600" dirty="0" smtClean="0">
                <a:solidFill>
                  <a:srgbClr val="0000FF"/>
                </a:solidFill>
              </a:rPr>
              <a:t>(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self.window</a:t>
            </a:r>
            <a:r>
              <a:rPr lang="en-US" altLang="ko-KR" sz="1600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altLang="ko-KR" sz="1600" dirty="0" smtClean="0">
                <a:solidFill>
                  <a:srgbClr val="0000FF"/>
                </a:solidFill>
              </a:rPr>
              <a:t>        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self.window.show</a:t>
            </a:r>
            <a:r>
              <a:rPr lang="en-US" altLang="ko-KR" sz="1600" dirty="0" smtClean="0">
                <a:solidFill>
                  <a:srgbClr val="0000FF"/>
                </a:solidFill>
              </a:rPr>
              <a:t>()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        ~~~~~~~~~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def </a:t>
            </a:r>
            <a:r>
              <a:rPr lang="en-US" altLang="ko-KR" sz="1600" dirty="0" err="1" smtClean="0"/>
              <a:t>setupUi</a:t>
            </a:r>
            <a:r>
              <a:rPr lang="en-US" altLang="ko-KR" sz="1600" dirty="0" smtClean="0"/>
              <a:t>(self, </a:t>
            </a:r>
            <a:r>
              <a:rPr lang="en-US" altLang="ko-KR" sz="1600" dirty="0" err="1" smtClean="0"/>
              <a:t>MainWindow</a:t>
            </a:r>
            <a:r>
              <a:rPr lang="en-US" altLang="ko-KR" sz="1600" dirty="0" smtClean="0"/>
              <a:t>):</a:t>
            </a:r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/>
              <a:t>MainWindow.setObjectName</a:t>
            </a:r>
            <a:r>
              <a:rPr lang="en-US" altLang="ko-KR" sz="1600" dirty="0" smtClean="0"/>
              <a:t>("</a:t>
            </a:r>
            <a:r>
              <a:rPr lang="en-US" altLang="ko-KR" sz="1600" dirty="0" err="1" smtClean="0"/>
              <a:t>MainWindow</a:t>
            </a:r>
            <a:r>
              <a:rPr lang="en-US" altLang="ko-KR" sz="1600" dirty="0" smtClean="0"/>
              <a:t>")</a:t>
            </a:r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/>
              <a:t>MainWindow.resize</a:t>
            </a:r>
            <a:r>
              <a:rPr lang="en-US" altLang="ko-KR" sz="1600" dirty="0" smtClean="0"/>
              <a:t>(354, 185)</a:t>
            </a:r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/>
              <a:t>self.centralwidget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QtWidgets.QWidget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MainWindow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/>
              <a:t>self.centralwidget.setObjectName</a:t>
            </a:r>
            <a:r>
              <a:rPr lang="en-US" altLang="ko-KR" sz="1600" dirty="0" smtClean="0"/>
              <a:t>("</a:t>
            </a:r>
            <a:r>
              <a:rPr lang="en-US" altLang="ko-KR" sz="1600" dirty="0" err="1" smtClean="0"/>
              <a:t>centralwidget</a:t>
            </a:r>
            <a:r>
              <a:rPr lang="en-US" altLang="ko-KR" sz="1600" dirty="0" smtClean="0"/>
              <a:t>")</a:t>
            </a:r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/>
              <a:t>self.pushButton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QtWidgets.QPushButton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self.centralwidget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/>
              <a:t>self.pushButton.setGeometry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QtCore.QRect</a:t>
            </a:r>
            <a:r>
              <a:rPr lang="en-US" altLang="ko-KR" sz="1600" dirty="0" smtClean="0"/>
              <a:t>(70, 50, 211, 71))</a:t>
            </a:r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/>
              <a:t>self.pushButton.setObjectName</a:t>
            </a:r>
            <a:r>
              <a:rPr lang="en-US" altLang="ko-KR" sz="1600" dirty="0" smtClean="0"/>
              <a:t>("</a:t>
            </a:r>
            <a:r>
              <a:rPr lang="en-US" altLang="ko-KR" sz="1600" dirty="0" err="1" smtClean="0"/>
              <a:t>pushButton</a:t>
            </a:r>
            <a:r>
              <a:rPr lang="en-US" altLang="ko-KR" sz="1600" dirty="0" smtClean="0"/>
              <a:t>")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      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self.pushButton.clicked.connect</a:t>
            </a:r>
            <a:r>
              <a:rPr lang="en-US" altLang="ko-KR" sz="1600" dirty="0" smtClean="0">
                <a:solidFill>
                  <a:srgbClr val="0000FF"/>
                </a:solidFill>
              </a:rPr>
              <a:t>(</a:t>
            </a:r>
            <a:r>
              <a:rPr lang="en-US" altLang="ko-KR" sz="1600" dirty="0" err="1" smtClean="0">
                <a:solidFill>
                  <a:srgbClr val="0000FF"/>
                </a:solidFill>
              </a:rPr>
              <a:t>self.openWindow</a:t>
            </a:r>
            <a:r>
              <a:rPr lang="en-US" altLang="ko-KR" sz="1600" dirty="0" smtClean="0">
                <a:solidFill>
                  <a:srgbClr val="0000FF"/>
                </a:solidFill>
              </a:rPr>
              <a:t>)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0072" y="1638150"/>
            <a:ext cx="2862263" cy="150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>
                <a:solidFill>
                  <a:srgbClr val="000099"/>
                </a:solidFill>
                <a:latin typeface="+mn-ea"/>
              </a:rPr>
              <a:t>pyQt Exam : </a:t>
            </a: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background image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2965" y="1459366"/>
            <a:ext cx="3492272" cy="1850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12321" y="979714"/>
            <a:ext cx="243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dirty="0" smtClean="0"/>
              <a:t>  </a:t>
            </a:r>
            <a:r>
              <a:rPr lang="en-US" altLang="ko-KR" dirty="0" err="1" smtClean="0"/>
              <a:t>MainWindow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 후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371850" y="2457450"/>
            <a:ext cx="261257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846364" y="2846615"/>
            <a:ext cx="261257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rot="10800000" flipV="1">
            <a:off x="1110343" y="2604407"/>
            <a:ext cx="2237014" cy="334738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4015" y="3600449"/>
            <a:ext cx="1095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>
                <a:solidFill>
                  <a:srgbClr val="0000FF"/>
                </a:solidFill>
              </a:rPr>
              <a:t>파일 이름 설정</a:t>
            </a:r>
            <a:endParaRPr lang="ko-KR" altLang="en-US" sz="1100" b="1" dirty="0">
              <a:solidFill>
                <a:srgbClr val="0000FF"/>
              </a:solidFill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590" y="4122964"/>
            <a:ext cx="2952812" cy="2092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직선 화살표 연결선 19"/>
          <p:cNvCxnSpPr/>
          <p:nvPr/>
        </p:nvCxnSpPr>
        <p:spPr>
          <a:xfrm rot="16200000" flipH="1">
            <a:off x="478971" y="3614057"/>
            <a:ext cx="1194708" cy="19866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/>
          <p:cNvSpPr/>
          <p:nvPr/>
        </p:nvSpPr>
        <p:spPr>
          <a:xfrm>
            <a:off x="1619256" y="5766708"/>
            <a:ext cx="261257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37313" y="4053471"/>
            <a:ext cx="2978333" cy="2077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직선 화살표 연결선 23"/>
          <p:cNvCxnSpPr>
            <a:stCxn id="22" idx="3"/>
          </p:cNvCxnSpPr>
          <p:nvPr/>
        </p:nvCxnSpPr>
        <p:spPr>
          <a:xfrm>
            <a:off x="1880513" y="5901419"/>
            <a:ext cx="2797623" cy="5034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5715006" y="5731329"/>
            <a:ext cx="261257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80215" y="1829489"/>
            <a:ext cx="2498272" cy="1755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0" name="직선 화살표 연결선 29"/>
          <p:cNvCxnSpPr/>
          <p:nvPr/>
        </p:nvCxnSpPr>
        <p:spPr>
          <a:xfrm rot="5400000" flipH="1" flipV="1">
            <a:off x="5083629" y="4425043"/>
            <a:ext cx="2109107" cy="43815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24600" y="3712028"/>
            <a:ext cx="780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>
                <a:solidFill>
                  <a:srgbClr val="0000FF"/>
                </a:solidFill>
              </a:rPr>
              <a:t>파일 추가</a:t>
            </a:r>
            <a:endParaRPr lang="ko-KR" altLang="en-US" sz="1100" b="1" dirty="0">
              <a:solidFill>
                <a:srgbClr val="0000FF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6504221" y="3385458"/>
            <a:ext cx="484408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15099" y="905557"/>
            <a:ext cx="2080531" cy="101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5" name="직선 화살표 연결선 34"/>
          <p:cNvCxnSpPr/>
          <p:nvPr/>
        </p:nvCxnSpPr>
        <p:spPr>
          <a:xfrm rot="5400000" flipH="1" flipV="1">
            <a:off x="6591303" y="2334988"/>
            <a:ext cx="1401535" cy="655863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>
                <a:solidFill>
                  <a:srgbClr val="000099"/>
                </a:solidFill>
                <a:latin typeface="+mn-ea"/>
              </a:rPr>
              <a:t>pyQt Exam : </a:t>
            </a: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background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image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5965" y="958624"/>
            <a:ext cx="6740979" cy="3293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모서리가 둥근 직사각형 24"/>
          <p:cNvSpPr/>
          <p:nvPr/>
        </p:nvSpPr>
        <p:spPr>
          <a:xfrm>
            <a:off x="7674429" y="2588080"/>
            <a:ext cx="261257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>
            <a:stCxn id="25" idx="1"/>
          </p:cNvCxnSpPr>
          <p:nvPr/>
        </p:nvCxnSpPr>
        <p:spPr>
          <a:xfrm rot="10800000" flipV="1">
            <a:off x="5453743" y="2722791"/>
            <a:ext cx="2220686" cy="6123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30"/>
          <p:cNvSpPr/>
          <p:nvPr/>
        </p:nvSpPr>
        <p:spPr>
          <a:xfrm>
            <a:off x="1605643" y="1621973"/>
            <a:ext cx="819150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315" y="4608265"/>
            <a:ext cx="2722576" cy="1769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4" name="직선 화살표 연결선 33"/>
          <p:cNvCxnSpPr>
            <a:stCxn id="31" idx="2"/>
            <a:endCxn id="5123" idx="0"/>
          </p:cNvCxnSpPr>
          <p:nvPr/>
        </p:nvCxnSpPr>
        <p:spPr>
          <a:xfrm rot="5400000">
            <a:off x="402476" y="2995522"/>
            <a:ext cx="2716871" cy="50861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37"/>
          <p:cNvSpPr/>
          <p:nvPr/>
        </p:nvSpPr>
        <p:spPr>
          <a:xfrm>
            <a:off x="1892435" y="6063642"/>
            <a:ext cx="598714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93466" y="4637910"/>
            <a:ext cx="3394828" cy="160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모서리가 둥근 직사각형 38"/>
          <p:cNvSpPr/>
          <p:nvPr/>
        </p:nvSpPr>
        <p:spPr>
          <a:xfrm>
            <a:off x="4547685" y="5922425"/>
            <a:ext cx="683079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/>
          <p:cNvCxnSpPr>
            <a:stCxn id="5123" idx="3"/>
            <a:endCxn id="5124" idx="1"/>
          </p:cNvCxnSpPr>
          <p:nvPr/>
        </p:nvCxnSpPr>
        <p:spPr>
          <a:xfrm flipV="1">
            <a:off x="2867891" y="5440391"/>
            <a:ext cx="225575" cy="52533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61406" y="4644883"/>
            <a:ext cx="1936848" cy="1559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7" name="직선 화살표 연결선 46"/>
          <p:cNvCxnSpPr>
            <a:endCxn id="5125" idx="1"/>
          </p:cNvCxnSpPr>
          <p:nvPr/>
        </p:nvCxnSpPr>
        <p:spPr>
          <a:xfrm flipV="1">
            <a:off x="6511636" y="5424573"/>
            <a:ext cx="549770" cy="12933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>
                <a:solidFill>
                  <a:srgbClr val="000099"/>
                </a:solidFill>
                <a:latin typeface="+mn-ea"/>
              </a:rPr>
              <a:t>pyQt Exam : The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Style Sheet Syntax : button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" y="1209675"/>
            <a:ext cx="808672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모서리가 둥근 직사각형 18"/>
          <p:cNvSpPr/>
          <p:nvPr/>
        </p:nvSpPr>
        <p:spPr>
          <a:xfrm>
            <a:off x="5807209" y="4034817"/>
            <a:ext cx="2831965" cy="26942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273559" y="1615467"/>
            <a:ext cx="1850891" cy="68005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/>
          <p:nvPr/>
        </p:nvCxnSpPr>
        <p:spPr>
          <a:xfrm rot="16200000" flipH="1">
            <a:off x="4833937" y="2547937"/>
            <a:ext cx="1695450" cy="124777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990725"/>
            <a:ext cx="9144000" cy="2009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b="1" dirty="0" err="1" smtClean="0">
                <a:solidFill>
                  <a:srgbClr val="0000FF"/>
                </a:solidFill>
              </a:rPr>
              <a:t>Rpi.GPIO</a:t>
            </a:r>
            <a:endParaRPr lang="ko-KR" altLang="en-US" sz="6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Python :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설치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420752" y="1118260"/>
            <a:ext cx="70727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 err="1" smtClean="0">
                <a:latin typeface="+mn-ea"/>
              </a:rPr>
              <a:t>gpiozero</a:t>
            </a:r>
            <a:r>
              <a:rPr lang="en-US" altLang="ko-KR" sz="2400" b="1" dirty="0" smtClean="0">
                <a:latin typeface="+mn-ea"/>
              </a:rPr>
              <a:t> </a:t>
            </a:r>
            <a:r>
              <a:rPr lang="ko-KR" altLang="en-US" sz="2400" b="1" dirty="0" smtClean="0">
                <a:latin typeface="+mn-ea"/>
              </a:rPr>
              <a:t>라이브러리</a:t>
            </a:r>
            <a:endParaRPr lang="en-US" altLang="ko-KR" sz="2400" b="1" dirty="0" smtClean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 err="1" smtClean="0">
                <a:latin typeface="+mn-ea"/>
              </a:rPr>
              <a:t>라즈베리파이</a:t>
            </a:r>
            <a:r>
              <a:rPr lang="ko-KR" altLang="en-US" sz="2400" b="1" dirty="0" smtClean="0">
                <a:latin typeface="+mn-ea"/>
              </a:rPr>
              <a:t> </a:t>
            </a:r>
            <a:r>
              <a:rPr lang="en-US" altLang="ko-KR" sz="2400" b="1" dirty="0" smtClean="0">
                <a:latin typeface="+mn-ea"/>
              </a:rPr>
              <a:t>GPIO </a:t>
            </a:r>
            <a:r>
              <a:rPr lang="ko-KR" altLang="en-US" sz="2400" b="1" dirty="0" smtClean="0">
                <a:latin typeface="+mn-ea"/>
              </a:rPr>
              <a:t>라이브러리 사용</a:t>
            </a:r>
            <a:r>
              <a:rPr lang="en-US" altLang="ko-KR" sz="2400" b="1" dirty="0" smtClean="0">
                <a:latin typeface="+mn-ea"/>
              </a:rPr>
              <a:t>(</a:t>
            </a:r>
            <a:r>
              <a:rPr lang="en-US" altLang="ko-KR" sz="2400" b="1" dirty="0" err="1" smtClean="0">
                <a:latin typeface="+mn-ea"/>
              </a:rPr>
              <a:t>RPi.GPIO</a:t>
            </a:r>
            <a:r>
              <a:rPr lang="en-US" altLang="ko-KR" sz="2400" b="1" dirty="0" smtClean="0">
                <a:latin typeface="+mn-ea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 smtClean="0">
                <a:latin typeface="+mn-ea"/>
              </a:rPr>
              <a:t>Install</a:t>
            </a:r>
          </a:p>
          <a:p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smtClean="0">
                <a:latin typeface="+mn-ea"/>
              </a:rPr>
              <a:t>     sudo apt-get update</a:t>
            </a:r>
          </a:p>
          <a:p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smtClean="0">
                <a:latin typeface="+mn-ea"/>
              </a:rPr>
              <a:t>     sudo apt-get install </a:t>
            </a:r>
            <a:r>
              <a:rPr lang="en-US" altLang="ko-KR" sz="2400" b="1" dirty="0" err="1" smtClean="0">
                <a:latin typeface="+mn-ea"/>
              </a:rPr>
              <a:t>rpi.gpio</a:t>
            </a:r>
            <a:endParaRPr lang="ko-KR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BCM Pin Map</a:t>
            </a:r>
            <a:endParaRPr lang="ko-KR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5122" name="Picture 2" descr="https://importgeek.files.wordpress.com/2017/09/raspib-gpio_lightbox.png?w=1000&amp;h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9996" y="1041985"/>
            <a:ext cx="5648325" cy="55076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모듈의 기본 </a:t>
            </a:r>
            <a:r>
              <a:rPr lang="ko-KR" altLang="en-US" sz="2800" b="1" dirty="0" err="1" smtClean="0">
                <a:solidFill>
                  <a:srgbClr val="000099"/>
                </a:solidFill>
                <a:latin typeface="+mn-ea"/>
              </a:rPr>
              <a:t>메서드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pic>
        <p:nvPicPr>
          <p:cNvPr id="8" name="그림 7" descr="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6999" y="1266592"/>
            <a:ext cx="8730002" cy="407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 :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입력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/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출력 회로</a:t>
            </a:r>
          </a:p>
        </p:txBody>
      </p:sp>
      <p:pic>
        <p:nvPicPr>
          <p:cNvPr id="82946" name="Picture 2" descr="switch gpio에 대한 이미지 검색결과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9391" y="1060598"/>
            <a:ext cx="6976804" cy="43605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9416" y="1075784"/>
            <a:ext cx="6397681" cy="5383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ko-KR" b="1" dirty="0" smtClean="0">
                <a:latin typeface="+mn-ea"/>
              </a:rPr>
              <a:t>import </a:t>
            </a:r>
            <a:r>
              <a:rPr lang="en-US" altLang="ko-KR" b="1" dirty="0" err="1" smtClean="0">
                <a:latin typeface="+mn-ea"/>
              </a:rPr>
              <a:t>RPi.GPIO</a:t>
            </a:r>
            <a:r>
              <a:rPr lang="en-US" altLang="ko-KR" b="1" dirty="0" smtClean="0">
                <a:latin typeface="+mn-ea"/>
              </a:rPr>
              <a:t> as GPIO</a:t>
            </a:r>
          </a:p>
          <a:p>
            <a:pPr>
              <a:lnSpc>
                <a:spcPts val="2300"/>
              </a:lnSpc>
            </a:pPr>
            <a:r>
              <a:rPr lang="en-US" altLang="ko-KR" b="1" dirty="0" smtClean="0">
                <a:latin typeface="+mn-ea"/>
              </a:rPr>
              <a:t>from time import sleep</a:t>
            </a:r>
          </a:p>
          <a:p>
            <a:pPr>
              <a:lnSpc>
                <a:spcPts val="2300"/>
              </a:lnSpc>
            </a:pPr>
            <a:endParaRPr lang="en-US" altLang="ko-KR" b="1" dirty="0">
              <a:latin typeface="+mn-ea"/>
            </a:endParaRPr>
          </a:p>
          <a:p>
            <a:pPr>
              <a:lnSpc>
                <a:spcPts val="2300"/>
              </a:lnSpc>
            </a:pPr>
            <a:r>
              <a:rPr lang="en-US" altLang="ko-KR" b="1" dirty="0" smtClean="0">
                <a:latin typeface="+mn-ea"/>
              </a:rPr>
              <a:t>PIN = 26</a:t>
            </a:r>
          </a:p>
          <a:p>
            <a:pPr>
              <a:lnSpc>
                <a:spcPts val="2300"/>
              </a:lnSpc>
            </a:pPr>
            <a:r>
              <a:rPr lang="en-US" altLang="ko-KR" b="1" dirty="0" err="1" smtClean="0">
                <a:latin typeface="+mn-ea"/>
              </a:rPr>
              <a:t>GPIO.setmode</a:t>
            </a:r>
            <a:r>
              <a:rPr lang="en-US" altLang="ko-KR" b="1" dirty="0" smtClean="0">
                <a:latin typeface="+mn-ea"/>
              </a:rPr>
              <a:t>(GPIO.BCM)</a:t>
            </a:r>
          </a:p>
          <a:p>
            <a:pPr>
              <a:lnSpc>
                <a:spcPts val="2300"/>
              </a:lnSpc>
            </a:pPr>
            <a:r>
              <a:rPr lang="en-US" altLang="ko-KR" b="1" dirty="0" err="1" smtClean="0">
                <a:latin typeface="+mn-ea"/>
              </a:rPr>
              <a:t>GPIO.setup</a:t>
            </a:r>
            <a:r>
              <a:rPr lang="en-US" altLang="ko-KR" b="1" dirty="0" smtClean="0">
                <a:latin typeface="+mn-ea"/>
              </a:rPr>
              <a:t>(PIN, GPIO.OUT, initial=GPIO.LOW)</a:t>
            </a:r>
            <a:endParaRPr lang="en-US" altLang="ko-KR" b="1" dirty="0">
              <a:latin typeface="+mn-ea"/>
            </a:endParaRPr>
          </a:p>
          <a:p>
            <a:pPr>
              <a:lnSpc>
                <a:spcPts val="2300"/>
              </a:lnSpc>
            </a:pPr>
            <a:r>
              <a:rPr lang="en-US" altLang="ko-KR" b="1" dirty="0" smtClean="0">
                <a:latin typeface="+mn-ea"/>
              </a:rPr>
              <a:t>try:</a:t>
            </a:r>
          </a:p>
          <a:p>
            <a:pPr>
              <a:lnSpc>
                <a:spcPts val="2300"/>
              </a:lnSpc>
            </a:pP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  while True:</a:t>
            </a:r>
          </a:p>
          <a:p>
            <a:pPr>
              <a:lnSpc>
                <a:spcPts val="2300"/>
              </a:lnSpc>
            </a:pP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      print(“ LED ON \n”)</a:t>
            </a:r>
          </a:p>
          <a:p>
            <a:pPr>
              <a:lnSpc>
                <a:spcPts val="2300"/>
              </a:lnSpc>
            </a:pP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      </a:t>
            </a:r>
            <a:r>
              <a:rPr lang="en-US" altLang="ko-KR" b="1" dirty="0" err="1" smtClean="0">
                <a:latin typeface="+mn-ea"/>
              </a:rPr>
              <a:t>GPIO.output</a:t>
            </a:r>
            <a:r>
              <a:rPr lang="en-US" altLang="ko-KR" b="1" dirty="0" smtClean="0">
                <a:latin typeface="+mn-ea"/>
              </a:rPr>
              <a:t>(PIN, 1)</a:t>
            </a:r>
          </a:p>
          <a:p>
            <a:pPr>
              <a:lnSpc>
                <a:spcPts val="2300"/>
              </a:lnSpc>
            </a:pPr>
            <a:r>
              <a:rPr lang="en-US" altLang="ko-KR" b="1" dirty="0" smtClean="0">
                <a:latin typeface="+mn-ea"/>
              </a:rPr>
              <a:t>       sleep(0.5)</a:t>
            </a:r>
          </a:p>
          <a:p>
            <a:pPr>
              <a:lnSpc>
                <a:spcPts val="2300"/>
              </a:lnSpc>
            </a:pPr>
            <a:r>
              <a:rPr lang="en-US" altLang="ko-KR" b="1" dirty="0" smtClean="0">
                <a:latin typeface="+mn-ea"/>
              </a:rPr>
              <a:t>       print</a:t>
            </a:r>
            <a:r>
              <a:rPr lang="en-US" altLang="ko-KR" b="1" dirty="0">
                <a:latin typeface="+mn-ea"/>
              </a:rPr>
              <a:t>(“ LED </a:t>
            </a:r>
            <a:r>
              <a:rPr lang="en-US" altLang="ko-KR" b="1" dirty="0" smtClean="0">
                <a:latin typeface="+mn-ea"/>
              </a:rPr>
              <a:t>OFF </a:t>
            </a:r>
            <a:r>
              <a:rPr lang="en-US" altLang="ko-KR" b="1" dirty="0">
                <a:latin typeface="+mn-ea"/>
              </a:rPr>
              <a:t>\n”)</a:t>
            </a:r>
          </a:p>
          <a:p>
            <a:pPr>
              <a:lnSpc>
                <a:spcPts val="2300"/>
              </a:lnSpc>
            </a:pPr>
            <a:r>
              <a:rPr lang="en-US" altLang="ko-KR" b="1" dirty="0">
                <a:latin typeface="+mn-ea"/>
              </a:rPr>
              <a:t>       </a:t>
            </a:r>
            <a:r>
              <a:rPr lang="en-US" altLang="ko-KR" b="1" dirty="0" err="1">
                <a:latin typeface="+mn-ea"/>
              </a:rPr>
              <a:t>GPIO.output</a:t>
            </a:r>
            <a:r>
              <a:rPr lang="en-US" altLang="ko-KR" b="1" dirty="0">
                <a:latin typeface="+mn-ea"/>
              </a:rPr>
              <a:t>(PIN, </a:t>
            </a:r>
            <a:r>
              <a:rPr lang="en-US" altLang="ko-KR" b="1" dirty="0" smtClean="0">
                <a:latin typeface="+mn-ea"/>
              </a:rPr>
              <a:t>0)</a:t>
            </a:r>
            <a:endParaRPr lang="en-US" altLang="ko-KR" b="1" dirty="0">
              <a:latin typeface="+mn-ea"/>
            </a:endParaRPr>
          </a:p>
          <a:p>
            <a:pPr>
              <a:lnSpc>
                <a:spcPts val="2300"/>
              </a:lnSpc>
            </a:pPr>
            <a:r>
              <a:rPr lang="en-US" altLang="ko-KR" b="1" dirty="0">
                <a:latin typeface="+mn-ea"/>
              </a:rPr>
              <a:t>       sleep(0.5</a:t>
            </a:r>
            <a:r>
              <a:rPr lang="en-US" altLang="ko-KR" b="1" dirty="0" smtClean="0">
                <a:latin typeface="+mn-ea"/>
              </a:rPr>
              <a:t>)</a:t>
            </a:r>
          </a:p>
          <a:p>
            <a:pPr>
              <a:lnSpc>
                <a:spcPts val="2300"/>
              </a:lnSpc>
            </a:pPr>
            <a:endParaRPr lang="en-US" altLang="ko-KR" b="1" dirty="0" smtClean="0">
              <a:latin typeface="+mn-ea"/>
            </a:endParaRPr>
          </a:p>
          <a:p>
            <a:pPr>
              <a:lnSpc>
                <a:spcPts val="2300"/>
              </a:lnSpc>
            </a:pPr>
            <a:r>
              <a:rPr lang="en-US" altLang="ko-KR" b="1" dirty="0" smtClean="0">
                <a:latin typeface="+mn-ea"/>
              </a:rPr>
              <a:t>except </a:t>
            </a:r>
            <a:r>
              <a:rPr lang="en-US" altLang="ko-KR" b="1" dirty="0" err="1" smtClean="0">
                <a:latin typeface="+mn-ea"/>
              </a:rPr>
              <a:t>KeyboardInterrupt</a:t>
            </a:r>
            <a:r>
              <a:rPr lang="en-US" altLang="ko-KR" b="1" dirty="0" smtClean="0">
                <a:latin typeface="+mn-ea"/>
              </a:rPr>
              <a:t>:</a:t>
            </a:r>
          </a:p>
          <a:p>
            <a:pPr>
              <a:lnSpc>
                <a:spcPts val="2300"/>
              </a:lnSpc>
            </a:pP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  </a:t>
            </a:r>
            <a:r>
              <a:rPr lang="en-US" altLang="ko-KR" b="1" dirty="0" err="1" smtClean="0">
                <a:latin typeface="+mn-ea"/>
              </a:rPr>
              <a:t>GPIO.cleanup</a:t>
            </a:r>
            <a:r>
              <a:rPr lang="en-US" altLang="ko-KR" b="1" dirty="0" smtClean="0">
                <a:latin typeface="+mn-ea"/>
              </a:rPr>
              <a:t>()</a:t>
            </a:r>
            <a:endParaRPr lang="ko-KR" altLang="en-US" b="1" dirty="0">
              <a:latin typeface="+mn-ea"/>
            </a:endParaRPr>
          </a:p>
          <a:p>
            <a:endParaRPr lang="ko-KR" altLang="en-US" b="1" dirty="0"/>
          </a:p>
        </p:txBody>
      </p:sp>
      <p:sp>
        <p:nvSpPr>
          <p:cNvPr id="8" name="TextBox 2"/>
          <p:cNvSpPr txBox="1"/>
          <p:nvPr/>
        </p:nvSpPr>
        <p:spPr>
          <a:xfrm>
            <a:off x="4896256" y="64079"/>
            <a:ext cx="36359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led-1.py</a:t>
            </a:r>
          </a:p>
          <a:p>
            <a:r>
              <a:rPr lang="en-US" altLang="ko-KR" sz="2400" b="1" dirty="0" smtClean="0">
                <a:solidFill>
                  <a:srgbClr val="000099"/>
                </a:solidFill>
              </a:rPr>
              <a:t># 0.5</a:t>
            </a:r>
            <a:r>
              <a:rPr lang="ko-KR" altLang="en-US" sz="2400" b="1" dirty="0" smtClean="0">
                <a:solidFill>
                  <a:srgbClr val="000099"/>
                </a:solidFill>
              </a:rPr>
              <a:t>초 간격으로 </a:t>
            </a:r>
            <a:r>
              <a:rPr lang="en-US" altLang="ko-KR" sz="2400" b="1" dirty="0" smtClean="0">
                <a:solidFill>
                  <a:srgbClr val="000099"/>
                </a:solidFill>
              </a:rPr>
              <a:t>LED </a:t>
            </a:r>
            <a:r>
              <a:rPr lang="ko-KR" altLang="en-US" sz="2400" b="1" dirty="0" smtClean="0">
                <a:solidFill>
                  <a:srgbClr val="000099"/>
                </a:solidFill>
              </a:rPr>
              <a:t>점멸</a:t>
            </a:r>
            <a:endParaRPr lang="ko-KR" altLang="en-US" sz="24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4874990" y="255473"/>
            <a:ext cx="1444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led-2.py</a:t>
            </a:r>
            <a:endParaRPr lang="ko-KR" altLang="en-US" sz="2400" b="1" dirty="0">
              <a:solidFill>
                <a:srgbClr val="00009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92624" y="1057099"/>
            <a:ext cx="7122306" cy="46166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latin typeface="+mn-ea"/>
              </a:rPr>
              <a:t>import </a:t>
            </a:r>
            <a:r>
              <a:rPr lang="en-US" sz="1400" b="1" dirty="0" err="1" smtClean="0">
                <a:latin typeface="+mn-ea"/>
              </a:rPr>
              <a:t>RPi.GPIO</a:t>
            </a:r>
            <a:r>
              <a:rPr lang="en-US" sz="1400" b="1" dirty="0" smtClean="0">
                <a:latin typeface="+mn-ea"/>
              </a:rPr>
              <a:t> as GPIO</a:t>
            </a:r>
          </a:p>
          <a:p>
            <a:r>
              <a:rPr lang="en-US" sz="1400" b="1" dirty="0" smtClean="0">
                <a:latin typeface="+mn-ea"/>
              </a:rPr>
              <a:t>from </a:t>
            </a:r>
            <a:r>
              <a:rPr lang="en-US" sz="1400" b="1" dirty="0" err="1" smtClean="0">
                <a:latin typeface="+mn-ea"/>
              </a:rPr>
              <a:t>tkinter</a:t>
            </a:r>
            <a:r>
              <a:rPr lang="en-US" sz="1400" b="1" dirty="0" smtClean="0">
                <a:latin typeface="+mn-ea"/>
              </a:rPr>
              <a:t> import *</a:t>
            </a:r>
          </a:p>
          <a:p>
            <a:r>
              <a:rPr lang="en-US" sz="1400" b="1" dirty="0" smtClean="0">
                <a:latin typeface="+mn-ea"/>
              </a:rPr>
              <a:t>from time import sleep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PIN = 26</a:t>
            </a:r>
          </a:p>
          <a:p>
            <a:r>
              <a:rPr lang="en-US" sz="1400" b="1" dirty="0" err="1" smtClean="0">
                <a:latin typeface="+mn-ea"/>
              </a:rPr>
              <a:t>GPIO.setmode</a:t>
            </a:r>
            <a:r>
              <a:rPr lang="en-US" sz="1400" b="1" dirty="0" smtClean="0">
                <a:latin typeface="+mn-ea"/>
              </a:rPr>
              <a:t>(GPIO.BCM)</a:t>
            </a:r>
          </a:p>
          <a:p>
            <a:r>
              <a:rPr lang="en-US" sz="1400" b="1" dirty="0" err="1" smtClean="0">
                <a:latin typeface="+mn-ea"/>
              </a:rPr>
              <a:t>GPIO.setup</a:t>
            </a:r>
            <a:r>
              <a:rPr lang="en-US" sz="1400" b="1" dirty="0" smtClean="0">
                <a:latin typeface="+mn-ea"/>
              </a:rPr>
              <a:t>(PIN, GPIO.OUT, initial=GPIO.LOW)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def </a:t>
            </a:r>
            <a:r>
              <a:rPr lang="en-US" sz="1400" b="1" dirty="0" err="1" smtClean="0">
                <a:latin typeface="+mn-ea"/>
              </a:rPr>
              <a:t>led_cnt</a:t>
            </a:r>
            <a:r>
              <a:rPr lang="en-US" sz="1400" b="1" dirty="0" smtClean="0">
                <a:latin typeface="+mn-ea"/>
              </a:rPr>
              <a:t>():</a:t>
            </a:r>
          </a:p>
          <a:p>
            <a:r>
              <a:rPr lang="en-US" sz="1400" b="1" dirty="0" smtClean="0">
                <a:latin typeface="+mn-ea"/>
              </a:rPr>
              <a:t>     </a:t>
            </a:r>
            <a:r>
              <a:rPr lang="en-US" sz="1400" b="1" dirty="0" err="1" smtClean="0">
                <a:latin typeface="+mn-ea"/>
              </a:rPr>
              <a:t>GPIO.output</a:t>
            </a:r>
            <a:r>
              <a:rPr lang="en-US" sz="1400" b="1" dirty="0" smtClean="0">
                <a:latin typeface="+mn-ea"/>
              </a:rPr>
              <a:t>(PIN, not </a:t>
            </a:r>
            <a:r>
              <a:rPr lang="en-US" sz="1400" b="1" dirty="0" err="1" smtClean="0">
                <a:latin typeface="+mn-ea"/>
              </a:rPr>
              <a:t>GPIO.input</a:t>
            </a:r>
            <a:r>
              <a:rPr lang="en-US" sz="1400" b="1" dirty="0" smtClean="0">
                <a:latin typeface="+mn-ea"/>
              </a:rPr>
              <a:t>(PIN))    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출력 상태 반전</a:t>
            </a:r>
            <a:endParaRPr lang="en-US" sz="1400" b="1" dirty="0" smtClean="0">
              <a:solidFill>
                <a:srgbClr val="0000FF"/>
              </a:solidFill>
              <a:latin typeface="+mn-ea"/>
            </a:endParaRP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root=</a:t>
            </a:r>
            <a:r>
              <a:rPr lang="en-US" sz="1400" b="1" dirty="0" err="1" smtClean="0">
                <a:latin typeface="+mn-ea"/>
              </a:rPr>
              <a:t>Tk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err="1" smtClean="0">
                <a:latin typeface="+mn-ea"/>
              </a:rPr>
              <a:t>root.geometry</a:t>
            </a:r>
            <a:r>
              <a:rPr lang="en-US" sz="1400" b="1" dirty="0" smtClean="0">
                <a:latin typeface="+mn-ea"/>
              </a:rPr>
              <a:t>('100x100+50+50')       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# window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크기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100x100, 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위치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x=50,y=50</a:t>
            </a:r>
            <a:endParaRPr lang="en-US" sz="1400" b="1" dirty="0" smtClean="0">
              <a:solidFill>
                <a:srgbClr val="0000FF"/>
              </a:solidFill>
              <a:latin typeface="+mn-ea"/>
            </a:endParaRP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button=Button(root, text='LED', command=</a:t>
            </a:r>
            <a:r>
              <a:rPr lang="en-US" sz="1400" b="1" dirty="0" err="1" smtClean="0">
                <a:latin typeface="+mn-ea"/>
              </a:rPr>
              <a:t>led_cnt</a:t>
            </a:r>
            <a:r>
              <a:rPr lang="en-US" sz="1400" b="1" dirty="0" smtClean="0">
                <a:latin typeface="+mn-ea"/>
              </a:rPr>
              <a:t>)</a:t>
            </a:r>
          </a:p>
          <a:p>
            <a:r>
              <a:rPr lang="en-US" sz="1400" b="1" dirty="0" err="1" smtClean="0">
                <a:latin typeface="+mn-ea"/>
              </a:rPr>
              <a:t>button.pack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pady</a:t>
            </a:r>
            <a:r>
              <a:rPr lang="en-US" sz="1400" b="1" dirty="0" smtClean="0">
                <a:latin typeface="+mn-ea"/>
              </a:rPr>
              <a:t>=10)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err="1" smtClean="0">
                <a:latin typeface="+mn-ea"/>
              </a:rPr>
              <a:t>root.mainloop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err="1" smtClean="0">
                <a:latin typeface="+mn-ea"/>
              </a:rPr>
              <a:t>GPIO.cleanup</a:t>
            </a:r>
            <a:r>
              <a:rPr lang="en-US" sz="1400" b="1" dirty="0" smtClean="0">
                <a:latin typeface="+mn-ea"/>
              </a:rPr>
              <a:t>()</a:t>
            </a:r>
            <a:br>
              <a:rPr lang="en-US" sz="1400" b="1" dirty="0" smtClean="0">
                <a:latin typeface="+mn-ea"/>
              </a:rPr>
            </a:br>
            <a:r>
              <a:rPr lang="en-US" sz="1400" b="1" dirty="0" smtClean="0">
                <a:latin typeface="+mn-ea"/>
              </a:rPr>
              <a:t/>
            </a:r>
            <a:br>
              <a:rPr lang="en-US" sz="1400" b="1" dirty="0" smtClean="0">
                <a:latin typeface="+mn-ea"/>
              </a:rPr>
            </a:br>
            <a:endParaRPr lang="ko-KR" altLang="en-US" sz="1400" b="1" dirty="0">
              <a:latin typeface="+mn-ea"/>
            </a:endParaRPr>
          </a:p>
        </p:txBody>
      </p:sp>
      <p:pic>
        <p:nvPicPr>
          <p:cNvPr id="10" name="그림 9" descr="gpio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90205" y="1090723"/>
            <a:ext cx="1228725" cy="1295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8391" y="2541175"/>
            <a:ext cx="2113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0000FF"/>
                </a:solidFill>
              </a:rPr>
              <a:t># LED </a:t>
            </a:r>
            <a:r>
              <a:rPr lang="ko-KR" altLang="en-US" sz="1200" b="1" dirty="0" smtClean="0">
                <a:solidFill>
                  <a:srgbClr val="0000FF"/>
                </a:solidFill>
              </a:rPr>
              <a:t>버튼을 한번 누르면 </a:t>
            </a:r>
            <a:r>
              <a:rPr lang="en-US" altLang="ko-KR" sz="1200" b="1" dirty="0" smtClean="0">
                <a:solidFill>
                  <a:srgbClr val="0000FF"/>
                </a:solidFill>
              </a:rPr>
              <a:t>ON</a:t>
            </a:r>
          </a:p>
          <a:p>
            <a:r>
              <a:rPr lang="en-US" altLang="ko-KR" sz="1200" b="1" dirty="0" smtClean="0">
                <a:solidFill>
                  <a:srgbClr val="0000FF"/>
                </a:solidFill>
              </a:rPr>
              <a:t># </a:t>
            </a:r>
            <a:r>
              <a:rPr lang="ko-KR" altLang="en-US" sz="1200" b="1" dirty="0" smtClean="0">
                <a:solidFill>
                  <a:srgbClr val="0000FF"/>
                </a:solidFill>
              </a:rPr>
              <a:t>한번 더 누르면 </a:t>
            </a:r>
            <a:r>
              <a:rPr lang="en-US" altLang="ko-KR" sz="1200" b="1" dirty="0" smtClean="0">
                <a:solidFill>
                  <a:srgbClr val="0000FF"/>
                </a:solidFill>
              </a:rPr>
              <a:t>OFF 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   : PWM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pic>
        <p:nvPicPr>
          <p:cNvPr id="81922" name="Picture 2" descr="http://1.bp.blogspot.com/-ROqF588VyPY/VeJd7x_d3rI/AAAAAAAAAkI/pC5jlzEYxIQ/s1600/atmega168a_pwm_02_lr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1346" y="2562443"/>
            <a:ext cx="7265633" cy="3604436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637964" y="1158943"/>
            <a:ext cx="46902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dirty="0" smtClean="0"/>
              <a:t> PWM(Pulse Width Modulation, </a:t>
            </a:r>
            <a:r>
              <a:rPr lang="ko-KR" altLang="en-US" dirty="0" smtClean="0"/>
              <a:t>펄스 폭 변조</a:t>
            </a:r>
            <a:r>
              <a:rPr lang="en-US" altLang="ko-KR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dirty="0" smtClean="0"/>
              <a:t>주기는 동일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 </a:t>
            </a:r>
            <a:r>
              <a:rPr lang="en-US" altLang="ko-KR" dirty="0" smtClean="0"/>
              <a:t>High/Low </a:t>
            </a:r>
            <a:r>
              <a:rPr lang="ko-KR" altLang="en-US" dirty="0" smtClean="0"/>
              <a:t> 폭을 변경 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en-US" altLang="ko-KR" dirty="0" smtClean="0"/>
              <a:t> High </a:t>
            </a:r>
            <a:r>
              <a:rPr lang="ko-KR" altLang="en-US" dirty="0" smtClean="0"/>
              <a:t>폭이 길이지면 동작 상태가 길어짐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dirty="0" smtClean="0"/>
              <a:t>펄스 폭의 비율을 </a:t>
            </a:r>
            <a:r>
              <a:rPr lang="ko-KR" altLang="en-US" dirty="0" err="1" smtClean="0"/>
              <a:t>듀티</a:t>
            </a:r>
            <a:r>
              <a:rPr lang="ko-KR" altLang="en-US" dirty="0" smtClean="0"/>
              <a:t> 비</a:t>
            </a:r>
            <a:r>
              <a:rPr lang="en-US" altLang="ko-KR" dirty="0" smtClean="0"/>
              <a:t>(duty ratio) </a:t>
            </a:r>
            <a:r>
              <a:rPr lang="ko-KR" altLang="en-US" dirty="0" smtClean="0"/>
              <a:t>라고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 : PWM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객체의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Method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797441" y="1396997"/>
          <a:ext cx="7378995" cy="2356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2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0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2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Method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/>
                        <a:t>인 수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/>
                        <a:t>설  명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2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start(duty)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duty ratio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smtClean="0"/>
                        <a:t>duty ratio</a:t>
                      </a:r>
                      <a:r>
                        <a:rPr lang="ko-KR" altLang="en-US" sz="1400" dirty="0" smtClean="0"/>
                        <a:t>를 소수점 단위로 입력</a:t>
                      </a:r>
                      <a:r>
                        <a:rPr lang="en-US" altLang="ko-KR" sz="1400" dirty="0" smtClean="0"/>
                        <a:t>(0.0~100.0%)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2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/>
                        <a:t>changeFrequence</a:t>
                      </a:r>
                      <a:r>
                        <a:rPr lang="en-US" altLang="ko-KR" sz="1400" dirty="0" smtClean="0"/>
                        <a:t>(freq)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frequency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smtClean="0"/>
                        <a:t>PWM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신호의 주파수 변경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2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/>
                        <a:t>changeDutyCycle</a:t>
                      </a:r>
                      <a:r>
                        <a:rPr lang="en-US" altLang="ko-KR" sz="1400" dirty="0" smtClean="0"/>
                        <a:t>(duty)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duty</a:t>
                      </a:r>
                      <a:r>
                        <a:rPr lang="en-US" altLang="ko-KR" sz="1400" baseline="0" dirty="0" smtClean="0"/>
                        <a:t> ratio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duty ratio</a:t>
                      </a:r>
                      <a:r>
                        <a:rPr lang="ko-KR" altLang="en-US" sz="1400" dirty="0" smtClean="0"/>
                        <a:t>를 소수점 단위로 입력</a:t>
                      </a:r>
                      <a:r>
                        <a:rPr lang="en-US" altLang="ko-KR" sz="1400" dirty="0" smtClean="0"/>
                        <a:t>(0.0~100.0%)</a:t>
                      </a:r>
                      <a:endParaRPr lang="ko-KR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2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stop()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없음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smtClean="0"/>
                        <a:t>PWM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출력 정지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4874990" y="281"/>
            <a:ext cx="35734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led-pwm1.py</a:t>
            </a:r>
          </a:p>
          <a:p>
            <a:r>
              <a:rPr lang="en-US" altLang="ko-KR" b="1" dirty="0" smtClean="0">
                <a:solidFill>
                  <a:srgbClr val="000099"/>
                </a:solidFill>
              </a:rPr>
              <a:t># 0~100</a:t>
            </a:r>
            <a:r>
              <a:rPr lang="ko-KR" altLang="en-US" b="1" dirty="0" smtClean="0">
                <a:solidFill>
                  <a:srgbClr val="000099"/>
                </a:solidFill>
              </a:rPr>
              <a:t>까지  </a:t>
            </a:r>
            <a:r>
              <a:rPr lang="en-US" altLang="ko-KR" b="1" dirty="0" smtClean="0">
                <a:solidFill>
                  <a:srgbClr val="000099"/>
                </a:solidFill>
              </a:rPr>
              <a:t>0.1</a:t>
            </a:r>
            <a:r>
              <a:rPr lang="ko-KR" altLang="en-US" b="1" dirty="0" smtClean="0">
                <a:solidFill>
                  <a:srgbClr val="000099"/>
                </a:solidFill>
              </a:rPr>
              <a:t>초 마다 밝기 변경</a:t>
            </a:r>
            <a:endParaRPr lang="ko-KR" altLang="en-US" b="1" dirty="0">
              <a:solidFill>
                <a:srgbClr val="00009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92624" y="1057099"/>
            <a:ext cx="7122306" cy="418576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latin typeface="+mn-ea"/>
              </a:rPr>
              <a:t>import </a:t>
            </a:r>
            <a:r>
              <a:rPr lang="en-US" sz="1400" b="1" dirty="0" err="1" smtClean="0">
                <a:latin typeface="+mn-ea"/>
              </a:rPr>
              <a:t>RPi.GPIO</a:t>
            </a:r>
            <a:r>
              <a:rPr lang="en-US" sz="1400" b="1" dirty="0" smtClean="0">
                <a:latin typeface="+mn-ea"/>
              </a:rPr>
              <a:t> as GPIO</a:t>
            </a:r>
          </a:p>
          <a:p>
            <a:r>
              <a:rPr lang="en-US" sz="1400" b="1" dirty="0" smtClean="0">
                <a:latin typeface="+mn-ea"/>
              </a:rPr>
              <a:t>from time import sleep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PIN = 26</a:t>
            </a:r>
          </a:p>
          <a:p>
            <a:r>
              <a:rPr lang="en-US" sz="1400" b="1" dirty="0" err="1" smtClean="0">
                <a:latin typeface="+mn-ea"/>
              </a:rPr>
              <a:t>GPIO.setmode</a:t>
            </a:r>
            <a:r>
              <a:rPr lang="en-US" sz="1400" b="1" dirty="0" smtClean="0">
                <a:latin typeface="+mn-ea"/>
              </a:rPr>
              <a:t>(GPIO.BCM)</a:t>
            </a:r>
          </a:p>
          <a:p>
            <a:r>
              <a:rPr lang="en-US" sz="1400" b="1" dirty="0" err="1" smtClean="0">
                <a:latin typeface="+mn-ea"/>
              </a:rPr>
              <a:t>GPIO.setup</a:t>
            </a:r>
            <a:r>
              <a:rPr lang="en-US" sz="1400" b="1" dirty="0" smtClean="0">
                <a:latin typeface="+mn-ea"/>
              </a:rPr>
              <a:t>(PIN, GPIO.OUT, initial=GPIO.LOW)</a:t>
            </a:r>
          </a:p>
          <a:p>
            <a:r>
              <a:rPr lang="en-US" sz="1400" b="1" dirty="0" smtClean="0">
                <a:latin typeface="+mn-ea"/>
              </a:rPr>
              <a:t>p=GPIO.PWM(PIN, 100)          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                   #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주파수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= 100Hz</a:t>
            </a:r>
            <a:endParaRPr lang="en-US" sz="1400" b="1" dirty="0" smtClean="0">
              <a:solidFill>
                <a:srgbClr val="0000FF"/>
              </a:solidFill>
              <a:latin typeface="+mn-ea"/>
            </a:endParaRPr>
          </a:p>
          <a:p>
            <a:r>
              <a:rPr lang="en-US" sz="1400" b="1" dirty="0" err="1" smtClean="0">
                <a:latin typeface="+mn-ea"/>
              </a:rPr>
              <a:t>p.start</a:t>
            </a:r>
            <a:r>
              <a:rPr lang="en-US" sz="1400" b="1" dirty="0" smtClean="0">
                <a:latin typeface="+mn-ea"/>
              </a:rPr>
              <a:t>(0)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try:</a:t>
            </a:r>
          </a:p>
          <a:p>
            <a:r>
              <a:rPr lang="en-US" sz="1400" b="1" dirty="0" smtClean="0">
                <a:latin typeface="+mn-ea"/>
              </a:rPr>
              <a:t>     while True:</a:t>
            </a:r>
          </a:p>
          <a:p>
            <a:r>
              <a:rPr lang="en-US" sz="1400" b="1" dirty="0" smtClean="0">
                <a:latin typeface="+mn-ea"/>
              </a:rPr>
              <a:t>          for </a:t>
            </a:r>
            <a:r>
              <a:rPr lang="en-US" sz="1400" b="1" dirty="0" err="1" smtClean="0">
                <a:latin typeface="+mn-ea"/>
              </a:rPr>
              <a:t>val</a:t>
            </a:r>
            <a:r>
              <a:rPr lang="en-US" sz="1400" b="1" dirty="0" smtClean="0">
                <a:latin typeface="+mn-ea"/>
              </a:rPr>
              <a:t> in range(101):                      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# 0~100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까지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duty ratio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변경</a:t>
            </a:r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	</a:t>
            </a:r>
            <a:r>
              <a:rPr lang="en-US" sz="1400" b="1" dirty="0" err="1" smtClean="0">
                <a:latin typeface="+mn-ea"/>
              </a:rPr>
              <a:t>p.ChangeDutyCycle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val</a:t>
            </a:r>
            <a:r>
              <a:rPr lang="en-US" sz="1400" b="1" dirty="0" smtClean="0">
                <a:latin typeface="+mn-ea"/>
              </a:rPr>
              <a:t>)</a:t>
            </a:r>
          </a:p>
          <a:p>
            <a:r>
              <a:rPr lang="en-US" sz="1400" b="1" dirty="0" smtClean="0">
                <a:latin typeface="+mn-ea"/>
              </a:rPr>
              <a:t>	sleep(0.1)</a:t>
            </a:r>
          </a:p>
          <a:p>
            <a:r>
              <a:rPr lang="en-US" sz="1400" b="1" dirty="0" smtClean="0">
                <a:latin typeface="+mn-ea"/>
              </a:rPr>
              <a:t>          </a:t>
            </a:r>
            <a:r>
              <a:rPr lang="en-US" sz="1400" b="1" dirty="0" err="1" smtClean="0">
                <a:latin typeface="+mn-ea"/>
              </a:rPr>
              <a:t>val</a:t>
            </a:r>
            <a:r>
              <a:rPr lang="en-US" sz="1400" b="1" dirty="0" smtClean="0">
                <a:latin typeface="+mn-ea"/>
              </a:rPr>
              <a:t>=0</a:t>
            </a:r>
          </a:p>
          <a:p>
            <a:r>
              <a:rPr lang="en-US" sz="1400" b="1" dirty="0" smtClean="0">
                <a:latin typeface="+mn-ea"/>
              </a:rPr>
              <a:t>except </a:t>
            </a:r>
            <a:r>
              <a:rPr lang="en-US" sz="1400" b="1" dirty="0" err="1" smtClean="0">
                <a:latin typeface="+mn-ea"/>
              </a:rPr>
              <a:t>KeyboardInterrupt</a:t>
            </a:r>
            <a:r>
              <a:rPr lang="en-US" sz="1400" b="1" dirty="0" smtClean="0">
                <a:latin typeface="+mn-ea"/>
              </a:rPr>
              <a:t>:</a:t>
            </a:r>
          </a:p>
          <a:p>
            <a:r>
              <a:rPr lang="en-US" sz="1400" b="1" dirty="0" smtClean="0">
                <a:latin typeface="+mn-ea"/>
              </a:rPr>
              <a:t>     </a:t>
            </a:r>
            <a:r>
              <a:rPr lang="en-US" sz="1400" b="1" dirty="0" err="1" smtClean="0">
                <a:latin typeface="+mn-ea"/>
              </a:rPr>
              <a:t>GPIO.cleanup</a:t>
            </a:r>
            <a:r>
              <a:rPr lang="en-US" sz="1400" b="1" dirty="0" smtClean="0">
                <a:latin typeface="+mn-ea"/>
              </a:rPr>
              <a:t>()</a:t>
            </a:r>
            <a:br>
              <a:rPr lang="en-US" sz="1400" b="1" dirty="0" smtClean="0">
                <a:latin typeface="+mn-ea"/>
              </a:rPr>
            </a:br>
            <a:r>
              <a:rPr lang="en-US" sz="1400" b="1" dirty="0" smtClean="0">
                <a:latin typeface="+mn-ea"/>
              </a:rPr>
              <a:t/>
            </a:r>
            <a:br>
              <a:rPr lang="en-US" sz="1400" b="1" dirty="0" smtClean="0">
                <a:latin typeface="+mn-ea"/>
              </a:rPr>
            </a:b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4874990" y="281"/>
            <a:ext cx="25362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led-pwm2.py</a:t>
            </a:r>
          </a:p>
          <a:p>
            <a:r>
              <a:rPr lang="en-US" altLang="ko-KR" b="1" dirty="0" smtClean="0">
                <a:solidFill>
                  <a:srgbClr val="000099"/>
                </a:solidFill>
              </a:rPr>
              <a:t># </a:t>
            </a:r>
            <a:r>
              <a:rPr lang="ko-KR" altLang="en-US" b="1" dirty="0" smtClean="0">
                <a:solidFill>
                  <a:srgbClr val="000099"/>
                </a:solidFill>
              </a:rPr>
              <a:t>슬라이더로 밝기 제어</a:t>
            </a:r>
            <a:endParaRPr lang="ko-KR" altLang="en-US" b="1" dirty="0">
              <a:solidFill>
                <a:srgbClr val="00009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2651" y="929503"/>
            <a:ext cx="8708065" cy="59093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latin typeface="+mn-ea"/>
              </a:rPr>
              <a:t>import </a:t>
            </a:r>
            <a:r>
              <a:rPr lang="en-US" sz="1400" b="1" dirty="0" err="1" smtClean="0">
                <a:latin typeface="+mn-ea"/>
              </a:rPr>
              <a:t>RPi.GPIO</a:t>
            </a:r>
            <a:r>
              <a:rPr lang="en-US" sz="1400" b="1" dirty="0" smtClean="0">
                <a:latin typeface="+mn-ea"/>
              </a:rPr>
              <a:t> as GPIO</a:t>
            </a:r>
          </a:p>
          <a:p>
            <a:r>
              <a:rPr lang="en-US" sz="1400" b="1" dirty="0" smtClean="0">
                <a:latin typeface="+mn-ea"/>
              </a:rPr>
              <a:t>from time import sleep</a:t>
            </a:r>
          </a:p>
          <a:p>
            <a:r>
              <a:rPr lang="en-US" sz="1400" b="1" dirty="0" smtClean="0">
                <a:latin typeface="+mn-ea"/>
              </a:rPr>
              <a:t>from </a:t>
            </a:r>
            <a:r>
              <a:rPr lang="en-US" sz="1400" b="1" dirty="0" err="1" smtClean="0">
                <a:latin typeface="+mn-ea"/>
              </a:rPr>
              <a:t>tkinter</a:t>
            </a:r>
            <a:r>
              <a:rPr lang="en-US" sz="1400" b="1" dirty="0" smtClean="0">
                <a:latin typeface="+mn-ea"/>
              </a:rPr>
              <a:t> import *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PIN = 26</a:t>
            </a:r>
          </a:p>
          <a:p>
            <a:r>
              <a:rPr lang="en-US" sz="1400" b="1" dirty="0" err="1" smtClean="0">
                <a:latin typeface="+mn-ea"/>
              </a:rPr>
              <a:t>GPIO.setmode</a:t>
            </a:r>
            <a:r>
              <a:rPr lang="en-US" sz="1400" b="1" dirty="0" smtClean="0">
                <a:latin typeface="+mn-ea"/>
              </a:rPr>
              <a:t>(GPIO.BCM)</a:t>
            </a:r>
          </a:p>
          <a:p>
            <a:r>
              <a:rPr lang="en-US" sz="1400" b="1" dirty="0" err="1" smtClean="0">
                <a:latin typeface="+mn-ea"/>
              </a:rPr>
              <a:t>GPIO.setup</a:t>
            </a:r>
            <a:r>
              <a:rPr lang="en-US" sz="1400" b="1" dirty="0" smtClean="0">
                <a:latin typeface="+mn-ea"/>
              </a:rPr>
              <a:t>(PIN, GPIO.OUT, initial=GPIO.LOW)</a:t>
            </a:r>
          </a:p>
          <a:p>
            <a:r>
              <a:rPr lang="en-US" sz="1400" b="1" dirty="0" smtClean="0">
                <a:latin typeface="+mn-ea"/>
              </a:rPr>
              <a:t>p=GPIO.PWM(PIN, 100)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root=</a:t>
            </a:r>
            <a:r>
              <a:rPr lang="en-US" sz="1400" b="1" dirty="0" err="1" smtClean="0">
                <a:latin typeface="+mn-ea"/>
              </a:rPr>
              <a:t>Tk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err="1" smtClean="0">
                <a:latin typeface="+mn-ea"/>
              </a:rPr>
              <a:t>root.geometry</a:t>
            </a:r>
            <a:r>
              <a:rPr lang="en-US" sz="1400" b="1" dirty="0" smtClean="0">
                <a:latin typeface="+mn-ea"/>
              </a:rPr>
              <a:t>('400x200+50+50')</a:t>
            </a:r>
          </a:p>
          <a:p>
            <a:r>
              <a:rPr lang="en-US" sz="1400" b="1" dirty="0" err="1" smtClean="0">
                <a:latin typeface="+mn-ea"/>
              </a:rPr>
              <a:t>root.config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bg</a:t>
            </a:r>
            <a:r>
              <a:rPr lang="en-US" sz="1400" b="1" dirty="0" smtClean="0">
                <a:latin typeface="+mn-ea"/>
              </a:rPr>
              <a:t>='white')</a:t>
            </a:r>
          </a:p>
          <a:p>
            <a:r>
              <a:rPr lang="en-US" sz="1400" b="1" dirty="0" err="1" smtClean="0">
                <a:latin typeface="+mn-ea"/>
              </a:rPr>
              <a:t>root.title</a:t>
            </a:r>
            <a:r>
              <a:rPr lang="en-US" sz="1400" b="1" dirty="0" smtClean="0">
                <a:latin typeface="+mn-ea"/>
              </a:rPr>
              <a:t>("LED </a:t>
            </a:r>
            <a:r>
              <a:rPr lang="en-US" sz="1400" b="1" dirty="0" err="1" smtClean="0">
                <a:latin typeface="+mn-ea"/>
              </a:rPr>
              <a:t>DImming</a:t>
            </a:r>
            <a:r>
              <a:rPr lang="en-US" sz="1400" b="1" dirty="0" smtClean="0">
                <a:latin typeface="+mn-ea"/>
              </a:rPr>
              <a:t> Control")</a:t>
            </a:r>
          </a:p>
          <a:p>
            <a:r>
              <a:rPr lang="en-US" sz="1400" b="1" dirty="0" err="1" smtClean="0">
                <a:latin typeface="+mn-ea"/>
              </a:rPr>
              <a:t>var_num</a:t>
            </a:r>
            <a:r>
              <a:rPr lang="en-US" sz="1400" b="1" dirty="0" smtClean="0">
                <a:latin typeface="+mn-ea"/>
              </a:rPr>
              <a:t>=</a:t>
            </a:r>
            <a:r>
              <a:rPr lang="en-US" sz="1400" b="1" dirty="0" err="1" smtClean="0">
                <a:latin typeface="+mn-ea"/>
              </a:rPr>
              <a:t>DoubleVar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smtClean="0">
                <a:latin typeface="+mn-ea"/>
              </a:rPr>
              <a:t>var_num.set(0)</a:t>
            </a:r>
          </a:p>
          <a:p>
            <a:r>
              <a:rPr lang="en-US" sz="1400" b="1" dirty="0" err="1" smtClean="0">
                <a:latin typeface="+mn-ea"/>
              </a:rPr>
              <a:t>p.start</a:t>
            </a:r>
            <a:r>
              <a:rPr lang="en-US" sz="1400" b="1" dirty="0" smtClean="0">
                <a:latin typeface="+mn-ea"/>
              </a:rPr>
              <a:t>(0)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def </a:t>
            </a:r>
            <a:r>
              <a:rPr lang="en-US" sz="1400" b="1" dirty="0" err="1" smtClean="0">
                <a:latin typeface="+mn-ea"/>
              </a:rPr>
              <a:t>change_duty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duty_r</a:t>
            </a:r>
            <a:r>
              <a:rPr lang="en-US" sz="1400" b="1" dirty="0" smtClean="0">
                <a:latin typeface="+mn-ea"/>
              </a:rPr>
              <a:t>):</a:t>
            </a:r>
          </a:p>
          <a:p>
            <a:r>
              <a:rPr lang="en-US" sz="1400" b="1" dirty="0" smtClean="0">
                <a:latin typeface="+mn-ea"/>
              </a:rPr>
              <a:t>	</a:t>
            </a:r>
            <a:r>
              <a:rPr lang="en-US" sz="1400" b="1" dirty="0" err="1" smtClean="0">
                <a:latin typeface="+mn-ea"/>
              </a:rPr>
              <a:t>p.ChangeDutyCycle</a:t>
            </a:r>
            <a:r>
              <a:rPr lang="en-US" sz="1400" b="1" dirty="0" smtClean="0">
                <a:latin typeface="+mn-ea"/>
              </a:rPr>
              <a:t>(var_num.get())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Label(root, </a:t>
            </a:r>
            <a:r>
              <a:rPr lang="en-US" sz="1400" b="1" dirty="0" err="1" smtClean="0">
                <a:latin typeface="+mn-ea"/>
              </a:rPr>
              <a:t>fg</a:t>
            </a:r>
            <a:r>
              <a:rPr lang="en-US" sz="1400" b="1" dirty="0" smtClean="0">
                <a:latin typeface="+mn-ea"/>
              </a:rPr>
              <a:t>='blue', </a:t>
            </a:r>
            <a:r>
              <a:rPr lang="en-US" sz="1400" b="1" dirty="0" err="1" smtClean="0">
                <a:latin typeface="+mn-ea"/>
              </a:rPr>
              <a:t>bg</a:t>
            </a:r>
            <a:r>
              <a:rPr lang="en-US" sz="1400" b="1" dirty="0" smtClean="0">
                <a:latin typeface="+mn-ea"/>
              </a:rPr>
              <a:t>='white',  text="LED Dimming Control", font="Times 20 bold").pack(</a:t>
            </a:r>
            <a:r>
              <a:rPr lang="en-US" sz="1400" b="1" dirty="0" err="1" smtClean="0">
                <a:latin typeface="+mn-ea"/>
              </a:rPr>
              <a:t>pady</a:t>
            </a:r>
            <a:r>
              <a:rPr lang="en-US" sz="1400" b="1" dirty="0" smtClean="0">
                <a:latin typeface="+mn-ea"/>
              </a:rPr>
              <a:t>='10')</a:t>
            </a:r>
          </a:p>
          <a:p>
            <a:r>
              <a:rPr lang="en-US" sz="1400" b="1" dirty="0" smtClean="0">
                <a:latin typeface="+mn-ea"/>
              </a:rPr>
              <a:t>s=Scale(root, orient='h', from_ =0, to=100, variable=</a:t>
            </a:r>
            <a:r>
              <a:rPr lang="en-US" sz="1400" b="1" dirty="0" err="1" smtClean="0">
                <a:latin typeface="+mn-ea"/>
              </a:rPr>
              <a:t>var_num</a:t>
            </a:r>
            <a:r>
              <a:rPr lang="en-US" sz="1400" b="1" dirty="0" smtClean="0">
                <a:latin typeface="+mn-ea"/>
              </a:rPr>
              <a:t>, command=</a:t>
            </a:r>
            <a:r>
              <a:rPr lang="en-US" sz="1400" b="1" dirty="0" err="1" smtClean="0">
                <a:latin typeface="+mn-ea"/>
              </a:rPr>
              <a:t>change_duty</a:t>
            </a:r>
            <a:r>
              <a:rPr lang="en-US" sz="1400" b="1" dirty="0" smtClean="0">
                <a:latin typeface="+mn-ea"/>
              </a:rPr>
              <a:t>)</a:t>
            </a:r>
          </a:p>
          <a:p>
            <a:r>
              <a:rPr lang="en-US" sz="1400" b="1" dirty="0" err="1" smtClean="0">
                <a:latin typeface="+mn-ea"/>
              </a:rPr>
              <a:t>s.config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bg</a:t>
            </a:r>
            <a:r>
              <a:rPr lang="en-US" sz="1400" b="1" dirty="0" smtClean="0">
                <a:latin typeface="+mn-ea"/>
              </a:rPr>
              <a:t>='white', </a:t>
            </a:r>
            <a:r>
              <a:rPr lang="en-US" sz="1400" b="1" dirty="0" err="1" smtClean="0">
                <a:latin typeface="+mn-ea"/>
              </a:rPr>
              <a:t>sliderlength</a:t>
            </a:r>
            <a:r>
              <a:rPr lang="en-US" sz="1400" b="1" dirty="0" smtClean="0">
                <a:latin typeface="+mn-ea"/>
              </a:rPr>
              <a:t>='30', length='200', width='20')</a:t>
            </a:r>
          </a:p>
          <a:p>
            <a:r>
              <a:rPr lang="en-US" sz="1400" b="1" dirty="0" err="1" smtClean="0">
                <a:latin typeface="+mn-ea"/>
              </a:rPr>
              <a:t>s.pack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pady</a:t>
            </a:r>
            <a:r>
              <a:rPr lang="en-US" sz="1400" b="1" dirty="0" smtClean="0">
                <a:latin typeface="+mn-ea"/>
              </a:rPr>
              <a:t>='20')</a:t>
            </a:r>
          </a:p>
          <a:p>
            <a:r>
              <a:rPr lang="en-US" sz="1400" b="1" dirty="0" err="1" smtClean="0">
                <a:latin typeface="+mn-ea"/>
              </a:rPr>
              <a:t>root.mainloop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err="1" smtClean="0">
                <a:latin typeface="+mn-ea"/>
              </a:rPr>
              <a:t>p.stop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err="1" smtClean="0">
                <a:latin typeface="+mn-ea"/>
              </a:rPr>
              <a:t>GPIO.cleanup</a:t>
            </a:r>
            <a:r>
              <a:rPr lang="en-US" sz="1400" b="1" dirty="0" smtClean="0">
                <a:latin typeface="+mn-ea"/>
              </a:rPr>
              <a:t>()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10" name="그림 9" descr="pwm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60847" y="1165151"/>
            <a:ext cx="3209990" cy="181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4874990" y="281"/>
            <a:ext cx="27671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sw-1.py</a:t>
            </a:r>
          </a:p>
          <a:p>
            <a:r>
              <a:rPr lang="en-US" altLang="ko-KR" b="1" dirty="0" smtClean="0">
                <a:solidFill>
                  <a:srgbClr val="000099"/>
                </a:solidFill>
              </a:rPr>
              <a:t>#  </a:t>
            </a:r>
            <a:r>
              <a:rPr lang="ko-KR" altLang="en-US" b="1" dirty="0" smtClean="0">
                <a:solidFill>
                  <a:srgbClr val="000099"/>
                </a:solidFill>
              </a:rPr>
              <a:t>스위치 누르면 </a:t>
            </a:r>
            <a:r>
              <a:rPr lang="en-US" altLang="ko-KR" b="1" dirty="0" smtClean="0">
                <a:solidFill>
                  <a:srgbClr val="000099"/>
                </a:solidFill>
              </a:rPr>
              <a:t>LED </a:t>
            </a:r>
            <a:r>
              <a:rPr lang="ko-KR" altLang="en-US" b="1" dirty="0" smtClean="0">
                <a:solidFill>
                  <a:srgbClr val="000099"/>
                </a:solidFill>
              </a:rPr>
              <a:t>점등</a:t>
            </a:r>
            <a:endParaRPr lang="ko-KR" altLang="en-US" b="1" dirty="0">
              <a:solidFill>
                <a:srgbClr val="00009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2651" y="1003934"/>
            <a:ext cx="8708065" cy="418576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latin typeface="+mn-ea"/>
              </a:rPr>
              <a:t>import </a:t>
            </a:r>
            <a:r>
              <a:rPr lang="en-US" sz="1400" b="1" dirty="0" err="1" smtClean="0">
                <a:latin typeface="+mn-ea"/>
              </a:rPr>
              <a:t>RPi.GPIO</a:t>
            </a:r>
            <a:r>
              <a:rPr lang="en-US" sz="1400" b="1" dirty="0" smtClean="0">
                <a:latin typeface="+mn-ea"/>
              </a:rPr>
              <a:t> as GPIO</a:t>
            </a:r>
          </a:p>
          <a:p>
            <a:r>
              <a:rPr lang="en-US" sz="1400" b="1" dirty="0" smtClean="0">
                <a:latin typeface="+mn-ea"/>
              </a:rPr>
              <a:t>from time import sleep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PIN_LED = 26</a:t>
            </a:r>
          </a:p>
          <a:p>
            <a:r>
              <a:rPr lang="en-US" sz="1400" b="1" dirty="0" smtClean="0">
                <a:latin typeface="+mn-ea"/>
              </a:rPr>
              <a:t>PIN_SW = 19</a:t>
            </a:r>
          </a:p>
          <a:p>
            <a:r>
              <a:rPr lang="en-US" sz="1400" b="1" dirty="0" err="1" smtClean="0">
                <a:latin typeface="+mn-ea"/>
              </a:rPr>
              <a:t>GPIO.setmode</a:t>
            </a:r>
            <a:r>
              <a:rPr lang="en-US" sz="1400" b="1" dirty="0" smtClean="0">
                <a:latin typeface="+mn-ea"/>
              </a:rPr>
              <a:t>(GPIO.BCM)</a:t>
            </a:r>
          </a:p>
          <a:p>
            <a:r>
              <a:rPr lang="en-US" sz="1400" b="1" dirty="0" err="1" smtClean="0">
                <a:latin typeface="+mn-ea"/>
              </a:rPr>
              <a:t>GPIO.setup</a:t>
            </a:r>
            <a:r>
              <a:rPr lang="en-US" sz="1400" b="1" dirty="0" smtClean="0">
                <a:latin typeface="+mn-ea"/>
              </a:rPr>
              <a:t>(PIN_LED, GPIO.OUT, initial=GPIO.LOW)</a:t>
            </a:r>
          </a:p>
          <a:p>
            <a:r>
              <a:rPr lang="en-US" sz="1400" b="1" dirty="0" err="1" smtClean="0">
                <a:latin typeface="+mn-ea"/>
              </a:rPr>
              <a:t>GPIO.setup</a:t>
            </a:r>
            <a:r>
              <a:rPr lang="en-US" sz="1400" b="1" dirty="0" smtClean="0">
                <a:latin typeface="+mn-ea"/>
              </a:rPr>
              <a:t>(PIN_SW, GPIO.IN)</a:t>
            </a:r>
          </a:p>
          <a:p>
            <a:r>
              <a:rPr lang="en-US" sz="1400" b="1" dirty="0" smtClean="0">
                <a:latin typeface="+mn-ea"/>
              </a:rPr>
              <a:t>try:</a:t>
            </a:r>
          </a:p>
          <a:p>
            <a:r>
              <a:rPr lang="en-US" sz="1400" b="1" dirty="0" smtClean="0">
                <a:latin typeface="+mn-ea"/>
              </a:rPr>
              <a:t>   while True:</a:t>
            </a:r>
          </a:p>
          <a:p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key_in</a:t>
            </a:r>
            <a:r>
              <a:rPr lang="en-US" sz="1400" b="1" dirty="0" smtClean="0">
                <a:latin typeface="+mn-ea"/>
              </a:rPr>
              <a:t>=</a:t>
            </a:r>
            <a:r>
              <a:rPr lang="en-US" sz="1400" b="1" dirty="0" err="1" smtClean="0">
                <a:latin typeface="+mn-ea"/>
              </a:rPr>
              <a:t>GPIO.input</a:t>
            </a:r>
            <a:r>
              <a:rPr lang="en-US" sz="1400" b="1" dirty="0" smtClean="0">
                <a:latin typeface="+mn-ea"/>
              </a:rPr>
              <a:t>(PIN_SW)                         </a:t>
            </a:r>
            <a:r>
              <a:rPr lang="en-US" sz="14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스위치 입력</a:t>
            </a:r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        if </a:t>
            </a:r>
            <a:r>
              <a:rPr lang="en-US" sz="1400" b="1" dirty="0" err="1" smtClean="0">
                <a:latin typeface="+mn-ea"/>
              </a:rPr>
              <a:t>key_in</a:t>
            </a:r>
            <a:r>
              <a:rPr lang="en-US" sz="1400" b="1" dirty="0" smtClean="0">
                <a:latin typeface="+mn-ea"/>
              </a:rPr>
              <a:t>==0:</a:t>
            </a:r>
          </a:p>
          <a:p>
            <a:r>
              <a:rPr lang="en-US" sz="1400" b="1" dirty="0" smtClean="0">
                <a:latin typeface="+mn-ea"/>
              </a:rPr>
              <a:t>             </a:t>
            </a:r>
            <a:r>
              <a:rPr lang="en-US" sz="1400" b="1" dirty="0" err="1" smtClean="0">
                <a:latin typeface="+mn-ea"/>
              </a:rPr>
              <a:t>GPIO.output</a:t>
            </a:r>
            <a:r>
              <a:rPr lang="en-US" sz="1400" b="1" dirty="0" smtClean="0">
                <a:latin typeface="+mn-ea"/>
              </a:rPr>
              <a:t>(PIN_LED, GPIO.LOW)</a:t>
            </a:r>
          </a:p>
          <a:p>
            <a:r>
              <a:rPr lang="en-US" sz="1400" b="1" dirty="0" smtClean="0">
                <a:latin typeface="+mn-ea"/>
              </a:rPr>
              <a:t>        else:</a:t>
            </a:r>
          </a:p>
          <a:p>
            <a:r>
              <a:rPr lang="en-US" sz="1400" b="1" dirty="0" smtClean="0">
                <a:latin typeface="+mn-ea"/>
              </a:rPr>
              <a:t>             </a:t>
            </a:r>
            <a:r>
              <a:rPr lang="en-US" sz="1400" b="1" dirty="0" err="1" smtClean="0">
                <a:latin typeface="+mn-ea"/>
              </a:rPr>
              <a:t>GPIO.output</a:t>
            </a:r>
            <a:r>
              <a:rPr lang="en-US" sz="1400" b="1" dirty="0" smtClean="0">
                <a:latin typeface="+mn-ea"/>
              </a:rPr>
              <a:t>(PIN_LED, GPIO.HIGH)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except </a:t>
            </a:r>
            <a:r>
              <a:rPr lang="en-US" sz="1400" b="1" dirty="0" err="1" smtClean="0">
                <a:latin typeface="+mn-ea"/>
              </a:rPr>
              <a:t>KeyboardInterrupt</a:t>
            </a:r>
            <a:r>
              <a:rPr lang="en-US" sz="1400" b="1" dirty="0" smtClean="0">
                <a:latin typeface="+mn-ea"/>
              </a:rPr>
              <a:t>:</a:t>
            </a:r>
          </a:p>
          <a:p>
            <a:r>
              <a:rPr lang="en-US" sz="1400" b="1" dirty="0" smtClean="0">
                <a:latin typeface="+mn-ea"/>
              </a:rPr>
              <a:t>     pass</a:t>
            </a:r>
          </a:p>
          <a:p>
            <a:r>
              <a:rPr lang="en-US" sz="1400" b="1" dirty="0" err="1" smtClean="0">
                <a:latin typeface="+mn-ea"/>
              </a:rPr>
              <a:t>GPIO.cleanup</a:t>
            </a:r>
            <a:r>
              <a:rPr lang="en-US" sz="1400" b="1" dirty="0" smtClean="0">
                <a:latin typeface="+mn-ea"/>
              </a:rPr>
              <a:t>()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ko-KR" sz="2800" b="1" dirty="0" err="1" smtClean="0">
                <a:solidFill>
                  <a:srgbClr val="000099"/>
                </a:solidFill>
                <a:latin typeface="+mn-ea"/>
              </a:rPr>
              <a:t>RPi.GPIO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program</a:t>
            </a:r>
            <a:endParaRPr lang="ko-KR" altLang="en-US" sz="2800" b="1" dirty="0" smtClean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4874990" y="281"/>
            <a:ext cx="33409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sw-2.py</a:t>
            </a:r>
          </a:p>
          <a:p>
            <a:r>
              <a:rPr lang="en-US" altLang="ko-KR" b="1" dirty="0" smtClean="0">
                <a:solidFill>
                  <a:srgbClr val="000099"/>
                </a:solidFill>
              </a:rPr>
              <a:t>#  </a:t>
            </a:r>
            <a:r>
              <a:rPr lang="ko-KR" altLang="en-US" b="1" dirty="0" smtClean="0">
                <a:solidFill>
                  <a:srgbClr val="000099"/>
                </a:solidFill>
              </a:rPr>
              <a:t>스위치 누르면 </a:t>
            </a:r>
            <a:r>
              <a:rPr lang="en-US" altLang="ko-KR" b="1" dirty="0" smtClean="0">
                <a:solidFill>
                  <a:srgbClr val="000099"/>
                </a:solidFill>
              </a:rPr>
              <a:t>LED </a:t>
            </a:r>
            <a:r>
              <a:rPr lang="ko-KR" altLang="en-US" b="1" dirty="0" smtClean="0">
                <a:solidFill>
                  <a:srgbClr val="000099"/>
                </a:solidFill>
              </a:rPr>
              <a:t>점등</a:t>
            </a:r>
            <a:r>
              <a:rPr lang="en-US" altLang="ko-KR" b="1" dirty="0" smtClean="0">
                <a:solidFill>
                  <a:srgbClr val="000099"/>
                </a:solidFill>
              </a:rPr>
              <a:t>, </a:t>
            </a:r>
            <a:r>
              <a:rPr lang="ko-KR" altLang="en-US" b="1" dirty="0" smtClean="0">
                <a:solidFill>
                  <a:srgbClr val="000099"/>
                </a:solidFill>
              </a:rPr>
              <a:t>표시</a:t>
            </a:r>
            <a:endParaRPr lang="ko-KR" altLang="en-US" b="1" dirty="0">
              <a:solidFill>
                <a:srgbClr val="00009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2651" y="1003934"/>
            <a:ext cx="8708065" cy="59093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latin typeface="+mn-ea"/>
              </a:rPr>
              <a:t>import </a:t>
            </a:r>
            <a:r>
              <a:rPr lang="en-US" sz="1400" b="1" dirty="0" err="1" smtClean="0">
                <a:latin typeface="+mn-ea"/>
              </a:rPr>
              <a:t>RPi.GPIO</a:t>
            </a:r>
            <a:r>
              <a:rPr lang="en-US" sz="1400" b="1" dirty="0" smtClean="0">
                <a:latin typeface="+mn-ea"/>
              </a:rPr>
              <a:t> as GPIO</a:t>
            </a:r>
          </a:p>
          <a:p>
            <a:r>
              <a:rPr lang="en-US" sz="1400" b="1" dirty="0" smtClean="0">
                <a:latin typeface="+mn-ea"/>
              </a:rPr>
              <a:t>from time import sleep</a:t>
            </a:r>
          </a:p>
          <a:p>
            <a:r>
              <a:rPr lang="en-US" sz="1400" b="1" dirty="0" smtClean="0">
                <a:latin typeface="+mn-ea"/>
              </a:rPr>
              <a:t>from </a:t>
            </a:r>
            <a:r>
              <a:rPr lang="en-US" sz="1400" b="1" dirty="0" err="1" smtClean="0">
                <a:latin typeface="+mn-ea"/>
              </a:rPr>
              <a:t>tkinter</a:t>
            </a:r>
            <a:r>
              <a:rPr lang="en-US" sz="1400" b="1" dirty="0" smtClean="0">
                <a:latin typeface="+mn-ea"/>
              </a:rPr>
              <a:t> import *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PIN_LED = 26</a:t>
            </a:r>
          </a:p>
          <a:p>
            <a:r>
              <a:rPr lang="en-US" sz="1400" b="1" dirty="0" smtClean="0">
                <a:latin typeface="+mn-ea"/>
              </a:rPr>
              <a:t>PIN_SW = 19</a:t>
            </a:r>
          </a:p>
          <a:p>
            <a:r>
              <a:rPr lang="en-US" sz="1400" b="1" dirty="0" err="1" smtClean="0">
                <a:latin typeface="+mn-ea"/>
              </a:rPr>
              <a:t>GPIO.setmode</a:t>
            </a:r>
            <a:r>
              <a:rPr lang="en-US" sz="1400" b="1" dirty="0" smtClean="0">
                <a:latin typeface="+mn-ea"/>
              </a:rPr>
              <a:t>(GPIO.BCM)</a:t>
            </a:r>
          </a:p>
          <a:p>
            <a:r>
              <a:rPr lang="en-US" sz="1400" b="1" dirty="0" err="1" smtClean="0">
                <a:latin typeface="+mn-ea"/>
              </a:rPr>
              <a:t>GPIO.setup</a:t>
            </a:r>
            <a:r>
              <a:rPr lang="en-US" sz="1400" b="1" dirty="0" smtClean="0">
                <a:latin typeface="+mn-ea"/>
              </a:rPr>
              <a:t>(PIN_LED, GPIO.OUT, initial=GPIO.LOW)</a:t>
            </a:r>
          </a:p>
          <a:p>
            <a:r>
              <a:rPr lang="en-US" sz="1400" b="1" dirty="0" err="1" smtClean="0">
                <a:latin typeface="+mn-ea"/>
              </a:rPr>
              <a:t>GPIO.setup</a:t>
            </a:r>
            <a:r>
              <a:rPr lang="en-US" sz="1400" b="1" dirty="0" smtClean="0">
                <a:latin typeface="+mn-ea"/>
              </a:rPr>
              <a:t>(PIN_SW, GPIO.IN, </a:t>
            </a:r>
            <a:r>
              <a:rPr lang="en-US" sz="1400" b="1" dirty="0" err="1" smtClean="0">
                <a:latin typeface="+mn-ea"/>
              </a:rPr>
              <a:t>pull_up_down</a:t>
            </a:r>
            <a:r>
              <a:rPr lang="en-US" sz="1400" b="1" dirty="0" smtClean="0">
                <a:latin typeface="+mn-ea"/>
              </a:rPr>
              <a:t>=GPIO.PUD_UP)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root=</a:t>
            </a:r>
            <a:r>
              <a:rPr lang="en-US" sz="1400" b="1" dirty="0" err="1" smtClean="0">
                <a:latin typeface="+mn-ea"/>
              </a:rPr>
              <a:t>Tk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smtClean="0">
                <a:latin typeface="+mn-ea"/>
              </a:rPr>
              <a:t>c=Canvas(root, width=200, height=200)</a:t>
            </a:r>
          </a:p>
          <a:p>
            <a:r>
              <a:rPr lang="en-US" sz="1400" b="1" dirty="0" err="1" smtClean="0">
                <a:latin typeface="+mn-ea"/>
              </a:rPr>
              <a:t>c.pack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smtClean="0">
                <a:latin typeface="+mn-ea"/>
              </a:rPr>
              <a:t>co=</a:t>
            </a:r>
            <a:r>
              <a:rPr lang="en-US" sz="1400" b="1" dirty="0" err="1" smtClean="0">
                <a:latin typeface="+mn-ea"/>
              </a:rPr>
              <a:t>c.create_oval</a:t>
            </a:r>
            <a:r>
              <a:rPr lang="en-US" sz="1400" b="1" dirty="0" smtClean="0">
                <a:latin typeface="+mn-ea"/>
              </a:rPr>
              <a:t>(50,50,150,150, fill='white')</a:t>
            </a:r>
          </a:p>
          <a:p>
            <a:endParaRPr lang="en-US" sz="1400" b="1" dirty="0" smtClean="0">
              <a:latin typeface="+mn-ea"/>
            </a:endParaRPr>
          </a:p>
          <a:p>
            <a:r>
              <a:rPr lang="en-US" sz="1400" b="1" dirty="0" smtClean="0">
                <a:latin typeface="+mn-ea"/>
              </a:rPr>
              <a:t>def </a:t>
            </a:r>
            <a:r>
              <a:rPr lang="en-US" sz="1400" b="1" dirty="0" err="1" smtClean="0">
                <a:latin typeface="+mn-ea"/>
              </a:rPr>
              <a:t>check_Switch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ch</a:t>
            </a:r>
            <a:r>
              <a:rPr lang="en-US" sz="1400" b="1" dirty="0" smtClean="0">
                <a:latin typeface="+mn-ea"/>
              </a:rPr>
              <a:t>):</a:t>
            </a:r>
          </a:p>
          <a:p>
            <a:r>
              <a:rPr lang="en-US" sz="1400" b="1" dirty="0" smtClean="0">
                <a:latin typeface="+mn-ea"/>
              </a:rPr>
              <a:t>        </a:t>
            </a:r>
            <a:r>
              <a:rPr lang="en-US" sz="1400" b="1" dirty="0" err="1" smtClean="0">
                <a:latin typeface="+mn-ea"/>
              </a:rPr>
              <a:t>key_in</a:t>
            </a:r>
            <a:r>
              <a:rPr lang="en-US" sz="1400" b="1" dirty="0" smtClean="0">
                <a:latin typeface="+mn-ea"/>
              </a:rPr>
              <a:t>=</a:t>
            </a:r>
            <a:r>
              <a:rPr lang="en-US" sz="1400" b="1" dirty="0" err="1" smtClean="0">
                <a:latin typeface="+mn-ea"/>
              </a:rPr>
              <a:t>GPIO.input</a:t>
            </a:r>
            <a:r>
              <a:rPr lang="en-US" sz="1400" b="1" dirty="0" smtClean="0">
                <a:latin typeface="+mn-ea"/>
              </a:rPr>
              <a:t>(</a:t>
            </a:r>
            <a:r>
              <a:rPr lang="en-US" sz="1400" b="1" dirty="0" err="1" smtClean="0">
                <a:latin typeface="+mn-ea"/>
              </a:rPr>
              <a:t>ch</a:t>
            </a:r>
            <a:r>
              <a:rPr lang="en-US" sz="1400" b="1" dirty="0" smtClean="0">
                <a:latin typeface="+mn-ea"/>
              </a:rPr>
              <a:t>)</a:t>
            </a:r>
          </a:p>
          <a:p>
            <a:r>
              <a:rPr lang="en-US" sz="1400" b="1" dirty="0" smtClean="0">
                <a:latin typeface="+mn-ea"/>
              </a:rPr>
              <a:t>        if </a:t>
            </a:r>
            <a:r>
              <a:rPr lang="en-US" sz="1400" b="1" dirty="0" err="1" smtClean="0">
                <a:latin typeface="+mn-ea"/>
              </a:rPr>
              <a:t>key_in</a:t>
            </a:r>
            <a:r>
              <a:rPr lang="en-US" sz="1400" b="1" dirty="0" smtClean="0">
                <a:latin typeface="+mn-ea"/>
              </a:rPr>
              <a:t>==0:</a:t>
            </a:r>
          </a:p>
          <a:p>
            <a:r>
              <a:rPr lang="en-US" sz="1400" b="1" dirty="0" smtClean="0">
                <a:latin typeface="+mn-ea"/>
              </a:rPr>
              <a:t>                </a:t>
            </a:r>
            <a:r>
              <a:rPr lang="en-US" sz="1400" b="1" dirty="0" err="1" smtClean="0">
                <a:latin typeface="+mn-ea"/>
              </a:rPr>
              <a:t>GPIO.output</a:t>
            </a:r>
            <a:r>
              <a:rPr lang="en-US" sz="1400" b="1" dirty="0" smtClean="0">
                <a:latin typeface="+mn-ea"/>
              </a:rPr>
              <a:t>(PIN_LED, GPIO.LOW)</a:t>
            </a:r>
          </a:p>
          <a:p>
            <a:r>
              <a:rPr lang="en-US" sz="1400" b="1" dirty="0" smtClean="0">
                <a:latin typeface="+mn-ea"/>
              </a:rPr>
              <a:t>                </a:t>
            </a:r>
            <a:r>
              <a:rPr lang="en-US" sz="1400" b="1" dirty="0" err="1" smtClean="0">
                <a:latin typeface="+mn-ea"/>
              </a:rPr>
              <a:t>c.itemconfig</a:t>
            </a:r>
            <a:r>
              <a:rPr lang="en-US" sz="1400" b="1" dirty="0" smtClean="0">
                <a:latin typeface="+mn-ea"/>
              </a:rPr>
              <a:t>(co, fill='red')</a:t>
            </a:r>
          </a:p>
          <a:p>
            <a:r>
              <a:rPr lang="en-US" sz="1400" b="1" dirty="0" smtClean="0">
                <a:latin typeface="+mn-ea"/>
              </a:rPr>
              <a:t>        else:</a:t>
            </a:r>
          </a:p>
          <a:p>
            <a:r>
              <a:rPr lang="en-US" sz="1400" b="1" dirty="0" smtClean="0">
                <a:latin typeface="+mn-ea"/>
              </a:rPr>
              <a:t>                </a:t>
            </a:r>
            <a:r>
              <a:rPr lang="en-US" sz="1400" b="1" dirty="0" err="1" smtClean="0">
                <a:latin typeface="+mn-ea"/>
              </a:rPr>
              <a:t>GPIO.output</a:t>
            </a:r>
            <a:r>
              <a:rPr lang="en-US" sz="1400" b="1" dirty="0" smtClean="0">
                <a:latin typeface="+mn-ea"/>
              </a:rPr>
              <a:t>(PIN_LED, GPIO.HIGH)</a:t>
            </a:r>
          </a:p>
          <a:p>
            <a:r>
              <a:rPr lang="en-US" sz="1400" b="1" dirty="0" smtClean="0">
                <a:latin typeface="+mn-ea"/>
              </a:rPr>
              <a:t>                </a:t>
            </a:r>
            <a:r>
              <a:rPr lang="en-US" sz="1400" b="1" dirty="0" err="1" smtClean="0">
                <a:latin typeface="+mn-ea"/>
              </a:rPr>
              <a:t>c.itemconfig</a:t>
            </a:r>
            <a:r>
              <a:rPr lang="en-US" sz="1400" b="1" dirty="0" smtClean="0">
                <a:latin typeface="+mn-ea"/>
              </a:rPr>
              <a:t>(co, fill='white')</a:t>
            </a:r>
          </a:p>
          <a:p>
            <a:r>
              <a:rPr lang="en-US" sz="1400" b="1" dirty="0" err="1" smtClean="0">
                <a:latin typeface="+mn-ea"/>
              </a:rPr>
              <a:t>GPIO.add_event_detect</a:t>
            </a:r>
            <a:r>
              <a:rPr lang="en-US" sz="1400" b="1" dirty="0" smtClean="0">
                <a:latin typeface="+mn-ea"/>
              </a:rPr>
              <a:t>(PIN_SW, GPIO.BOTH, callback=</a:t>
            </a:r>
            <a:r>
              <a:rPr lang="en-US" sz="1400" b="1" dirty="0" err="1" smtClean="0">
                <a:latin typeface="+mn-ea"/>
              </a:rPr>
              <a:t>check_Switch</a:t>
            </a:r>
            <a:r>
              <a:rPr lang="en-US" sz="1400" b="1" dirty="0" smtClean="0">
                <a:latin typeface="+mn-ea"/>
              </a:rPr>
              <a:t>)</a:t>
            </a:r>
          </a:p>
          <a:p>
            <a:r>
              <a:rPr lang="en-US" sz="1400" b="1" dirty="0" err="1" smtClean="0">
                <a:latin typeface="+mn-ea"/>
              </a:rPr>
              <a:t>root.mainloop</a:t>
            </a:r>
            <a:r>
              <a:rPr lang="en-US" sz="1400" b="1" dirty="0" smtClean="0">
                <a:latin typeface="+mn-ea"/>
              </a:rPr>
              <a:t>()</a:t>
            </a:r>
          </a:p>
          <a:p>
            <a:r>
              <a:rPr lang="en-US" sz="1400" b="1" dirty="0" err="1" smtClean="0">
                <a:latin typeface="+mn-ea"/>
              </a:rPr>
              <a:t>GPIO.cleanup</a:t>
            </a:r>
            <a:r>
              <a:rPr lang="en-US" sz="1400" b="1" dirty="0" smtClean="0">
                <a:latin typeface="+mn-ea"/>
              </a:rPr>
              <a:t>()</a:t>
            </a:r>
          </a:p>
        </p:txBody>
      </p:sp>
      <p:pic>
        <p:nvPicPr>
          <p:cNvPr id="10" name="그림 9" descr="sw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72940" y="1143553"/>
            <a:ext cx="1639518" cy="182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Arduino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와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USB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통신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4874990" y="53446"/>
            <a:ext cx="2870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Serial-1.py</a:t>
            </a:r>
          </a:p>
          <a:p>
            <a:r>
              <a:rPr lang="en-US" altLang="ko-KR" b="1" dirty="0" smtClean="0">
                <a:solidFill>
                  <a:srgbClr val="000099"/>
                </a:solidFill>
              </a:rPr>
              <a:t>#  </a:t>
            </a:r>
            <a:r>
              <a:rPr lang="en-US" altLang="ko-KR" b="1" dirty="0" err="1" smtClean="0">
                <a:solidFill>
                  <a:srgbClr val="000099"/>
                </a:solidFill>
              </a:rPr>
              <a:t>arduino</a:t>
            </a:r>
            <a:r>
              <a:rPr lang="ko-KR" altLang="en-US" b="1" dirty="0" smtClean="0">
                <a:solidFill>
                  <a:srgbClr val="000099"/>
                </a:solidFill>
              </a:rPr>
              <a:t>에서 측정값 전송</a:t>
            </a:r>
            <a:endParaRPr lang="ko-KR" altLang="en-US" b="1" dirty="0">
              <a:solidFill>
                <a:srgbClr val="000099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74159" y="1371600"/>
            <a:ext cx="2753832" cy="448693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// Arduino code</a:t>
            </a:r>
          </a:p>
          <a:p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unsigned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int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data2=567;</a:t>
            </a:r>
          </a:p>
          <a:p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void setup() {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Serial.begin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(9600);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}</a:t>
            </a:r>
          </a:p>
          <a:p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void loop() {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int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;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Serial.print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("Data:");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Serial.print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(data2);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delay(2000);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}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636335" y="1364512"/>
            <a:ext cx="5220586" cy="313925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// Raspberry Pi code</a:t>
            </a:r>
          </a:p>
          <a:p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import serial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ser =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serial.Serial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('/dev/ttyUSB0', 9600, timeout=0)</a:t>
            </a:r>
          </a:p>
          <a:p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while True: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rxdata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=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ser.readline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().decode('utf-8')        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      if 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rxdata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: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              print (</a:t>
            </a:r>
            <a:r>
              <a:rPr lang="en-US" altLang="ko-KR" dirty="0" err="1" smtClean="0">
                <a:solidFill>
                  <a:schemeClr val="tx1"/>
                </a:solidFill>
                <a:latin typeface="+mn-ea"/>
              </a:rPr>
              <a:t>rxdata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82537" y="4634384"/>
            <a:ext cx="53021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ser = </a:t>
            </a:r>
            <a:r>
              <a:rPr lang="en-US" altLang="ko-KR" sz="1600" b="1" dirty="0" err="1" smtClean="0">
                <a:latin typeface="+mn-ea"/>
              </a:rPr>
              <a:t>serial.Serial</a:t>
            </a:r>
            <a:r>
              <a:rPr lang="en-US" altLang="ko-KR" sz="1600" b="1" dirty="0" smtClean="0">
                <a:latin typeface="+mn-ea"/>
              </a:rPr>
              <a:t>('/dev/ttyUSB0', 9600, timeout=0)</a:t>
            </a:r>
          </a:p>
          <a:p>
            <a:endParaRPr lang="en-US" altLang="ko-KR" sz="1600" b="1" dirty="0" smtClean="0">
              <a:latin typeface="+mn-ea"/>
            </a:endParaRPr>
          </a:p>
          <a:p>
            <a:r>
              <a:rPr lang="en-US" sz="2000" b="1" dirty="0" smtClean="0">
                <a:solidFill>
                  <a:srgbClr val="0000FF"/>
                </a:solidFill>
              </a:rPr>
              <a:t>#  USB Port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확인 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:  </a:t>
            </a:r>
            <a:r>
              <a:rPr lang="en-US" sz="2000" b="1" dirty="0" err="1" smtClean="0">
                <a:solidFill>
                  <a:srgbClr val="0000FF"/>
                </a:solidFill>
              </a:rPr>
              <a:t>dmesg|tail</a:t>
            </a:r>
            <a:endParaRPr lang="en-US" sz="2000" b="1" dirty="0" smtClean="0">
              <a:solidFill>
                <a:srgbClr val="0000FF"/>
              </a:solidFill>
            </a:endParaRPr>
          </a:p>
          <a:p>
            <a:r>
              <a:rPr lang="en-US" altLang="ko-KR" sz="20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en-US" b="1" dirty="0" smtClean="0">
                <a:solidFill>
                  <a:srgbClr val="0000FF"/>
                </a:solidFill>
              </a:rPr>
              <a:t> </a:t>
            </a:r>
            <a:r>
              <a:rPr lang="en-US" b="1" dirty="0" err="1" smtClean="0">
                <a:solidFill>
                  <a:srgbClr val="0000FF"/>
                </a:solidFill>
              </a:rPr>
              <a:t>tty</a:t>
            </a:r>
            <a:r>
              <a:rPr lang="en-US" b="1" dirty="0" smtClean="0">
                <a:solidFill>
                  <a:srgbClr val="0000FF"/>
                </a:solidFill>
              </a:rPr>
              <a:t>/ACM0,  </a:t>
            </a:r>
            <a:r>
              <a:rPr lang="en-US" b="1" dirty="0" err="1" smtClean="0">
                <a:solidFill>
                  <a:srgbClr val="0000FF"/>
                </a:solidFill>
              </a:rPr>
              <a:t>tty</a:t>
            </a:r>
            <a:r>
              <a:rPr lang="en-US" b="1" dirty="0" smtClean="0">
                <a:solidFill>
                  <a:srgbClr val="0000FF"/>
                </a:solidFill>
              </a:rPr>
              <a:t>/ACM1 </a:t>
            </a:r>
            <a:r>
              <a:rPr lang="ko-KR" altLang="en-US" b="1" dirty="0" smtClean="0">
                <a:solidFill>
                  <a:srgbClr val="0000FF"/>
                </a:solidFill>
              </a:rPr>
              <a:t>로 나오는 경우 있음</a:t>
            </a:r>
            <a:endParaRPr lang="en-US" altLang="ko-KR" sz="2000" b="1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Arduino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와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USB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통신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4874990" y="53446"/>
            <a:ext cx="25657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Serial-2.py</a:t>
            </a:r>
          </a:p>
          <a:p>
            <a:r>
              <a:rPr lang="en-US" altLang="ko-KR" b="1" dirty="0" smtClean="0">
                <a:solidFill>
                  <a:srgbClr val="000099"/>
                </a:solidFill>
              </a:rPr>
              <a:t>#  Thread</a:t>
            </a:r>
            <a:r>
              <a:rPr lang="ko-KR" altLang="en-US" b="1" dirty="0" smtClean="0">
                <a:solidFill>
                  <a:srgbClr val="000099"/>
                </a:solidFill>
              </a:rPr>
              <a:t>를 사용한 수신</a:t>
            </a:r>
            <a:endParaRPr lang="ko-KR" altLang="en-US" b="1" dirty="0">
              <a:solidFill>
                <a:srgbClr val="00009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04036" y="893138"/>
            <a:ext cx="819770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+mn-ea"/>
              </a:rPr>
              <a:t>import serial</a:t>
            </a:r>
          </a:p>
          <a:p>
            <a:r>
              <a:rPr lang="en-US" altLang="ko-KR" dirty="0" smtClean="0">
                <a:latin typeface="+mn-ea"/>
              </a:rPr>
              <a:t>import time</a:t>
            </a:r>
          </a:p>
          <a:p>
            <a:r>
              <a:rPr lang="en-US" altLang="ko-KR" dirty="0" smtClean="0">
                <a:latin typeface="+mn-ea"/>
              </a:rPr>
              <a:t>import signal</a:t>
            </a:r>
          </a:p>
          <a:p>
            <a:r>
              <a:rPr lang="en-US" altLang="ko-KR" dirty="0" smtClean="0">
                <a:latin typeface="+mn-ea"/>
              </a:rPr>
              <a:t>import threading</a:t>
            </a:r>
          </a:p>
          <a:p>
            <a:endParaRPr lang="en-US" altLang="ko-KR" dirty="0" smtClean="0">
              <a:latin typeface="+mn-ea"/>
            </a:endParaRPr>
          </a:p>
          <a:p>
            <a:r>
              <a:rPr lang="en-US" altLang="ko-KR" dirty="0" err="1" smtClean="0">
                <a:latin typeface="+mn-ea"/>
              </a:rPr>
              <a:t>exitThread</a:t>
            </a:r>
            <a:r>
              <a:rPr lang="en-US" altLang="ko-KR" dirty="0" smtClean="0">
                <a:latin typeface="+mn-ea"/>
              </a:rPr>
              <a:t> = False</a:t>
            </a:r>
          </a:p>
          <a:p>
            <a:r>
              <a:rPr lang="en-US" altLang="ko-KR" dirty="0" smtClean="0">
                <a:latin typeface="+mn-ea"/>
              </a:rPr>
              <a:t>def handler(</a:t>
            </a:r>
            <a:r>
              <a:rPr lang="en-US" altLang="ko-KR" dirty="0" err="1" smtClean="0">
                <a:latin typeface="+mn-ea"/>
              </a:rPr>
              <a:t>signum</a:t>
            </a:r>
            <a:r>
              <a:rPr lang="en-US" altLang="ko-KR" dirty="0" smtClean="0">
                <a:latin typeface="+mn-ea"/>
              </a:rPr>
              <a:t>, frame):</a:t>
            </a:r>
          </a:p>
          <a:p>
            <a:r>
              <a:rPr lang="en-US" altLang="ko-KR" dirty="0" smtClean="0">
                <a:latin typeface="+mn-ea"/>
              </a:rPr>
              <a:t>        </a:t>
            </a:r>
            <a:r>
              <a:rPr lang="en-US" altLang="ko-KR" dirty="0" err="1" smtClean="0">
                <a:latin typeface="+mn-ea"/>
              </a:rPr>
              <a:t>exitThread</a:t>
            </a:r>
            <a:r>
              <a:rPr lang="en-US" altLang="ko-KR" dirty="0" smtClean="0">
                <a:latin typeface="+mn-ea"/>
              </a:rPr>
              <a:t> = True		</a:t>
            </a:r>
          </a:p>
          <a:p>
            <a:r>
              <a:rPr lang="en-US" altLang="ko-KR" dirty="0" smtClean="0">
                <a:latin typeface="+mn-ea"/>
              </a:rPr>
              <a:t>def </a:t>
            </a:r>
            <a:r>
              <a:rPr lang="en-US" altLang="ko-KR" dirty="0" err="1" smtClean="0">
                <a:latin typeface="+mn-ea"/>
              </a:rPr>
              <a:t>readThread</a:t>
            </a:r>
            <a:r>
              <a:rPr lang="en-US" altLang="ko-KR" dirty="0" smtClean="0">
                <a:latin typeface="+mn-ea"/>
              </a:rPr>
              <a:t>(ser):</a:t>
            </a:r>
          </a:p>
          <a:p>
            <a:r>
              <a:rPr lang="en-US" altLang="ko-KR" dirty="0" smtClean="0">
                <a:latin typeface="+mn-ea"/>
              </a:rPr>
              <a:t>        global line</a:t>
            </a:r>
          </a:p>
          <a:p>
            <a:r>
              <a:rPr lang="en-US" altLang="ko-KR" dirty="0" smtClean="0">
                <a:latin typeface="+mn-ea"/>
              </a:rPr>
              <a:t>        global </a:t>
            </a:r>
            <a:r>
              <a:rPr lang="en-US" altLang="ko-KR" dirty="0" err="1" smtClean="0">
                <a:latin typeface="+mn-ea"/>
              </a:rPr>
              <a:t>exitThread</a:t>
            </a:r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	</a:t>
            </a:r>
          </a:p>
          <a:p>
            <a:r>
              <a:rPr lang="en-US" altLang="ko-KR" dirty="0" smtClean="0">
                <a:latin typeface="+mn-ea"/>
              </a:rPr>
              <a:t>        while not </a:t>
            </a:r>
            <a:r>
              <a:rPr lang="en-US" altLang="ko-KR" dirty="0" err="1" smtClean="0">
                <a:latin typeface="+mn-ea"/>
              </a:rPr>
              <a:t>exitThread</a:t>
            </a:r>
            <a:r>
              <a:rPr lang="en-US" altLang="ko-KR" dirty="0" smtClean="0">
                <a:latin typeface="+mn-ea"/>
              </a:rPr>
              <a:t>:</a:t>
            </a:r>
          </a:p>
          <a:p>
            <a:r>
              <a:rPr lang="en-US" altLang="ko-KR" dirty="0" smtClean="0">
                <a:latin typeface="+mn-ea"/>
              </a:rPr>
              <a:t>                </a:t>
            </a:r>
            <a:r>
              <a:rPr lang="en-US" altLang="ko-KR" dirty="0" err="1" smtClean="0">
                <a:latin typeface="+mn-ea"/>
              </a:rPr>
              <a:t>rxdata</a:t>
            </a:r>
            <a:r>
              <a:rPr lang="en-US" altLang="ko-KR" dirty="0" smtClean="0">
                <a:latin typeface="+mn-ea"/>
              </a:rPr>
              <a:t>=</a:t>
            </a:r>
            <a:r>
              <a:rPr lang="en-US" altLang="ko-KR" dirty="0" err="1" smtClean="0">
                <a:latin typeface="+mn-ea"/>
              </a:rPr>
              <a:t>ser.readline</a:t>
            </a:r>
            <a:r>
              <a:rPr lang="en-US" altLang="ko-KR" dirty="0" smtClean="0">
                <a:latin typeface="+mn-ea"/>
              </a:rPr>
              <a:t>().decode('utf-8')</a:t>
            </a:r>
          </a:p>
          <a:p>
            <a:r>
              <a:rPr lang="en-US" altLang="ko-KR" dirty="0" smtClean="0">
                <a:latin typeface="+mn-ea"/>
              </a:rPr>
              <a:t>                if </a:t>
            </a:r>
            <a:r>
              <a:rPr lang="en-US" altLang="ko-KR" dirty="0" err="1" smtClean="0">
                <a:latin typeface="+mn-ea"/>
              </a:rPr>
              <a:t>rxdata</a:t>
            </a:r>
            <a:r>
              <a:rPr lang="en-US" altLang="ko-KR" dirty="0" smtClean="0">
                <a:latin typeface="+mn-ea"/>
              </a:rPr>
              <a:t>:</a:t>
            </a:r>
          </a:p>
          <a:p>
            <a:r>
              <a:rPr lang="en-US" altLang="ko-KR" dirty="0" smtClean="0">
                <a:latin typeface="+mn-ea"/>
              </a:rPr>
              <a:t>	         print (</a:t>
            </a:r>
            <a:r>
              <a:rPr lang="en-US" altLang="ko-KR" dirty="0" err="1" smtClean="0">
                <a:latin typeface="+mn-ea"/>
              </a:rPr>
              <a:t>rxdata</a:t>
            </a:r>
            <a:r>
              <a:rPr lang="en-US" altLang="ko-KR" dirty="0" smtClean="0">
                <a:latin typeface="+mn-ea"/>
              </a:rPr>
              <a:t>)                    </a:t>
            </a:r>
          </a:p>
          <a:p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ser = </a:t>
            </a:r>
            <a:r>
              <a:rPr lang="en-US" altLang="ko-KR" dirty="0" err="1" smtClean="0">
                <a:latin typeface="+mn-ea"/>
              </a:rPr>
              <a:t>serial.Serial</a:t>
            </a:r>
            <a:r>
              <a:rPr lang="en-US" altLang="ko-KR" dirty="0" smtClean="0">
                <a:latin typeface="+mn-ea"/>
              </a:rPr>
              <a:t>('/dev/ttyUSB0', 9600, timeout=0)</a:t>
            </a:r>
          </a:p>
          <a:p>
            <a:r>
              <a:rPr lang="en-US" altLang="ko-KR" dirty="0" err="1" smtClean="0">
                <a:latin typeface="+mn-ea"/>
              </a:rPr>
              <a:t>signal.signal</a:t>
            </a:r>
            <a:r>
              <a:rPr lang="en-US" altLang="ko-KR" dirty="0" smtClean="0">
                <a:latin typeface="+mn-ea"/>
              </a:rPr>
              <a:t>(</a:t>
            </a:r>
            <a:r>
              <a:rPr lang="en-US" altLang="ko-KR" dirty="0" err="1" smtClean="0">
                <a:latin typeface="+mn-ea"/>
              </a:rPr>
              <a:t>signal.SIGINT</a:t>
            </a:r>
            <a:r>
              <a:rPr lang="en-US" altLang="ko-KR" dirty="0" smtClean="0">
                <a:latin typeface="+mn-ea"/>
              </a:rPr>
              <a:t>, handler)</a:t>
            </a:r>
          </a:p>
          <a:p>
            <a:r>
              <a:rPr lang="en-US" altLang="ko-KR" dirty="0" smtClean="0">
                <a:latin typeface="+mn-ea"/>
              </a:rPr>
              <a:t>thread=</a:t>
            </a:r>
            <a:r>
              <a:rPr lang="en-US" altLang="ko-KR" dirty="0" err="1" smtClean="0">
                <a:latin typeface="+mn-ea"/>
              </a:rPr>
              <a:t>threading.Thread</a:t>
            </a:r>
            <a:r>
              <a:rPr lang="en-US" altLang="ko-KR" dirty="0" smtClean="0">
                <a:latin typeface="+mn-ea"/>
              </a:rPr>
              <a:t>(target=</a:t>
            </a:r>
            <a:r>
              <a:rPr lang="en-US" altLang="ko-KR" dirty="0" err="1" smtClean="0">
                <a:latin typeface="+mn-ea"/>
              </a:rPr>
              <a:t>readThread</a:t>
            </a:r>
            <a:r>
              <a:rPr lang="en-US" altLang="ko-KR" dirty="0" smtClean="0">
                <a:latin typeface="+mn-ea"/>
              </a:rPr>
              <a:t>, </a:t>
            </a:r>
            <a:r>
              <a:rPr lang="en-US" altLang="ko-KR" dirty="0" err="1" smtClean="0">
                <a:latin typeface="+mn-ea"/>
              </a:rPr>
              <a:t>args</a:t>
            </a:r>
            <a:r>
              <a:rPr lang="en-US" altLang="ko-KR" dirty="0" smtClean="0">
                <a:latin typeface="+mn-ea"/>
              </a:rPr>
              <a:t>=(ser,))      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# thread 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생성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 </a:t>
            </a:r>
          </a:p>
          <a:p>
            <a:r>
              <a:rPr lang="en-US" altLang="ko-KR" dirty="0" err="1" smtClean="0">
                <a:latin typeface="+mn-ea"/>
              </a:rPr>
              <a:t>thread.start</a:t>
            </a:r>
            <a:r>
              <a:rPr lang="en-US" altLang="ko-KR" dirty="0" smtClean="0">
                <a:latin typeface="+mn-ea"/>
              </a:rPr>
              <a:t>()                                                              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# thread </a:t>
            </a:r>
            <a:r>
              <a:rPr lang="ko-KR" altLang="en-US" b="1" dirty="0" smtClean="0">
                <a:solidFill>
                  <a:srgbClr val="0000FF"/>
                </a:solidFill>
                <a:latin typeface="+mn-ea"/>
              </a:rPr>
              <a:t>시작</a:t>
            </a:r>
            <a:endParaRPr lang="ko-KR" altLang="en-US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Arduino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와 </a:t>
            </a: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USB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통신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4874990" y="53446"/>
            <a:ext cx="31566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solidFill>
                  <a:srgbClr val="000099"/>
                </a:solidFill>
              </a:rPr>
              <a:t># Serial-3.py</a:t>
            </a:r>
          </a:p>
          <a:p>
            <a:r>
              <a:rPr lang="en-US" altLang="ko-KR" b="1" dirty="0" smtClean="0">
                <a:solidFill>
                  <a:srgbClr val="000099"/>
                </a:solidFill>
              </a:rPr>
              <a:t>#  </a:t>
            </a:r>
            <a:r>
              <a:rPr lang="ko-KR" altLang="en-US" b="1" dirty="0" smtClean="0">
                <a:solidFill>
                  <a:srgbClr val="000099"/>
                </a:solidFill>
              </a:rPr>
              <a:t>전체 화면 그림에 글씨 넣기</a:t>
            </a:r>
            <a:endParaRPr lang="ko-KR" altLang="en-US" b="1" dirty="0">
              <a:solidFill>
                <a:srgbClr val="00009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04036" y="893138"/>
            <a:ext cx="8197702" cy="5837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from </a:t>
            </a:r>
            <a:r>
              <a:rPr lang="en-US" altLang="ko-KR" sz="1200" b="1" dirty="0" err="1" smtClean="0">
                <a:latin typeface="+mn-ea"/>
              </a:rPr>
              <a:t>tkinter</a:t>
            </a:r>
            <a:r>
              <a:rPr lang="en-US" altLang="ko-KR" sz="1200" b="1" dirty="0" smtClean="0">
                <a:latin typeface="+mn-ea"/>
              </a:rPr>
              <a:t> import *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import serial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import time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import signal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import threading</a:t>
            </a:r>
          </a:p>
          <a:p>
            <a:pPr>
              <a:lnSpc>
                <a:spcPts val="1400"/>
              </a:lnSpc>
            </a:pPr>
            <a:endParaRPr lang="en-US" altLang="ko-KR" sz="12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line = []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err="1" smtClean="0">
                <a:latin typeface="+mn-ea"/>
              </a:rPr>
              <a:t>exitThread</a:t>
            </a:r>
            <a:r>
              <a:rPr lang="en-US" altLang="ko-KR" sz="1200" b="1" dirty="0" smtClean="0">
                <a:latin typeface="+mn-ea"/>
              </a:rPr>
              <a:t> = False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def handler(</a:t>
            </a:r>
            <a:r>
              <a:rPr lang="en-US" altLang="ko-KR" sz="1200" b="1" dirty="0" err="1" smtClean="0">
                <a:latin typeface="+mn-ea"/>
              </a:rPr>
              <a:t>signum</a:t>
            </a:r>
            <a:r>
              <a:rPr lang="en-US" altLang="ko-KR" sz="1200" b="1" dirty="0" smtClean="0">
                <a:latin typeface="+mn-ea"/>
              </a:rPr>
              <a:t>, frame):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</a:t>
            </a:r>
            <a:r>
              <a:rPr lang="en-US" altLang="ko-KR" sz="1200" b="1" dirty="0" err="1" smtClean="0">
                <a:latin typeface="+mn-ea"/>
              </a:rPr>
              <a:t>exitThread</a:t>
            </a:r>
            <a:r>
              <a:rPr lang="en-US" altLang="ko-KR" sz="1200" b="1" dirty="0" smtClean="0">
                <a:latin typeface="+mn-ea"/>
              </a:rPr>
              <a:t> = True</a:t>
            </a:r>
          </a:p>
          <a:p>
            <a:pPr>
              <a:lnSpc>
                <a:spcPts val="1400"/>
              </a:lnSpc>
            </a:pPr>
            <a:endParaRPr lang="en-US" altLang="ko-KR" sz="12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def </a:t>
            </a:r>
            <a:r>
              <a:rPr lang="en-US" altLang="ko-KR" sz="1200" b="1" dirty="0" err="1" smtClean="0">
                <a:latin typeface="+mn-ea"/>
              </a:rPr>
              <a:t>readThread</a:t>
            </a:r>
            <a:r>
              <a:rPr lang="en-US" altLang="ko-KR" sz="1200" b="1" dirty="0" smtClean="0">
                <a:latin typeface="+mn-ea"/>
              </a:rPr>
              <a:t>(ser):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global line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global </a:t>
            </a:r>
            <a:r>
              <a:rPr lang="en-US" altLang="ko-KR" sz="1200" b="1" dirty="0" err="1" smtClean="0">
                <a:latin typeface="+mn-ea"/>
              </a:rPr>
              <a:t>exitThread</a:t>
            </a:r>
            <a:endParaRPr lang="en-US" altLang="ko-KR" sz="12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endParaRPr lang="en-US" altLang="ko-KR" sz="12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while not </a:t>
            </a:r>
            <a:r>
              <a:rPr lang="en-US" altLang="ko-KR" sz="1200" b="1" dirty="0" err="1" smtClean="0">
                <a:latin typeface="+mn-ea"/>
              </a:rPr>
              <a:t>exitThread</a:t>
            </a:r>
            <a:r>
              <a:rPr lang="en-US" altLang="ko-KR" sz="1200" b="1" dirty="0" smtClean="0">
                <a:latin typeface="+mn-ea"/>
              </a:rPr>
              <a:t>: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    </a:t>
            </a:r>
            <a:r>
              <a:rPr lang="en-US" altLang="ko-KR" sz="1200" b="1" dirty="0" err="1" smtClean="0">
                <a:latin typeface="+mn-ea"/>
              </a:rPr>
              <a:t>rxdata</a:t>
            </a:r>
            <a:r>
              <a:rPr lang="en-US" altLang="ko-KR" sz="1200" b="1" dirty="0" smtClean="0">
                <a:latin typeface="+mn-ea"/>
              </a:rPr>
              <a:t> = </a:t>
            </a:r>
            <a:r>
              <a:rPr lang="en-US" altLang="ko-KR" sz="1200" b="1" dirty="0" err="1" smtClean="0">
                <a:latin typeface="+mn-ea"/>
              </a:rPr>
              <a:t>ser.readline</a:t>
            </a:r>
            <a:r>
              <a:rPr lang="en-US" altLang="ko-KR" sz="1200" b="1" dirty="0" smtClean="0">
                <a:latin typeface="+mn-ea"/>
              </a:rPr>
              <a:t>().decode('utf-8')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    if </a:t>
            </a:r>
            <a:r>
              <a:rPr lang="en-US" altLang="ko-KR" sz="1200" b="1" dirty="0" err="1" smtClean="0">
                <a:latin typeface="+mn-ea"/>
              </a:rPr>
              <a:t>rxdata</a:t>
            </a:r>
            <a:r>
              <a:rPr lang="en-US" altLang="ko-KR" sz="1200" b="1" dirty="0" smtClean="0">
                <a:latin typeface="+mn-ea"/>
              </a:rPr>
              <a:t>: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        label=Label(text=</a:t>
            </a:r>
            <a:r>
              <a:rPr lang="en-US" altLang="ko-KR" sz="1200" b="1" dirty="0" err="1" smtClean="0">
                <a:latin typeface="+mn-ea"/>
              </a:rPr>
              <a:t>rxdata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en-US" altLang="ko-KR" sz="1200" b="1" dirty="0" err="1" smtClean="0">
                <a:latin typeface="+mn-ea"/>
              </a:rPr>
              <a:t>fg</a:t>
            </a:r>
            <a:r>
              <a:rPr lang="en-US" altLang="ko-KR" sz="1200" b="1" dirty="0" smtClean="0">
                <a:latin typeface="+mn-ea"/>
              </a:rPr>
              <a:t>='blue', font='Times 13 bold')    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            </a:t>
            </a:r>
            <a:r>
              <a:rPr lang="en-US" altLang="ko-KR" sz="1200" b="1" dirty="0" err="1" smtClean="0">
                <a:latin typeface="+mn-ea"/>
              </a:rPr>
              <a:t>c.create_window</a:t>
            </a:r>
            <a:r>
              <a:rPr lang="en-US" altLang="ko-KR" sz="1200" b="1" dirty="0" smtClean="0">
                <a:latin typeface="+mn-ea"/>
              </a:rPr>
              <a:t>(570, 205, window=label, anchor='</a:t>
            </a:r>
            <a:r>
              <a:rPr lang="en-US" altLang="ko-KR" sz="1200" b="1" dirty="0" err="1" smtClean="0">
                <a:latin typeface="+mn-ea"/>
              </a:rPr>
              <a:t>nw</a:t>
            </a:r>
            <a:r>
              <a:rPr lang="en-US" altLang="ko-KR" sz="1200" b="1" dirty="0" smtClean="0">
                <a:latin typeface="+mn-ea"/>
              </a:rPr>
              <a:t>')          </a:t>
            </a:r>
            <a:r>
              <a:rPr lang="en-US" altLang="ko-KR" sz="12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200" b="1" dirty="0" smtClean="0">
                <a:solidFill>
                  <a:srgbClr val="0000FF"/>
                </a:solidFill>
                <a:latin typeface="+mn-ea"/>
              </a:rPr>
              <a:t>수신 문자 표시</a:t>
            </a:r>
            <a:endParaRPr lang="en-US" altLang="ko-KR" sz="12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400"/>
              </a:lnSpc>
            </a:pPr>
            <a:endParaRPr lang="en-US" altLang="ko-KR" sz="1200" b="1" dirty="0" smtClean="0"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ser=</a:t>
            </a:r>
            <a:r>
              <a:rPr lang="en-US" altLang="ko-KR" sz="1200" b="1" dirty="0" err="1" smtClean="0">
                <a:latin typeface="+mn-ea"/>
              </a:rPr>
              <a:t>serial.Serial</a:t>
            </a:r>
            <a:r>
              <a:rPr lang="en-US" altLang="ko-KR" sz="1200" b="1" dirty="0" smtClean="0">
                <a:latin typeface="+mn-ea"/>
              </a:rPr>
              <a:t>('/dev/ttyUSB0', 9600, timeout=0)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root=</a:t>
            </a:r>
            <a:r>
              <a:rPr lang="en-US" altLang="ko-KR" sz="1200" b="1" dirty="0" err="1" smtClean="0">
                <a:latin typeface="+mn-ea"/>
              </a:rPr>
              <a:t>Tk</a:t>
            </a:r>
            <a:r>
              <a:rPr lang="en-US" altLang="ko-KR" sz="1200" b="1" dirty="0" smtClean="0">
                <a:latin typeface="+mn-ea"/>
              </a:rPr>
              <a:t>()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err="1" smtClean="0">
                <a:latin typeface="+mn-ea"/>
              </a:rPr>
              <a:t>root.attributes</a:t>
            </a:r>
            <a:r>
              <a:rPr lang="en-US" altLang="ko-KR" sz="1200" b="1" dirty="0" smtClean="0">
                <a:latin typeface="+mn-ea"/>
              </a:rPr>
              <a:t>('-</a:t>
            </a:r>
            <a:r>
              <a:rPr lang="en-US" altLang="ko-KR" sz="1200" b="1" dirty="0" err="1" smtClean="0">
                <a:latin typeface="+mn-ea"/>
              </a:rPr>
              <a:t>fullscreen</a:t>
            </a:r>
            <a:r>
              <a:rPr lang="en-US" altLang="ko-KR" sz="1200" b="1" dirty="0" smtClean="0">
                <a:latin typeface="+mn-ea"/>
              </a:rPr>
              <a:t>', True)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c=Canvas(root, width=800, height=480)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c.bg1 = </a:t>
            </a:r>
            <a:r>
              <a:rPr lang="en-US" altLang="ko-KR" sz="1200" b="1" dirty="0" err="1" smtClean="0">
                <a:latin typeface="+mn-ea"/>
              </a:rPr>
              <a:t>PhotoImage</a:t>
            </a:r>
            <a:r>
              <a:rPr lang="en-US" altLang="ko-KR" sz="1200" b="1" dirty="0" smtClean="0">
                <a:latin typeface="+mn-ea"/>
              </a:rPr>
              <a:t>(file='image_800x480/smarthome.png')                </a:t>
            </a:r>
            <a:r>
              <a:rPr lang="en-US" altLang="ko-KR" sz="1200" b="1" dirty="0" smtClean="0">
                <a:solidFill>
                  <a:srgbClr val="0000FF"/>
                </a:solidFill>
                <a:latin typeface="+mn-ea"/>
              </a:rPr>
              <a:t># </a:t>
            </a:r>
            <a:r>
              <a:rPr lang="ko-KR" altLang="en-US" sz="1200" b="1" dirty="0" smtClean="0">
                <a:solidFill>
                  <a:srgbClr val="0000FF"/>
                </a:solidFill>
                <a:latin typeface="+mn-ea"/>
              </a:rPr>
              <a:t>바탕화면</a:t>
            </a:r>
            <a:endParaRPr lang="en-US" altLang="ko-KR" sz="12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1400"/>
              </a:lnSpc>
            </a:pPr>
            <a:r>
              <a:rPr lang="en-US" altLang="ko-KR" sz="1200" b="1" dirty="0" err="1" smtClean="0">
                <a:latin typeface="+mn-ea"/>
              </a:rPr>
              <a:t>c.create_image</a:t>
            </a:r>
            <a:r>
              <a:rPr lang="en-US" altLang="ko-KR" sz="1200" b="1" dirty="0" smtClean="0">
                <a:latin typeface="+mn-ea"/>
              </a:rPr>
              <a:t>(0, 0, anchor='</a:t>
            </a:r>
            <a:r>
              <a:rPr lang="en-US" altLang="ko-KR" sz="1200" b="1" dirty="0" err="1" smtClean="0">
                <a:latin typeface="+mn-ea"/>
              </a:rPr>
              <a:t>nw</a:t>
            </a:r>
            <a:r>
              <a:rPr lang="en-US" altLang="ko-KR" sz="1200" b="1" dirty="0" smtClean="0">
                <a:latin typeface="+mn-ea"/>
              </a:rPr>
              <a:t>', image=c.bg1)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err="1" smtClean="0">
                <a:latin typeface="+mn-ea"/>
              </a:rPr>
              <a:t>c.pack</a:t>
            </a:r>
            <a:r>
              <a:rPr lang="en-US" altLang="ko-KR" sz="1200" b="1" dirty="0" smtClean="0">
                <a:latin typeface="+mn-ea"/>
              </a:rPr>
              <a:t>()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err="1" smtClean="0">
                <a:latin typeface="+mn-ea"/>
              </a:rPr>
              <a:t>signal.signal</a:t>
            </a:r>
            <a:r>
              <a:rPr lang="en-US" altLang="ko-KR" sz="1200" b="1" dirty="0" smtClean="0">
                <a:latin typeface="+mn-ea"/>
              </a:rPr>
              <a:t>(</a:t>
            </a:r>
            <a:r>
              <a:rPr lang="en-US" altLang="ko-KR" sz="1200" b="1" dirty="0" err="1" smtClean="0">
                <a:latin typeface="+mn-ea"/>
              </a:rPr>
              <a:t>signal.SIGINT</a:t>
            </a:r>
            <a:r>
              <a:rPr lang="en-US" altLang="ko-KR" sz="1200" b="1" dirty="0" smtClean="0">
                <a:latin typeface="+mn-ea"/>
              </a:rPr>
              <a:t>, handler)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smtClean="0">
                <a:latin typeface="+mn-ea"/>
              </a:rPr>
              <a:t>thread=</a:t>
            </a:r>
            <a:r>
              <a:rPr lang="en-US" altLang="ko-KR" sz="1200" b="1" dirty="0" err="1" smtClean="0">
                <a:latin typeface="+mn-ea"/>
              </a:rPr>
              <a:t>threading.Thread</a:t>
            </a:r>
            <a:r>
              <a:rPr lang="en-US" altLang="ko-KR" sz="1200" b="1" dirty="0" smtClean="0">
                <a:latin typeface="+mn-ea"/>
              </a:rPr>
              <a:t>(target=</a:t>
            </a:r>
            <a:r>
              <a:rPr lang="en-US" altLang="ko-KR" sz="1200" b="1" dirty="0" err="1" smtClean="0">
                <a:latin typeface="+mn-ea"/>
              </a:rPr>
              <a:t>readThread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en-US" altLang="ko-KR" sz="1200" b="1" dirty="0" err="1" smtClean="0">
                <a:latin typeface="+mn-ea"/>
              </a:rPr>
              <a:t>args</a:t>
            </a:r>
            <a:r>
              <a:rPr lang="en-US" altLang="ko-KR" sz="1200" b="1" dirty="0" smtClean="0">
                <a:latin typeface="+mn-ea"/>
              </a:rPr>
              <a:t>=(ser,))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err="1" smtClean="0">
                <a:latin typeface="+mn-ea"/>
              </a:rPr>
              <a:t>thread.start</a:t>
            </a:r>
            <a:r>
              <a:rPr lang="en-US" altLang="ko-KR" sz="1200" b="1" dirty="0" smtClean="0">
                <a:latin typeface="+mn-ea"/>
              </a:rPr>
              <a:t>()</a:t>
            </a:r>
          </a:p>
          <a:p>
            <a:pPr>
              <a:lnSpc>
                <a:spcPts val="1400"/>
              </a:lnSpc>
            </a:pPr>
            <a:r>
              <a:rPr lang="en-US" altLang="ko-KR" sz="1200" b="1" dirty="0" err="1" smtClean="0">
                <a:latin typeface="+mn-ea"/>
              </a:rPr>
              <a:t>root.mainloop</a:t>
            </a:r>
            <a:r>
              <a:rPr lang="en-US" altLang="ko-KR" sz="1200" b="1" dirty="0" smtClean="0">
                <a:latin typeface="+mn-ea"/>
              </a:rPr>
              <a:t>()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1793173"/>
            <a:ext cx="9144000" cy="201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algn="ctr"/>
            <a:r>
              <a:rPr lang="en-US" altLang="ko-KR" sz="3600" b="1" dirty="0" smtClean="0">
                <a:solidFill>
                  <a:srgbClr val="000099"/>
                </a:solidFill>
                <a:latin typeface="+mn-ea"/>
              </a:rPr>
              <a:t> Flask </a:t>
            </a:r>
            <a:r>
              <a:rPr lang="ko-KR" altLang="en-US" sz="3600" b="1" dirty="0" smtClean="0">
                <a:solidFill>
                  <a:srgbClr val="000099"/>
                </a:solidFill>
                <a:latin typeface="+mn-ea"/>
              </a:rPr>
              <a:t>기반 웹 서버 구현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파이썬으로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구현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433622" y="1328044"/>
            <a:ext cx="8158003" cy="2349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  <a:buFont typeface="Arial" pitchFamily="34" charset="0"/>
              <a:buChar char="•"/>
            </a:pPr>
            <a:r>
              <a:rPr lang="en-US" altLang="ko-KR" sz="3200" b="1" dirty="0" smtClean="0"/>
              <a:t>  pip</a:t>
            </a:r>
          </a:p>
          <a:p>
            <a:pPr>
              <a:lnSpc>
                <a:spcPts val="4400"/>
              </a:lnSpc>
            </a:pPr>
            <a:r>
              <a:rPr lang="en-US" altLang="ko-KR" b="1" dirty="0" smtClean="0"/>
              <a:t>   - </a:t>
            </a:r>
            <a:r>
              <a:rPr lang="ko-KR" altLang="en-US" b="1" dirty="0" err="1" smtClean="0"/>
              <a:t>파이썬으로</a:t>
            </a:r>
            <a:r>
              <a:rPr lang="ko-KR" altLang="en-US" b="1" dirty="0" smtClean="0"/>
              <a:t> 작성된 패키지 소프트웨어 설치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관리를 하는 패키지 관리 시스템</a:t>
            </a:r>
            <a:endParaRPr lang="en-US" altLang="ko-KR" b="1" dirty="0" smtClean="0"/>
          </a:p>
          <a:p>
            <a:pPr>
              <a:lnSpc>
                <a:spcPts val="4400"/>
              </a:lnSpc>
            </a:pPr>
            <a:r>
              <a:rPr lang="en-US" altLang="ko-KR" b="1" dirty="0" smtClean="0"/>
              <a:t>   - </a:t>
            </a:r>
            <a:r>
              <a:rPr lang="ko-KR" altLang="en-US" b="1" dirty="0" err="1" smtClean="0"/>
              <a:t>파이썬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3.4 </a:t>
            </a:r>
            <a:r>
              <a:rPr lang="ko-KR" altLang="en-US" b="1" dirty="0" smtClean="0"/>
              <a:t>이후 버전은 </a:t>
            </a:r>
            <a:r>
              <a:rPr lang="en-US" altLang="ko-KR" b="1" dirty="0" smtClean="0"/>
              <a:t>pip</a:t>
            </a:r>
            <a:r>
              <a:rPr lang="ko-KR" altLang="en-US" b="1" dirty="0" smtClean="0"/>
              <a:t>를 기본적으로 포함함</a:t>
            </a:r>
            <a:endParaRPr lang="en-US" altLang="ko-KR" b="1" dirty="0" smtClean="0"/>
          </a:p>
          <a:p>
            <a:pPr>
              <a:lnSpc>
                <a:spcPts val="4400"/>
              </a:lnSpc>
            </a:pPr>
            <a:r>
              <a:rPr lang="en-US" altLang="ko-KR" b="1" dirty="0" smtClean="0"/>
              <a:t>   - pypi.python.org</a:t>
            </a:r>
            <a:r>
              <a:rPr lang="ko-KR" altLang="en-US" b="1" dirty="0" smtClean="0"/>
              <a:t>에서 </a:t>
            </a:r>
            <a:r>
              <a:rPr lang="en-US" altLang="ko-KR" b="1" dirty="0" smtClean="0"/>
              <a:t>index </a:t>
            </a:r>
            <a:r>
              <a:rPr lang="ko-KR" altLang="en-US" b="1" dirty="0" smtClean="0"/>
              <a:t>기반으로 다운로드 및 설치</a:t>
            </a:r>
            <a:r>
              <a:rPr lang="en-US" altLang="ko-KR" b="1" dirty="0" smtClean="0"/>
              <a:t>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파이썬으로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구현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3223" y="1446797"/>
            <a:ext cx="7791300" cy="2349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  <a:buFont typeface="Arial" pitchFamily="34" charset="0"/>
              <a:buChar char="•"/>
            </a:pPr>
            <a:r>
              <a:rPr lang="en-US" altLang="ko-KR" sz="3200" b="1" dirty="0" smtClean="0"/>
              <a:t>  Flask</a:t>
            </a:r>
          </a:p>
          <a:p>
            <a:pPr>
              <a:lnSpc>
                <a:spcPts val="4400"/>
              </a:lnSpc>
            </a:pPr>
            <a:r>
              <a:rPr lang="en-US" altLang="ko-KR" b="1" dirty="0" smtClean="0"/>
              <a:t>   - </a:t>
            </a:r>
            <a:r>
              <a:rPr lang="ko-KR" altLang="en-US" b="1" dirty="0" err="1" smtClean="0"/>
              <a:t>파이썬</a:t>
            </a:r>
            <a:r>
              <a:rPr lang="ko-KR" altLang="en-US" b="1" dirty="0" smtClean="0"/>
              <a:t> 기반 </a:t>
            </a:r>
            <a:r>
              <a:rPr lang="en-US" altLang="ko-KR" b="1" dirty="0" smtClean="0"/>
              <a:t>WSGI(Web Server Gateway Interface)  Micro Framework</a:t>
            </a:r>
            <a:br>
              <a:rPr lang="en-US" altLang="ko-KR" b="1" dirty="0" smtClean="0"/>
            </a:br>
            <a:r>
              <a:rPr lang="en-US" altLang="ko-KR" b="1" dirty="0" smtClean="0"/>
              <a:t>     WSGI=</a:t>
            </a:r>
            <a:r>
              <a:rPr lang="ko-KR" altLang="en-US" b="1" dirty="0" smtClean="0"/>
              <a:t>서버가 웹 어플리케이션과 통신하기 위한 </a:t>
            </a:r>
            <a:r>
              <a:rPr lang="en-US" altLang="ko-KR" b="1" dirty="0" smtClean="0"/>
              <a:t>Interface</a:t>
            </a:r>
          </a:p>
          <a:p>
            <a:pPr>
              <a:lnSpc>
                <a:spcPts val="4400"/>
              </a:lnSpc>
            </a:pPr>
            <a:r>
              <a:rPr lang="en-US" altLang="ko-KR" b="1" dirty="0" smtClean="0"/>
              <a:t>   - Micro</a:t>
            </a:r>
            <a:r>
              <a:rPr lang="ko-KR" altLang="en-US" b="1" dirty="0" smtClean="0"/>
              <a:t>의 의미는 기능의 부족이 아닌 핵심기능만 간결하게 유지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확장 가능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파이썬으로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구현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837" y="1040473"/>
            <a:ext cx="7956160" cy="3812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파이썬으로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구현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838346" y="1235921"/>
            <a:ext cx="6066020" cy="29136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  <a:buFont typeface="Arial" pitchFamily="34" charset="0"/>
              <a:buChar char="•"/>
            </a:pPr>
            <a:r>
              <a:rPr lang="en-US" altLang="ko-KR" sz="3200" b="1" dirty="0" smtClean="0"/>
              <a:t>  Install pip and FLASK</a:t>
            </a:r>
          </a:p>
          <a:p>
            <a:pPr>
              <a:lnSpc>
                <a:spcPts val="4400"/>
              </a:lnSpc>
              <a:buFont typeface="Arial" pitchFamily="34" charset="0"/>
              <a:buChar char="•"/>
            </a:pPr>
            <a:endParaRPr lang="en-US" altLang="ko-KR" sz="3200" b="1" dirty="0" smtClean="0"/>
          </a:p>
          <a:p>
            <a:pPr>
              <a:lnSpc>
                <a:spcPts val="4400"/>
              </a:lnSpc>
            </a:pPr>
            <a:r>
              <a:rPr lang="en-US" altLang="ko-KR" sz="3200" b="1" dirty="0" smtClean="0"/>
              <a:t>       </a:t>
            </a:r>
            <a:r>
              <a:rPr lang="en-US" altLang="ko-KR" sz="3200" b="1" dirty="0" err="1" smtClean="0"/>
              <a:t>sudo</a:t>
            </a:r>
            <a:r>
              <a:rPr lang="en-US" altLang="ko-KR" sz="3200" b="1" dirty="0" smtClean="0"/>
              <a:t> apt-get install python-pip</a:t>
            </a:r>
          </a:p>
          <a:p>
            <a:pPr>
              <a:lnSpc>
                <a:spcPts val="4400"/>
              </a:lnSpc>
            </a:pPr>
            <a:endParaRPr lang="en-US" altLang="ko-KR" sz="3200" b="1" dirty="0" smtClean="0"/>
          </a:p>
          <a:p>
            <a:pPr>
              <a:lnSpc>
                <a:spcPts val="4400"/>
              </a:lnSpc>
            </a:pPr>
            <a:r>
              <a:rPr lang="en-US" altLang="ko-KR" sz="3200" b="1" dirty="0" smtClean="0"/>
              <a:t>       </a:t>
            </a:r>
            <a:r>
              <a:rPr lang="en-US" altLang="ko-KR" sz="3200" b="1" dirty="0" err="1" smtClean="0"/>
              <a:t>sudo</a:t>
            </a:r>
            <a:r>
              <a:rPr lang="en-US" altLang="ko-KR" sz="3200" b="1" dirty="0" smtClean="0"/>
              <a:t> pip install flask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Flask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기본 예제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4369" y="1166842"/>
            <a:ext cx="84752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from flask import Flask         </a:t>
            </a:r>
            <a:r>
              <a:rPr lang="en-US" altLang="ko-KR" b="1" dirty="0" smtClean="0"/>
              <a:t># flask=framework, Flask= Python  class</a:t>
            </a:r>
          </a:p>
          <a:p>
            <a:r>
              <a:rPr lang="en-US" altLang="ko-KR" sz="2400" b="1" dirty="0" smtClean="0"/>
              <a:t>                                                  </a:t>
            </a:r>
            <a:r>
              <a:rPr lang="en-US" altLang="ko-KR" b="1" dirty="0" smtClean="0"/>
              <a:t>  # web application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instance </a:t>
            </a:r>
            <a:r>
              <a:rPr lang="ko-KR" altLang="en-US" b="1" dirty="0" smtClean="0"/>
              <a:t>생성</a:t>
            </a:r>
            <a:endParaRPr lang="en-US" altLang="ko-KR" b="1" dirty="0" smtClean="0"/>
          </a:p>
          <a:p>
            <a:r>
              <a:rPr lang="en-US" altLang="ko-KR" sz="2400" b="1" dirty="0" smtClean="0"/>
              <a:t>app=Flask(__name__)           </a:t>
            </a:r>
            <a:r>
              <a:rPr lang="en-US" altLang="ko-KR" b="1" dirty="0" smtClean="0"/>
              <a:t># __name__ </a:t>
            </a:r>
            <a:r>
              <a:rPr lang="en-US" altLang="ko-KR" b="1" dirty="0" smtClean="0">
                <a:sym typeface="Wingdings" pitchFamily="2" charset="2"/>
              </a:rPr>
              <a:t> </a:t>
            </a:r>
            <a:r>
              <a:rPr lang="ko-KR" altLang="en-US" b="1" dirty="0" smtClean="0">
                <a:sym typeface="Wingdings" pitchFamily="2" charset="2"/>
              </a:rPr>
              <a:t>문자열 </a:t>
            </a:r>
            <a:r>
              <a:rPr lang="en-US" altLang="ko-KR" b="1" dirty="0" smtClean="0">
                <a:sym typeface="Wingdings" pitchFamily="2" charset="2"/>
              </a:rPr>
              <a:t>__main__</a:t>
            </a:r>
            <a:r>
              <a:rPr lang="ko-KR" altLang="en-US" b="1" dirty="0" smtClean="0">
                <a:sym typeface="Wingdings" pitchFamily="2" charset="2"/>
              </a:rPr>
              <a:t>을 갖는 변수</a:t>
            </a:r>
            <a:endParaRPr lang="en-US" altLang="ko-KR" b="1" dirty="0" smtClean="0"/>
          </a:p>
          <a:p>
            <a:endParaRPr lang="en-US" altLang="ko-KR" sz="2400" b="1" dirty="0" smtClean="0"/>
          </a:p>
          <a:p>
            <a:r>
              <a:rPr lang="en-US" altLang="ko-KR" sz="2400" b="1" dirty="0" smtClean="0"/>
              <a:t>@</a:t>
            </a:r>
            <a:r>
              <a:rPr lang="en-US" altLang="ko-KR" sz="2400" b="1" dirty="0" err="1" smtClean="0"/>
              <a:t>app.route</a:t>
            </a:r>
            <a:r>
              <a:rPr lang="en-US" altLang="ko-KR" sz="2400" b="1" dirty="0" smtClean="0"/>
              <a:t>(‘/’)                     </a:t>
            </a:r>
            <a:r>
              <a:rPr lang="en-US" altLang="ko-KR" b="1" dirty="0" smtClean="0"/>
              <a:t>  # route :  </a:t>
            </a:r>
            <a:r>
              <a:rPr lang="ko-KR" altLang="en-US" b="1" dirty="0" smtClean="0"/>
              <a:t>함수와 </a:t>
            </a:r>
            <a:r>
              <a:rPr lang="en-US" altLang="ko-KR" b="1" dirty="0" smtClean="0"/>
              <a:t>URL</a:t>
            </a:r>
            <a:r>
              <a:rPr lang="ko-KR" altLang="en-US" b="1" dirty="0" smtClean="0"/>
              <a:t>을 연결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함수를 호출함</a:t>
            </a:r>
            <a:endParaRPr lang="en-US" altLang="ko-KR" b="1" dirty="0" smtClean="0"/>
          </a:p>
          <a:p>
            <a:r>
              <a:rPr lang="en-US" altLang="ko-KR" sz="2400" b="1" dirty="0" smtClean="0"/>
              <a:t>def index():</a:t>
            </a:r>
          </a:p>
          <a:p>
            <a:r>
              <a:rPr lang="en-US" altLang="ko-KR" sz="2400" b="1" dirty="0" smtClean="0"/>
              <a:t>     return ‘Hello My world’</a:t>
            </a:r>
          </a:p>
          <a:p>
            <a:r>
              <a:rPr lang="en-US" altLang="ko-KR" sz="2400" b="1" dirty="0" smtClean="0"/>
              <a:t>@</a:t>
            </a:r>
            <a:r>
              <a:rPr lang="en-US" altLang="ko-KR" sz="2400" b="1" dirty="0" err="1" smtClean="0"/>
              <a:t>app.route</a:t>
            </a:r>
            <a:r>
              <a:rPr lang="en-US" altLang="ko-KR" sz="2400" b="1" dirty="0" smtClean="0"/>
              <a:t>(‘/sub1’)</a:t>
            </a:r>
          </a:p>
          <a:p>
            <a:r>
              <a:rPr lang="en-US" altLang="ko-KR" sz="2400" b="1" dirty="0" smtClean="0"/>
              <a:t>def  sub1();</a:t>
            </a:r>
          </a:p>
          <a:p>
            <a:r>
              <a:rPr lang="en-US" altLang="ko-KR" sz="2400" b="1" dirty="0" smtClean="0"/>
              <a:t>     return ‘Hello My App’</a:t>
            </a:r>
          </a:p>
          <a:p>
            <a:endParaRPr lang="en-US" altLang="ko-KR" sz="2400" b="1" dirty="0" smtClean="0"/>
          </a:p>
          <a:p>
            <a:r>
              <a:rPr lang="en-US" altLang="ko-KR" sz="2400" b="1" dirty="0" smtClean="0"/>
              <a:t>if __name__==‘__main__’:</a:t>
            </a:r>
          </a:p>
          <a:p>
            <a:r>
              <a:rPr lang="en-US" altLang="ko-KR" sz="2400" b="1" dirty="0" smtClean="0"/>
              <a:t>     </a:t>
            </a:r>
            <a:r>
              <a:rPr lang="en-US" altLang="ko-KR" sz="2400" b="1" dirty="0" err="1" smtClean="0"/>
              <a:t>app.run</a:t>
            </a:r>
            <a:r>
              <a:rPr lang="en-US" altLang="ko-KR" sz="2400" b="1" dirty="0" smtClean="0"/>
              <a:t>(debug=True, host=</a:t>
            </a:r>
            <a:r>
              <a:rPr lang="en-US" altLang="ko-KR" sz="2400" b="1" dirty="0" smtClean="0">
                <a:solidFill>
                  <a:srgbClr val="0000FF"/>
                </a:solidFill>
              </a:rPr>
              <a:t>‘172.30.2.154’</a:t>
            </a:r>
            <a:r>
              <a:rPr lang="en-US" altLang="ko-KR" sz="2400" b="1" dirty="0" smtClean="0"/>
              <a:t>, port=5000)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756744" y="5104737"/>
            <a:ext cx="2786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C00000"/>
                </a:solidFill>
              </a:rPr>
              <a:t># http://172.30.2.154:5000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rgbClr val="000099"/>
                </a:solidFill>
                <a:latin typeface="+mn-ea"/>
              </a:rPr>
              <a:t> Flask </a:t>
            </a:r>
            <a:r>
              <a:rPr lang="ko-KR" altLang="en-US" sz="2800" b="1" dirty="0" smtClean="0">
                <a:solidFill>
                  <a:srgbClr val="000099"/>
                </a:solidFill>
                <a:latin typeface="+mn-ea"/>
              </a:rPr>
              <a:t>기본 예제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380698" y="1355098"/>
            <a:ext cx="833510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error…  </a:t>
            </a:r>
            <a:r>
              <a:rPr lang="ko-KR" altLang="en-US" sz="2400" b="1" dirty="0" smtClean="0"/>
              <a:t>다시 </a:t>
            </a:r>
            <a:r>
              <a:rPr lang="ko-KR" altLang="en-US" sz="2400" b="1" dirty="0" err="1" smtClean="0"/>
              <a:t>실행시</a:t>
            </a:r>
            <a:r>
              <a:rPr lang="ko-KR" altLang="en-US" sz="2400" b="1" dirty="0" smtClean="0"/>
              <a:t> </a:t>
            </a:r>
            <a:endParaRPr lang="en-US" altLang="ko-KR" sz="2400" b="1" dirty="0" smtClean="0"/>
          </a:p>
          <a:p>
            <a:endParaRPr lang="en-US" altLang="ko-KR" sz="2400" b="1" dirty="0" smtClean="0"/>
          </a:p>
          <a:p>
            <a:r>
              <a:rPr lang="en-US" altLang="ko-KR" sz="2400" b="1" dirty="0" err="1" smtClean="0"/>
              <a:t>sudo</a:t>
            </a:r>
            <a:r>
              <a:rPr lang="en-US" altLang="ko-KR" sz="2400" b="1" dirty="0" smtClean="0"/>
              <a:t> apt-get install </a:t>
            </a:r>
            <a:r>
              <a:rPr lang="en-US" altLang="ko-KR" sz="2400" b="1" dirty="0" err="1" smtClean="0"/>
              <a:t>lsof</a:t>
            </a:r>
            <a:endParaRPr lang="en-US" altLang="ko-KR" sz="2400" b="1" dirty="0" smtClean="0"/>
          </a:p>
          <a:p>
            <a:endParaRPr lang="en-US" altLang="ko-KR" sz="2400" b="1" dirty="0" smtClean="0"/>
          </a:p>
          <a:p>
            <a:r>
              <a:rPr lang="en-US" altLang="ko-KR" sz="2400" b="1" dirty="0" err="1" smtClean="0"/>
              <a:t>sudo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lsof</a:t>
            </a:r>
            <a:r>
              <a:rPr lang="en-US" altLang="ko-KR" sz="2400" b="1" dirty="0" smtClean="0"/>
              <a:t> –</a:t>
            </a:r>
            <a:r>
              <a:rPr lang="en-US" altLang="ko-KR" sz="2400" b="1" dirty="0" err="1" smtClean="0"/>
              <a:t>i</a:t>
            </a:r>
            <a:r>
              <a:rPr lang="en-US" altLang="ko-KR" sz="2400" b="1" dirty="0" smtClean="0"/>
              <a:t> :5000 | </a:t>
            </a:r>
            <a:r>
              <a:rPr lang="en-US" altLang="ko-KR" sz="2400" b="1" dirty="0" err="1" smtClean="0"/>
              <a:t>grep</a:t>
            </a:r>
            <a:r>
              <a:rPr lang="en-US" altLang="ko-KR" sz="2400" b="1" dirty="0" smtClean="0"/>
              <a:t> “python3” | cut –d “ “ –f2 | </a:t>
            </a:r>
            <a:r>
              <a:rPr lang="en-US" altLang="ko-KR" sz="2400" b="1" dirty="0" err="1" smtClean="0"/>
              <a:t>xargs</a:t>
            </a:r>
            <a:r>
              <a:rPr lang="en-US" altLang="ko-KR" sz="2400" b="1" dirty="0" smtClean="0"/>
              <a:t> kill -9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기반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LED ON/OFF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제어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828771" y="1440061"/>
            <a:ext cx="1637731" cy="76427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 err="1" smtClean="0">
                <a:solidFill>
                  <a:schemeClr val="tx1"/>
                </a:solidFill>
              </a:rPr>
              <a:t>webapp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601559" y="1551519"/>
            <a:ext cx="2017576" cy="5299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static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603833" y="2591026"/>
            <a:ext cx="2001655" cy="5299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templates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9" name="직선 연결선 8"/>
          <p:cNvCxnSpPr>
            <a:stCxn id="5" idx="3"/>
            <a:endCxn id="6" idx="1"/>
          </p:cNvCxnSpPr>
          <p:nvPr/>
        </p:nvCxnSpPr>
        <p:spPr>
          <a:xfrm flipV="1">
            <a:off x="2466502" y="1816513"/>
            <a:ext cx="1135057" cy="568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hape 13"/>
          <p:cNvCxnSpPr>
            <a:endCxn id="8" idx="1"/>
          </p:cNvCxnSpPr>
          <p:nvPr/>
        </p:nvCxnSpPr>
        <p:spPr>
          <a:xfrm rot="16200000" flipH="1">
            <a:off x="2791213" y="2043399"/>
            <a:ext cx="1033821" cy="591420"/>
          </a:xfrm>
          <a:prstGeom prst="bentConnector2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4"/>
          <p:cNvSpPr txBox="1"/>
          <p:nvPr/>
        </p:nvSpPr>
        <p:spPr>
          <a:xfrm>
            <a:off x="4008699" y="3992193"/>
            <a:ext cx="120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app.py</a:t>
            </a:r>
            <a:endParaRPr lang="ko-KR" altLang="en-US" b="1" dirty="0"/>
          </a:p>
        </p:txBody>
      </p:sp>
      <p:sp>
        <p:nvSpPr>
          <p:cNvPr id="12" name="TextBox 15"/>
          <p:cNvSpPr txBox="1"/>
          <p:nvPr/>
        </p:nvSpPr>
        <p:spPr>
          <a:xfrm>
            <a:off x="6385684" y="1537871"/>
            <a:ext cx="1419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style.css</a:t>
            </a:r>
            <a:endParaRPr lang="ko-KR" altLang="en-US" b="1" dirty="0"/>
          </a:p>
        </p:txBody>
      </p:sp>
      <p:sp>
        <p:nvSpPr>
          <p:cNvPr id="13" name="TextBox 16"/>
          <p:cNvSpPr txBox="1"/>
          <p:nvPr/>
        </p:nvSpPr>
        <p:spPr>
          <a:xfrm>
            <a:off x="6360662" y="2618335"/>
            <a:ext cx="1788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 smtClean="0"/>
              <a:t>index.html</a:t>
            </a:r>
            <a:endParaRPr lang="ko-KR" altLang="en-US" b="1" dirty="0"/>
          </a:p>
        </p:txBody>
      </p:sp>
      <p:cxnSp>
        <p:nvCxnSpPr>
          <p:cNvPr id="14" name="Shape 17"/>
          <p:cNvCxnSpPr>
            <a:endCxn id="11" idx="1"/>
          </p:cNvCxnSpPr>
          <p:nvPr/>
        </p:nvCxnSpPr>
        <p:spPr>
          <a:xfrm rot="16200000" flipH="1">
            <a:off x="2808820" y="3053923"/>
            <a:ext cx="1419395" cy="980363"/>
          </a:xfrm>
          <a:prstGeom prst="bentConnector2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5662354" y="1794903"/>
            <a:ext cx="625522" cy="227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V="1">
            <a:off x="5610038" y="2848055"/>
            <a:ext cx="625522" cy="227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기반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LED ON/OFF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제어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app.py</a:t>
            </a:r>
            <a:endParaRPr lang="ko-KR" alt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91564" y="916739"/>
            <a:ext cx="8689620" cy="50167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import </a:t>
            </a:r>
            <a:r>
              <a:rPr lang="en-US" altLang="ko-KR" sz="2000" b="1" dirty="0" err="1"/>
              <a:t>RPi.GPIO</a:t>
            </a:r>
            <a:r>
              <a:rPr lang="en-US" altLang="ko-KR" sz="2000" b="1" dirty="0"/>
              <a:t> as GPIO</a:t>
            </a:r>
          </a:p>
          <a:p>
            <a:r>
              <a:rPr lang="en-US" altLang="ko-KR" sz="2000" b="1" dirty="0"/>
              <a:t>from flask import Flask, render_template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app = Flask(__name__)</a:t>
            </a:r>
          </a:p>
          <a:p>
            <a:endParaRPr lang="en-US" altLang="ko-KR" sz="2000" b="1" dirty="0"/>
          </a:p>
          <a:p>
            <a:r>
              <a:rPr lang="en-US" altLang="ko-KR" sz="2000" b="1" dirty="0" err="1"/>
              <a:t>GPIO.setmode</a:t>
            </a:r>
            <a:r>
              <a:rPr lang="en-US" altLang="ko-KR" sz="2000" b="1" dirty="0"/>
              <a:t>(GPIO.BCM)</a:t>
            </a:r>
          </a:p>
          <a:p>
            <a:r>
              <a:rPr lang="en-US" altLang="ko-KR" sz="2000" b="1" dirty="0" err="1"/>
              <a:t>GPIO.setup</a:t>
            </a:r>
            <a:r>
              <a:rPr lang="en-US" altLang="ko-KR" sz="2000" b="1" dirty="0"/>
              <a:t>(21, GPIO.OUT)</a:t>
            </a:r>
          </a:p>
          <a:p>
            <a:endParaRPr lang="en-US" altLang="ko-KR" sz="2000" b="1" dirty="0"/>
          </a:p>
          <a:p>
            <a:r>
              <a:rPr lang="en-US" altLang="ko-KR" sz="2000" b="1" dirty="0" err="1"/>
              <a:t>def</a:t>
            </a:r>
            <a:r>
              <a:rPr lang="en-US" altLang="ko-KR" sz="2000" b="1" dirty="0"/>
              <a:t> </a:t>
            </a:r>
            <a:r>
              <a:rPr lang="en-US" altLang="ko-KR" sz="2000" b="1" dirty="0" err="1"/>
              <a:t>led_on</a:t>
            </a:r>
            <a:r>
              <a:rPr lang="en-US" altLang="ko-KR" sz="2000" b="1" dirty="0"/>
              <a:t>():</a:t>
            </a:r>
          </a:p>
          <a:p>
            <a:r>
              <a:rPr lang="en-US" altLang="ko-KR" sz="2000" b="1" dirty="0"/>
              <a:t>	</a:t>
            </a:r>
            <a:r>
              <a:rPr lang="en-US" altLang="ko-KR" sz="2000" b="1" dirty="0" err="1"/>
              <a:t>GPIO.output</a:t>
            </a:r>
            <a:r>
              <a:rPr lang="en-US" altLang="ko-KR" sz="2000" b="1" dirty="0"/>
              <a:t>(21, 0)</a:t>
            </a:r>
          </a:p>
          <a:p>
            <a:r>
              <a:rPr lang="en-US" altLang="ko-KR" sz="2000" b="1" dirty="0"/>
              <a:t>	return</a:t>
            </a:r>
          </a:p>
          <a:p>
            <a:r>
              <a:rPr lang="en-US" altLang="ko-KR" sz="2000" b="1" dirty="0" err="1"/>
              <a:t>def</a:t>
            </a:r>
            <a:r>
              <a:rPr lang="en-US" altLang="ko-KR" sz="2000" b="1" dirty="0"/>
              <a:t> </a:t>
            </a:r>
            <a:r>
              <a:rPr lang="en-US" altLang="ko-KR" sz="2000" b="1" dirty="0" err="1"/>
              <a:t>led_off</a:t>
            </a:r>
            <a:r>
              <a:rPr lang="en-US" altLang="ko-KR" sz="2000" b="1" dirty="0"/>
              <a:t>():</a:t>
            </a:r>
          </a:p>
          <a:p>
            <a:r>
              <a:rPr lang="en-US" altLang="ko-KR" sz="2000" b="1" dirty="0"/>
              <a:t>	</a:t>
            </a:r>
            <a:r>
              <a:rPr lang="en-US" altLang="ko-KR" sz="2000" b="1" dirty="0" err="1"/>
              <a:t>GPIO.output</a:t>
            </a:r>
            <a:r>
              <a:rPr lang="en-US" altLang="ko-KR" sz="2000" b="1" dirty="0"/>
              <a:t>(21, 1)</a:t>
            </a:r>
          </a:p>
          <a:p>
            <a:r>
              <a:rPr lang="en-US" altLang="ko-KR" sz="2000" b="1" dirty="0"/>
              <a:t>	return</a:t>
            </a:r>
          </a:p>
          <a:p>
            <a:r>
              <a:rPr lang="en-US" altLang="ko-KR" sz="2000" b="1" dirty="0"/>
              <a:t>	</a:t>
            </a:r>
          </a:p>
          <a:p>
            <a:r>
              <a:rPr lang="en-US" altLang="ko-KR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기반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LED ON/OFF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제어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app.py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85549" y="984110"/>
            <a:ext cx="8372902" cy="31700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@</a:t>
            </a:r>
            <a:r>
              <a:rPr lang="en-US" altLang="ko-KR" sz="2000" b="1" dirty="0" err="1"/>
              <a:t>app.route</a:t>
            </a:r>
            <a:r>
              <a:rPr lang="en-US" altLang="ko-KR" sz="2000" b="1" dirty="0"/>
              <a:t>('/')</a:t>
            </a:r>
          </a:p>
          <a:p>
            <a:r>
              <a:rPr lang="en-US" altLang="ko-KR" sz="2000" b="1" dirty="0" err="1"/>
              <a:t>def</a:t>
            </a:r>
            <a:r>
              <a:rPr lang="en-US" altLang="ko-KR" sz="2000" b="1" dirty="0"/>
              <a:t> index():</a:t>
            </a:r>
          </a:p>
          <a:p>
            <a:r>
              <a:rPr lang="en-US" altLang="ko-KR" sz="2000" b="1" dirty="0"/>
              <a:t>	</a:t>
            </a:r>
            <a:r>
              <a:rPr lang="en-US" altLang="ko-KR" sz="2000" b="1" dirty="0" err="1"/>
              <a:t>led_off</a:t>
            </a:r>
            <a:r>
              <a:rPr lang="en-US" altLang="ko-KR" sz="2000" b="1" dirty="0"/>
              <a:t>()</a:t>
            </a:r>
          </a:p>
          <a:p>
            <a:r>
              <a:rPr lang="en-US" altLang="ko-KR" sz="2000" b="1" dirty="0"/>
              <a:t>	return render_template('index.html', state='OFF')</a:t>
            </a:r>
          </a:p>
          <a:p>
            <a:r>
              <a:rPr lang="en-US" altLang="ko-KR" sz="2000" b="1" dirty="0"/>
              <a:t>	</a:t>
            </a:r>
          </a:p>
          <a:p>
            <a:r>
              <a:rPr lang="en-US" altLang="ko-KR" sz="2000" b="1" dirty="0"/>
              <a:t>@</a:t>
            </a:r>
            <a:r>
              <a:rPr lang="en-US" altLang="ko-KR" sz="2000" b="1" dirty="0" err="1"/>
              <a:t>app.route</a:t>
            </a:r>
            <a:r>
              <a:rPr lang="en-US" altLang="ko-KR" sz="2000" b="1" dirty="0"/>
              <a:t>('/on/')</a:t>
            </a:r>
          </a:p>
          <a:p>
            <a:r>
              <a:rPr lang="en-US" altLang="ko-KR" sz="2000" b="1" dirty="0" err="1"/>
              <a:t>def</a:t>
            </a:r>
            <a:r>
              <a:rPr lang="en-US" altLang="ko-KR" sz="2000" b="1" dirty="0"/>
              <a:t> on():</a:t>
            </a:r>
          </a:p>
          <a:p>
            <a:r>
              <a:rPr lang="en-US" altLang="ko-KR" sz="2000" b="1" dirty="0"/>
              <a:t>	</a:t>
            </a:r>
            <a:r>
              <a:rPr lang="en-US" altLang="ko-KR" sz="2000" b="1" dirty="0" err="1"/>
              <a:t>led_on</a:t>
            </a:r>
            <a:r>
              <a:rPr lang="en-US" altLang="ko-KR" sz="2000" b="1" dirty="0"/>
              <a:t>()</a:t>
            </a:r>
          </a:p>
          <a:p>
            <a:r>
              <a:rPr lang="en-US" altLang="ko-KR" sz="2000" b="1" dirty="0"/>
              <a:t>	print ('Switch On')</a:t>
            </a:r>
          </a:p>
          <a:p>
            <a:r>
              <a:rPr lang="en-US" altLang="ko-KR" sz="2000" b="1" dirty="0"/>
              <a:t>	return render_template('index.html', state='ON')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기반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LED ON/OFF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제어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app.py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53478" y="880634"/>
            <a:ext cx="8239260" cy="40934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@</a:t>
            </a:r>
            <a:r>
              <a:rPr lang="en-US" altLang="ko-KR" sz="2000" b="1" dirty="0" err="1"/>
              <a:t>app.route</a:t>
            </a:r>
            <a:r>
              <a:rPr lang="en-US" altLang="ko-KR" sz="2000" b="1" dirty="0"/>
              <a:t>('/off/')</a:t>
            </a:r>
          </a:p>
          <a:p>
            <a:r>
              <a:rPr lang="en-US" altLang="ko-KR" sz="2000" b="1" dirty="0" err="1"/>
              <a:t>def</a:t>
            </a:r>
            <a:r>
              <a:rPr lang="en-US" altLang="ko-KR" sz="2000" b="1" dirty="0"/>
              <a:t> off():</a:t>
            </a:r>
          </a:p>
          <a:p>
            <a:r>
              <a:rPr lang="en-US" altLang="ko-KR" sz="2000" b="1" dirty="0"/>
              <a:t>	</a:t>
            </a:r>
            <a:r>
              <a:rPr lang="en-US" altLang="ko-KR" sz="2000" b="1" dirty="0" err="1"/>
              <a:t>led_off</a:t>
            </a:r>
            <a:r>
              <a:rPr lang="en-US" altLang="ko-KR" sz="2000" b="1" dirty="0"/>
              <a:t>()</a:t>
            </a:r>
          </a:p>
          <a:p>
            <a:r>
              <a:rPr lang="en-US" altLang="ko-KR" sz="2000" b="1" dirty="0"/>
              <a:t>	print ('Switch Off')</a:t>
            </a:r>
          </a:p>
          <a:p>
            <a:r>
              <a:rPr lang="en-US" altLang="ko-KR" sz="2000" b="1" dirty="0"/>
              <a:t>	return render_template('index.html', state='OFF')</a:t>
            </a:r>
          </a:p>
          <a:p>
            <a:r>
              <a:rPr lang="en-US" altLang="ko-KR" sz="2000" b="1" dirty="0"/>
              <a:t>		</a:t>
            </a:r>
          </a:p>
          <a:p>
            <a:r>
              <a:rPr lang="en-US" altLang="ko-KR" sz="2000" b="1" dirty="0"/>
              <a:t>if __name__=='__main__':</a:t>
            </a:r>
          </a:p>
          <a:p>
            <a:r>
              <a:rPr lang="en-US" altLang="ko-KR" sz="2000" b="1" dirty="0"/>
              <a:t>	print('Web Server Starts')</a:t>
            </a:r>
          </a:p>
          <a:p>
            <a:r>
              <a:rPr lang="en-US" altLang="ko-KR" sz="2000" b="1" dirty="0"/>
              <a:t>	</a:t>
            </a:r>
            <a:r>
              <a:rPr lang="en-US" altLang="ko-KR" sz="2000" b="1" dirty="0" err="1"/>
              <a:t>app.run</a:t>
            </a:r>
            <a:r>
              <a:rPr lang="en-US" altLang="ko-KR" sz="2000" b="1" dirty="0"/>
              <a:t>(debug=True, host='172.30.2.115', port=8000)</a:t>
            </a:r>
          </a:p>
          <a:p>
            <a:r>
              <a:rPr lang="en-US" altLang="ko-KR" sz="2000" b="1" dirty="0"/>
              <a:t>	print ('Web Server Ends')</a:t>
            </a:r>
          </a:p>
          <a:p>
            <a:endParaRPr lang="en-US" altLang="ko-KR" sz="2000" b="1" dirty="0"/>
          </a:p>
          <a:p>
            <a:r>
              <a:rPr lang="en-US" altLang="ko-KR" sz="2000" b="1" dirty="0" err="1"/>
              <a:t>GPIO.cleanup</a:t>
            </a:r>
            <a:r>
              <a:rPr lang="en-US" altLang="ko-KR" sz="2000" b="1" dirty="0"/>
              <a:t>()</a:t>
            </a:r>
          </a:p>
          <a:p>
            <a:r>
              <a:rPr lang="en-US" altLang="ko-KR" sz="2000" b="1" dirty="0"/>
              <a:t>Print('Program Ends')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기반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LED ON/OFF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제어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index.html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7436" y="962371"/>
            <a:ext cx="8209128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/>
              <a:t>&lt;!</a:t>
            </a:r>
            <a:r>
              <a:rPr lang="en-US" altLang="ko-KR" b="1" dirty="0" err="1"/>
              <a:t>doctype</a:t>
            </a:r>
            <a:r>
              <a:rPr lang="en-US" altLang="ko-KR" b="1" dirty="0"/>
              <a:t> html</a:t>
            </a:r>
            <a:r>
              <a:rPr lang="en-US" altLang="ko-KR" b="1" dirty="0" smtClean="0"/>
              <a:t>&gt;</a:t>
            </a:r>
            <a:endParaRPr lang="en-US" altLang="ko-KR" b="1" dirty="0"/>
          </a:p>
          <a:p>
            <a:r>
              <a:rPr lang="en-US" altLang="ko-KR" b="1" dirty="0"/>
              <a:t>&lt;html&gt;</a:t>
            </a:r>
          </a:p>
          <a:p>
            <a:r>
              <a:rPr lang="en-US" altLang="ko-KR" b="1" dirty="0"/>
              <a:t>&lt;head&gt;</a:t>
            </a:r>
          </a:p>
          <a:p>
            <a:r>
              <a:rPr lang="en-US" altLang="ko-KR" b="1" dirty="0"/>
              <a:t>	&lt;title&gt; GPIO INPUT/OUTPUT DEMO  &lt;/title&gt;</a:t>
            </a:r>
          </a:p>
          <a:p>
            <a:r>
              <a:rPr lang="en-US" altLang="ko-KR" b="1" dirty="0"/>
              <a:t>	&lt;link type="text/</a:t>
            </a:r>
            <a:r>
              <a:rPr lang="en-US" altLang="ko-KR" b="1" dirty="0" err="1"/>
              <a:t>css</a:t>
            </a:r>
            <a:r>
              <a:rPr lang="en-US" altLang="ko-KR" b="1" dirty="0"/>
              <a:t>" </a:t>
            </a:r>
            <a:r>
              <a:rPr lang="en-US" altLang="ko-KR" b="1" dirty="0" err="1"/>
              <a:t>rel</a:t>
            </a:r>
            <a:r>
              <a:rPr lang="en-US" altLang="ko-KR" b="1" dirty="0"/>
              <a:t>="</a:t>
            </a:r>
            <a:r>
              <a:rPr lang="en-US" altLang="ko-KR" b="1" dirty="0" err="1"/>
              <a:t>stylesheet</a:t>
            </a:r>
            <a:r>
              <a:rPr lang="en-US" altLang="ko-KR" b="1" dirty="0"/>
              <a:t>" </a:t>
            </a:r>
            <a:r>
              <a:rPr lang="en-US" altLang="ko-KR" b="1" dirty="0" err="1"/>
              <a:t>href</a:t>
            </a:r>
            <a:r>
              <a:rPr lang="en-US" altLang="ko-KR" b="1" dirty="0"/>
              <a:t>="/static/style.css" /&gt;  </a:t>
            </a:r>
          </a:p>
          <a:p>
            <a:endParaRPr lang="en-US" altLang="ko-KR" b="1" dirty="0"/>
          </a:p>
          <a:p>
            <a:r>
              <a:rPr lang="en-US" altLang="ko-KR" b="1" dirty="0"/>
              <a:t>&lt;/head</a:t>
            </a:r>
            <a:r>
              <a:rPr lang="en-US" altLang="ko-KR" b="1" dirty="0" smtClean="0"/>
              <a:t>&gt;</a:t>
            </a:r>
            <a:endParaRPr lang="en-US" altLang="ko-KR" b="1" dirty="0"/>
          </a:p>
          <a:p>
            <a:r>
              <a:rPr lang="en-US" altLang="ko-KR" b="1" dirty="0"/>
              <a:t>&lt;body</a:t>
            </a:r>
            <a:r>
              <a:rPr lang="en-US" altLang="ko-KR" b="1" dirty="0" smtClean="0"/>
              <a:t>&gt;</a:t>
            </a:r>
            <a:endParaRPr lang="en-US" altLang="ko-KR" b="1" dirty="0"/>
          </a:p>
          <a:p>
            <a:r>
              <a:rPr lang="en-US" altLang="ko-KR" b="1" dirty="0"/>
              <a:t>&lt;div class="</a:t>
            </a:r>
            <a:r>
              <a:rPr lang="en-US" altLang="ko-KR" b="1" dirty="0" err="1"/>
              <a:t>onoff</a:t>
            </a:r>
            <a:r>
              <a:rPr lang="en-US" altLang="ko-KR" b="1" dirty="0"/>
              <a:t>"&gt;&lt;a </a:t>
            </a:r>
            <a:r>
              <a:rPr lang="en-US" altLang="ko-KR" b="1" dirty="0" err="1"/>
              <a:t>href</a:t>
            </a:r>
            <a:r>
              <a:rPr lang="en-US" altLang="ko-KR" b="1" dirty="0"/>
              <a:t>="/on/"&gt;ON&lt;/a&gt;&lt;/div&gt;</a:t>
            </a:r>
          </a:p>
          <a:p>
            <a:r>
              <a:rPr lang="en-US" altLang="ko-KR" b="1" dirty="0"/>
              <a:t>&lt;div class="</a:t>
            </a:r>
            <a:r>
              <a:rPr lang="en-US" altLang="ko-KR" b="1" dirty="0" err="1"/>
              <a:t>onoff</a:t>
            </a:r>
            <a:r>
              <a:rPr lang="en-US" altLang="ko-KR" b="1" dirty="0"/>
              <a:t>"&gt;&lt;a </a:t>
            </a:r>
            <a:r>
              <a:rPr lang="en-US" altLang="ko-KR" b="1" dirty="0" err="1"/>
              <a:t>href</a:t>
            </a:r>
            <a:r>
              <a:rPr lang="en-US" altLang="ko-KR" b="1" dirty="0"/>
              <a:t>="/off/"&gt;OFF&lt;/a&gt;&lt;/div</a:t>
            </a:r>
            <a:r>
              <a:rPr lang="en-US" altLang="ko-KR" b="1" dirty="0" smtClean="0"/>
              <a:t>&gt;</a:t>
            </a:r>
            <a:endParaRPr lang="en-US" altLang="ko-KR" b="1" dirty="0"/>
          </a:p>
          <a:p>
            <a:r>
              <a:rPr lang="en-US" altLang="ko-KR" b="1" dirty="0"/>
              <a:t>&lt;</a:t>
            </a:r>
            <a:r>
              <a:rPr lang="en-US" altLang="ko-KR" b="1" dirty="0" err="1"/>
              <a:t>br</a:t>
            </a:r>
            <a:r>
              <a:rPr lang="en-US" altLang="ko-KR" b="1" dirty="0"/>
              <a:t>/&gt;</a:t>
            </a:r>
          </a:p>
          <a:p>
            <a:r>
              <a:rPr lang="en-US" altLang="ko-KR" b="1" dirty="0"/>
              <a:t>&lt;p&gt;LED is now &lt;span id="state"&gt;{{state }}&lt;/span&gt;state. &lt;/p</a:t>
            </a:r>
            <a:r>
              <a:rPr lang="en-US" altLang="ko-KR" b="1" dirty="0" smtClean="0"/>
              <a:t>&gt;</a:t>
            </a:r>
            <a:endParaRPr lang="en-US" altLang="ko-KR" b="1" dirty="0"/>
          </a:p>
          <a:p>
            <a:r>
              <a:rPr lang="en-US" altLang="ko-KR" b="1" dirty="0"/>
              <a:t>&lt;/body&gt;</a:t>
            </a:r>
          </a:p>
          <a:p>
            <a:r>
              <a:rPr lang="en-US" altLang="ko-KR" b="1" dirty="0"/>
              <a:t>&lt;/html&gt;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웹서버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기반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LED ON/OFF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제어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: style.css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11489" y="1039371"/>
            <a:ext cx="6121021" cy="50167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body{</a:t>
            </a:r>
          </a:p>
          <a:p>
            <a:r>
              <a:rPr lang="en-US" altLang="ko-KR" sz="2000" b="1" dirty="0"/>
              <a:t>	</a:t>
            </a:r>
            <a:r>
              <a:rPr lang="en-US" altLang="ko-KR" sz="2000" b="1" dirty="0" err="1"/>
              <a:t>background-color:black</a:t>
            </a:r>
            <a:r>
              <a:rPr lang="en-US" altLang="ko-KR" sz="2000" b="1" dirty="0"/>
              <a:t>;</a:t>
            </a:r>
          </a:p>
          <a:p>
            <a:r>
              <a:rPr lang="en-US" altLang="ko-KR" sz="2000" b="1" dirty="0"/>
              <a:t>	text-align: center;</a:t>
            </a:r>
          </a:p>
          <a:p>
            <a:r>
              <a:rPr lang="en-US" altLang="ko-KR" sz="2000" b="1" dirty="0" smtClean="0"/>
              <a:t>}</a:t>
            </a:r>
            <a:endParaRPr lang="en-US" altLang="ko-KR" sz="2000" b="1" dirty="0"/>
          </a:p>
          <a:p>
            <a:r>
              <a:rPr lang="en-US" altLang="ko-KR" sz="2000" b="1" dirty="0" err="1"/>
              <a:t>div.onoff</a:t>
            </a:r>
            <a:r>
              <a:rPr lang="en-US" altLang="ko-KR" sz="2000" b="1" dirty="0"/>
              <a:t> a{	</a:t>
            </a:r>
          </a:p>
          <a:p>
            <a:r>
              <a:rPr lang="en-US" altLang="ko-KR" sz="2000" b="1" dirty="0"/>
              <a:t>	font-size: 80px;</a:t>
            </a:r>
          </a:p>
          <a:p>
            <a:r>
              <a:rPr lang="en-US" altLang="ko-KR" sz="2000" b="1" dirty="0"/>
              <a:t>	color: blue;</a:t>
            </a:r>
          </a:p>
          <a:p>
            <a:r>
              <a:rPr lang="en-US" altLang="ko-KR" sz="2000" b="1" dirty="0" smtClean="0"/>
              <a:t>}</a:t>
            </a:r>
            <a:endParaRPr lang="en-US" altLang="ko-KR" sz="2000" b="1" dirty="0"/>
          </a:p>
          <a:p>
            <a:r>
              <a:rPr lang="en-US" altLang="ko-KR" sz="2000" b="1" dirty="0"/>
              <a:t>p{</a:t>
            </a:r>
          </a:p>
          <a:p>
            <a:r>
              <a:rPr lang="en-US" altLang="ko-KR" sz="2000" b="1" dirty="0"/>
              <a:t>	font-size: 50px;</a:t>
            </a:r>
          </a:p>
          <a:p>
            <a:r>
              <a:rPr lang="en-US" altLang="ko-KR" sz="2000" b="1" dirty="0"/>
              <a:t>	color : yellow;</a:t>
            </a:r>
          </a:p>
          <a:p>
            <a:r>
              <a:rPr lang="en-US" altLang="ko-KR" sz="2000" b="1" dirty="0" smtClean="0"/>
              <a:t>}</a:t>
            </a:r>
            <a:endParaRPr lang="en-US" altLang="ko-KR" sz="2000" b="1" dirty="0"/>
          </a:p>
          <a:p>
            <a:r>
              <a:rPr lang="en-US" altLang="ko-KR" sz="2000" b="1" dirty="0"/>
              <a:t>#state{</a:t>
            </a:r>
          </a:p>
          <a:p>
            <a:r>
              <a:rPr lang="en-US" altLang="ko-KR" sz="2000" b="1" dirty="0"/>
              <a:t>	font-size: 80px;</a:t>
            </a:r>
          </a:p>
          <a:p>
            <a:r>
              <a:rPr lang="en-US" altLang="ko-KR" sz="2000" b="1" dirty="0"/>
              <a:t>	color : red;</a:t>
            </a:r>
          </a:p>
          <a:p>
            <a:r>
              <a:rPr lang="en-US" altLang="ko-KR" sz="2000" b="1" dirty="0"/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Example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6917" y="1263923"/>
            <a:ext cx="7847685" cy="247760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00"/>
              </a:lnSpc>
              <a:buFont typeface="Arial" pitchFamily="34" charset="0"/>
              <a:buChar char="•"/>
            </a:pPr>
            <a:r>
              <a:rPr lang="en-US" altLang="ko-KR" b="1" dirty="0">
                <a:latin typeface="+mn-ea"/>
              </a:rPr>
              <a:t> LED</a:t>
            </a:r>
            <a:r>
              <a:rPr lang="ko-KR" altLang="en-US" b="1" dirty="0">
                <a:latin typeface="+mn-ea"/>
              </a:rPr>
              <a:t>를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개 </a:t>
            </a:r>
            <a:r>
              <a:rPr lang="ko-KR" altLang="en-US" b="1" dirty="0" err="1">
                <a:latin typeface="+mn-ea"/>
              </a:rPr>
              <a:t>라즈베리파이</a:t>
            </a:r>
            <a:r>
              <a:rPr lang="ko-KR" altLang="en-US" b="1" dirty="0">
                <a:latin typeface="+mn-ea"/>
              </a:rPr>
              <a:t> 보드 </a:t>
            </a:r>
            <a:r>
              <a:rPr lang="en-US" altLang="ko-KR" b="1" dirty="0">
                <a:latin typeface="+mn-ea"/>
              </a:rPr>
              <a:t>PWM</a:t>
            </a:r>
            <a:r>
              <a:rPr lang="ko-KR" altLang="en-US" b="1" dirty="0">
                <a:latin typeface="+mn-ea"/>
              </a:rPr>
              <a:t>핀에 </a:t>
            </a:r>
            <a:r>
              <a:rPr lang="ko-KR" altLang="en-US" b="1" dirty="0" smtClean="0">
                <a:latin typeface="+mn-ea"/>
              </a:rPr>
              <a:t>연결함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ts val="3100"/>
              </a:lnSpc>
              <a:buFont typeface="Arial" pitchFamily="34" charset="0"/>
              <a:buChar char="•"/>
            </a:pP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DC Motor</a:t>
            </a:r>
            <a:r>
              <a:rPr lang="ko-KR" altLang="en-US" b="1" dirty="0">
                <a:latin typeface="+mn-ea"/>
              </a:rPr>
              <a:t>를</a:t>
            </a:r>
            <a:r>
              <a:rPr lang="ko-KR" altLang="en-US" b="1" dirty="0" smtClean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개 </a:t>
            </a:r>
            <a:r>
              <a:rPr lang="ko-KR" altLang="en-US" b="1" dirty="0" err="1">
                <a:latin typeface="+mn-ea"/>
              </a:rPr>
              <a:t>라즈베리파이</a:t>
            </a:r>
            <a:r>
              <a:rPr lang="ko-KR" altLang="en-US" b="1" dirty="0">
                <a:latin typeface="+mn-ea"/>
              </a:rPr>
              <a:t> 보드 </a:t>
            </a:r>
            <a:r>
              <a:rPr lang="en-US" altLang="ko-KR" b="1" dirty="0">
                <a:latin typeface="+mn-ea"/>
              </a:rPr>
              <a:t>PWM</a:t>
            </a:r>
            <a:r>
              <a:rPr lang="ko-KR" altLang="en-US" b="1" dirty="0">
                <a:latin typeface="+mn-ea"/>
              </a:rPr>
              <a:t>핀에 연결함</a:t>
            </a:r>
            <a:endParaRPr lang="en-US" altLang="ko-KR" b="1" dirty="0">
              <a:latin typeface="+mn-ea"/>
            </a:endParaRPr>
          </a:p>
          <a:p>
            <a:pPr>
              <a:lnSpc>
                <a:spcPts val="3100"/>
              </a:lnSpc>
              <a:buFont typeface="Arial" pitchFamily="34" charset="0"/>
              <a:buChar char="•"/>
            </a:pPr>
            <a:endParaRPr lang="en-US" altLang="ko-KR" b="1" dirty="0">
              <a:latin typeface="+mn-ea"/>
            </a:endParaRPr>
          </a:p>
          <a:p>
            <a:pPr>
              <a:lnSpc>
                <a:spcPts val="3100"/>
              </a:lnSpc>
              <a:buFont typeface="Arial" pitchFamily="34" charset="0"/>
              <a:buChar char="•"/>
            </a:pPr>
            <a:r>
              <a:rPr lang="ko-KR" altLang="en-US" b="1" dirty="0" smtClean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html </a:t>
            </a:r>
            <a:r>
              <a:rPr lang="ko-KR" altLang="en-US" b="1" dirty="0" smtClean="0">
                <a:latin typeface="+mn-ea"/>
              </a:rPr>
              <a:t>로 </a:t>
            </a:r>
            <a:r>
              <a:rPr lang="en-US" altLang="ko-KR" b="1" dirty="0" smtClean="0">
                <a:latin typeface="+mn-ea"/>
              </a:rPr>
              <a:t>0, 25, 50, 75, 100  5</a:t>
            </a:r>
            <a:r>
              <a:rPr lang="ko-KR" altLang="en-US" b="1" dirty="0" smtClean="0">
                <a:latin typeface="+mn-ea"/>
              </a:rPr>
              <a:t>단계의 하이퍼텍스트를 만들고</a:t>
            </a:r>
            <a:r>
              <a:rPr lang="en-US" altLang="ko-KR" b="1" dirty="0" smtClean="0">
                <a:latin typeface="+mn-ea"/>
              </a:rPr>
              <a:t>, </a:t>
            </a:r>
          </a:p>
          <a:p>
            <a:pPr>
              <a:lnSpc>
                <a:spcPts val="3100"/>
              </a:lnSpc>
            </a:pP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숫자를 </a:t>
            </a:r>
            <a:r>
              <a:rPr lang="ko-KR" altLang="en-US" b="1" dirty="0" err="1" smtClean="0">
                <a:latin typeface="+mn-ea"/>
              </a:rPr>
              <a:t>누를때마다</a:t>
            </a:r>
            <a:r>
              <a:rPr lang="ko-KR" altLang="en-US" b="1" dirty="0" smtClean="0">
                <a:latin typeface="+mn-ea"/>
              </a:rPr>
              <a:t> </a:t>
            </a:r>
            <a:r>
              <a:rPr lang="ko-KR" altLang="en-US" b="1" dirty="0" err="1" smtClean="0">
                <a:latin typeface="+mn-ea"/>
              </a:rPr>
              <a:t>라즈베리파이</a:t>
            </a:r>
            <a:r>
              <a:rPr lang="ko-KR" altLang="en-US" b="1" dirty="0" smtClean="0">
                <a:latin typeface="+mn-ea"/>
              </a:rPr>
              <a:t> 보드의 </a:t>
            </a:r>
            <a:r>
              <a:rPr lang="en-US" altLang="ko-KR" b="1" dirty="0" smtClean="0">
                <a:latin typeface="+mn-ea"/>
              </a:rPr>
              <a:t>LED </a:t>
            </a:r>
            <a:r>
              <a:rPr lang="ko-KR" altLang="en-US" b="1" dirty="0" smtClean="0">
                <a:latin typeface="+mn-ea"/>
              </a:rPr>
              <a:t>와 </a:t>
            </a:r>
            <a:r>
              <a:rPr lang="en-US" altLang="ko-KR" b="1" dirty="0" smtClean="0">
                <a:latin typeface="+mn-ea"/>
              </a:rPr>
              <a:t>MOTOR</a:t>
            </a:r>
            <a:r>
              <a:rPr lang="ko-KR" altLang="en-US" b="1" dirty="0" smtClean="0">
                <a:latin typeface="+mn-ea"/>
              </a:rPr>
              <a:t>의 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ts val="3100"/>
              </a:lnSpc>
            </a:pP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밝기와 회전 속도가 숫자에 비례하여 증가하도록 프로그램 하시오</a:t>
            </a:r>
            <a:r>
              <a:rPr lang="en-US" altLang="ko-KR" b="1" dirty="0" smtClean="0">
                <a:latin typeface="+mn-ea"/>
              </a:rPr>
              <a:t>.</a:t>
            </a:r>
            <a:endParaRPr lang="en-US" altLang="ko-KR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1793173"/>
            <a:ext cx="9144000" cy="201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algn="ctr"/>
            <a:r>
              <a:rPr lang="en-US" altLang="ko-KR" sz="3600" b="1" smtClean="0">
                <a:solidFill>
                  <a:srgbClr val="000099"/>
                </a:solidFill>
                <a:latin typeface="+mn-ea"/>
              </a:rPr>
              <a:t>Web : HTML &amp; CSS</a:t>
            </a:r>
            <a:endParaRPr lang="ko-KR" altLang="en-US" sz="3600" b="1" dirty="0" smtClean="0">
              <a:solidFill>
                <a:srgbClr val="00009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200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smtClean="0">
                <a:solidFill>
                  <a:schemeClr val="tx1"/>
                </a:solidFill>
              </a:rPr>
              <a:t>개발 환경 </a:t>
            </a:r>
            <a:r>
              <a:rPr lang="en-US" altLang="ko-KR" sz="2800" b="1" smtClean="0">
                <a:solidFill>
                  <a:schemeClr val="tx1"/>
                </a:solidFill>
              </a:rPr>
              <a:t>: SubLime3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70" y="1112985"/>
            <a:ext cx="6575905" cy="5394361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954233" y="6198780"/>
            <a:ext cx="786809" cy="38277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2161954" y="1311348"/>
            <a:ext cx="368595" cy="26227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835741" y="1529002"/>
            <a:ext cx="1869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400" b="1" smtClean="0">
                <a:solidFill>
                  <a:srgbClr val="0000FF"/>
                </a:solidFill>
              </a:rPr>
              <a:t>Emment </a:t>
            </a:r>
            <a:r>
              <a:rPr lang="ko-KR" altLang="en-US" sz="1400" b="1" smtClean="0">
                <a:solidFill>
                  <a:srgbClr val="0000FF"/>
                </a:solidFill>
              </a:rPr>
              <a:t>설치</a:t>
            </a:r>
            <a:endParaRPr lang="en-US" altLang="ko-KR" sz="1400" b="1" smtClean="0">
              <a:solidFill>
                <a:srgbClr val="0000FF"/>
              </a:solidFill>
            </a:endParaRPr>
          </a:p>
          <a:p>
            <a:r>
              <a:rPr lang="en-US" altLang="ko-KR" sz="1100" smtClean="0"/>
              <a:t>Tool --&gt; Command Palette --&gt;</a:t>
            </a:r>
          </a:p>
          <a:p>
            <a:r>
              <a:rPr lang="en-US" altLang="ko-KR" sz="1100" smtClean="0"/>
              <a:t>(install package --&gt; Emmet) 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63971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b="1" smtClean="0">
                <a:solidFill>
                  <a:schemeClr val="tx1"/>
                </a:solidFill>
              </a:rPr>
              <a:t>개발 환경 </a:t>
            </a:r>
            <a:r>
              <a:rPr lang="en-US" altLang="ko-KR" sz="2800" b="1" smtClean="0">
                <a:solidFill>
                  <a:schemeClr val="tx1"/>
                </a:solidFill>
              </a:rPr>
              <a:t>: SubLime3 </a:t>
            </a:r>
            <a:r>
              <a:rPr lang="ko-KR" altLang="en-US" sz="2800" b="1" smtClean="0">
                <a:solidFill>
                  <a:schemeClr val="tx1"/>
                </a:solidFill>
              </a:rPr>
              <a:t>에서 크롬 실행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159131"/>
            <a:ext cx="8743804" cy="4358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Sublime text3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</a:rPr>
              <a:t>에서 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Tools &gt; Build </a:t>
            </a:r>
            <a:r>
              <a:rPr lang="en-US" altLang="ko-KR" sz="1400" b="1" dirty="0" err="1">
                <a:solidFill>
                  <a:srgbClr val="0000FF"/>
                </a:solidFill>
                <a:latin typeface="+mn-ea"/>
              </a:rPr>
              <a:t>Sysyem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 &gt; New Build System</a:t>
            </a:r>
            <a:br>
              <a:rPr lang="en-US" altLang="ko-KR" sz="1400" b="1" dirty="0">
                <a:solidFill>
                  <a:srgbClr val="0000FF"/>
                </a:solidFill>
                <a:latin typeface="+mn-ea"/>
              </a:rPr>
            </a:br>
            <a:r>
              <a:rPr lang="en-US" altLang="ko-KR" sz="1400" b="1" dirty="0">
                <a:latin typeface="+mn-ea"/>
              </a:rPr>
              <a:t/>
            </a:r>
            <a:br>
              <a:rPr lang="en-US" altLang="ko-KR" sz="1400" b="1" dirty="0">
                <a:latin typeface="+mn-ea"/>
              </a:rPr>
            </a:br>
            <a:r>
              <a:rPr lang="en-US" altLang="ko-KR" sz="1400" b="1" dirty="0" smtClean="0">
                <a:latin typeface="+mn-ea"/>
              </a:rPr>
              <a:t>  {</a:t>
            </a:r>
            <a:endParaRPr lang="en-US" altLang="ko-KR" sz="1400" b="1" dirty="0">
              <a:latin typeface="+mn-ea"/>
            </a:endParaRPr>
          </a:p>
          <a:p>
            <a:pPr>
              <a:lnSpc>
                <a:spcPts val="2800"/>
              </a:lnSpc>
            </a:pPr>
            <a:r>
              <a:rPr lang="en-US" altLang="ko-KR" sz="1400" b="1" dirty="0" smtClean="0">
                <a:latin typeface="+mn-ea"/>
              </a:rPr>
              <a:t>         "</a:t>
            </a:r>
            <a:r>
              <a:rPr lang="en-US" altLang="ko-KR" sz="1400" b="1" dirty="0" err="1">
                <a:latin typeface="+mn-ea"/>
              </a:rPr>
              <a:t>cmd</a:t>
            </a:r>
            <a:r>
              <a:rPr lang="en-US" altLang="ko-KR" sz="1400" b="1" dirty="0">
                <a:latin typeface="+mn-ea"/>
              </a:rPr>
              <a:t>": ["c:\\Program Files (x86)\\Google\\Chrome\\Application\\chrome.exe","$file"] </a:t>
            </a:r>
          </a:p>
          <a:p>
            <a:pPr>
              <a:lnSpc>
                <a:spcPts val="2800"/>
              </a:lnSpc>
            </a:pPr>
            <a:r>
              <a:rPr lang="en-US" altLang="ko-KR" sz="1400" b="1" dirty="0" smtClean="0">
                <a:latin typeface="+mn-ea"/>
              </a:rPr>
              <a:t>     }</a:t>
            </a:r>
            <a:endParaRPr lang="en-US" altLang="ko-KR" sz="1400" b="1" dirty="0">
              <a:latin typeface="+mn-ea"/>
            </a:endParaRPr>
          </a:p>
          <a:p>
            <a:pPr>
              <a:lnSpc>
                <a:spcPts val="2800"/>
              </a:lnSpc>
            </a:pPr>
            <a:endParaRPr lang="en-US" altLang="ko-KR" sz="1400" b="1" dirty="0" smtClean="0">
              <a:latin typeface="+mn-ea"/>
            </a:endParaRPr>
          </a:p>
          <a:p>
            <a:pPr marL="182563" indent="-182563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 err="1" smtClean="0">
                <a:solidFill>
                  <a:srgbClr val="0000FF"/>
                </a:solidFill>
                <a:latin typeface="+mn-ea"/>
              </a:rPr>
              <a:t>Chrome.sublime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-build 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</a:rPr>
              <a:t>이름으로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저장하기</a:t>
            </a:r>
            <a:endParaRPr lang="en-US" altLang="ko-KR" sz="1400" b="1" dirty="0" smtClean="0">
              <a:solidFill>
                <a:srgbClr val="0000FF"/>
              </a:solidFill>
              <a:latin typeface="+mn-ea"/>
            </a:endParaRPr>
          </a:p>
          <a:p>
            <a:pPr marL="182563" indent="-182563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0000FF"/>
                </a:solidFill>
                <a:latin typeface="+mn-ea"/>
              </a:rPr>
              <a:t>프로그램 재 실행 후 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Tools &gt; Build System 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</a:rPr>
              <a:t>아래 </a:t>
            </a:r>
            <a:r>
              <a:rPr lang="en-US" altLang="ko-KR" sz="1400" b="1" dirty="0" smtClean="0">
                <a:solidFill>
                  <a:srgbClr val="0000FF"/>
                </a:solidFill>
                <a:latin typeface="+mn-ea"/>
              </a:rPr>
              <a:t>Chrome </a:t>
            </a:r>
            <a:r>
              <a:rPr lang="ko-KR" altLang="en-US" sz="1400" b="1" dirty="0" smtClean="0">
                <a:solidFill>
                  <a:srgbClr val="0000FF"/>
                </a:solidFill>
                <a:latin typeface="+mn-ea"/>
              </a:rPr>
              <a:t>선택</a:t>
            </a:r>
            <a:r>
              <a:rPr lang="ko-KR" altLang="en-US" sz="1400" b="1" dirty="0"/>
              <a:t/>
            </a:r>
            <a:br>
              <a:rPr lang="ko-KR" altLang="en-US" sz="1400" b="1" dirty="0"/>
            </a:br>
            <a:r>
              <a:rPr lang="ko-KR" altLang="en-US" sz="1400" b="1" dirty="0"/>
              <a:t/>
            </a:r>
            <a:br>
              <a:rPr lang="ko-KR" altLang="en-US" sz="1400" b="1" dirty="0"/>
            </a:br>
            <a:r>
              <a:rPr lang="ko-KR" altLang="en-US" sz="1400" b="1" dirty="0"/>
              <a:t/>
            </a:r>
            <a:br>
              <a:rPr lang="ko-KR" altLang="en-US" sz="1400" b="1" dirty="0"/>
            </a:br>
            <a:r>
              <a:rPr lang="ko-KR" altLang="en-US" sz="1400" b="1" dirty="0"/>
              <a:t/>
            </a:r>
            <a:br>
              <a:rPr lang="ko-KR" altLang="en-US" sz="1400" b="1" dirty="0"/>
            </a:b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2947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&amp; CSS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https://qph.ec.quoracdn.net/main-qimg-668e0cd33fb48cdfbd3412f00439cb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071" y="2206194"/>
            <a:ext cx="5612836" cy="307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95656" y="1204957"/>
            <a:ext cx="3907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HTML </a:t>
            </a:r>
            <a:r>
              <a:rPr lang="en-US" altLang="ko-KR" smtClean="0"/>
              <a:t> : </a:t>
            </a:r>
            <a:r>
              <a:rPr lang="en-US" altLang="ko-KR"/>
              <a:t>Hypertext Markup </a:t>
            </a:r>
            <a:r>
              <a:rPr lang="en-US" altLang="ko-KR" smtClean="0"/>
              <a:t>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mtClean="0"/>
              <a:t>CSS</a:t>
            </a:r>
            <a:r>
              <a:rPr lang="en-US" altLang="ko-KR"/>
              <a:t> </a:t>
            </a:r>
            <a:r>
              <a:rPr lang="en-US" altLang="ko-KR" smtClean="0"/>
              <a:t>: Cascading </a:t>
            </a:r>
            <a:r>
              <a:rPr lang="en-US" altLang="ko-KR"/>
              <a:t>Style Sheets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4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Tag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11997" y="1041732"/>
            <a:ext cx="7847685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altLang="ko-KR" b="1">
                <a:latin typeface="+mn-ea"/>
              </a:rPr>
              <a:t> </a:t>
            </a:r>
            <a:r>
              <a:rPr lang="en-US" altLang="ko-KR"/>
              <a:t>HTML</a:t>
            </a:r>
            <a:r>
              <a:rPr lang="ko-KR" altLang="en-US"/>
              <a:t>문서를 구성하고 있는 </a:t>
            </a:r>
            <a:r>
              <a:rPr lang="ko-KR" altLang="en-US" smtClean="0"/>
              <a:t>요소</a:t>
            </a:r>
            <a:endParaRPr lang="en-US" altLang="ko-KR" smtClean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mtClean="0"/>
              <a:t> </a:t>
            </a:r>
            <a:r>
              <a:rPr lang="ko-KR" altLang="en-US"/>
              <a:t>태그에는 이름과 속성이 </a:t>
            </a:r>
            <a:r>
              <a:rPr lang="ko-KR" altLang="en-US" smtClean="0"/>
              <a:t>있다</a:t>
            </a:r>
            <a:endParaRPr lang="en-US" altLang="ko-K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46" y="1698977"/>
            <a:ext cx="6648829" cy="515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82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</a:t>
            </a:r>
            <a:r>
              <a:rPr lang="ko-KR" altLang="en-US" sz="2800" b="1" smtClean="0">
                <a:solidFill>
                  <a:schemeClr val="tx1"/>
                </a:solidFill>
              </a:rPr>
              <a:t>기본</a:t>
            </a:r>
            <a:r>
              <a:rPr lang="en-US" altLang="ko-KR" sz="2800" b="1" smtClean="0">
                <a:solidFill>
                  <a:schemeClr val="tx1"/>
                </a:solidFill>
              </a:rPr>
              <a:t>-1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10128" y="1319187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&lt;html lang="en" xmlns="http://www.w3.org/1999/xhtml"&gt;</a:t>
            </a:r>
          </a:p>
          <a:p>
            <a:r>
              <a:rPr lang="ko-KR" altLang="en-US"/>
              <a:t>&lt;head&gt;</a:t>
            </a:r>
          </a:p>
          <a:p>
            <a:r>
              <a:rPr lang="ko-KR" altLang="en-US"/>
              <a:t>	&lt;meta charset="utf-8" /&gt;</a:t>
            </a:r>
          </a:p>
          <a:p>
            <a:r>
              <a:rPr lang="ko-KR" altLang="en-US"/>
              <a:t>	&lt;title&gt;처음 홈페이지&lt;/title&gt;</a:t>
            </a:r>
          </a:p>
          <a:p>
            <a:r>
              <a:rPr lang="ko-KR" altLang="en-US"/>
              <a:t>&lt;/head&gt;</a:t>
            </a:r>
          </a:p>
          <a:p>
            <a:endParaRPr lang="ko-KR" altLang="en-US"/>
          </a:p>
          <a:p>
            <a:r>
              <a:rPr lang="ko-KR" altLang="en-US"/>
              <a:t>&lt;body&gt;</a:t>
            </a:r>
          </a:p>
          <a:p>
            <a:r>
              <a:rPr lang="ko-KR" altLang="en-US"/>
              <a:t>  안녕하세요. 처음입니다. &lt;br </a:t>
            </a:r>
            <a:r>
              <a:rPr lang="ko-KR" altLang="en-US" smtClean="0"/>
              <a:t>/&gt;</a:t>
            </a:r>
            <a:endParaRPr lang="en-US" altLang="ko-KR" smtClean="0"/>
          </a:p>
          <a:p>
            <a:r>
              <a:rPr lang="en-US" altLang="ko-KR"/>
              <a:t> </a:t>
            </a:r>
            <a:r>
              <a:rPr lang="en-US" altLang="ko-KR" smtClean="0"/>
              <a:t> </a:t>
            </a:r>
            <a:r>
              <a:rPr lang="ko-KR" altLang="en-US" smtClean="0"/>
              <a:t>만나서 반갑습니다</a:t>
            </a:r>
            <a:r>
              <a:rPr lang="en-US" altLang="ko-KR" smtClean="0"/>
              <a:t>.</a:t>
            </a:r>
            <a:endParaRPr lang="ko-KR" altLang="en-US"/>
          </a:p>
          <a:p>
            <a:r>
              <a:rPr lang="ko-KR" altLang="en-US"/>
              <a:t>&lt;/body&gt;</a:t>
            </a:r>
          </a:p>
          <a:p>
            <a:endParaRPr lang="ko-KR" altLang="en-US"/>
          </a:p>
          <a:p>
            <a:r>
              <a:rPr lang="ko-KR" altLang="en-US"/>
              <a:t>&lt;/html&gt;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52" y="2583737"/>
            <a:ext cx="3181350" cy="166687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085316" y="5869172"/>
            <a:ext cx="6127334" cy="5487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mtClean="0">
                <a:solidFill>
                  <a:schemeClr val="tx1"/>
                </a:solidFill>
              </a:rPr>
              <a:t>br : </a:t>
            </a:r>
            <a:r>
              <a:rPr lang="ko-KR" altLang="en-US" smtClean="0">
                <a:solidFill>
                  <a:schemeClr val="tx1"/>
                </a:solidFill>
              </a:rPr>
              <a:t>개행 태그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4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h1~h6, p, a href 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20468" y="1002992"/>
            <a:ext cx="801168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+mn-ea"/>
              </a:rPr>
              <a:t>&lt;!DOCTYPE html&gt;</a:t>
            </a:r>
          </a:p>
          <a:p>
            <a:r>
              <a:rPr lang="en-US" altLang="ko-KR" sz="1400" dirty="0">
                <a:latin typeface="+mn-ea"/>
              </a:rPr>
              <a:t>&lt;html </a:t>
            </a:r>
            <a:r>
              <a:rPr lang="en-US" altLang="ko-KR" sz="1400" dirty="0" err="1">
                <a:latin typeface="+mn-ea"/>
              </a:rPr>
              <a:t>lang</a:t>
            </a:r>
            <a:r>
              <a:rPr lang="en-US" altLang="ko-KR" sz="1400" dirty="0">
                <a:latin typeface="+mn-ea"/>
              </a:rPr>
              <a:t>="en" </a:t>
            </a:r>
            <a:r>
              <a:rPr lang="en-US" altLang="ko-KR" sz="1400" dirty="0" err="1">
                <a:latin typeface="+mn-ea"/>
              </a:rPr>
              <a:t>xmlns</a:t>
            </a:r>
            <a:r>
              <a:rPr lang="en-US" altLang="ko-KR" sz="1400" dirty="0">
                <a:latin typeface="+mn-ea"/>
              </a:rPr>
              <a:t>="http://www.w3.org/1999/xhtml"&gt;</a:t>
            </a:r>
          </a:p>
          <a:p>
            <a:r>
              <a:rPr lang="en-US" altLang="ko-KR" sz="1400" dirty="0">
                <a:latin typeface="+mn-ea"/>
              </a:rPr>
              <a:t>&lt;head&gt;</a:t>
            </a:r>
          </a:p>
          <a:p>
            <a:r>
              <a:rPr lang="en-US" altLang="ko-KR" sz="1400" dirty="0">
                <a:latin typeface="+mn-ea"/>
              </a:rPr>
              <a:t>	&lt;meta </a:t>
            </a:r>
            <a:r>
              <a:rPr lang="en-US" altLang="ko-KR" sz="1400" dirty="0" err="1">
                <a:latin typeface="+mn-ea"/>
              </a:rPr>
              <a:t>charset</a:t>
            </a:r>
            <a:r>
              <a:rPr lang="en-US" altLang="ko-KR" sz="1400" dirty="0">
                <a:latin typeface="+mn-ea"/>
              </a:rPr>
              <a:t>="utf-8" /&gt;</a:t>
            </a:r>
          </a:p>
          <a:p>
            <a:r>
              <a:rPr lang="en-US" altLang="ko-KR" sz="1400" dirty="0">
                <a:latin typeface="+mn-ea"/>
              </a:rPr>
              <a:t>	&lt;title&gt;</a:t>
            </a:r>
            <a:r>
              <a:rPr lang="ko-KR" altLang="en-US" sz="1400" dirty="0">
                <a:latin typeface="+mn-ea"/>
              </a:rPr>
              <a:t>처음 홈페이지</a:t>
            </a:r>
            <a:r>
              <a:rPr lang="en-US" altLang="ko-KR" sz="1400" dirty="0">
                <a:latin typeface="+mn-ea"/>
              </a:rPr>
              <a:t>&lt;/title&gt;</a:t>
            </a:r>
          </a:p>
          <a:p>
            <a:r>
              <a:rPr lang="en-US" altLang="ko-KR" sz="1400" dirty="0">
                <a:latin typeface="+mn-ea"/>
              </a:rPr>
              <a:t>&lt;/head&gt;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&lt;body&gt;</a:t>
            </a:r>
          </a:p>
          <a:p>
            <a:r>
              <a:rPr lang="en-US" altLang="ko-KR" sz="1400" dirty="0">
                <a:latin typeface="+mn-ea"/>
              </a:rPr>
              <a:t>  	&lt;h1&gt;h1 </a:t>
            </a:r>
            <a:r>
              <a:rPr lang="ko-KR" altLang="en-US" sz="1400" dirty="0">
                <a:latin typeface="+mn-ea"/>
              </a:rPr>
              <a:t>태그입니다</a:t>
            </a:r>
            <a:r>
              <a:rPr lang="en-US" altLang="ko-KR" sz="1400" dirty="0">
                <a:latin typeface="+mn-ea"/>
              </a:rPr>
              <a:t>.&lt;/h1&gt;</a:t>
            </a:r>
          </a:p>
          <a:p>
            <a:r>
              <a:rPr lang="en-US" altLang="ko-KR" sz="1400" dirty="0">
                <a:latin typeface="+mn-ea"/>
              </a:rPr>
              <a:t>	&lt;h2&gt;h2 </a:t>
            </a:r>
            <a:r>
              <a:rPr lang="ko-KR" altLang="en-US" sz="1400" dirty="0">
                <a:latin typeface="+mn-ea"/>
              </a:rPr>
              <a:t>태그입니다</a:t>
            </a:r>
            <a:r>
              <a:rPr lang="en-US" altLang="ko-KR" sz="1400" dirty="0">
                <a:latin typeface="+mn-ea"/>
              </a:rPr>
              <a:t>.&lt;/h2&gt;</a:t>
            </a:r>
          </a:p>
          <a:p>
            <a:r>
              <a:rPr lang="en-US" altLang="ko-KR" sz="1400" dirty="0">
                <a:latin typeface="+mn-ea"/>
              </a:rPr>
              <a:t>	&lt;h3&gt;h3 </a:t>
            </a:r>
            <a:r>
              <a:rPr lang="ko-KR" altLang="en-US" sz="1400" dirty="0">
                <a:latin typeface="+mn-ea"/>
              </a:rPr>
              <a:t>태그입니다</a:t>
            </a:r>
            <a:r>
              <a:rPr lang="en-US" altLang="ko-KR" sz="1400" dirty="0">
                <a:latin typeface="+mn-ea"/>
              </a:rPr>
              <a:t>.&lt;/h3&gt;</a:t>
            </a:r>
          </a:p>
          <a:p>
            <a:r>
              <a:rPr lang="en-US" altLang="ko-KR" sz="1400" dirty="0">
                <a:latin typeface="+mn-ea"/>
              </a:rPr>
              <a:t>	&lt;h4&gt;h4 </a:t>
            </a:r>
            <a:r>
              <a:rPr lang="ko-KR" altLang="en-US" sz="1400" dirty="0">
                <a:latin typeface="+mn-ea"/>
              </a:rPr>
              <a:t>태그입니다</a:t>
            </a:r>
            <a:r>
              <a:rPr lang="en-US" altLang="ko-KR" sz="1400" dirty="0">
                <a:latin typeface="+mn-ea"/>
              </a:rPr>
              <a:t>.&lt;/h4&gt;</a:t>
            </a:r>
          </a:p>
          <a:p>
            <a:r>
              <a:rPr lang="en-US" altLang="ko-KR" sz="1400" dirty="0">
                <a:latin typeface="+mn-ea"/>
              </a:rPr>
              <a:t>	&lt;h5&gt;h5 </a:t>
            </a:r>
            <a:r>
              <a:rPr lang="ko-KR" altLang="en-US" sz="1400" dirty="0">
                <a:latin typeface="+mn-ea"/>
              </a:rPr>
              <a:t>태그입니다</a:t>
            </a:r>
            <a:r>
              <a:rPr lang="en-US" altLang="ko-KR" sz="1400" dirty="0">
                <a:latin typeface="+mn-ea"/>
              </a:rPr>
              <a:t>.&lt;/h5&gt;</a:t>
            </a:r>
          </a:p>
          <a:p>
            <a:r>
              <a:rPr lang="en-US" altLang="ko-KR" sz="1400" dirty="0">
                <a:latin typeface="+mn-ea"/>
              </a:rPr>
              <a:t>	&lt;h6&gt;h6 </a:t>
            </a:r>
            <a:r>
              <a:rPr lang="ko-KR" altLang="en-US" sz="1400" dirty="0">
                <a:latin typeface="+mn-ea"/>
              </a:rPr>
              <a:t>태그입니다</a:t>
            </a:r>
            <a:r>
              <a:rPr lang="en-US" altLang="ko-KR" sz="1400" dirty="0">
                <a:latin typeface="+mn-ea"/>
              </a:rPr>
              <a:t>.&lt;/h6&gt;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	&lt;p&gt;</a:t>
            </a:r>
            <a:r>
              <a:rPr lang="ko-KR" altLang="en-US" sz="1400" dirty="0">
                <a:latin typeface="+mn-ea"/>
              </a:rPr>
              <a:t>주로 본문에 사용하는 </a:t>
            </a:r>
            <a:r>
              <a:rPr lang="en-US" altLang="ko-KR" sz="1400" dirty="0">
                <a:latin typeface="+mn-ea"/>
              </a:rPr>
              <a:t>&lt;b&gt;</a:t>
            </a:r>
            <a:r>
              <a:rPr lang="ko-KR" altLang="en-US" sz="1400" dirty="0">
                <a:latin typeface="+mn-ea"/>
              </a:rPr>
              <a:t>태그</a:t>
            </a:r>
            <a:r>
              <a:rPr lang="en-US" altLang="ko-KR" sz="1400" dirty="0">
                <a:latin typeface="+mn-ea"/>
              </a:rPr>
              <a:t>&lt;/b&gt;</a:t>
            </a:r>
            <a:r>
              <a:rPr lang="ko-KR" altLang="en-US" sz="1400" dirty="0">
                <a:latin typeface="+mn-ea"/>
              </a:rPr>
              <a:t>입니다 </a:t>
            </a:r>
            <a:r>
              <a:rPr lang="en-US" altLang="ko-KR" sz="1400" dirty="0">
                <a:latin typeface="+mn-ea"/>
              </a:rPr>
              <a:t>&lt;</a:t>
            </a:r>
            <a:r>
              <a:rPr lang="en-US" altLang="ko-KR" sz="1400" dirty="0" err="1">
                <a:latin typeface="+mn-ea"/>
              </a:rPr>
              <a:t>br</a:t>
            </a:r>
            <a:r>
              <a:rPr lang="en-US" altLang="ko-KR" sz="1400" dirty="0">
                <a:latin typeface="+mn-ea"/>
              </a:rPr>
              <a:t> /&gt; </a:t>
            </a:r>
            <a:r>
              <a:rPr lang="ko-KR" altLang="en-US" sz="1400" dirty="0">
                <a:latin typeface="+mn-ea"/>
              </a:rPr>
              <a:t>줄 바꿈 태그입니다</a:t>
            </a:r>
            <a:r>
              <a:rPr lang="en-US" altLang="ko-KR" sz="1400" dirty="0">
                <a:latin typeface="+mn-ea"/>
              </a:rPr>
              <a:t>&lt;/p</a:t>
            </a:r>
            <a:r>
              <a:rPr lang="en-US" altLang="ko-KR" sz="1400" dirty="0" smtClean="0">
                <a:latin typeface="+mn-ea"/>
              </a:rPr>
              <a:t>&gt;</a:t>
            </a:r>
          </a:p>
          <a:p>
            <a:r>
              <a:rPr lang="en-US" altLang="ko-KR" sz="1400" dirty="0" smtClean="0">
                <a:latin typeface="+mn-ea"/>
              </a:rPr>
              <a:t>               &lt;</a:t>
            </a:r>
            <a:r>
              <a:rPr lang="en-US" altLang="ko-KR" sz="1400" dirty="0">
                <a:latin typeface="+mn-ea"/>
              </a:rPr>
              <a:t>p&gt;&lt;a </a:t>
            </a:r>
            <a:r>
              <a:rPr lang="en-US" altLang="ko-KR" sz="1400" dirty="0" err="1">
                <a:latin typeface="+mn-ea"/>
              </a:rPr>
              <a:t>href</a:t>
            </a:r>
            <a:r>
              <a:rPr lang="en-US" altLang="ko-KR" sz="1400" dirty="0">
                <a:latin typeface="+mn-ea"/>
              </a:rPr>
              <a:t>="http://naver.com"&gt; </a:t>
            </a:r>
            <a:r>
              <a:rPr lang="ko-KR" altLang="en-US" sz="1400" dirty="0" err="1">
                <a:latin typeface="+mn-ea"/>
              </a:rPr>
              <a:t>네이버로</a:t>
            </a:r>
            <a:r>
              <a:rPr lang="ko-KR" altLang="en-US" sz="1400" dirty="0">
                <a:latin typeface="+mn-ea"/>
              </a:rPr>
              <a:t> 이동 </a:t>
            </a:r>
            <a:r>
              <a:rPr lang="en-US" altLang="ko-KR" sz="1400" dirty="0">
                <a:latin typeface="+mn-ea"/>
              </a:rPr>
              <a:t>&lt;/a&gt;&lt;/p&gt;	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&lt;/</a:t>
            </a:r>
            <a:r>
              <a:rPr lang="en-US" altLang="ko-KR" sz="1400" dirty="0">
                <a:latin typeface="+mn-ea"/>
              </a:rPr>
              <a:t>body&gt;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&lt;/html&gt;</a:t>
            </a:r>
            <a:endParaRPr lang="ko-KR" altLang="en-US" sz="1400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52927" y="5587162"/>
            <a:ext cx="6127334" cy="985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h1~h6 : </a:t>
            </a:r>
            <a:r>
              <a:rPr lang="ko-KR" altLang="en-US" sz="1600" smtClean="0">
                <a:solidFill>
                  <a:schemeClr val="tx1"/>
                </a:solidFill>
              </a:rPr>
              <a:t>글씨의 크기를 지정하는 태그</a:t>
            </a:r>
            <a:endParaRPr lang="en-US" altLang="ko-KR" sz="160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&lt;p&gt;&lt;/p&gt; : </a:t>
            </a:r>
            <a:r>
              <a:rPr lang="ko-KR" altLang="en-US" sz="1600" smtClean="0">
                <a:solidFill>
                  <a:schemeClr val="tx1"/>
                </a:solidFill>
              </a:rPr>
              <a:t>문단을 지정하는 태그</a:t>
            </a:r>
            <a:endParaRPr lang="en-US" altLang="ko-KR" sz="160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&lt;a href&gt; : </a:t>
            </a:r>
            <a:r>
              <a:rPr lang="ko-KR" altLang="en-US" sz="1600" smtClean="0">
                <a:solidFill>
                  <a:schemeClr val="tx1"/>
                </a:solidFill>
              </a:rPr>
              <a:t>하이퍼링크 속성 부여</a:t>
            </a:r>
            <a:endParaRPr lang="en-US" altLang="ko-KR" sz="16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56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ul, ol, li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7650" y="910174"/>
            <a:ext cx="682942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/>
              <a:t>&lt;!DOCTYPE html&gt;</a:t>
            </a:r>
          </a:p>
          <a:p>
            <a:r>
              <a:rPr lang="ko-KR" altLang="en-US" sz="1400" b="1"/>
              <a:t>&lt;html lang="en" xmlns="http://www.w3.org/1999/xhtml"&gt;</a:t>
            </a:r>
          </a:p>
          <a:p>
            <a:r>
              <a:rPr lang="ko-KR" altLang="en-US" sz="1400" b="1"/>
              <a:t>&lt;head&gt;</a:t>
            </a:r>
          </a:p>
          <a:p>
            <a:r>
              <a:rPr lang="ko-KR" altLang="en-US" sz="1400" b="1" smtClean="0"/>
              <a:t>     &lt;</a:t>
            </a:r>
            <a:r>
              <a:rPr lang="ko-KR" altLang="en-US" sz="1400" b="1"/>
              <a:t>meta charset="utf-8" /&gt;</a:t>
            </a:r>
          </a:p>
          <a:p>
            <a:r>
              <a:rPr lang="ko-KR" altLang="en-US" sz="1400" b="1" smtClean="0"/>
              <a:t>     &lt;</a:t>
            </a:r>
            <a:r>
              <a:rPr lang="ko-KR" altLang="en-US" sz="1400" b="1"/>
              <a:t>title&gt;LIST&lt;/title&gt;</a:t>
            </a:r>
          </a:p>
          <a:p>
            <a:r>
              <a:rPr lang="ko-KR" altLang="en-US" sz="1400" b="1"/>
              <a:t>&lt;/head&gt;</a:t>
            </a:r>
          </a:p>
          <a:p>
            <a:endParaRPr lang="ko-KR" altLang="en-US" sz="1400" b="1"/>
          </a:p>
          <a:p>
            <a:r>
              <a:rPr lang="ko-KR" altLang="en-US" sz="1400" b="1"/>
              <a:t>&lt;body&gt;</a:t>
            </a:r>
          </a:p>
          <a:p>
            <a:pPr indent="361950"/>
            <a:r>
              <a:rPr lang="ko-KR" altLang="en-US" sz="1400" b="1" smtClean="0"/>
              <a:t>&lt;</a:t>
            </a:r>
            <a:r>
              <a:rPr lang="ko-KR" altLang="en-US" sz="1400" b="1"/>
              <a:t>P&gt;메뉴 리스트 &lt;/P&gt;</a:t>
            </a:r>
          </a:p>
          <a:p>
            <a:pPr indent="361950"/>
            <a:r>
              <a:rPr lang="ko-KR" altLang="en-US" sz="1400" b="1" smtClean="0"/>
              <a:t>&lt;</a:t>
            </a:r>
            <a:r>
              <a:rPr lang="ko-KR" altLang="en-US" sz="1400" b="1"/>
              <a:t>ul&gt;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li&gt;menu-1&lt;/li&gt;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li&gt;menu-2&lt;/li&gt;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li&gt;menu-3&lt;/li&gt;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li&gt;menu-4&lt;/li&gt;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li&gt;menu-5&lt;/li&gt;</a:t>
            </a:r>
          </a:p>
          <a:p>
            <a:pPr indent="361950"/>
            <a:r>
              <a:rPr lang="ko-KR" altLang="en-US" sz="1400" b="1" smtClean="0"/>
              <a:t>&lt;/</a:t>
            </a:r>
            <a:r>
              <a:rPr lang="ko-KR" altLang="en-US" sz="1400" b="1"/>
              <a:t>ul&gt;</a:t>
            </a:r>
          </a:p>
          <a:p>
            <a:pPr indent="361950"/>
            <a:r>
              <a:rPr lang="ko-KR" altLang="en-US" sz="1400" b="1" smtClean="0"/>
              <a:t>&lt;</a:t>
            </a:r>
            <a:r>
              <a:rPr lang="ko-KR" altLang="en-US" sz="1400" b="1"/>
              <a:t>p&gt;음식 리스트&lt;/p&gt;</a:t>
            </a:r>
          </a:p>
          <a:p>
            <a:pPr indent="361950"/>
            <a:r>
              <a:rPr lang="ko-KR" altLang="en-US" sz="1400" b="1" smtClean="0"/>
              <a:t>&lt;</a:t>
            </a:r>
            <a:r>
              <a:rPr lang="ko-KR" altLang="en-US" sz="1400" b="1"/>
              <a:t>ol&gt;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li&gt;피자&lt;/li&gt;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li&gt;치킨&lt;/li&gt;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li&gt;비빔밥&lt;/li&gt;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li&gt;자장면&lt;/li&gt;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li&gt;짬뽕&lt;/li&gt;</a:t>
            </a:r>
          </a:p>
          <a:p>
            <a:r>
              <a:rPr lang="ko-KR" altLang="en-US" sz="1400" b="1"/>
              <a:t>	</a:t>
            </a:r>
            <a:r>
              <a:rPr lang="ko-KR" altLang="en-US" sz="1400" b="1" smtClean="0"/>
              <a:t>&lt;</a:t>
            </a:r>
            <a:r>
              <a:rPr lang="ko-KR" altLang="en-US" sz="1400" b="1"/>
              <a:t>li&gt;복음밥&lt;/li&gt;</a:t>
            </a:r>
          </a:p>
          <a:p>
            <a:r>
              <a:rPr lang="ko-KR" altLang="en-US" sz="1400" b="1"/>
              <a:t>&lt;/body&gt;</a:t>
            </a:r>
          </a:p>
          <a:p>
            <a:r>
              <a:rPr lang="ko-KR" altLang="en-US" sz="1400" b="1"/>
              <a:t>&lt;/html&gt;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02" y="1438275"/>
            <a:ext cx="2773535" cy="286702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619750" y="4768012"/>
            <a:ext cx="2714626" cy="985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&lt;ul&gt; : unordered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&lt;ol&gt; : ordered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&lt;li&gt; :  List item</a:t>
            </a:r>
          </a:p>
        </p:txBody>
      </p:sp>
    </p:spTree>
    <p:extLst>
      <p:ext uri="{BB962C8B-B14F-4D97-AF65-F5344CB8AC3E}">
        <p14:creationId xmlns:p14="http://schemas.microsoft.com/office/powerpoint/2010/main" val="220470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dl, dt, dd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7650" y="995899"/>
            <a:ext cx="682942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/>
              <a:t>&lt;!DOCTYPE html&gt;</a:t>
            </a:r>
          </a:p>
          <a:p>
            <a:r>
              <a:rPr lang="en-US" altLang="ko-KR" sz="1400" b="1"/>
              <a:t>&lt;html lang="en" xmlns="http://www.w3.org/1999/xhtml"&gt;</a:t>
            </a:r>
          </a:p>
          <a:p>
            <a:r>
              <a:rPr lang="en-US" altLang="ko-KR" sz="1400" b="1"/>
              <a:t>&lt;head&gt;</a:t>
            </a:r>
          </a:p>
          <a:p>
            <a:r>
              <a:rPr lang="en-US" altLang="ko-KR" sz="1400" b="1" smtClean="0"/>
              <a:t>     &lt;</a:t>
            </a:r>
            <a:r>
              <a:rPr lang="en-US" altLang="ko-KR" sz="1400" b="1"/>
              <a:t>meta charset="utf-8" /&gt;</a:t>
            </a:r>
          </a:p>
          <a:p>
            <a:r>
              <a:rPr lang="en-US" altLang="ko-KR" sz="1400" b="1" smtClean="0"/>
              <a:t>     &lt;</a:t>
            </a:r>
            <a:r>
              <a:rPr lang="en-US" altLang="ko-KR" sz="1400" b="1"/>
              <a:t>title&gt;LIST&lt;/title&gt;</a:t>
            </a:r>
          </a:p>
          <a:p>
            <a:r>
              <a:rPr lang="en-US" altLang="ko-KR" sz="1400" b="1"/>
              <a:t>&lt;/head&gt;</a:t>
            </a:r>
          </a:p>
          <a:p>
            <a:endParaRPr lang="en-US" altLang="ko-KR" sz="1400" b="1"/>
          </a:p>
          <a:p>
            <a:r>
              <a:rPr lang="en-US" altLang="ko-KR" sz="1400" b="1"/>
              <a:t>&lt;body&gt;</a:t>
            </a:r>
          </a:p>
          <a:p>
            <a:pPr indent="361950"/>
            <a:r>
              <a:rPr lang="en-US" altLang="ko-KR" sz="1400" b="1" smtClean="0"/>
              <a:t>&lt;dl</a:t>
            </a:r>
            <a:r>
              <a:rPr lang="en-US" altLang="ko-KR" sz="1400" b="1"/>
              <a:t>&gt;</a:t>
            </a:r>
          </a:p>
          <a:p>
            <a:r>
              <a:rPr lang="en-US" altLang="ko-KR" sz="1400" b="1"/>
              <a:t>	&lt;dt&gt;</a:t>
            </a:r>
            <a:r>
              <a:rPr lang="ko-KR" altLang="en-US" sz="1400" b="1"/>
              <a:t>메뉴 리스트 </a:t>
            </a:r>
            <a:r>
              <a:rPr lang="en-US" altLang="ko-KR" sz="1400" b="1"/>
              <a:t>&lt;/dt&gt;</a:t>
            </a:r>
          </a:p>
          <a:p>
            <a:r>
              <a:rPr lang="en-US" altLang="ko-KR" sz="1400" b="1"/>
              <a:t>	&lt;dd&gt;menu-1&lt;/dd&gt;</a:t>
            </a:r>
          </a:p>
          <a:p>
            <a:r>
              <a:rPr lang="en-US" altLang="ko-KR" sz="1400" b="1"/>
              <a:t>	&lt;dd&gt;menu-2&lt;/dd&gt;</a:t>
            </a:r>
          </a:p>
          <a:p>
            <a:r>
              <a:rPr lang="en-US" altLang="ko-KR" sz="1400" b="1"/>
              <a:t>	&lt;dd&gt;menu-3&lt;/dd&gt;</a:t>
            </a:r>
          </a:p>
          <a:p>
            <a:r>
              <a:rPr lang="en-US" altLang="ko-KR" sz="1400" b="1"/>
              <a:t>	&lt;dd&gt;menu-4&lt;/dd&gt;</a:t>
            </a:r>
          </a:p>
          <a:p>
            <a:r>
              <a:rPr lang="en-US" altLang="ko-KR" sz="1400" b="1"/>
              <a:t>	&lt;dd&gt;menu-5&lt;/dd&gt;</a:t>
            </a:r>
          </a:p>
          <a:p>
            <a:r>
              <a:rPr lang="en-US" altLang="ko-KR" sz="1400" b="1"/>
              <a:t>	&lt;dt&gt;</a:t>
            </a:r>
            <a:r>
              <a:rPr lang="ko-KR" altLang="en-US" sz="1400" b="1"/>
              <a:t>음식 리스트</a:t>
            </a:r>
            <a:r>
              <a:rPr lang="en-US" altLang="ko-KR" sz="1400" b="1"/>
              <a:t>&lt;/dt&gt;</a:t>
            </a:r>
          </a:p>
          <a:p>
            <a:r>
              <a:rPr lang="en-US" altLang="ko-KR" sz="1400" b="1"/>
              <a:t>	&lt;dd&gt;</a:t>
            </a:r>
            <a:r>
              <a:rPr lang="ko-KR" altLang="en-US" sz="1400" b="1"/>
              <a:t>피자</a:t>
            </a:r>
            <a:r>
              <a:rPr lang="en-US" altLang="ko-KR" sz="1400" b="1"/>
              <a:t>&lt;/dd&gt;</a:t>
            </a:r>
          </a:p>
          <a:p>
            <a:r>
              <a:rPr lang="en-US" altLang="ko-KR" sz="1400" b="1"/>
              <a:t>	&lt;dd&gt;</a:t>
            </a:r>
            <a:r>
              <a:rPr lang="ko-KR" altLang="en-US" sz="1400" b="1"/>
              <a:t>치킨</a:t>
            </a:r>
            <a:r>
              <a:rPr lang="en-US" altLang="ko-KR" sz="1400" b="1"/>
              <a:t>&lt;/dd&gt;</a:t>
            </a:r>
          </a:p>
          <a:p>
            <a:r>
              <a:rPr lang="en-US" altLang="ko-KR" sz="1400" b="1"/>
              <a:t>	&lt;dd&gt;</a:t>
            </a:r>
            <a:r>
              <a:rPr lang="ko-KR" altLang="en-US" sz="1400" b="1"/>
              <a:t>비빔밥</a:t>
            </a:r>
            <a:r>
              <a:rPr lang="en-US" altLang="ko-KR" sz="1400" b="1"/>
              <a:t>&lt;/dd&gt;</a:t>
            </a:r>
          </a:p>
          <a:p>
            <a:r>
              <a:rPr lang="en-US" altLang="ko-KR" sz="1400" b="1"/>
              <a:t>	&lt;dd&gt;</a:t>
            </a:r>
            <a:r>
              <a:rPr lang="ko-KR" altLang="en-US" sz="1400" b="1"/>
              <a:t>자장면</a:t>
            </a:r>
            <a:r>
              <a:rPr lang="en-US" altLang="ko-KR" sz="1400" b="1"/>
              <a:t>&lt;/dd&gt;</a:t>
            </a:r>
          </a:p>
          <a:p>
            <a:r>
              <a:rPr lang="en-US" altLang="ko-KR" sz="1400" b="1"/>
              <a:t>	&lt;dd&gt;</a:t>
            </a:r>
            <a:r>
              <a:rPr lang="ko-KR" altLang="en-US" sz="1400" b="1"/>
              <a:t>짬뽕</a:t>
            </a:r>
            <a:r>
              <a:rPr lang="en-US" altLang="ko-KR" sz="1400" b="1"/>
              <a:t>&lt;/dd&gt;</a:t>
            </a:r>
          </a:p>
          <a:p>
            <a:r>
              <a:rPr lang="en-US" altLang="ko-KR" sz="1400" b="1"/>
              <a:t>	&lt;dd&gt;</a:t>
            </a:r>
            <a:r>
              <a:rPr lang="ko-KR" altLang="en-US" sz="1400" b="1"/>
              <a:t>복음밥</a:t>
            </a:r>
            <a:r>
              <a:rPr lang="en-US" altLang="ko-KR" sz="1400" b="1"/>
              <a:t>&lt;/dd&gt;</a:t>
            </a:r>
          </a:p>
          <a:p>
            <a:pPr indent="361950"/>
            <a:r>
              <a:rPr lang="en-US" altLang="ko-KR" sz="1400" b="1" smtClean="0"/>
              <a:t>&lt;/</a:t>
            </a:r>
            <a:r>
              <a:rPr lang="en-US" altLang="ko-KR" sz="1400" b="1"/>
              <a:t>dl&gt;</a:t>
            </a:r>
          </a:p>
          <a:p>
            <a:r>
              <a:rPr lang="en-US" altLang="ko-KR" sz="1400" b="1"/>
              <a:t>&lt;/body&gt;</a:t>
            </a:r>
          </a:p>
          <a:p>
            <a:r>
              <a:rPr lang="en-US" altLang="ko-KR" sz="1400" b="1"/>
              <a:t>&lt;/html&gt;</a:t>
            </a:r>
            <a:endParaRPr lang="ko-KR" altLang="en-US" sz="1400" b="1"/>
          </a:p>
        </p:txBody>
      </p:sp>
      <p:sp>
        <p:nvSpPr>
          <p:cNvPr id="10" name="직사각형 9"/>
          <p:cNvSpPr/>
          <p:nvPr/>
        </p:nvSpPr>
        <p:spPr>
          <a:xfrm>
            <a:off x="4038600" y="5272837"/>
            <a:ext cx="4419601" cy="985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&lt;dl&gt; : Description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&lt;dt&gt; : Term in aDescription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&lt;dd&gt; :  Describes the term in a description list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965" y="1695450"/>
            <a:ext cx="3122972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Table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7650" y="1024474"/>
            <a:ext cx="682942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400" b="1"/>
              <a:t>&lt;!DOCTYPE html&gt;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&lt;html lang="en" xmlns="http://www.w3.org/1999/xhtml"&gt;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&lt;head&gt;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meta charset="utf-8" /&gt;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title&gt;</a:t>
            </a:r>
            <a:r>
              <a:rPr lang="ko-KR" altLang="en-US" sz="1400" b="1"/>
              <a:t>성적 조회</a:t>
            </a:r>
            <a:r>
              <a:rPr lang="en-US" altLang="ko-KR" sz="1400" b="1"/>
              <a:t>&lt;/title&gt;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&lt;/head</a:t>
            </a:r>
            <a:r>
              <a:rPr lang="en-US" altLang="ko-KR" sz="1400" b="1" smtClean="0"/>
              <a:t>&gt;</a:t>
            </a:r>
            <a:endParaRPr lang="en-US" altLang="ko-KR" sz="1400" b="1"/>
          </a:p>
          <a:p>
            <a:pPr>
              <a:lnSpc>
                <a:spcPts val="1500"/>
              </a:lnSpc>
            </a:pPr>
            <a:r>
              <a:rPr lang="en-US" altLang="ko-KR" sz="1400" b="1"/>
              <a:t>&lt;body</a:t>
            </a:r>
            <a:r>
              <a:rPr lang="en-US" altLang="ko-KR" sz="1400" b="1" smtClean="0"/>
              <a:t>&gt;</a:t>
            </a:r>
            <a:endParaRPr lang="en-US" altLang="ko-KR" sz="1400" b="1"/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table border="1"&gt;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tr&gt;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 rowspan="4"&gt;</a:t>
            </a:r>
            <a:r>
              <a:rPr lang="ko-KR" altLang="en-US" sz="1400" b="1"/>
              <a:t>기말고사 성적</a:t>
            </a:r>
            <a:r>
              <a:rPr lang="en-US" altLang="ko-KR" sz="1400" b="1"/>
              <a:t>&lt;/td&gt;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&lt;/</a:t>
            </a:r>
            <a:r>
              <a:rPr lang="en-US" altLang="ko-KR" sz="1400" b="1"/>
              <a:t>tr&gt;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tr&gt;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&lt;td&gt;</a:t>
            </a:r>
            <a:r>
              <a:rPr lang="ko-KR" altLang="en-US" sz="1400" b="1"/>
              <a:t>전자공학</a:t>
            </a:r>
            <a:r>
              <a:rPr lang="en-US" altLang="ko-KR" sz="1400" b="1"/>
              <a:t>&lt;/td&gt;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&lt;td&gt;</a:t>
            </a:r>
            <a:r>
              <a:rPr lang="ko-KR" altLang="en-US" sz="1400" b="1"/>
              <a:t>컴퓨터공학</a:t>
            </a:r>
            <a:r>
              <a:rPr lang="en-US" altLang="ko-KR" sz="1400" b="1"/>
              <a:t>&lt;/td&gt;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&lt;td&gt;</a:t>
            </a:r>
            <a:r>
              <a:rPr lang="ko-KR" altLang="en-US" sz="1400" b="1"/>
              <a:t>파이썬</a:t>
            </a:r>
            <a:r>
              <a:rPr lang="en-US" altLang="ko-KR" sz="1400" b="1"/>
              <a:t>&lt;/td&gt;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&lt;/</a:t>
            </a:r>
            <a:r>
              <a:rPr lang="en-US" altLang="ko-KR" sz="1400" b="1"/>
              <a:t>tr&gt;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tr&gt;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&lt;td&gt;80&lt;/td&gt;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&lt;td&gt;95&lt;/td&gt;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&lt;td&gt;90&lt;/td&gt;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&lt;/</a:t>
            </a:r>
            <a:r>
              <a:rPr lang="en-US" altLang="ko-KR" sz="1400" b="1"/>
              <a:t>tr&gt;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tr&gt;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 colspan="2"&gt;</a:t>
            </a:r>
            <a:r>
              <a:rPr lang="ko-KR" altLang="en-US" sz="1400" b="1"/>
              <a:t>평균</a:t>
            </a:r>
            <a:r>
              <a:rPr lang="en-US" altLang="ko-KR" sz="1400" b="1"/>
              <a:t>&lt;/td&gt;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&lt;td&gt;90&lt;/td&gt;</a:t>
            </a:r>
          </a:p>
          <a:p>
            <a:pPr>
              <a:lnSpc>
                <a:spcPts val="1500"/>
              </a:lnSpc>
            </a:pPr>
            <a:r>
              <a:rPr lang="en-US" altLang="ko-KR" sz="1400" b="1" smtClean="0"/>
              <a:t>&lt;/</a:t>
            </a:r>
            <a:r>
              <a:rPr lang="en-US" altLang="ko-KR" sz="1400" b="1"/>
              <a:t>tr&gt;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&lt;/table&gt;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&lt;/body&gt;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&lt;/html&gt;</a:t>
            </a:r>
            <a:endParaRPr lang="ko-KR" altLang="en-US" sz="1400" b="1"/>
          </a:p>
        </p:txBody>
      </p:sp>
      <p:sp>
        <p:nvSpPr>
          <p:cNvPr id="10" name="직사각형 9"/>
          <p:cNvSpPr/>
          <p:nvPr/>
        </p:nvSpPr>
        <p:spPr>
          <a:xfrm>
            <a:off x="5105400" y="3653587"/>
            <a:ext cx="3324225" cy="794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tx1"/>
                </a:solidFill>
              </a:rPr>
              <a:t>&lt;</a:t>
            </a:r>
            <a:r>
              <a:rPr lang="en-US" altLang="ko-KR" sz="1600" smtClean="0">
                <a:solidFill>
                  <a:schemeClr val="tx1"/>
                </a:solidFill>
              </a:rPr>
              <a:t>table&gt; </a:t>
            </a:r>
            <a:r>
              <a:rPr lang="en-US" altLang="ko-KR" sz="1600">
                <a:solidFill>
                  <a:schemeClr val="tx1"/>
                </a:solidFill>
              </a:rPr>
              <a:t>: </a:t>
            </a:r>
            <a:r>
              <a:rPr lang="en-US" altLang="ko-KR" sz="1600" smtClean="0">
                <a:solidFill>
                  <a:schemeClr val="tx1"/>
                </a:solidFill>
              </a:rPr>
              <a:t> Defines a Table </a:t>
            </a:r>
            <a:endParaRPr lang="en-US" altLang="ko-KR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&lt;tr&gt; : Defines a row in a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&lt;td&gt; : Defines a cell in a table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412" y="1885950"/>
            <a:ext cx="351472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2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image </a:t>
            </a:r>
            <a:r>
              <a:rPr lang="ko-KR" altLang="en-US" sz="2800" b="1" smtClean="0">
                <a:solidFill>
                  <a:schemeClr val="tx1"/>
                </a:solidFill>
              </a:rPr>
              <a:t>추가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7650" y="1024474"/>
            <a:ext cx="6829425" cy="3246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lang="en-US" altLang="ko-KR" sz="1400" b="1"/>
              <a:t>&lt;!DOCTYPE html&gt;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&lt;html lang="en" xmlns="http://www.w3.org/1999/xhtml"&gt;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&lt;head&gt;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meta charset="utf-8" /&gt;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title&gt;image&lt;/title&gt;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&lt;/head&gt;</a:t>
            </a:r>
          </a:p>
          <a:p>
            <a:pPr>
              <a:lnSpc>
                <a:spcPts val="1900"/>
              </a:lnSpc>
            </a:pPr>
            <a:endParaRPr lang="en-US" altLang="ko-KR" sz="1400" b="1"/>
          </a:p>
          <a:p>
            <a:pPr>
              <a:lnSpc>
                <a:spcPts val="1900"/>
              </a:lnSpc>
            </a:pPr>
            <a:r>
              <a:rPr lang="en-US" altLang="ko-KR" sz="1400" b="1"/>
              <a:t>&lt;body&gt;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p&gt;&lt;img src="bird.png" alt="</a:t>
            </a:r>
            <a:r>
              <a:rPr lang="ko-KR" altLang="en-US" sz="1400" b="1"/>
              <a:t>새 그림</a:t>
            </a:r>
            <a:r>
              <a:rPr lang="en-US" altLang="ko-KR" sz="1400" b="1"/>
              <a:t>"&gt;&lt;/p&gt;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p&gt;&lt;img src="bird.png" alt="</a:t>
            </a:r>
            <a:r>
              <a:rPr lang="ko-KR" altLang="en-US" sz="1400" b="1"/>
              <a:t>새 그림</a:t>
            </a:r>
            <a:r>
              <a:rPr lang="en-US" altLang="ko-KR" sz="1400" b="1"/>
              <a:t>" width="100"&gt;&lt;/p&gt;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p&gt;&lt;img src="bird-1.png" alt="</a:t>
            </a:r>
            <a:r>
              <a:rPr lang="ko-KR" altLang="en-US" sz="1400" b="1"/>
              <a:t>새 그림</a:t>
            </a:r>
            <a:r>
              <a:rPr lang="en-US" altLang="ko-KR" sz="1400" b="1"/>
              <a:t>"&gt;&lt;/p&gt;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&lt;/body&gt;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&lt;/html&gt;</a:t>
            </a:r>
            <a:endParaRPr lang="ko-KR" altLang="en-US" sz="1400" b="1"/>
          </a:p>
        </p:txBody>
      </p:sp>
      <p:sp>
        <p:nvSpPr>
          <p:cNvPr id="10" name="직사각형 9"/>
          <p:cNvSpPr/>
          <p:nvPr/>
        </p:nvSpPr>
        <p:spPr>
          <a:xfrm>
            <a:off x="609600" y="5244262"/>
            <a:ext cx="3324225" cy="794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&lt;img&gt; </a:t>
            </a:r>
            <a:r>
              <a:rPr lang="en-US" altLang="ko-KR" sz="1600">
                <a:solidFill>
                  <a:schemeClr val="tx1"/>
                </a:solidFill>
              </a:rPr>
              <a:t>: </a:t>
            </a:r>
            <a:r>
              <a:rPr lang="en-US" altLang="ko-KR" sz="1600" smtClean="0">
                <a:solidFill>
                  <a:schemeClr val="tx1"/>
                </a:solidFill>
              </a:rPr>
              <a:t> Defines a image</a:t>
            </a:r>
            <a:endParaRPr lang="en-US" altLang="ko-KR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alt : image </a:t>
            </a:r>
            <a:r>
              <a:rPr lang="ko-KR" altLang="en-US" sz="1600" smtClean="0">
                <a:solidFill>
                  <a:schemeClr val="tx1"/>
                </a:solidFill>
              </a:rPr>
              <a:t>없으면 표시 문자</a:t>
            </a:r>
            <a:endParaRPr lang="en-US" altLang="ko-KR" sz="160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width : iamge </a:t>
            </a:r>
            <a:r>
              <a:rPr lang="ko-KR" altLang="en-US" sz="1600" smtClean="0">
                <a:solidFill>
                  <a:schemeClr val="tx1"/>
                </a:solidFill>
              </a:rPr>
              <a:t>폭 설정</a:t>
            </a:r>
            <a:endParaRPr lang="en-US" altLang="ko-KR" sz="1600" smtClean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1028700"/>
            <a:ext cx="3016250" cy="392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3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audio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7650" y="1024474"/>
            <a:ext cx="8705850" cy="2759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lang="en-US" altLang="ko-KR" sz="1400" b="1"/>
              <a:t>&lt;!DOCTYPE html&gt;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&lt;html lang="en" xmlns="http://www.w3.org/1999/xhtml"&gt;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&lt;head&gt;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meta charset="utf-8" /&gt;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title&gt;Audio&lt;/title&gt;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&lt;/head&gt;</a:t>
            </a:r>
          </a:p>
          <a:p>
            <a:pPr>
              <a:lnSpc>
                <a:spcPts val="1900"/>
              </a:lnSpc>
            </a:pPr>
            <a:endParaRPr lang="en-US" altLang="ko-KR" sz="1400" b="1"/>
          </a:p>
          <a:p>
            <a:pPr>
              <a:lnSpc>
                <a:spcPts val="1900"/>
              </a:lnSpc>
            </a:pPr>
            <a:r>
              <a:rPr lang="en-US" altLang="ko-KR" sz="1400" b="1"/>
              <a:t>&lt;body&gt;</a:t>
            </a:r>
          </a:p>
          <a:p>
            <a:pPr indent="361950">
              <a:lnSpc>
                <a:spcPts val="19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audio src="music.mp3" controls="controls" autoplay="autoplay" loop="loop"&gt;&lt;/audio&gt;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&lt;/body&gt;</a:t>
            </a:r>
          </a:p>
          <a:p>
            <a:pPr>
              <a:lnSpc>
                <a:spcPts val="1900"/>
              </a:lnSpc>
            </a:pPr>
            <a:r>
              <a:rPr lang="en-US" altLang="ko-KR" sz="1400" b="1"/>
              <a:t>&lt;/html&gt;</a:t>
            </a:r>
            <a:endParaRPr lang="ko-KR" altLang="en-US" sz="1400" b="1"/>
          </a:p>
        </p:txBody>
      </p:sp>
      <p:sp>
        <p:nvSpPr>
          <p:cNvPr id="10" name="직사각형 9"/>
          <p:cNvSpPr/>
          <p:nvPr/>
        </p:nvSpPr>
        <p:spPr>
          <a:xfrm>
            <a:off x="5076825" y="4529887"/>
            <a:ext cx="3667125" cy="1404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&lt;audio src&gt; </a:t>
            </a:r>
            <a:r>
              <a:rPr lang="en-US" altLang="ko-KR" sz="1600">
                <a:solidFill>
                  <a:schemeClr val="tx1"/>
                </a:solidFill>
              </a:rPr>
              <a:t>: </a:t>
            </a:r>
            <a:r>
              <a:rPr lang="en-US" altLang="ko-KR" sz="1600" smtClean="0">
                <a:solidFill>
                  <a:schemeClr val="tx1"/>
                </a:solidFill>
              </a:rPr>
              <a:t> audio source </a:t>
            </a:r>
            <a:r>
              <a:rPr lang="ko-KR" altLang="en-US" sz="1600" smtClean="0">
                <a:solidFill>
                  <a:schemeClr val="tx1"/>
                </a:solidFill>
              </a:rPr>
              <a:t>경로</a:t>
            </a:r>
            <a:endParaRPr lang="en-US" altLang="ko-KR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controls : audio </a:t>
            </a:r>
            <a:r>
              <a:rPr lang="ko-KR" altLang="en-US" sz="1600" smtClean="0">
                <a:solidFill>
                  <a:schemeClr val="tx1"/>
                </a:solidFill>
              </a:rPr>
              <a:t>도구 표시</a:t>
            </a:r>
            <a:endParaRPr lang="en-US" altLang="ko-KR" sz="160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autoplay : </a:t>
            </a:r>
            <a:r>
              <a:rPr lang="ko-KR" altLang="en-US" sz="1600" smtClean="0">
                <a:solidFill>
                  <a:schemeClr val="tx1"/>
                </a:solidFill>
              </a:rPr>
              <a:t>자동 실행</a:t>
            </a:r>
            <a:endParaRPr lang="en-US" altLang="ko-KR" sz="160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mtClean="0">
                <a:solidFill>
                  <a:schemeClr val="tx1"/>
                </a:solidFill>
              </a:rPr>
              <a:t>loop : </a:t>
            </a:r>
            <a:r>
              <a:rPr lang="ko-KR" altLang="en-US" sz="1600" smtClean="0">
                <a:solidFill>
                  <a:schemeClr val="tx1"/>
                </a:solidFill>
              </a:rPr>
              <a:t>무한 반복</a:t>
            </a:r>
            <a:endParaRPr lang="en-US" altLang="ko-KR" sz="1600" smtClean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519612"/>
            <a:ext cx="36957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1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Form tag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5250" y="1024474"/>
            <a:ext cx="870585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400" b="1"/>
              <a:t>&lt;!DOCTYPE html&gt;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&lt;html lang="en" xmlns="http://www.w3.org/1999/xhtml"&gt;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&lt;head&gt;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meta charset="utf-8" /&gt;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&lt;title&gt;&lt;/</a:t>
            </a:r>
            <a:r>
              <a:rPr lang="en-US" altLang="ko-KR" sz="1400" b="1"/>
              <a:t>title&gt;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&lt;/head</a:t>
            </a:r>
            <a:r>
              <a:rPr lang="en-US" altLang="ko-KR" sz="1400" b="1" smtClean="0"/>
              <a:t>&gt;</a:t>
            </a:r>
            <a:endParaRPr lang="en-US" altLang="ko-KR" sz="1400" b="1"/>
          </a:p>
          <a:p>
            <a:pPr>
              <a:lnSpc>
                <a:spcPts val="1500"/>
              </a:lnSpc>
            </a:pPr>
            <a:r>
              <a:rPr lang="en-US" altLang="ko-KR" sz="1400" b="1"/>
              <a:t>&lt;body&gt;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/>
              <a:t>&lt;form action="http://118.217.216.11:7500" method="get"&gt; </a:t>
            </a:r>
            <a:endParaRPr lang="en-US" altLang="ko-KR" sz="1400" b="1" smtClean="0"/>
          </a:p>
          <a:p>
            <a:pPr indent="361950">
              <a:lnSpc>
                <a:spcPts val="1500"/>
              </a:lnSpc>
            </a:pPr>
            <a:r>
              <a:rPr lang="en-US" altLang="ko-KR" sz="1400" b="1"/>
              <a:t> </a:t>
            </a:r>
            <a:r>
              <a:rPr lang="en-US" altLang="ko-KR" sz="1400" b="1" smtClean="0"/>
              <a:t>        </a:t>
            </a:r>
            <a:r>
              <a:rPr lang="ko-KR" altLang="en-US" sz="1400" b="1" smtClean="0"/>
              <a:t>이름 </a:t>
            </a:r>
            <a:r>
              <a:rPr lang="en-US" altLang="ko-KR" sz="1400" b="1"/>
              <a:t>: &lt;input type="text" name="uname" /&gt;&lt;br&gt;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아이디 </a:t>
            </a:r>
            <a:r>
              <a:rPr lang="en-US" altLang="ko-KR" sz="1400" b="1"/>
              <a:t>: &lt;input type="text" name="uid" /&gt;&lt;br&gt;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비밀번호 </a:t>
            </a:r>
            <a:r>
              <a:rPr lang="en-US" altLang="ko-KR" sz="1400" b="1"/>
              <a:t>: &lt;input type="password" name="upw" /&gt;&lt;br&gt;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연락처 </a:t>
            </a:r>
            <a:r>
              <a:rPr lang="en-US" altLang="ko-KR" sz="1400" b="1"/>
              <a:t>: &lt;input type="text" name="uphone1" size="4"/&gt;-</a:t>
            </a:r>
          </a:p>
          <a:p>
            <a:pPr indent="714375">
              <a:lnSpc>
                <a:spcPts val="1500"/>
              </a:lnSpc>
            </a:pPr>
            <a:r>
              <a:rPr lang="en-US" altLang="ko-KR" sz="1400" b="1" smtClean="0"/>
              <a:t>        </a:t>
            </a:r>
            <a:r>
              <a:rPr lang="en-US" altLang="ko-KR" sz="1400" b="1"/>
              <a:t>&lt;input type="text" name="uphone2" size="4"/&gt;-</a:t>
            </a:r>
          </a:p>
          <a:p>
            <a:pPr indent="714375">
              <a:lnSpc>
                <a:spcPts val="1500"/>
              </a:lnSpc>
            </a:pPr>
            <a:r>
              <a:rPr lang="en-US" altLang="ko-KR" sz="1400" b="1" smtClean="0"/>
              <a:t>        </a:t>
            </a:r>
            <a:r>
              <a:rPr lang="en-US" altLang="ko-KR" sz="1400" b="1"/>
              <a:t>&lt;input type="text" name="uphone3" size="4"/&gt;&lt;br&gt;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성별 </a:t>
            </a:r>
            <a:r>
              <a:rPr lang="en-US" altLang="ko-KR" sz="1400" b="1"/>
              <a:t>: &lt;input type="radio" name="gender" value="m" checked&gt;</a:t>
            </a:r>
            <a:r>
              <a:rPr lang="ko-KR" altLang="en-US" sz="1400" b="1"/>
              <a:t>남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       </a:t>
            </a:r>
            <a:r>
              <a:rPr lang="en-US" altLang="ko-KR" sz="1400" b="1"/>
              <a:t>&lt;input type="radio" name="gender" value="w"&gt;</a:t>
            </a:r>
            <a:r>
              <a:rPr lang="ko-KR" altLang="en-US" sz="1400" b="1"/>
              <a:t>여 </a:t>
            </a:r>
            <a:r>
              <a:rPr lang="en-US" altLang="ko-KR" sz="1400" b="1"/>
              <a:t>&lt;br&gt;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사용언어 </a:t>
            </a:r>
            <a:r>
              <a:rPr lang="en-US" altLang="ko-KR" sz="1400" b="1"/>
              <a:t>: &lt;input type="checkbox" name="lan" value="kor" checked&gt;</a:t>
            </a:r>
            <a:r>
              <a:rPr lang="ko-KR" altLang="en-US" sz="1400" b="1"/>
              <a:t>한글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          </a:t>
            </a:r>
            <a:r>
              <a:rPr lang="en-US" altLang="ko-KR" sz="1400" b="1"/>
              <a:t>&lt;input type="checkbox" name="lan" value="eng"&gt;</a:t>
            </a:r>
            <a:r>
              <a:rPr lang="ko-KR" altLang="en-US" sz="1400" b="1"/>
              <a:t>영어</a:t>
            </a:r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          </a:t>
            </a:r>
            <a:r>
              <a:rPr lang="en-US" altLang="ko-KR" sz="1400" b="1"/>
              <a:t>&lt;input type="checkbox" name="lan" value="chi"&gt;</a:t>
            </a:r>
            <a:r>
              <a:rPr lang="ko-KR" altLang="en-US" sz="1400" b="1" smtClean="0"/>
              <a:t>중국어 </a:t>
            </a:r>
            <a:r>
              <a:rPr lang="en-US" altLang="ko-KR" sz="1400" b="1" smtClean="0"/>
              <a:t>&lt;br&gt;</a:t>
            </a:r>
            <a:endParaRPr lang="ko-KR" altLang="en-US" sz="1400" b="1"/>
          </a:p>
          <a:p>
            <a:pPr indent="714375">
              <a:lnSpc>
                <a:spcPts val="1500"/>
              </a:lnSpc>
            </a:pPr>
            <a:r>
              <a:rPr lang="ko-KR" altLang="en-US" sz="1400" b="1" smtClean="0"/>
              <a:t>국적 </a:t>
            </a:r>
            <a:r>
              <a:rPr lang="en-US" altLang="ko-KR" sz="1400" b="1"/>
              <a:t>: &lt;select&gt;</a:t>
            </a:r>
          </a:p>
          <a:p>
            <a:pPr indent="1076325">
              <a:lnSpc>
                <a:spcPts val="1500"/>
              </a:lnSpc>
            </a:pPr>
            <a:r>
              <a:rPr lang="en-US" altLang="ko-KR" sz="1400" b="1" smtClean="0"/>
              <a:t>  </a:t>
            </a:r>
            <a:r>
              <a:rPr lang="en-US" altLang="ko-KR" sz="1400" b="1"/>
              <a:t>&lt;option&gt;KOREA&lt;/option&gt;</a:t>
            </a:r>
          </a:p>
          <a:p>
            <a:pPr indent="1076325">
              <a:lnSpc>
                <a:spcPts val="1500"/>
              </a:lnSpc>
            </a:pPr>
            <a:r>
              <a:rPr lang="en-US" altLang="ko-KR" sz="1400" b="1" smtClean="0"/>
              <a:t>  </a:t>
            </a:r>
            <a:r>
              <a:rPr lang="en-US" altLang="ko-KR" sz="1400" b="1"/>
              <a:t>&lt;option&gt;USA&lt;/option&gt;</a:t>
            </a:r>
          </a:p>
          <a:p>
            <a:pPr indent="1076325">
              <a:lnSpc>
                <a:spcPts val="1500"/>
              </a:lnSpc>
            </a:pPr>
            <a:r>
              <a:rPr lang="en-US" altLang="ko-KR" sz="1400" b="1" smtClean="0"/>
              <a:t>  </a:t>
            </a:r>
            <a:r>
              <a:rPr lang="en-US" altLang="ko-KR" sz="1400" b="1"/>
              <a:t>&lt;option&gt;CHINA&lt;/option&gt;</a:t>
            </a:r>
          </a:p>
          <a:p>
            <a:pPr indent="714375">
              <a:lnSpc>
                <a:spcPts val="1500"/>
              </a:lnSpc>
            </a:pPr>
            <a:r>
              <a:rPr lang="en-US" altLang="ko-KR" sz="1400" b="1" smtClean="0"/>
              <a:t>&lt;/</a:t>
            </a:r>
            <a:r>
              <a:rPr lang="en-US" altLang="ko-KR" sz="1400" b="1"/>
              <a:t>select&gt;&lt;br&gt;</a:t>
            </a:r>
          </a:p>
          <a:p>
            <a:pPr indent="714375">
              <a:lnSpc>
                <a:spcPts val="1500"/>
              </a:lnSpc>
            </a:pPr>
            <a:r>
              <a:rPr lang="en-US" altLang="ko-KR" sz="1400" b="1" smtClean="0"/>
              <a:t>&lt;input </a:t>
            </a:r>
            <a:r>
              <a:rPr lang="en-US" altLang="ko-KR" sz="1400" b="1"/>
              <a:t>type="submit"/&gt;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&lt;/</a:t>
            </a:r>
            <a:r>
              <a:rPr lang="en-US" altLang="ko-KR" sz="1400" b="1"/>
              <a:t>form&gt;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&lt;/body&gt;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&lt;/html&gt;</a:t>
            </a:r>
            <a:endParaRPr lang="ko-KR" altLang="en-US" sz="1400" b="1"/>
          </a:p>
        </p:txBody>
      </p:sp>
      <p:sp>
        <p:nvSpPr>
          <p:cNvPr id="8" name="직사각형 7"/>
          <p:cNvSpPr/>
          <p:nvPr/>
        </p:nvSpPr>
        <p:spPr>
          <a:xfrm>
            <a:off x="1209676" y="6305550"/>
            <a:ext cx="5524500" cy="419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smtClean="0">
                <a:solidFill>
                  <a:schemeClr val="tx1"/>
                </a:solidFill>
              </a:rPr>
              <a:t>action="" </a:t>
            </a:r>
            <a:r>
              <a:rPr lang="en-US" altLang="ko-KR" sz="1200">
                <a:solidFill>
                  <a:schemeClr val="tx1"/>
                </a:solidFill>
              </a:rPr>
              <a:t>: </a:t>
            </a:r>
            <a:r>
              <a:rPr lang="en-US" altLang="ko-KR" sz="1200" smtClean="0">
                <a:solidFill>
                  <a:schemeClr val="tx1"/>
                </a:solidFill>
              </a:rPr>
              <a:t>submit </a:t>
            </a:r>
            <a:r>
              <a:rPr lang="ko-KR" altLang="en-US" sz="1200" smtClean="0">
                <a:solidFill>
                  <a:schemeClr val="tx1"/>
                </a:solidFill>
              </a:rPr>
              <a:t>실행시 전송되는 서버 주소 </a:t>
            </a:r>
            <a:endParaRPr lang="en-US" altLang="ko-KR" sz="120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smtClean="0">
                <a:solidFill>
                  <a:schemeClr val="tx1"/>
                </a:solidFill>
              </a:rPr>
              <a:t>get : </a:t>
            </a:r>
            <a:r>
              <a:rPr lang="ko-KR" altLang="en-US" sz="1200" smtClean="0">
                <a:solidFill>
                  <a:schemeClr val="tx1"/>
                </a:solidFill>
              </a:rPr>
              <a:t>전송시 내용 모두 표시됨</a:t>
            </a:r>
            <a:r>
              <a:rPr lang="en-US" altLang="ko-KR" sz="1200" smtClean="0">
                <a:solidFill>
                  <a:schemeClr val="tx1"/>
                </a:solidFill>
              </a:rPr>
              <a:t>, post : </a:t>
            </a:r>
            <a:r>
              <a:rPr lang="ko-KR" altLang="en-US" sz="1200" smtClean="0">
                <a:solidFill>
                  <a:schemeClr val="tx1"/>
                </a:solidFill>
              </a:rPr>
              <a:t>전송 내용이 암호화되어 표시되지 않음</a:t>
            </a:r>
            <a:endParaRPr lang="en-US" altLang="ko-KR" sz="12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443038"/>
            <a:ext cx="2971800" cy="163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98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Form tag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3579069"/>
            <a:ext cx="6457950" cy="297379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" y="1071562"/>
            <a:ext cx="3914775" cy="2314575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923925" y="2886075"/>
            <a:ext cx="666750" cy="390525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1524000" y="3286125"/>
            <a:ext cx="0" cy="2762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92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smtClean="0">
                <a:solidFill>
                  <a:schemeClr val="tx1"/>
                </a:solidFill>
              </a:rPr>
              <a:t>HTML : div, span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250" y="1024474"/>
            <a:ext cx="5562600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400" b="1"/>
              <a:t>&lt;!DOCTYPE html&gt;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&lt;html lang="en" xmlns="http://www.w3.org/1999/xhtml"&gt;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&lt;head&gt;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&lt;meta charset="utf-8" /&gt;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	&lt;title&gt;&lt;/title&gt;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&lt;/head&gt;</a:t>
            </a:r>
          </a:p>
          <a:p>
            <a:pPr>
              <a:lnSpc>
                <a:spcPts val="1500"/>
              </a:lnSpc>
            </a:pPr>
            <a:endParaRPr lang="en-US" altLang="ko-KR" sz="1400" b="1"/>
          </a:p>
          <a:p>
            <a:pPr>
              <a:lnSpc>
                <a:spcPts val="1500"/>
              </a:lnSpc>
            </a:pPr>
            <a:r>
              <a:rPr lang="en-US" altLang="ko-KR" sz="1400" b="1"/>
              <a:t>&lt;body&gt;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div&gt;block 01&lt;/div&gt;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div&gt;block 02&lt;/div&gt;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div&gt;block 03&lt;/div&gt;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div&gt;block 04&lt;/div&gt;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div&gt;block 05&lt;/div&gt;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br&gt;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span&gt;inline 01&lt;/span&gt;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span&gt;inline 02&lt;/span&gt;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span&gt;inline 03&lt;/span&gt;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span&gt;inline 04&lt;/span&gt;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smtClean="0"/>
              <a:t>&lt;</a:t>
            </a:r>
            <a:r>
              <a:rPr lang="en-US" altLang="ko-KR" sz="1400" b="1"/>
              <a:t>span&gt;inline 05&lt;/span&gt;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&lt;/body&gt;</a:t>
            </a:r>
          </a:p>
          <a:p>
            <a:pPr>
              <a:lnSpc>
                <a:spcPts val="1500"/>
              </a:lnSpc>
            </a:pPr>
            <a:r>
              <a:rPr lang="en-US" altLang="ko-KR" sz="1400" b="1"/>
              <a:t>&lt;/html&gt;</a:t>
            </a:r>
            <a:endParaRPr lang="ko-KR" altLang="en-US" sz="1400" b="1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2" y="2047875"/>
            <a:ext cx="3705225" cy="201930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47700" y="5457825"/>
            <a:ext cx="5905499" cy="419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smtClean="0">
                <a:solidFill>
                  <a:schemeClr val="tx1"/>
                </a:solidFill>
              </a:rPr>
              <a:t>&lt;div&gt; </a:t>
            </a:r>
            <a:r>
              <a:rPr lang="ko-KR" altLang="en-US" sz="1200" smtClean="0">
                <a:solidFill>
                  <a:schemeClr val="tx1"/>
                </a:solidFill>
              </a:rPr>
              <a:t>자동으로 개행이 됨</a:t>
            </a:r>
            <a:endParaRPr lang="en-US" altLang="ko-KR" sz="120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smtClean="0">
                <a:solidFill>
                  <a:schemeClr val="tx1"/>
                </a:solidFill>
              </a:rPr>
              <a:t>&lt;span&gt; </a:t>
            </a:r>
            <a:r>
              <a:rPr lang="ko-KR" altLang="en-US" sz="1200" smtClean="0">
                <a:solidFill>
                  <a:schemeClr val="tx1"/>
                </a:solidFill>
              </a:rPr>
              <a:t>행으로 열거됨</a:t>
            </a:r>
            <a:endParaRPr lang="en-US" altLang="ko-KR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34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HTML : div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를 이용한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Layout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250" y="1024474"/>
            <a:ext cx="55626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400" b="1" dirty="0" smtClean="0"/>
              <a:t>&lt;!DOCTYPE html&gt;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&lt;html </a:t>
            </a:r>
            <a:r>
              <a:rPr lang="en-US" altLang="ko-KR" sz="1400" b="1" dirty="0" err="1" smtClean="0"/>
              <a:t>lang</a:t>
            </a:r>
            <a:r>
              <a:rPr lang="en-US" altLang="ko-KR" sz="1400" b="1" dirty="0" smtClean="0"/>
              <a:t>="en" </a:t>
            </a:r>
            <a:r>
              <a:rPr lang="en-US" altLang="ko-KR" sz="1400" b="1" dirty="0" err="1" smtClean="0"/>
              <a:t>xmlns</a:t>
            </a:r>
            <a:r>
              <a:rPr lang="en-US" altLang="ko-KR" sz="1400" b="1" dirty="0" smtClean="0"/>
              <a:t>="http://www.w3.org/1999/xhtml"&gt;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&lt;head&gt;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&lt;meta </a:t>
            </a:r>
            <a:r>
              <a:rPr lang="en-US" altLang="ko-KR" sz="1400" b="1" dirty="0" err="1" smtClean="0"/>
              <a:t>charset</a:t>
            </a:r>
            <a:r>
              <a:rPr lang="en-US" altLang="ko-KR" sz="1400" b="1" dirty="0" smtClean="0"/>
              <a:t>="utf-8" /&gt;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&lt;title&gt;</a:t>
            </a:r>
            <a:r>
              <a:rPr lang="ko-KR" altLang="en-US" sz="1400" b="1" dirty="0" smtClean="0"/>
              <a:t>처음 홈페이지</a:t>
            </a:r>
            <a:r>
              <a:rPr lang="en-US" altLang="ko-KR" sz="1400" b="1" dirty="0" smtClean="0"/>
              <a:t>&lt;/title&gt;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&lt;/head&gt;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&lt;body&gt;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&lt;div&gt;</a:t>
            </a:r>
          </a:p>
          <a:p>
            <a:pPr indent="714375">
              <a:lnSpc>
                <a:spcPts val="1500"/>
              </a:lnSpc>
            </a:pPr>
            <a:r>
              <a:rPr lang="en-US" altLang="ko-KR" sz="1400" b="1" dirty="0" smtClean="0"/>
              <a:t>&lt;h1&gt; MY FIRST HOMEPAGE&lt;/h1&gt;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&lt;div&gt;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</a:t>
            </a:r>
            <a:r>
              <a:rPr lang="en-US" altLang="ko-KR" sz="1400" b="1" dirty="0" err="1" smtClean="0"/>
              <a:t>ul</a:t>
            </a:r>
            <a:r>
              <a:rPr lang="en-US" altLang="ko-KR" sz="1400" b="1" dirty="0" smtClean="0"/>
              <a:t>&gt;</a:t>
            </a:r>
          </a:p>
          <a:p>
            <a:pPr indent="1438275">
              <a:lnSpc>
                <a:spcPts val="1500"/>
              </a:lnSpc>
            </a:pPr>
            <a:r>
              <a:rPr lang="en-US" altLang="ko-KR" sz="1400" b="1" dirty="0" smtClean="0"/>
              <a:t>&lt;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</a:t>
            </a:r>
            <a:r>
              <a:rPr lang="en-US" altLang="ko-KR" sz="1400" b="1" dirty="0" err="1" smtClean="0"/>
              <a:t>IoT</a:t>
            </a:r>
            <a:r>
              <a:rPr lang="en-US" altLang="ko-KR" sz="1400" b="1" dirty="0" smtClean="0"/>
              <a:t>&lt;/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</a:t>
            </a:r>
          </a:p>
          <a:p>
            <a:pPr indent="1438275">
              <a:lnSpc>
                <a:spcPts val="1500"/>
              </a:lnSpc>
            </a:pPr>
            <a:r>
              <a:rPr lang="en-US" altLang="ko-KR" sz="1400" b="1" dirty="0" smtClean="0"/>
              <a:t>&lt;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&gt;Smart Home&lt;/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</a:t>
            </a:r>
          </a:p>
          <a:p>
            <a:pPr indent="1438275">
              <a:lnSpc>
                <a:spcPts val="1500"/>
              </a:lnSpc>
            </a:pPr>
            <a:r>
              <a:rPr lang="en-US" altLang="ko-KR" sz="1400" b="1" dirty="0" smtClean="0"/>
              <a:t>&lt;LI&gt;Smart Factory&lt;/LI&gt;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&lt;/</a:t>
            </a:r>
            <a:r>
              <a:rPr lang="en-US" altLang="ko-KR" sz="1400" b="1" dirty="0" err="1" smtClean="0"/>
              <a:t>ul</a:t>
            </a:r>
            <a:r>
              <a:rPr lang="en-US" altLang="ko-KR" sz="1400" b="1" dirty="0" smtClean="0"/>
              <a:t>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&lt;div&gt;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&lt;h1&gt; </a:t>
            </a:r>
            <a:r>
              <a:rPr lang="ko-KR" altLang="en-US" sz="1400" b="1" dirty="0" smtClean="0"/>
              <a:t>홈페이지 내용</a:t>
            </a:r>
            <a:r>
              <a:rPr lang="en-US" altLang="ko-KR" sz="1400" b="1" dirty="0" smtClean="0"/>
              <a:t>&lt;/h1&gt;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&lt;p&gt; IoT System &lt;/p&gt;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&lt;hr&gt;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&lt;/div&gt;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&lt;div&gt;</a:t>
            </a:r>
          </a:p>
          <a:p>
            <a:pPr indent="895350">
              <a:lnSpc>
                <a:spcPts val="1500"/>
              </a:lnSpc>
            </a:pPr>
            <a:r>
              <a:rPr lang="en-US" altLang="ko-KR" sz="1400" b="1" dirty="0" smtClean="0"/>
              <a:t>&lt;p&gt; </a:t>
            </a:r>
            <a:r>
              <a:rPr lang="ko-KR" altLang="en-US" sz="1400" b="1" dirty="0" smtClean="0"/>
              <a:t>우리나라 주식회사 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대전광역시 </a:t>
            </a:r>
            <a:r>
              <a:rPr lang="en-US" altLang="ko-KR" sz="1400" b="1" dirty="0" smtClean="0"/>
              <a:t>&lt;/p&gt;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&lt;/div&gt;	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&lt;/body&gt;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&lt;/html&gt;</a:t>
            </a:r>
            <a:endParaRPr lang="ko-KR" altLang="en-US" sz="1400" b="1" dirty="0"/>
          </a:p>
        </p:txBody>
      </p:sp>
      <p:sp>
        <p:nvSpPr>
          <p:cNvPr id="11" name="직사각형 10"/>
          <p:cNvSpPr/>
          <p:nvPr/>
        </p:nvSpPr>
        <p:spPr>
          <a:xfrm>
            <a:off x="4314826" y="6115050"/>
            <a:ext cx="4114800" cy="419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&lt;hr&gt;  : </a:t>
            </a:r>
            <a:r>
              <a:rPr lang="ko-KR" altLang="en-US" sz="1200" dirty="0" smtClean="0">
                <a:solidFill>
                  <a:schemeClr val="tx1"/>
                </a:solidFill>
              </a:rPr>
              <a:t>가로 선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89500" y="1338263"/>
            <a:ext cx="3063963" cy="279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634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HTML : Semantic tag</a:t>
            </a:r>
            <a:r>
              <a:rPr lang="en-US" altLang="ko-KR" sz="20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의미론적 태그</a:t>
            </a:r>
            <a:r>
              <a:rPr lang="en-US" altLang="ko-KR" sz="2000" b="1" dirty="0" smtClean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2425" y="1038225"/>
            <a:ext cx="6702156" cy="2375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  <a:buFont typeface="Arial" pitchFamily="34" charset="0"/>
              <a:buChar char="•"/>
            </a:pPr>
            <a:r>
              <a:rPr lang="en-US" altLang="ko-KR" sz="1400" b="1" dirty="0" smtClean="0">
                <a:latin typeface="+mn-ea"/>
              </a:rPr>
              <a:t>  </a:t>
            </a:r>
            <a:r>
              <a:rPr lang="ko-KR" altLang="en-US" sz="1400" b="1" dirty="0" smtClean="0">
                <a:latin typeface="+mn-ea"/>
              </a:rPr>
              <a:t>일반적인 태그들</a:t>
            </a:r>
            <a:r>
              <a:rPr lang="en-US" altLang="ko-KR" sz="1400" b="1" dirty="0" smtClean="0">
                <a:latin typeface="+mn-ea"/>
              </a:rPr>
              <a:t>(div, p, a)</a:t>
            </a:r>
            <a:r>
              <a:rPr lang="ko-KR" altLang="en-US" sz="1400" b="1" dirty="0" smtClean="0">
                <a:latin typeface="+mn-ea"/>
              </a:rPr>
              <a:t>은 특정한 기능이 있으나 시맨틱 태그는 기능이 없음</a:t>
            </a:r>
            <a:endParaRPr lang="en-US" altLang="ko-KR" sz="1400" b="1" dirty="0" smtClean="0">
              <a:latin typeface="+mn-ea"/>
            </a:endParaRPr>
          </a:p>
          <a:p>
            <a:pPr>
              <a:lnSpc>
                <a:spcPts val="2000"/>
              </a:lnSpc>
              <a:buFont typeface="Arial" pitchFamily="34" charset="0"/>
              <a:buChar char="•"/>
            </a:pPr>
            <a:r>
              <a:rPr lang="en-US" altLang="ko-KR" sz="1400" b="1" dirty="0" smtClean="0">
                <a:latin typeface="+mn-ea"/>
              </a:rPr>
              <a:t>  </a:t>
            </a:r>
            <a:r>
              <a:rPr lang="ko-KR" altLang="en-US" sz="1400" b="1" dirty="0" smtClean="0">
                <a:latin typeface="+mn-ea"/>
              </a:rPr>
              <a:t>홈페이지의 레이아웃을 의미론적으로 설계</a:t>
            </a:r>
            <a:endParaRPr lang="en-US" altLang="ko-KR" sz="1400" b="1" dirty="0" smtClean="0">
              <a:latin typeface="+mn-ea"/>
            </a:endParaRPr>
          </a:p>
          <a:p>
            <a:pPr indent="361950">
              <a:lnSpc>
                <a:spcPts val="2000"/>
              </a:lnSpc>
            </a:pPr>
            <a:r>
              <a:rPr lang="en-US" altLang="ko-KR" sz="1400" dirty="0" smtClean="0"/>
              <a:t>&lt;header&gt; : </a:t>
            </a:r>
            <a:r>
              <a:rPr lang="ko-KR" altLang="en-US" sz="1400" dirty="0" smtClean="0"/>
              <a:t>화면 상단에 위치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홈페이지 정보 표시</a:t>
            </a:r>
            <a:endParaRPr lang="en-US" altLang="ko-KR" sz="1400" dirty="0" smtClean="0"/>
          </a:p>
          <a:p>
            <a:pPr indent="361950">
              <a:lnSpc>
                <a:spcPts val="2000"/>
              </a:lnSpc>
            </a:pPr>
            <a:r>
              <a:rPr lang="en-US" altLang="ko-KR" sz="1400" dirty="0" smtClean="0"/>
              <a:t>&lt;</a:t>
            </a:r>
            <a:r>
              <a:rPr lang="en-US" altLang="ko-KR" sz="1400" dirty="0" err="1" smtClean="0"/>
              <a:t>nav</a:t>
            </a:r>
            <a:r>
              <a:rPr lang="en-US" altLang="ko-KR" sz="1400" dirty="0" smtClean="0"/>
              <a:t>&gt; : </a:t>
            </a:r>
            <a:r>
              <a:rPr lang="ko-KR" altLang="en-US" sz="1400" dirty="0" smtClean="0"/>
              <a:t>문서의 </a:t>
            </a:r>
            <a:r>
              <a:rPr lang="ko-KR" altLang="en-US" sz="1400" dirty="0" err="1" smtClean="0"/>
              <a:t>네비게이션</a:t>
            </a:r>
            <a:r>
              <a:rPr lang="ko-KR" altLang="en-US" sz="1400" dirty="0" smtClean="0"/>
              <a:t> 항목 정의</a:t>
            </a:r>
            <a:endParaRPr lang="en-US" altLang="ko-KR" sz="1400" dirty="0" smtClean="0"/>
          </a:p>
          <a:p>
            <a:pPr indent="361950">
              <a:lnSpc>
                <a:spcPts val="2000"/>
              </a:lnSpc>
            </a:pPr>
            <a:r>
              <a:rPr lang="en-US" altLang="ko-KR" sz="1400" dirty="0" smtClean="0"/>
              <a:t>&lt;section&gt; : </a:t>
            </a:r>
            <a:r>
              <a:rPr lang="ko-KR" altLang="en-US" sz="1400" dirty="0" smtClean="0"/>
              <a:t>하나의 주제를 </a:t>
            </a:r>
            <a:r>
              <a:rPr lang="en-US" altLang="ko-KR" sz="1400" dirty="0" smtClean="0"/>
              <a:t>Grouping</a:t>
            </a:r>
          </a:p>
          <a:p>
            <a:pPr indent="361950">
              <a:lnSpc>
                <a:spcPts val="2000"/>
              </a:lnSpc>
            </a:pPr>
            <a:r>
              <a:rPr lang="en-US" altLang="ko-KR" sz="1400" dirty="0" smtClean="0"/>
              <a:t>&lt;article&gt; : section </a:t>
            </a:r>
            <a:r>
              <a:rPr lang="ko-KR" altLang="en-US" sz="1400" dirty="0" smtClean="0"/>
              <a:t>내에서 하나의 기사를 구성</a:t>
            </a:r>
            <a:r>
              <a:rPr lang="en-US" altLang="ko-KR" sz="1400" dirty="0" smtClean="0"/>
              <a:t>, article </a:t>
            </a:r>
            <a:r>
              <a:rPr lang="ko-KR" altLang="en-US" sz="1400" dirty="0" smtClean="0"/>
              <a:t>내 </a:t>
            </a:r>
            <a:r>
              <a:rPr lang="en-US" altLang="ko-KR" sz="1400" dirty="0" smtClean="0"/>
              <a:t>section </a:t>
            </a:r>
            <a:r>
              <a:rPr lang="ko-KR" altLang="en-US" sz="1400" dirty="0" smtClean="0"/>
              <a:t>가능</a:t>
            </a:r>
            <a:endParaRPr lang="en-US" altLang="ko-KR" sz="1400" dirty="0" smtClean="0"/>
          </a:p>
          <a:p>
            <a:pPr indent="361950">
              <a:lnSpc>
                <a:spcPts val="2000"/>
              </a:lnSpc>
            </a:pPr>
            <a:r>
              <a:rPr lang="en-US" altLang="ko-KR" sz="1400" dirty="0" smtClean="0"/>
              <a:t>&lt;aside&gt; : </a:t>
            </a:r>
            <a:r>
              <a:rPr lang="ko-KR" altLang="en-US" sz="1400" dirty="0" smtClean="0"/>
              <a:t>페이지 주요 </a:t>
            </a:r>
            <a:r>
              <a:rPr lang="ko-KR" altLang="en-US" sz="1400" dirty="0" err="1" smtClean="0"/>
              <a:t>내용외의</a:t>
            </a:r>
            <a:r>
              <a:rPr lang="ko-KR" altLang="en-US" sz="1400" dirty="0" smtClean="0"/>
              <a:t> 내용</a:t>
            </a:r>
            <a:r>
              <a:rPr lang="en-US" altLang="ko-KR" sz="1400" dirty="0" smtClean="0"/>
              <a:t>(ex: </a:t>
            </a:r>
            <a:r>
              <a:rPr lang="ko-KR" altLang="en-US" sz="1400" dirty="0" smtClean="0"/>
              <a:t>광고</a:t>
            </a:r>
            <a:r>
              <a:rPr lang="en-US" altLang="ko-KR" sz="1400" dirty="0" smtClean="0"/>
              <a:t>)</a:t>
            </a:r>
          </a:p>
          <a:p>
            <a:pPr indent="361950">
              <a:lnSpc>
                <a:spcPts val="2000"/>
              </a:lnSpc>
            </a:pPr>
            <a:r>
              <a:rPr lang="en-US" altLang="ko-KR" sz="1400" dirty="0" smtClean="0"/>
              <a:t>&lt;footer&gt; : </a:t>
            </a:r>
            <a:r>
              <a:rPr lang="ko-KR" altLang="en-US" sz="1400" dirty="0" smtClean="0"/>
              <a:t>화면 하단에 위치하는 사이트 정보 표시</a:t>
            </a:r>
          </a:p>
          <a:p>
            <a:pPr>
              <a:lnSpc>
                <a:spcPts val="2000"/>
              </a:lnSpc>
            </a:pPr>
            <a:endParaRPr lang="ko-KR" altLang="en-US" sz="1400" dirty="0">
              <a:latin typeface="+mn-ea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4513" y="3219450"/>
            <a:ext cx="4976811" cy="3403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634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HTML : Semantic layout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89500" y="1338263"/>
            <a:ext cx="3063963" cy="279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직사각형 7"/>
          <p:cNvSpPr/>
          <p:nvPr/>
        </p:nvSpPr>
        <p:spPr>
          <a:xfrm>
            <a:off x="95250" y="1024474"/>
            <a:ext cx="55626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400" b="1" dirty="0" smtClean="0"/>
              <a:t>&lt;!DOCTYPE html&gt;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&lt;html </a:t>
            </a:r>
            <a:r>
              <a:rPr lang="en-US" altLang="ko-KR" sz="1400" b="1" dirty="0" err="1" smtClean="0"/>
              <a:t>lang</a:t>
            </a:r>
            <a:r>
              <a:rPr lang="en-US" altLang="ko-KR" sz="1400" b="1" dirty="0" smtClean="0"/>
              <a:t>="en" </a:t>
            </a:r>
            <a:r>
              <a:rPr lang="en-US" altLang="ko-KR" sz="1400" b="1" dirty="0" err="1" smtClean="0"/>
              <a:t>xmlns</a:t>
            </a:r>
            <a:r>
              <a:rPr lang="en-US" altLang="ko-KR" sz="1400" b="1" dirty="0" smtClean="0"/>
              <a:t>="http://www.w3.org/1999/xhtml"&gt;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&lt;head&gt;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&lt;meta </a:t>
            </a:r>
            <a:r>
              <a:rPr lang="en-US" altLang="ko-KR" sz="1400" b="1" dirty="0" err="1" smtClean="0"/>
              <a:t>charset</a:t>
            </a:r>
            <a:r>
              <a:rPr lang="en-US" altLang="ko-KR" sz="1400" b="1" dirty="0" smtClean="0"/>
              <a:t>="utf-8" /&gt;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&lt;title&gt;</a:t>
            </a:r>
            <a:r>
              <a:rPr lang="ko-KR" altLang="en-US" sz="1400" b="1" dirty="0" smtClean="0"/>
              <a:t>처음 홈페이지</a:t>
            </a:r>
            <a:r>
              <a:rPr lang="en-US" altLang="ko-KR" sz="1400" b="1" dirty="0" smtClean="0"/>
              <a:t>&lt;/title&gt;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&lt;/head&gt;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&lt;body&gt;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&lt;header&gt;</a:t>
            </a:r>
          </a:p>
          <a:p>
            <a:pPr indent="714375">
              <a:lnSpc>
                <a:spcPts val="1500"/>
              </a:lnSpc>
            </a:pPr>
            <a:r>
              <a:rPr lang="en-US" altLang="ko-KR" sz="1400" b="1" dirty="0" smtClean="0"/>
              <a:t>&lt;h1&gt; MY FIRST HOMEPAGE&lt;/h1&gt;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&lt;/header&gt;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</a:t>
            </a:r>
            <a:r>
              <a:rPr lang="en-US" altLang="ko-KR" sz="1400" b="1" dirty="0" err="1" smtClean="0"/>
              <a:t>nav</a:t>
            </a:r>
            <a:r>
              <a:rPr lang="en-US" altLang="ko-KR" sz="1400" b="1" dirty="0" smtClean="0"/>
              <a:t>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</a:t>
            </a:r>
            <a:r>
              <a:rPr lang="en-US" altLang="ko-KR" sz="1400" b="1" dirty="0" err="1" smtClean="0"/>
              <a:t>ul</a:t>
            </a:r>
            <a:r>
              <a:rPr lang="en-US" altLang="ko-KR" sz="1400" b="1" dirty="0" smtClean="0"/>
              <a:t>&gt;</a:t>
            </a:r>
          </a:p>
          <a:p>
            <a:pPr indent="1438275">
              <a:lnSpc>
                <a:spcPts val="1500"/>
              </a:lnSpc>
            </a:pPr>
            <a:r>
              <a:rPr lang="en-US" altLang="ko-KR" sz="1400" b="1" dirty="0" smtClean="0"/>
              <a:t>&lt;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</a:t>
            </a:r>
            <a:r>
              <a:rPr lang="en-US" altLang="ko-KR" sz="1400" b="1" dirty="0" err="1" smtClean="0"/>
              <a:t>IoT</a:t>
            </a:r>
            <a:r>
              <a:rPr lang="en-US" altLang="ko-KR" sz="1400" b="1" dirty="0" smtClean="0"/>
              <a:t>&lt;/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</a:t>
            </a:r>
          </a:p>
          <a:p>
            <a:pPr indent="1438275">
              <a:lnSpc>
                <a:spcPts val="1500"/>
              </a:lnSpc>
            </a:pPr>
            <a:r>
              <a:rPr lang="en-US" altLang="ko-KR" sz="1400" b="1" dirty="0" smtClean="0"/>
              <a:t>&lt;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&gt;Smart Home&lt;/</a:t>
            </a:r>
            <a:r>
              <a:rPr lang="en-US" altLang="ko-KR" sz="1400" b="1" dirty="0" err="1" smtClean="0"/>
              <a:t>li</a:t>
            </a:r>
            <a:r>
              <a:rPr lang="en-US" altLang="ko-KR" sz="1400" b="1" dirty="0" smtClean="0"/>
              <a:t>&gt;</a:t>
            </a:r>
          </a:p>
          <a:p>
            <a:pPr indent="1438275">
              <a:lnSpc>
                <a:spcPts val="1500"/>
              </a:lnSpc>
            </a:pPr>
            <a:r>
              <a:rPr lang="en-US" altLang="ko-KR" sz="1400" b="1" dirty="0" smtClean="0"/>
              <a:t>&lt;LI&gt;Smart Factory&lt;/LI&gt;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&lt;/</a:t>
            </a:r>
            <a:r>
              <a:rPr lang="en-US" altLang="ko-KR" sz="1400" b="1" dirty="0" err="1" smtClean="0"/>
              <a:t>ul</a:t>
            </a:r>
            <a:r>
              <a:rPr lang="en-US" altLang="ko-KR" sz="1400" b="1" dirty="0" smtClean="0"/>
              <a:t>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</a:t>
            </a:r>
            <a:r>
              <a:rPr lang="en-US" altLang="ko-KR" sz="1400" b="1" dirty="0" err="1" smtClean="0"/>
              <a:t>nav</a:t>
            </a:r>
            <a:r>
              <a:rPr lang="en-US" altLang="ko-KR" sz="1400" b="1" dirty="0" smtClean="0"/>
              <a:t>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&lt;section&gt;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&lt;h1&gt; </a:t>
            </a:r>
            <a:r>
              <a:rPr lang="ko-KR" altLang="en-US" sz="1400" b="1" dirty="0" smtClean="0"/>
              <a:t>홈페이지 내용</a:t>
            </a:r>
            <a:r>
              <a:rPr lang="en-US" altLang="ko-KR" sz="1400" b="1" dirty="0" smtClean="0"/>
              <a:t>&lt;/h1&gt;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&lt;p&gt; IoT System &lt;/p&gt;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	&lt;hr&gt;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&lt;/section&gt;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&lt;footer&gt;</a:t>
            </a:r>
          </a:p>
          <a:p>
            <a:pPr indent="895350">
              <a:lnSpc>
                <a:spcPts val="1500"/>
              </a:lnSpc>
            </a:pPr>
            <a:r>
              <a:rPr lang="en-US" altLang="ko-KR" sz="1400" b="1" dirty="0" smtClean="0"/>
              <a:t>&lt;p&gt; </a:t>
            </a:r>
            <a:r>
              <a:rPr lang="ko-KR" altLang="en-US" sz="1400" b="1" dirty="0" smtClean="0"/>
              <a:t>우리나라 주식회사 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대전광역시 </a:t>
            </a:r>
            <a:r>
              <a:rPr lang="en-US" altLang="ko-KR" sz="1400" b="1" dirty="0" smtClean="0"/>
              <a:t>&lt;/p&gt;</a:t>
            </a:r>
          </a:p>
          <a:p>
            <a:pPr indent="361950">
              <a:lnSpc>
                <a:spcPts val="1500"/>
              </a:lnSpc>
            </a:pPr>
            <a:r>
              <a:rPr lang="en-US" altLang="ko-KR" sz="1400" b="1" dirty="0" smtClean="0"/>
              <a:t>&lt;/footer&gt;	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&lt;/body&gt;</a:t>
            </a:r>
          </a:p>
          <a:p>
            <a:pPr>
              <a:lnSpc>
                <a:spcPts val="1500"/>
              </a:lnSpc>
            </a:pPr>
            <a:r>
              <a:rPr lang="en-US" altLang="ko-KR" sz="1400" b="1" dirty="0" smtClean="0"/>
              <a:t>&lt;/html&gt;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4634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CSS : </a:t>
            </a:r>
            <a:r>
              <a:rPr lang="ko-KR" altLang="en-US" sz="2800" b="1" dirty="0" err="1" smtClean="0">
                <a:solidFill>
                  <a:schemeClr val="tx1"/>
                </a:solidFill>
              </a:rPr>
              <a:t>선택자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3825" y="1019175"/>
            <a:ext cx="3360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특정 태그를 선택하여 태그 속성을 변경</a:t>
            </a:r>
            <a:endParaRPr lang="ko-KR" altLang="en-US" sz="1400" b="1" dirty="0"/>
          </a:p>
        </p:txBody>
      </p:sp>
      <p:sp>
        <p:nvSpPr>
          <p:cNvPr id="10" name="직사각형 9"/>
          <p:cNvSpPr/>
          <p:nvPr/>
        </p:nvSpPr>
        <p:spPr>
          <a:xfrm>
            <a:off x="381000" y="1478846"/>
            <a:ext cx="60388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&lt;!DOCTYPE html&gt;</a:t>
            </a:r>
          </a:p>
          <a:p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&lt;html </a:t>
            </a:r>
            <a:r>
              <a:rPr lang="en-US" altLang="ko-KR" sz="1400" b="1" dirty="0" err="1" smtClean="0">
                <a:latin typeface="새굴림" pitchFamily="18" charset="-127"/>
                <a:ea typeface="새굴림" pitchFamily="18" charset="-127"/>
              </a:rPr>
              <a:t>lang</a:t>
            </a:r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="en" </a:t>
            </a:r>
            <a:r>
              <a:rPr lang="en-US" altLang="ko-KR" sz="1400" b="1" dirty="0" err="1" smtClean="0">
                <a:latin typeface="새굴림" pitchFamily="18" charset="-127"/>
                <a:ea typeface="새굴림" pitchFamily="18" charset="-127"/>
              </a:rPr>
              <a:t>xmlns</a:t>
            </a:r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="http://www.w3.org/1999/xhtml"&gt;</a:t>
            </a:r>
          </a:p>
          <a:p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&lt;head&gt;</a:t>
            </a:r>
          </a:p>
          <a:p>
            <a:pPr indent="361950"/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&lt;meta </a:t>
            </a:r>
            <a:r>
              <a:rPr lang="en-US" altLang="ko-KR" sz="1400" b="1" dirty="0" err="1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charset</a:t>
            </a:r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="utf-8" /&gt;</a:t>
            </a:r>
          </a:p>
          <a:p>
            <a:pPr indent="361950"/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&lt;title&gt;</a:t>
            </a:r>
            <a:r>
              <a:rPr lang="ko-KR" altLang="en-US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처음 홈페이지</a:t>
            </a:r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&lt;/title&gt;</a:t>
            </a:r>
          </a:p>
          <a:p>
            <a:pPr indent="361950"/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&lt;style&gt;</a:t>
            </a:r>
          </a:p>
          <a:p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	div{</a:t>
            </a:r>
          </a:p>
          <a:p>
            <a:pPr indent="1257300"/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background:#00ff00;			</a:t>
            </a:r>
          </a:p>
          <a:p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	}</a:t>
            </a:r>
          </a:p>
          <a:p>
            <a:pPr indent="361950"/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&lt;/style&gt;</a:t>
            </a:r>
          </a:p>
          <a:p>
            <a:r>
              <a:rPr lang="en-US" altLang="ko-KR" sz="1400" b="1" dirty="0" smtClean="0">
                <a:solidFill>
                  <a:srgbClr val="0000FF"/>
                </a:solidFill>
                <a:latin typeface="새굴림" pitchFamily="18" charset="-127"/>
                <a:ea typeface="새굴림" pitchFamily="18" charset="-127"/>
              </a:rPr>
              <a:t>&lt;/head&gt;</a:t>
            </a:r>
          </a:p>
          <a:p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&lt;body&gt;</a:t>
            </a:r>
          </a:p>
          <a:p>
            <a:pPr indent="361950"/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&lt;h1&gt; </a:t>
            </a:r>
            <a:r>
              <a:rPr lang="ko-KR" altLang="en-US" sz="1400" b="1" dirty="0" smtClean="0">
                <a:latin typeface="새굴림" pitchFamily="18" charset="-127"/>
                <a:ea typeface="새굴림" pitchFamily="18" charset="-127"/>
              </a:rPr>
              <a:t>처음 만든 홈페이지</a:t>
            </a:r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&lt;/h1&gt;</a:t>
            </a:r>
          </a:p>
          <a:p>
            <a:pPr indent="361950"/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&lt;div&gt;</a:t>
            </a:r>
          </a:p>
          <a:p>
            <a:pPr indent="714375"/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&lt;h1&gt;</a:t>
            </a:r>
            <a:r>
              <a:rPr lang="ko-KR" altLang="en-US" sz="1400" b="1" dirty="0" smtClean="0">
                <a:latin typeface="새굴림" pitchFamily="18" charset="-127"/>
                <a:ea typeface="새굴림" pitchFamily="18" charset="-127"/>
              </a:rPr>
              <a:t>처음 만든 홈페이지</a:t>
            </a:r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&lt;/h1&gt;</a:t>
            </a:r>
          </a:p>
          <a:p>
            <a:pPr indent="361950"/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&lt;/div&gt;</a:t>
            </a:r>
          </a:p>
          <a:p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&lt;/body&gt;</a:t>
            </a:r>
          </a:p>
          <a:p>
            <a:r>
              <a:rPr lang="en-US" altLang="ko-KR" sz="1400" b="1" dirty="0" smtClean="0">
                <a:latin typeface="새굴림" pitchFamily="18" charset="-127"/>
                <a:ea typeface="새굴림" pitchFamily="18" charset="-127"/>
              </a:rPr>
              <a:t>&lt;/html&gt;</a:t>
            </a:r>
            <a:endParaRPr lang="ko-KR" altLang="en-US" sz="1400" b="1" dirty="0">
              <a:latin typeface="새굴림" pitchFamily="18" charset="-127"/>
              <a:ea typeface="새굴림" pitchFamily="18" charset="-127"/>
            </a:endParaRPr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66239" y="2400300"/>
            <a:ext cx="2939599" cy="257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634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CSS : id(#), class(.)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33775" y="200025"/>
            <a:ext cx="3659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 태그의 </a:t>
            </a:r>
            <a:r>
              <a:rPr lang="en-US" altLang="ko-KR" sz="1400" b="1" dirty="0" smtClean="0"/>
              <a:t>id</a:t>
            </a:r>
            <a:r>
              <a:rPr lang="ko-KR" altLang="en-US" sz="1400" b="1" dirty="0" smtClean="0"/>
              <a:t>와 </a:t>
            </a:r>
            <a:r>
              <a:rPr lang="en-US" altLang="ko-KR" sz="1400" b="1" dirty="0" smtClean="0"/>
              <a:t>class</a:t>
            </a:r>
            <a:r>
              <a:rPr lang="ko-KR" altLang="en-US" sz="1400" b="1" dirty="0" smtClean="0"/>
              <a:t>를 이용하여 </a:t>
            </a:r>
            <a:r>
              <a:rPr lang="en-US" altLang="ko-KR" sz="1400" b="1" dirty="0" smtClean="0"/>
              <a:t>CSS </a:t>
            </a:r>
            <a:r>
              <a:rPr lang="ko-KR" altLang="en-US" sz="1400" b="1" dirty="0" smtClean="0"/>
              <a:t>속성 설정</a:t>
            </a:r>
            <a:endParaRPr lang="ko-KR" altLang="en-US" sz="1400" b="1" dirty="0"/>
          </a:p>
        </p:txBody>
      </p:sp>
      <p:sp>
        <p:nvSpPr>
          <p:cNvPr id="10" name="직사각형 9"/>
          <p:cNvSpPr/>
          <p:nvPr/>
        </p:nvSpPr>
        <p:spPr>
          <a:xfrm>
            <a:off x="152400" y="707321"/>
            <a:ext cx="603885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&lt;html </a:t>
            </a:r>
            <a:r>
              <a:rPr lang="en-US" altLang="ko-KR" sz="1100" b="1" dirty="0" err="1" smtClean="0">
                <a:latin typeface="새굴림" pitchFamily="18" charset="-127"/>
                <a:ea typeface="새굴림" pitchFamily="18" charset="-127"/>
              </a:rPr>
              <a:t>lang</a:t>
            </a: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="en" </a:t>
            </a:r>
            <a:r>
              <a:rPr lang="en-US" altLang="ko-KR" sz="1100" b="1" dirty="0" err="1" smtClean="0">
                <a:latin typeface="새굴림" pitchFamily="18" charset="-127"/>
                <a:ea typeface="새굴림" pitchFamily="18" charset="-127"/>
              </a:rPr>
              <a:t>xmlns</a:t>
            </a: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="http://www.w3.org/1999/xhtml"&gt;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&lt;head&gt;</a:t>
            </a:r>
          </a:p>
          <a:p>
            <a:pPr indent="361950"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&lt;meta </a:t>
            </a:r>
            <a:r>
              <a:rPr lang="en-US" altLang="ko-KR" sz="1100" b="1" dirty="0" err="1" smtClean="0">
                <a:latin typeface="새굴림" pitchFamily="18" charset="-127"/>
                <a:ea typeface="새굴림" pitchFamily="18" charset="-127"/>
              </a:rPr>
              <a:t>charset</a:t>
            </a: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="utf-8" /&gt;</a:t>
            </a:r>
          </a:p>
          <a:p>
            <a:pPr indent="361950"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&lt;title&gt;</a:t>
            </a:r>
            <a:r>
              <a:rPr lang="ko-KR" altLang="en-US" sz="1100" b="1" dirty="0" smtClean="0">
                <a:latin typeface="새굴림" pitchFamily="18" charset="-127"/>
                <a:ea typeface="새굴림" pitchFamily="18" charset="-127"/>
              </a:rPr>
              <a:t>처음 홈페이지</a:t>
            </a: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&lt;/title&gt;</a:t>
            </a:r>
          </a:p>
          <a:p>
            <a:pPr indent="361950"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&lt;style&gt;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#header{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width:500px;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background-color: #ffcc00;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border: 3px solid #808080;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text-align: center;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}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#wrap{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width:500px;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background-color: #</a:t>
            </a:r>
            <a:r>
              <a:rPr lang="en-US" altLang="ko-KR" sz="1100" b="1" dirty="0" err="1" smtClean="0">
                <a:latin typeface="새굴림" pitchFamily="18" charset="-127"/>
                <a:ea typeface="새굴림" pitchFamily="18" charset="-127"/>
              </a:rPr>
              <a:t>ccddff</a:t>
            </a: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border: 3px solid #808080;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text-align: center;	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overflow: hidden;	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}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#content{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width: 350px;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border:1px solid red;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float: left;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}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#</a:t>
            </a:r>
            <a:r>
              <a:rPr lang="en-US" altLang="ko-KR" sz="1100" b="1" dirty="0" err="1" smtClean="0">
                <a:latin typeface="새굴림" pitchFamily="18" charset="-127"/>
                <a:ea typeface="새굴림" pitchFamily="18" charset="-127"/>
              </a:rPr>
              <a:t>side_banner</a:t>
            </a: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{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border : 1px solid red;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float : left;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}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#footer{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</a:t>
            </a:r>
            <a:r>
              <a:rPr lang="en-US" altLang="ko-KR" sz="1100" b="1" dirty="0" err="1" smtClean="0">
                <a:latin typeface="새굴림" pitchFamily="18" charset="-127"/>
                <a:ea typeface="새굴림" pitchFamily="18" charset="-127"/>
              </a:rPr>
              <a:t>clear:both</a:t>
            </a: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width: 500px;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background-color: #ffdd00;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border : 3px solid #808080;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text-align: center;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}</a:t>
            </a:r>
          </a:p>
          <a:p>
            <a:pPr indent="895350"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.menu1{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color:#ff0000;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	font-weight: bold;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	}</a:t>
            </a:r>
          </a:p>
          <a:p>
            <a:pPr indent="361950"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&lt;/style&gt;</a:t>
            </a:r>
          </a:p>
          <a:p>
            <a:pPr>
              <a:lnSpc>
                <a:spcPts val="1200"/>
              </a:lnSpc>
            </a:pPr>
            <a:r>
              <a:rPr lang="en-US" altLang="ko-KR" sz="1100" b="1" dirty="0" smtClean="0">
                <a:latin typeface="새굴림" pitchFamily="18" charset="-127"/>
                <a:ea typeface="새굴림" pitchFamily="18" charset="-127"/>
              </a:rPr>
              <a:t>&lt;/head&gt;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08444" y="1047750"/>
            <a:ext cx="258790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634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CSS : id(#), class(.)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33775" y="438150"/>
            <a:ext cx="3659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 태그의 </a:t>
            </a:r>
            <a:r>
              <a:rPr lang="en-US" altLang="ko-KR" sz="1400" b="1" dirty="0" smtClean="0"/>
              <a:t>id</a:t>
            </a:r>
            <a:r>
              <a:rPr lang="ko-KR" altLang="en-US" sz="1400" b="1" dirty="0" smtClean="0"/>
              <a:t>와 </a:t>
            </a:r>
            <a:r>
              <a:rPr lang="en-US" altLang="ko-KR" sz="1400" b="1" dirty="0" smtClean="0"/>
              <a:t>class</a:t>
            </a:r>
            <a:r>
              <a:rPr lang="ko-KR" altLang="en-US" sz="1400" b="1" dirty="0" smtClean="0"/>
              <a:t>를 이용하여 </a:t>
            </a:r>
            <a:r>
              <a:rPr lang="en-US" altLang="ko-KR" sz="1400" b="1" dirty="0" smtClean="0"/>
              <a:t>CSS </a:t>
            </a:r>
            <a:r>
              <a:rPr lang="ko-KR" altLang="en-US" sz="1400" b="1" dirty="0" smtClean="0"/>
              <a:t>속성 설정</a:t>
            </a:r>
            <a:endParaRPr lang="ko-KR" altLang="en-US" sz="1400" b="1" dirty="0"/>
          </a:p>
        </p:txBody>
      </p:sp>
      <p:sp>
        <p:nvSpPr>
          <p:cNvPr id="10" name="직사각형 9"/>
          <p:cNvSpPr/>
          <p:nvPr/>
        </p:nvSpPr>
        <p:spPr>
          <a:xfrm>
            <a:off x="142875" y="954971"/>
            <a:ext cx="60388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&lt;body&gt;</a:t>
            </a:r>
          </a:p>
          <a:p>
            <a:pPr indent="361950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&lt;div id="header"&gt;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&lt;h1&gt;HEADER&lt;/h1&gt;</a:t>
            </a:r>
          </a:p>
          <a:p>
            <a:pPr indent="361950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&lt;/div&gt;</a:t>
            </a:r>
          </a:p>
          <a:p>
            <a:pPr indent="361950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&lt;div id="wrap"&gt;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&lt;div id="content"&gt;</a:t>
            </a:r>
          </a:p>
          <a:p>
            <a:pPr indent="1438275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&lt;h1&gt;CONTENT&lt;/h1&gt;</a:t>
            </a:r>
          </a:p>
          <a:p>
            <a:pPr indent="1438275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ul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	&lt;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 class="menu1"&gt;menu1&lt;/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	&lt;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 class="menu2"&gt;menu2&lt;/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	&lt;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 class="menu3"&gt;menu3&lt;/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	&lt;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 class="menu4"&gt;menu4&lt;/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	&lt;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 class="menu5"&gt;menu5&lt;/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li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&gt;</a:t>
            </a:r>
          </a:p>
          <a:p>
            <a:pPr indent="1438275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&lt;/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ul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&lt;/div&gt;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&lt;div id="</a:t>
            </a:r>
            <a:r>
              <a:rPr lang="en-US" altLang="ko-KR" sz="1200" b="1" dirty="0" err="1" smtClean="0">
                <a:latin typeface="새굴림" pitchFamily="18" charset="-127"/>
                <a:ea typeface="새굴림" pitchFamily="18" charset="-127"/>
              </a:rPr>
              <a:t>slid_banner</a:t>
            </a:r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"&gt;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	&lt;h1&gt;BANNER&lt;/h1&gt;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&lt;/div&gt;</a:t>
            </a:r>
          </a:p>
          <a:p>
            <a:pPr indent="361950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&lt;/div&gt;</a:t>
            </a:r>
          </a:p>
          <a:p>
            <a:pPr indent="361950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&lt;div id="footer"&gt;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	&lt;h1&gt;FOOTER&lt;/h1&gt;</a:t>
            </a:r>
          </a:p>
          <a:p>
            <a:pPr indent="361950"/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&lt;/div&gt;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&lt;/body&gt;</a:t>
            </a:r>
          </a:p>
          <a:p>
            <a:r>
              <a:rPr lang="en-US" altLang="ko-KR" sz="1200" b="1" dirty="0" smtClean="0">
                <a:latin typeface="새굴림" pitchFamily="18" charset="-127"/>
                <a:ea typeface="새굴림" pitchFamily="18" charset="-127"/>
              </a:rPr>
              <a:t>&lt;/html&gt;</a:t>
            </a:r>
            <a:endParaRPr lang="ko-KR" altLang="en-US" sz="1200" b="1" dirty="0">
              <a:latin typeface="새굴림" pitchFamily="18" charset="-127"/>
              <a:ea typeface="새굴림" pitchFamily="18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0538" y="1095375"/>
            <a:ext cx="309581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634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6140</TotalTime>
  <Words>13786</Words>
  <Application>Microsoft Office PowerPoint</Application>
  <PresentationFormat>화면 슬라이드 쇼(4:3)</PresentationFormat>
  <Paragraphs>4519</Paragraphs>
  <Slides>383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383</vt:i4>
      </vt:variant>
    </vt:vector>
  </HeadingPairs>
  <TitlesOfParts>
    <vt:vector size="396" baseType="lpstr">
      <vt:lpstr>HY그래픽</vt:lpstr>
      <vt:lpstr>HY그래픽M</vt:lpstr>
      <vt:lpstr>Menlo</vt:lpstr>
      <vt:lpstr>굴림</vt:lpstr>
      <vt:lpstr>굴림체</vt:lpstr>
      <vt:lpstr>맑은 고딕</vt:lpstr>
      <vt:lpstr>새굴림</vt:lpstr>
      <vt:lpstr>Arial</vt:lpstr>
      <vt:lpstr>Calibri</vt:lpstr>
      <vt:lpstr>Calibri Light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mr.son</dc:creator>
  <cp:lastModifiedBy>손 영달</cp:lastModifiedBy>
  <cp:revision>400</cp:revision>
  <dcterms:created xsi:type="dcterms:W3CDTF">2016-12-24T13:44:34Z</dcterms:created>
  <dcterms:modified xsi:type="dcterms:W3CDTF">2024-03-27T11:37:04Z</dcterms:modified>
</cp:coreProperties>
</file>