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65" r:id="rId2"/>
    <p:sldId id="710" r:id="rId3"/>
    <p:sldId id="1031" r:id="rId4"/>
    <p:sldId id="1032" r:id="rId5"/>
    <p:sldId id="1033" r:id="rId6"/>
    <p:sldId id="1034" r:id="rId7"/>
    <p:sldId id="1035" r:id="rId8"/>
    <p:sldId id="910" r:id="rId9"/>
    <p:sldId id="1037" r:id="rId10"/>
    <p:sldId id="1038" r:id="rId11"/>
    <p:sldId id="1039" r:id="rId12"/>
    <p:sldId id="1040" r:id="rId13"/>
    <p:sldId id="1041" r:id="rId14"/>
    <p:sldId id="1042" r:id="rId15"/>
    <p:sldId id="1043" r:id="rId16"/>
    <p:sldId id="1044" r:id="rId17"/>
    <p:sldId id="1046" r:id="rId18"/>
    <p:sldId id="1045" r:id="rId19"/>
    <p:sldId id="103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000099"/>
    <a:srgbClr val="003300"/>
    <a:srgbClr val="E16A11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7" autoAdjust="0"/>
    <p:restoredTop sz="94660"/>
  </p:normalViewPr>
  <p:slideViewPr>
    <p:cSldViewPr>
      <p:cViewPr varScale="1">
        <p:scale>
          <a:sx n="72" d="100"/>
          <a:sy n="72" d="100"/>
        </p:scale>
        <p:origin x="77" y="2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9127A-2FEC-483A-9A25-93A5680C1D1C}" type="datetimeFigureOut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65BE3-6672-47C3-837C-9B67EB7D3F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758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65BE3-6672-47C3-837C-9B67EB7D3F9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103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0406-8570-488D-9475-34FB49CAFBEB}" type="datetime1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880309" y="6525345"/>
            <a:ext cx="2844800" cy="221109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FB8B-C522-47CA-8A47-EA13B1607ED0}" type="datetime1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399FB-3FA1-4FA0-810F-9F5737179751}" type="datetime1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77C98-00C8-4BEB-98ED-5C904CC21F87}" type="datetime1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54C-79A3-4690-8127-426EE1BF24D2}" type="datetime1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50A9-F298-40E6-98DA-8BF9E5238EAC}" type="datetime1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8EBD-59A7-4E38-9833-808878FD20BC}" type="datetime1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715B-EC6D-43CB-B925-777D67FE10E8}" type="datetime1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E33E-E863-4F76-814A-E96D83952104}" type="datetime1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7943-4D1E-4FE7-B14A-A9DC6A279879}" type="datetime1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FD6E-BB69-4DCE-9C01-59016305D7D5}" type="datetime1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BBAB4-4A25-4C86-83DF-8F988B006229}" type="datetime1">
              <a:rPr lang="ko-KR" altLang="en-US" smtClean="0"/>
              <a:pPr/>
              <a:t>2024-05-04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80309" y="6525345"/>
            <a:ext cx="2844800" cy="221109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8724636B-0509-4BF4-BECB-1C328C1DA57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248603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719736" y="889073"/>
            <a:ext cx="4264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</a:rPr>
              <a:t>NUCLEO-F103RB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A3B2529-D386-47BD-9125-9F26E9BF4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84" y="2636912"/>
            <a:ext cx="3299832" cy="38927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07A58D-F242-495C-956C-255411BF1DFC}"/>
              </a:ext>
            </a:extLst>
          </p:cNvPr>
          <p:cNvSpPr txBox="1"/>
          <p:nvPr/>
        </p:nvSpPr>
        <p:spPr>
          <a:xfrm>
            <a:off x="10704512" y="6345016"/>
            <a:ext cx="1288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Ver.2024</a:t>
            </a:r>
            <a:r>
              <a:rPr lang="ko-KR" altLang="en-US" dirty="0"/>
              <a:t>년</a:t>
            </a:r>
          </a:p>
        </p:txBody>
      </p:sp>
    </p:spTree>
    <p:extLst>
      <p:ext uri="{BB962C8B-B14F-4D97-AF65-F5344CB8AC3E}">
        <p14:creationId xmlns:p14="http://schemas.microsoft.com/office/powerpoint/2010/main" val="2446827704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Features</a:t>
            </a:r>
            <a:endParaRPr lang="ko-KR" altLang="en-US" sz="20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E86E44A-DEAA-4DED-8F17-F5325AF5DA22}"/>
              </a:ext>
            </a:extLst>
          </p:cNvPr>
          <p:cNvSpPr/>
          <p:nvPr/>
        </p:nvSpPr>
        <p:spPr>
          <a:xfrm>
            <a:off x="269268" y="692696"/>
            <a:ext cx="1165938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• Common features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 – STM32 microcontroller in LQFP64 or LQFP48 package </a:t>
            </a:r>
            <a:br>
              <a:rPr lang="en-US" altLang="ko-KR" dirty="0"/>
            </a:br>
            <a:r>
              <a:rPr lang="en-US" altLang="ko-KR" dirty="0"/>
              <a:t>   – 1 user LED shared with ARDUINO® </a:t>
            </a:r>
            <a:br>
              <a:rPr lang="en-US" altLang="ko-KR" dirty="0"/>
            </a:br>
            <a:r>
              <a:rPr lang="en-US" altLang="ko-KR" dirty="0"/>
              <a:t>   – 1 user and 1 reset push-buttons </a:t>
            </a:r>
            <a:br>
              <a:rPr lang="en-US" altLang="ko-KR" dirty="0"/>
            </a:br>
            <a:r>
              <a:rPr lang="en-US" altLang="ko-KR" dirty="0"/>
              <a:t>   – 32.768 kHz crystal oscillator </a:t>
            </a:r>
            <a:br>
              <a:rPr lang="en-US" altLang="ko-KR" dirty="0"/>
            </a:br>
            <a:r>
              <a:rPr lang="en-US" altLang="ko-KR" dirty="0"/>
              <a:t>   – Board connectors: </a:t>
            </a:r>
            <a:br>
              <a:rPr lang="en-US" altLang="ko-KR" dirty="0"/>
            </a:br>
            <a:r>
              <a:rPr lang="en-US" altLang="ko-KR" dirty="0"/>
              <a:t>      ◦ ARDUINO® Uno V3 expansion connector </a:t>
            </a:r>
            <a:br>
              <a:rPr lang="en-US" altLang="ko-KR" dirty="0"/>
            </a:br>
            <a:r>
              <a:rPr lang="en-US" altLang="ko-KR" dirty="0"/>
              <a:t>      ◦ ST morpho extension pin headers for full access to all STM32 I/</a:t>
            </a:r>
            <a:r>
              <a:rPr lang="en-US" altLang="ko-KR" dirty="0" err="1"/>
              <a:t>Os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   – Flexible power-supply options: ST-LINK USB VBUS or external sources </a:t>
            </a:r>
            <a:br>
              <a:rPr lang="en-US" altLang="ko-KR" dirty="0"/>
            </a:br>
            <a:r>
              <a:rPr lang="en-US" altLang="ko-KR" dirty="0"/>
              <a:t>   – On-board ST-LINK debugger/programmer with USB re-enumeration capability: mass storage, </a:t>
            </a:r>
            <a:br>
              <a:rPr lang="en-US" altLang="ko-KR" dirty="0"/>
            </a:br>
            <a:r>
              <a:rPr lang="en-US" altLang="ko-KR" dirty="0"/>
              <a:t>     Virtual COM port, and debug port </a:t>
            </a:r>
            <a:br>
              <a:rPr lang="en-US" altLang="ko-KR" dirty="0"/>
            </a:br>
            <a:r>
              <a:rPr lang="en-US" altLang="ko-KR" dirty="0"/>
              <a:t>   – Comprehensive free software libraries and examples available with the STM32Cube MCU Package </a:t>
            </a:r>
            <a:br>
              <a:rPr lang="en-US" altLang="ko-KR" dirty="0"/>
            </a:br>
            <a:r>
              <a:rPr lang="en-US" altLang="ko-KR" dirty="0"/>
              <a:t>   – Support of a wide choice of Integrated Development Environments (IDEs) including IAR Embedded </a:t>
            </a:r>
            <a:br>
              <a:rPr lang="en-US" altLang="ko-KR" dirty="0"/>
            </a:br>
            <a:r>
              <a:rPr lang="en-US" altLang="ko-KR" dirty="0"/>
              <a:t>     Workbench®, MDK-ARM, and STM32CubeIDE </a:t>
            </a:r>
          </a:p>
          <a:p>
            <a:r>
              <a:rPr lang="en-US" altLang="ko-KR" b="1" dirty="0"/>
              <a:t>• Board-specific features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 – External SMPS to generate </a:t>
            </a:r>
            <a:r>
              <a:rPr lang="en-US" altLang="ko-KR" dirty="0" err="1"/>
              <a:t>Vcore</a:t>
            </a:r>
            <a:r>
              <a:rPr lang="en-US" altLang="ko-KR" dirty="0"/>
              <a:t> logic supply </a:t>
            </a:r>
            <a:br>
              <a:rPr lang="en-US" altLang="ko-KR" dirty="0"/>
            </a:br>
            <a:r>
              <a:rPr lang="en-US" altLang="ko-KR" dirty="0"/>
              <a:t>   – 24 MHz or 48 MHz HSE </a:t>
            </a:r>
            <a:br>
              <a:rPr lang="en-US" altLang="ko-KR" dirty="0"/>
            </a:br>
            <a:r>
              <a:rPr lang="en-US" altLang="ko-KR" dirty="0"/>
              <a:t>   – Board connectors: </a:t>
            </a:r>
            <a:br>
              <a:rPr lang="en-US" altLang="ko-KR" dirty="0"/>
            </a:br>
            <a:r>
              <a:rPr lang="en-US" altLang="ko-KR" dirty="0"/>
              <a:t>      ◦ External SMPS experimentation dedicated connector </a:t>
            </a:r>
            <a:br>
              <a:rPr lang="en-US" altLang="ko-KR" dirty="0"/>
            </a:br>
            <a:r>
              <a:rPr lang="en-US" altLang="ko-KR" dirty="0"/>
              <a:t>      ◦ Micro-B or Mini-B USB connector for the ST-LINK </a:t>
            </a:r>
            <a:br>
              <a:rPr lang="en-US" altLang="ko-KR" dirty="0"/>
            </a:br>
            <a:r>
              <a:rPr lang="en-US" altLang="ko-KR" dirty="0"/>
              <a:t>      ◦ MIPI® debug connector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254975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Schematic . Power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B40072-F228-4E3D-A679-DBDEB85C6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63" y="548680"/>
            <a:ext cx="12192000" cy="630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50319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Schematic. MCU Part - 1</a:t>
            </a:r>
            <a:endParaRPr lang="ko-KR" altLang="en-US" sz="20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160C359-4D80-4912-B4A1-A2C512617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775917"/>
            <a:ext cx="10869542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72707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Schematic. MCU Part -2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40D08A-4E5D-4019-BE54-43BAACD4D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1485"/>
            <a:ext cx="12192000" cy="509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59484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5CD24DE-DBB0-4CD6-9E8A-A345A3CD2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49" y="0"/>
            <a:ext cx="11205883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1136FA6-7926-46C2-8407-BEC79D33F4FD}"/>
              </a:ext>
            </a:extLst>
          </p:cNvPr>
          <p:cNvSpPr/>
          <p:nvPr/>
        </p:nvSpPr>
        <p:spPr>
          <a:xfrm>
            <a:off x="-24680" y="0"/>
            <a:ext cx="2880320" cy="5055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3050" indent="-190500">
              <a:buFont typeface="Wingdings" panose="05000000000000000000" pitchFamily="2" charset="2"/>
              <a:buChar char="§"/>
            </a:pPr>
            <a:r>
              <a:rPr lang="en-US" altLang="ko-KR" sz="1600" b="1" dirty="0" err="1"/>
              <a:t>Schematic.STLINK</a:t>
            </a:r>
            <a:r>
              <a:rPr lang="en-US" altLang="ko-KR" sz="1600" b="1" dirty="0"/>
              <a:t>/V2-1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50303281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B726733-A3EF-4CBE-AE19-FC5B979C1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250"/>
            <a:ext cx="12192000" cy="620149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C17348E-25B3-4CC3-B621-D367D2752357}"/>
              </a:ext>
            </a:extLst>
          </p:cNvPr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Schematic. Extension connectors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12067272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LM35DZ에 대한 이미지 검색결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12192000" cy="263691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algn="ctr"/>
            <a:r>
              <a:rPr lang="en-US" altLang="ko-KR" sz="4400" b="1">
                <a:solidFill>
                  <a:schemeClr val="bg1"/>
                </a:solidFill>
              </a:rPr>
              <a:t>Project </a:t>
            </a:r>
            <a:r>
              <a:rPr lang="ko-KR" altLang="en-US" sz="4400" b="1" smtClean="0">
                <a:solidFill>
                  <a:schemeClr val="bg1"/>
                </a:solidFill>
              </a:rPr>
              <a:t>생성</a:t>
            </a:r>
            <a:endParaRPr lang="en-US" altLang="ko-KR" sz="4400" b="1" smtClean="0">
              <a:solidFill>
                <a:schemeClr val="bg1"/>
              </a:solidFill>
            </a:endParaRPr>
          </a:p>
          <a:p>
            <a:pPr marL="177800" algn="ctr"/>
            <a:endParaRPr lang="en-US" altLang="ko-KR" sz="4400" b="1">
              <a:solidFill>
                <a:schemeClr val="bg1"/>
              </a:solidFill>
            </a:endParaRPr>
          </a:p>
          <a:p>
            <a:pPr marL="177800" algn="ctr"/>
            <a:r>
              <a:rPr lang="en-US" altLang="ko-KR" sz="4400" b="1" smtClean="0">
                <a:solidFill>
                  <a:schemeClr val="bg1"/>
                </a:solidFill>
              </a:rPr>
              <a:t>GPIO </a:t>
            </a:r>
            <a:r>
              <a:rPr lang="ko-KR" altLang="en-US" sz="4400" b="1" smtClean="0">
                <a:solidFill>
                  <a:schemeClr val="bg1"/>
                </a:solidFill>
              </a:rPr>
              <a:t>제어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585566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LM35DZ에 대한 이미지 검색결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17348E-25B3-4CC3-B621-D367D2752357}"/>
              </a:ext>
            </a:extLst>
          </p:cNvPr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smtClean="0"/>
              <a:t>CubeMx </a:t>
            </a:r>
            <a:r>
              <a:rPr lang="ko-KR" altLang="en-US" sz="2000" b="1" smtClean="0"/>
              <a:t>설정 </a:t>
            </a:r>
            <a:r>
              <a:rPr lang="en-US" altLang="ko-KR" sz="2000" b="1" smtClean="0"/>
              <a:t>- 1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764704"/>
            <a:ext cx="4178086" cy="5544931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695400" y="3645024"/>
            <a:ext cx="3384376" cy="1080120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121" y="764704"/>
            <a:ext cx="7011008" cy="5494496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/>
        </p:nvSpPr>
        <p:spPr>
          <a:xfrm>
            <a:off x="5087888" y="1916832"/>
            <a:ext cx="3384376" cy="504056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6" idx="3"/>
          </p:cNvCxnSpPr>
          <p:nvPr/>
        </p:nvCxnSpPr>
        <p:spPr>
          <a:xfrm flipV="1">
            <a:off x="4079776" y="2420888"/>
            <a:ext cx="1008112" cy="17641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32195" y="1473022"/>
            <a:ext cx="194155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/>
              <a:t>NUCLEO-F103RB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36692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LM35DZ에 대한 이미지 검색결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17348E-25B3-4CC3-B621-D367D2752357}"/>
              </a:ext>
            </a:extLst>
          </p:cNvPr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smtClean="0"/>
              <a:t>CubeMx </a:t>
            </a:r>
            <a:r>
              <a:rPr lang="ko-KR" altLang="en-US" sz="2000" b="1" smtClean="0"/>
              <a:t>설정 </a:t>
            </a:r>
            <a:r>
              <a:rPr lang="en-US" altLang="ko-KR" sz="2000" b="1" smtClean="0"/>
              <a:t>- 2</a:t>
            </a:r>
            <a:endParaRPr lang="ko-KR" altLang="en-US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6" y="-4287"/>
            <a:ext cx="9426757" cy="6862288"/>
          </a:xfrm>
          <a:prstGeom prst="rect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모서리가 둥근 직사각형 11"/>
          <p:cNvSpPr/>
          <p:nvPr/>
        </p:nvSpPr>
        <p:spPr>
          <a:xfrm>
            <a:off x="6312024" y="2852936"/>
            <a:ext cx="1872208" cy="216024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8544272" y="5589240"/>
            <a:ext cx="360040" cy="1152128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730352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LM35DZ에 대한 이미지 검색결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17348E-25B3-4CC3-B621-D367D2752357}"/>
              </a:ext>
            </a:extLst>
          </p:cNvPr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smtClean="0"/>
              <a:t>CubeMx </a:t>
            </a:r>
            <a:r>
              <a:rPr lang="ko-KR" altLang="en-US" sz="2000" b="1" smtClean="0"/>
              <a:t>설정 </a:t>
            </a:r>
            <a:r>
              <a:rPr lang="en-US" altLang="ko-KR" sz="2000" b="1" smtClean="0"/>
              <a:t>– 3. Clock Configuration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77" y="716044"/>
            <a:ext cx="11131561" cy="559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05743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LM35DZ에 대한 이미지 검색결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17348E-25B3-4CC3-B621-D367D2752357}"/>
              </a:ext>
            </a:extLst>
          </p:cNvPr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smtClean="0"/>
              <a:t>CubeMx </a:t>
            </a:r>
            <a:r>
              <a:rPr lang="ko-KR" altLang="en-US" sz="2000" b="1" smtClean="0"/>
              <a:t>설정 </a:t>
            </a:r>
            <a:r>
              <a:rPr lang="en-US" altLang="ko-KR" sz="2000" b="1" smtClean="0"/>
              <a:t>– 4.Project Manager</a:t>
            </a:r>
            <a:endParaRPr lang="ko-KR" altLang="en-US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836712"/>
            <a:ext cx="11055363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73204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LM35DZ에 대한 이미지 검색결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17348E-25B3-4CC3-B621-D367D2752357}"/>
              </a:ext>
            </a:extLst>
          </p:cNvPr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smtClean="0"/>
              <a:t>CubeIDE . Button</a:t>
            </a:r>
            <a:r>
              <a:rPr lang="ko-KR" altLang="en-US" sz="2000" b="1" smtClean="0"/>
              <a:t>을 누르면 </a:t>
            </a:r>
            <a:r>
              <a:rPr lang="en-US" altLang="ko-KR" sz="2000" b="1" smtClean="0"/>
              <a:t>LED</a:t>
            </a:r>
            <a:r>
              <a:rPr lang="ko-KR" altLang="en-US" sz="2000" b="1" smtClean="0"/>
              <a:t>가 켜지는 </a:t>
            </a:r>
            <a:r>
              <a:rPr lang="en-US" altLang="ko-KR" sz="2000" b="1" smtClean="0"/>
              <a:t>Code</a:t>
            </a:r>
            <a:endParaRPr lang="ko-KR" altLang="en-US" sz="2000" b="1" dirty="0"/>
          </a:p>
        </p:txBody>
      </p:sp>
      <p:sp>
        <p:nvSpPr>
          <p:cNvPr id="2" name="직사각형 1"/>
          <p:cNvSpPr/>
          <p:nvPr/>
        </p:nvSpPr>
        <p:spPr>
          <a:xfrm>
            <a:off x="263352" y="764704"/>
            <a:ext cx="8892480" cy="48013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>
                <a:solidFill>
                  <a:srgbClr val="3F7F5F"/>
                </a:solidFill>
                <a:latin typeface="Courier New" panose="02070309020205020404" pitchFamily="49" charset="0"/>
              </a:rPr>
              <a:t>/* Infinite loop */</a:t>
            </a:r>
            <a:endParaRPr lang="en-US" altLang="ko-KR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>
                <a:solidFill>
                  <a:srgbClr val="3F7F5F"/>
                </a:solidFill>
                <a:latin typeface="Courier New" panose="02070309020205020404" pitchFamily="49" charset="0"/>
              </a:rPr>
              <a:t>/* USER CODE BEGIN WHILE */</a:t>
            </a:r>
            <a:endParaRPr lang="en-US" altLang="ko-KR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b="1">
                <a:solidFill>
                  <a:srgbClr val="7F0055"/>
                </a:solidFill>
                <a:latin typeface="Courier New" panose="02070309020205020404" pitchFamily="49" charset="0"/>
              </a:rPr>
              <a:t>while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 (1)</a:t>
            </a:r>
          </a:p>
          <a:p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ko-KR" b="1" smtClean="0">
                <a:solidFill>
                  <a:srgbClr val="7F0055"/>
                </a:solidFill>
                <a:latin typeface="Courier New" panose="02070309020205020404" pitchFamily="49" charset="0"/>
              </a:rPr>
              <a:t>   if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(!(HAL_GPIO_ReadPin(GPIOC, GPIO_PIN_13))){</a:t>
            </a:r>
          </a:p>
          <a:p>
            <a:r>
              <a:rPr lang="en-US" altLang="ko-KR" smtClean="0">
                <a:solidFill>
                  <a:srgbClr val="000000"/>
                </a:solidFill>
                <a:latin typeface="Courier New" panose="02070309020205020404" pitchFamily="49" charset="0"/>
              </a:rPr>
              <a:t>      HAL_GPIO_WritePin(GPIOA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, GPIO_PIN_5, </a:t>
            </a:r>
            <a:r>
              <a:rPr lang="en-US" altLang="ko-KR" i="1">
                <a:solidFill>
                  <a:srgbClr val="0000C0"/>
                </a:solidFill>
                <a:latin typeface="Courier New" panose="02070309020205020404" pitchFamily="49" charset="0"/>
              </a:rPr>
              <a:t>GPIO_PIN_SET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altLang="ko-KR" smtClean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endParaRPr lang="en-US" altLang="ko-KR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b="1" smtClean="0">
                <a:solidFill>
                  <a:srgbClr val="7F0055"/>
                </a:solidFill>
                <a:latin typeface="Courier New" panose="02070309020205020404" pitchFamily="49" charset="0"/>
              </a:rPr>
              <a:t>   else</a:t>
            </a:r>
            <a:r>
              <a:rPr lang="en-US" altLang="ko-KR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HAL_GPIO_WritePin(GPIOA, GPIO_PIN_5, </a:t>
            </a:r>
            <a:r>
              <a:rPr lang="en-US" altLang="ko-KR" i="1">
                <a:solidFill>
                  <a:srgbClr val="0000C0"/>
                </a:solidFill>
                <a:latin typeface="Courier New" panose="02070309020205020404" pitchFamily="49" charset="0"/>
              </a:rPr>
              <a:t>GPIO_PIN_RESET</a:t>
            </a:r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altLang="ko-KR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>
                <a:solidFill>
                  <a:srgbClr val="3F7F5F"/>
                </a:solidFill>
                <a:latin typeface="Courier New" panose="02070309020205020404" pitchFamily="49" charset="0"/>
              </a:rPr>
              <a:t>/* USER CODE END WHILE */</a:t>
            </a:r>
            <a:endParaRPr lang="en-US" altLang="ko-KR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altLang="ko-KR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>
                <a:solidFill>
                  <a:srgbClr val="3F7F5F"/>
                </a:solidFill>
                <a:latin typeface="Courier New" panose="02070309020205020404" pitchFamily="49" charset="0"/>
              </a:rPr>
              <a:t>/* USER CODE BEGIN 3 */</a:t>
            </a:r>
            <a:endParaRPr lang="en-US" altLang="ko-KR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altLang="ko-KR">
                <a:solidFill>
                  <a:srgbClr val="3F7F5F"/>
                </a:solidFill>
                <a:latin typeface="Courier New" panose="02070309020205020404" pitchFamily="49" charset="0"/>
              </a:rPr>
              <a:t>/* USER CODE END 3 */</a:t>
            </a:r>
            <a:endParaRPr lang="en-US" altLang="ko-KR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9124556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LM35DZ에 대한 이미지 검색결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17348E-25B3-4CC3-B621-D367D2752357}"/>
              </a:ext>
            </a:extLst>
          </p:cNvPr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smtClean="0"/>
              <a:t>CubeIDE . ST-Link </a:t>
            </a:r>
            <a:r>
              <a:rPr lang="ko-KR" altLang="en-US" sz="2000" b="1" smtClean="0"/>
              <a:t>설정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629748"/>
            <a:ext cx="6408712" cy="3313458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4" name="모서리가 둥근 직사각형 3"/>
          <p:cNvSpPr/>
          <p:nvPr/>
        </p:nvSpPr>
        <p:spPr>
          <a:xfrm>
            <a:off x="3467708" y="764704"/>
            <a:ext cx="972108" cy="50405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20" y="1260435"/>
            <a:ext cx="6264696" cy="5355155"/>
          </a:xfrm>
          <a:prstGeom prst="rect">
            <a:avLst/>
          </a:prstGeom>
          <a:ln w="25400">
            <a:solidFill>
              <a:srgbClr val="FFC000"/>
            </a:solidFill>
          </a:ln>
        </p:spPr>
      </p:pic>
      <p:sp>
        <p:nvSpPr>
          <p:cNvPr id="7" name="모서리가 둥근 직사각형 6"/>
          <p:cNvSpPr/>
          <p:nvPr/>
        </p:nvSpPr>
        <p:spPr>
          <a:xfrm>
            <a:off x="5591944" y="5027452"/>
            <a:ext cx="1152128" cy="84981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10920536" y="5517232"/>
            <a:ext cx="576064" cy="42165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4439816" y="1260435"/>
            <a:ext cx="1656184" cy="145860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10"/>
          <p:cNvSpPr/>
          <p:nvPr/>
        </p:nvSpPr>
        <p:spPr>
          <a:xfrm>
            <a:off x="6096000" y="2719035"/>
            <a:ext cx="1080120" cy="42193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>
            <a:endCxn id="7" idx="0"/>
          </p:cNvCxnSpPr>
          <p:nvPr/>
        </p:nvCxnSpPr>
        <p:spPr>
          <a:xfrm flipH="1">
            <a:off x="6168008" y="3140969"/>
            <a:ext cx="360040" cy="1886483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7" idx="3"/>
          </p:cNvCxnSpPr>
          <p:nvPr/>
        </p:nvCxnSpPr>
        <p:spPr>
          <a:xfrm>
            <a:off x="6744072" y="5452362"/>
            <a:ext cx="4176464" cy="20888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79575" y="4162163"/>
            <a:ext cx="324152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/>
              <a:t>설정한 후</a:t>
            </a:r>
            <a:r>
              <a:rPr lang="en-US" altLang="ko-KR" smtClean="0"/>
              <a:t>, Run </a:t>
            </a:r>
            <a:r>
              <a:rPr lang="ko-KR" altLang="en-US" smtClean="0"/>
              <a:t>클릭하면 </a:t>
            </a:r>
            <a:endParaRPr lang="en-US" altLang="ko-KR" smtClean="0"/>
          </a:p>
          <a:p>
            <a:pPr algn="ctr"/>
            <a:r>
              <a:rPr lang="en-US" altLang="ko-KR" smtClean="0"/>
              <a:t>Build </a:t>
            </a:r>
            <a:r>
              <a:rPr lang="ko-KR" altLang="en-US" smtClean="0"/>
              <a:t>및 </a:t>
            </a:r>
            <a:r>
              <a:rPr lang="en-US" altLang="ko-KR" smtClean="0"/>
              <a:t>Download </a:t>
            </a:r>
            <a:r>
              <a:rPr lang="ko-KR" altLang="en-US" smtClean="0"/>
              <a:t>까지 진행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706705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LM35DZ에 대한 이미지 검색결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17348E-25B3-4CC3-B621-D367D2752357}"/>
              </a:ext>
            </a:extLst>
          </p:cNvPr>
          <p:cNvSpPr/>
          <p:nvPr/>
        </p:nvSpPr>
        <p:spPr>
          <a:xfrm>
            <a:off x="-24680" y="0"/>
            <a:ext cx="9217024" cy="3140968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550" algn="ctr"/>
            <a:r>
              <a:rPr lang="en-US" altLang="ko-KR" sz="7200" b="1" smtClean="0"/>
              <a:t> printf</a:t>
            </a:r>
            <a:endParaRPr lang="ko-KR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2163281731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LM35DZ에 대한 이미지 검색결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17348E-25B3-4CC3-B621-D367D2752357}"/>
              </a:ext>
            </a:extLst>
          </p:cNvPr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smtClean="0"/>
              <a:t>CubeMx. USART2</a:t>
            </a:r>
            <a:r>
              <a:rPr lang="ko-KR" altLang="en-US" sz="2000" b="1" smtClean="0"/>
              <a:t>가 이미 설정되어 있음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615743"/>
            <a:ext cx="8878069" cy="5456393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6456040" y="4005064"/>
            <a:ext cx="1512168" cy="144016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3287688" y="4687825"/>
            <a:ext cx="2016224" cy="25334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642536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LM35DZ에 대한 이미지 검색결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17348E-25B3-4CC3-B621-D367D2752357}"/>
              </a:ext>
            </a:extLst>
          </p:cNvPr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smtClean="0"/>
              <a:t>CubeIDE. code </a:t>
            </a:r>
            <a:r>
              <a:rPr lang="ko-KR" altLang="en-US" sz="2000" b="1" smtClean="0"/>
              <a:t>추가</a:t>
            </a:r>
            <a:endParaRPr lang="ko-KR" altLang="en-US" sz="2000" b="1" dirty="0"/>
          </a:p>
        </p:txBody>
      </p:sp>
      <p:sp>
        <p:nvSpPr>
          <p:cNvPr id="7" name="직사각형 6"/>
          <p:cNvSpPr/>
          <p:nvPr/>
        </p:nvSpPr>
        <p:spPr>
          <a:xfrm>
            <a:off x="263353" y="533094"/>
            <a:ext cx="3116559" cy="7591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ts val="2600"/>
              </a:lnSpc>
            </a:pPr>
            <a:r>
              <a:rPr lang="en-US" altLang="ko-KR" sz="1400" b="1" dirty="0">
                <a:solidFill>
                  <a:srgbClr val="0000FF"/>
                </a:solidFill>
                <a:latin typeface="+mn-ea"/>
              </a:rPr>
              <a:t>#include &lt;</a:t>
            </a:r>
            <a:r>
              <a:rPr lang="en-US" altLang="ko-KR" sz="1400" b="1" dirty="0" err="1">
                <a:solidFill>
                  <a:srgbClr val="0000FF"/>
                </a:solidFill>
                <a:latin typeface="+mn-ea"/>
              </a:rPr>
              <a:t>stdio.h</a:t>
            </a:r>
            <a:r>
              <a:rPr lang="en-US" altLang="ko-KR" sz="1400" b="1" dirty="0">
                <a:solidFill>
                  <a:srgbClr val="0000FF"/>
                </a:solidFill>
                <a:latin typeface="+mn-ea"/>
              </a:rPr>
              <a:t>&gt;    // </a:t>
            </a:r>
            <a:r>
              <a:rPr lang="ko-KR" altLang="en-US" sz="1400" b="1" dirty="0">
                <a:solidFill>
                  <a:srgbClr val="0000FF"/>
                </a:solidFill>
                <a:latin typeface="+mn-ea"/>
              </a:rPr>
              <a:t>추가</a:t>
            </a:r>
            <a:endParaRPr lang="en-US" altLang="ko-KR" sz="1400" b="1" dirty="0">
              <a:solidFill>
                <a:srgbClr val="0000FF"/>
              </a:solidFill>
              <a:latin typeface="+mn-ea"/>
            </a:endParaRPr>
          </a:p>
          <a:p>
            <a:pPr marL="342900" indent="-342900">
              <a:lnSpc>
                <a:spcPts val="2600"/>
              </a:lnSpc>
            </a:pP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// main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함수  바로 위에 아래 함수들 추가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07368" y="1292277"/>
            <a:ext cx="8352928" cy="35767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int _write(int file, unsigned char* p, int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len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{</a:t>
            </a: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HAL_UART_Transmit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(&amp;</a:t>
            </a:r>
            <a:r>
              <a:rPr lang="en-US" altLang="ko-KR" sz="1200" smtClean="0">
                <a:solidFill>
                  <a:schemeClr val="tx1"/>
                </a:solidFill>
                <a:latin typeface="+mn-ea"/>
              </a:rPr>
              <a:t>huart2,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p,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len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10);</a:t>
            </a: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return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len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;</a:t>
            </a: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}</a:t>
            </a: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#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ifdef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__GNUC__</a:t>
            </a: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#define PUTCHAR_PROTOTYPE int __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io_putchar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(int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ch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#else</a:t>
            </a: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#define PUTCHAR_PROTOTYPE int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fputc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(int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ch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FILE *f)  //for </a:t>
            </a:r>
            <a:r>
              <a:rPr lang="en-US" altLang="ko-KR" sz="1200" u="sng" dirty="0" err="1">
                <a:solidFill>
                  <a:schemeClr val="tx1"/>
                </a:solidFill>
                <a:latin typeface="+mn-ea"/>
              </a:rPr>
              <a:t>printf</a:t>
            </a:r>
            <a:endParaRPr lang="en-US" altLang="ko-KR" sz="1200" u="sng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#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endif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PUTCHAR_PROTOTYPE</a:t>
            </a: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{</a:t>
            </a:r>
          </a:p>
          <a:p>
            <a:pPr>
              <a:lnSpc>
                <a:spcPts val="1700"/>
              </a:lnSpc>
            </a:pPr>
            <a:endParaRPr lang="ko-KR" altLang="en-US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1700"/>
              </a:lnSpc>
            </a:pPr>
            <a:r>
              <a:rPr lang="de-DE" altLang="ko-KR" sz="1200" dirty="0">
                <a:solidFill>
                  <a:schemeClr val="tx1"/>
                </a:solidFill>
                <a:latin typeface="+mn-ea"/>
              </a:rPr>
              <a:t>  HAL_UART_Transmit</a:t>
            </a:r>
            <a:r>
              <a:rPr lang="de-DE" altLang="ko-KR" sz="1200">
                <a:solidFill>
                  <a:schemeClr val="tx1"/>
                </a:solidFill>
                <a:latin typeface="+mn-ea"/>
              </a:rPr>
              <a:t>(&amp;</a:t>
            </a:r>
            <a:r>
              <a:rPr lang="de-DE" altLang="ko-KR" sz="1200" smtClean="0">
                <a:solidFill>
                  <a:schemeClr val="tx1"/>
                </a:solidFill>
                <a:latin typeface="+mn-ea"/>
              </a:rPr>
              <a:t>huart2, </a:t>
            </a:r>
            <a:r>
              <a:rPr lang="de-DE" altLang="ko-KR" sz="1200" dirty="0">
                <a:solidFill>
                  <a:schemeClr val="tx1"/>
                </a:solidFill>
                <a:latin typeface="+mn-ea"/>
              </a:rPr>
              <a:t>(uint8_t *)&amp;ch, 1, 0xFFFF);</a:t>
            </a: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return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ch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;</a:t>
            </a: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}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78841" y="4869026"/>
            <a:ext cx="22381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// main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함수 안에 한 줄 추가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02144" y="5248811"/>
            <a:ext cx="8352928" cy="12763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MX_GPIO_Init();</a:t>
            </a:r>
          </a:p>
          <a:p>
            <a:pPr>
              <a:lnSpc>
                <a:spcPts val="1700"/>
              </a:lnSpc>
            </a:pPr>
            <a:r>
              <a:rPr lang="en-US" altLang="ko-KR" sz="1200" smtClean="0">
                <a:solidFill>
                  <a:schemeClr val="tx1"/>
                </a:solidFill>
                <a:latin typeface="+mn-ea"/>
              </a:rPr>
              <a:t>MX_USART2_UART_Init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();</a:t>
            </a: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/* USER CODE BEGIN 2 */</a:t>
            </a:r>
          </a:p>
          <a:p>
            <a:pPr>
              <a:lnSpc>
                <a:spcPts val="1700"/>
              </a:lnSpc>
            </a:pPr>
            <a:endParaRPr lang="ko-KR" altLang="en-US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1700"/>
              </a:lnSpc>
            </a:pPr>
            <a:r>
              <a:rPr lang="en-US" altLang="ko-KR" sz="1200" dirty="0">
                <a:solidFill>
                  <a:srgbClr val="0000FF"/>
                </a:solidFill>
                <a:latin typeface="+mn-ea"/>
              </a:rPr>
              <a:t> 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setvbuf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stdout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NULL, _IONBF, 0);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0937683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LM35DZ에 대한 이미지 검색결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020219"/>
            <a:ext cx="6855799" cy="53932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1344" y="621536"/>
            <a:ext cx="84915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Float </a:t>
            </a:r>
            <a:r>
              <a:rPr lang="ko-KR" altLang="en-US" sz="1400" dirty="0">
                <a:latin typeface="+mn-ea"/>
              </a:rPr>
              <a:t>출력 설정 </a:t>
            </a:r>
            <a:r>
              <a:rPr lang="en-US" altLang="ko-KR" sz="1400" dirty="0">
                <a:latin typeface="+mn-ea"/>
              </a:rPr>
              <a:t>: Project &gt; Properties &gt; C/C++ Build &gt; Setting &gt; MCU GCC linker &gt; Miscellaneous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C17348E-25B3-4CC3-B621-D367D2752357}"/>
              </a:ext>
            </a:extLst>
          </p:cNvPr>
          <p:cNvSpPr/>
          <p:nvPr/>
        </p:nvSpPr>
        <p:spPr>
          <a:xfrm>
            <a:off x="-24680" y="0"/>
            <a:ext cx="9180512" cy="5055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0850" indent="-368300">
              <a:buFont typeface="Wingdings" panose="05000000000000000000" pitchFamily="2" charset="2"/>
              <a:buChar char="§"/>
            </a:pPr>
            <a:r>
              <a:rPr lang="en-US" altLang="ko-KR" sz="2000" b="1" smtClean="0"/>
              <a:t>CubeIDE. code </a:t>
            </a:r>
            <a:r>
              <a:rPr lang="ko-KR" altLang="en-US" sz="2000" b="1" smtClean="0"/>
              <a:t>추가 </a:t>
            </a:r>
            <a:r>
              <a:rPr lang="en-US" altLang="ko-KR" sz="2000" b="1" smtClean="0">
                <a:sym typeface="Wingdings" panose="05000000000000000000" pitchFamily="2" charset="2"/>
              </a:rPr>
              <a:t> float </a:t>
            </a:r>
            <a:r>
              <a:rPr lang="ko-KR" altLang="en-US" sz="2000" b="1" smtClean="0">
                <a:sym typeface="Wingdings" panose="05000000000000000000" pitchFamily="2" charset="2"/>
              </a:rPr>
              <a:t>출력 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8040216" y="2276872"/>
            <a:ext cx="1717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-u _printf_float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269865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LM35DZ에 대한 이미지 검색결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524000" y="764704"/>
            <a:ext cx="9144000" cy="25922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algn="ctr"/>
            <a:r>
              <a:rPr lang="en-US" altLang="ko-KR" sz="4400" b="1">
                <a:solidFill>
                  <a:schemeClr val="tx1"/>
                </a:solidFill>
              </a:rPr>
              <a:t>Keep adding.</a:t>
            </a:r>
            <a:endParaRPr lang="en-US" altLang="ko-KR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94493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20032</TotalTime>
  <Words>286</Words>
  <Application>Microsoft Office PowerPoint</Application>
  <PresentationFormat>와이드스크린</PresentationFormat>
  <Paragraphs>69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Arial</vt:lpstr>
      <vt:lpstr>Courier New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PoDIT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mr.son</dc:creator>
  <cp:lastModifiedBy>손 영달</cp:lastModifiedBy>
  <cp:revision>1216</cp:revision>
  <dcterms:created xsi:type="dcterms:W3CDTF">2012-11-28T13:05:29Z</dcterms:created>
  <dcterms:modified xsi:type="dcterms:W3CDTF">2024-05-04T11:53:07Z</dcterms:modified>
</cp:coreProperties>
</file>